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1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2.xml"/>
  <Override ContentType="application/vnd.openxmlformats-officedocument.presentationml.slide+xml" PartName="/ppt/slides/slide12.xml"/>
  <Override ContentType="application/vnd.openxmlformats-officedocument.presentationml.notesSlide+xml" PartName="/ppt/notesSlides/notesSlide13.xml"/>
  <Override ContentType="application/vnd.openxmlformats-officedocument.presentationml.slide+xml" PartName="/ppt/slides/slide13.xml"/>
  <Override ContentType="application/vnd.openxmlformats-officedocument.presentationml.notesSlide+xml" PartName="/ppt/notesSlides/notesSlide14.xml"/>
  <Override ContentType="application/vnd.openxmlformats-officedocument.presentationml.slide+xml" PartName="/ppt/slides/slide14.xml"/>
  <Override ContentType="application/vnd.openxmlformats-officedocument.presentationml.notesSlide+xml" PartName="/ppt/notesSlides/notesSlide15.xml"/>
  <Override ContentType="application/vnd.openxmlformats-officedocument.presentationml.slide+xml" PartName="/ppt/slides/slide15.xml"/>
  <Override ContentType="application/vnd.openxmlformats-officedocument.presentationml.notesSlide+xml" PartName="/ppt/notesSlides/notesSlide16.xml"/>
  <Override ContentType="application/vnd.openxmlformats-officedocument.presentationml.slide+xml" PartName="/ppt/slides/slide16.xml"/>
  <Override ContentType="application/vnd.openxmlformats-officedocument.presentationml.notesSlide+xml" PartName="/ppt/notesSlides/notesSlide17.xml"/>
  <Override ContentType="application/vnd.openxmlformats-officedocument.presentationml.slide+xml" PartName="/ppt/slides/slide17.xml"/>
  <Override ContentType="application/vnd.openxmlformats-officedocument.presentationml.notesSlide+xml" PartName="/ppt/notesSlides/notesSlide18.xml"/>
  <Override ContentType="application/vnd.openxmlformats-officedocument.presentationml.slide+xml" PartName="/ppt/slides/slide18.xml"/>
  <Override ContentType="application/vnd.openxmlformats-officedocument.presentationml.notesSlide+xml" PartName="/ppt/notesSlides/notesSlide19.xml"/>
  <Override ContentType="application/vnd.openxmlformats-officedocument.presentationml.slide+xml" PartName="/ppt/slides/slide19.xml"/>
  <Override ContentType="application/vnd.openxmlformats-officedocument.presentationml.notesSlide+xml" PartName="/ppt/notesSlides/notesSlide20.xml"/>
  <Override ContentType="application/vnd.openxmlformats-officedocument.presentationml.slide+xml" PartName="/ppt/slides/slide20.xml"/>
  <Override ContentType="application/vnd.openxmlformats-officedocument.presentationml.notesSlide+xml" PartName="/ppt/notesSlides/notesSlide21.xml"/>
  <Override ContentType="application/vnd.openxmlformats-officedocument.presentationml.slide+xml" PartName="/ppt/slides/slide21.xml"/>
  <Override ContentType="application/vnd.openxmlformats-officedocument.presentationml.notesSlide+xml" PartName="/ppt/notesSlides/notesSlide22.xml"/>
  <Override ContentType="application/vnd.openxmlformats-officedocument.presentationml.slide+xml" PartName="/ppt/slides/slide22.xml"/>
  <Override ContentType="application/vnd.openxmlformats-officedocument.presentationml.notesSlide+xml" PartName="/ppt/notesSlides/notesSlide23.xml"/>
  <Override ContentType="application/vnd.openxmlformats-officedocument.presentationml.slide+xml" PartName="/ppt/slides/slide23.xml"/>
  <Override ContentType="application/vnd.openxmlformats-officedocument.presentationml.notesSlide+xml" PartName="/ppt/notesSlides/notesSlide24.xml"/>
  <Override ContentType="application/vnd.openxmlformats-officedocument.presentationml.slide+xml" PartName="/ppt/slides/slide24.xml"/>
  <Override ContentType="application/vnd.openxmlformats-officedocument.presentationml.notesSlide+xml" PartName="/ppt/notesSlides/notesSlide25.xml"/>
  <Override ContentType="application/vnd.openxmlformats-officedocument.presentationml.slide+xml" PartName="/ppt/slides/slide25.xml"/>
  <Override ContentType="application/vnd.openxmlformats-officedocument.presentationml.notesSlide+xml" PartName="/ppt/notesSlides/notesSlide26.xml"/>
  <Override ContentType="application/vnd.openxmlformats-officedocument.presentationml.slide+xml" PartName="/ppt/slides/slide26.xml"/>
  <Override ContentType="application/vnd.openxmlformats-officedocument.presentationml.notesSlide+xml" PartName="/ppt/notesSlides/notesSlide27.xml"/>
  <Override ContentType="application/vnd.openxmlformats-officedocument.presentationml.slide+xml" PartName="/ppt/slides/slide27.xml"/>
  <Override ContentType="application/vnd.openxmlformats-officedocument.presentationml.notesSlide+xml" PartName="/ppt/notesSlides/notesSlide28.xml"/>
  <Override ContentType="application/vnd.openxmlformats-officedocument.presentationml.slide+xml" PartName="/ppt/slides/slide28.xml"/>
  <Override ContentType="application/vnd.openxmlformats-officedocument.presentationml.notesSlide+xml" PartName="/ppt/notesSlides/notesSlide29.xml"/>
  <Override ContentType="application/vnd.openxmlformats-officedocument.presentationml.slide+xml" PartName="/ppt/slides/slide29.xml"/>
  <Override ContentType="application/vnd.openxmlformats-officedocument.presentationml.notesSlide+xml" PartName="/ppt/notesSlides/notesSlide30.xml"/>
  <Override ContentType="application/vnd.openxmlformats-officedocument.presentationml.slide+xml" PartName="/ppt/slides/slide30.xml"/>
  <Override ContentType="application/vnd.openxmlformats-officedocument.presentationml.notesSlide+xml" PartName="/ppt/notesSlides/notesSlide31.xml"/>
  <Override ContentType="application/vnd.openxmlformats-officedocument.presentationml.slide+xml" PartName="/ppt/slides/slide31.xml"/>
  <Override ContentType="application/vnd.openxmlformats-officedocument.presentationml.notesSlide+xml" PartName="/ppt/notesSlides/notesSlide32.xml"/>
  <Override ContentType="application/vnd.openxmlformats-officedocument.presentationml.slide+xml" PartName="/ppt/slides/slide3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>
  <p:sldMasterIdLst>
    <p:sldMasterId id="2147483687" r:id="rId5"/>
  </p:sldMasterIdLst>
  <p:notesMasterIdLst>
    <p:notesMasterId r:id="rId6"/>
  </p:notesMasterIdLst>
  <p:sldIdLst>
    <p:sldId id="256" r:id="rId1001"/>
    <p:sldId id="257" r:id="rId1002"/>
    <p:sldId id="258" r:id="rId1003"/>
    <p:sldId id="259" r:id="rId1004"/>
    <p:sldId id="260" r:id="rId1005"/>
    <p:sldId id="261" r:id="rId1006"/>
    <p:sldId id="262" r:id="rId1007"/>
    <p:sldId id="263" r:id="rId1008"/>
    <p:sldId id="264" r:id="rId1009"/>
    <p:sldId id="265" r:id="rId1010"/>
    <p:sldId id="266" r:id="rId1011"/>
    <p:sldId id="267" r:id="rId1012"/>
    <p:sldId id="268" r:id="rId1013"/>
    <p:sldId id="269" r:id="rId1014"/>
    <p:sldId id="270" r:id="rId1015"/>
    <p:sldId id="271" r:id="rId1016"/>
    <p:sldId id="272" r:id="rId1017"/>
    <p:sldId id="273" r:id="rId1018"/>
    <p:sldId id="274" r:id="rId1019"/>
    <p:sldId id="275" r:id="rId1020"/>
    <p:sldId id="276" r:id="rId1021"/>
    <p:sldId id="277" r:id="rId1022"/>
    <p:sldId id="278" r:id="rId1023"/>
    <p:sldId id="279" r:id="rId1024"/>
    <p:sldId id="280" r:id="rId1025"/>
    <p:sldId id="281" r:id="rId1026"/>
    <p:sldId id="282" r:id="rId1027"/>
    <p:sldId id="283" r:id="rId1028"/>
    <p:sldId id="284" r:id="rId1029"/>
    <p:sldId id="285" r:id="rId1030"/>
    <p:sldId id="286" r:id="rId1031"/>
    <p:sldId id="287" r:id="rId1032"/>
  </p:sldIdLst>
  <p:sldSz cy="6858000" cx="9906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はじめに" id="{e5bfd7fa-cf4c-f1fe-2c30-b2c01172c0dd}">
          <p14:sldIdLst>
            <p14:sldId id="256"/>
            <p14:sldId id="257"/>
            <p14:sldId id="258"/>
            <p14:sldId id="259"/>
            <p14:sldId id="260"/>
          </p14:sldIdLst>
        </p14:section>
        <p14:section name="01 背景と仮説" id="{c2a925d0-9ce4-dde7-951e-5e2730c5cc52}">
          <p14:sldIdLst>
            <p14:sldId id="261"/>
            <p14:sldId id="262"/>
            <p14:sldId id="263"/>
            <p14:sldId id="264"/>
          </p14:sldIdLst>
        </p14:section>
        <p14:section name="02 手法" id="{763da129-2216-5579-8f33-fb5f7e5f2225}">
          <p14:sldIdLst>
            <p14:sldId id="265"/>
            <p14:sldId id="266"/>
            <p14:sldId id="267"/>
            <p14:sldId id="268"/>
            <p14:sldId id="269"/>
          </p14:sldIdLst>
        </p14:section>
        <p14:section name="03 結果" id="{9107f911-f384-7058-163c-c16430992ca1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04 まとめ" id="{e3e4433c-eb7a-842c-5ace-491cc7d4fa31}">
          <p14:sldIdLst>
            <p14:sldId id="286"/>
            <p14:sldId id="287"/>
          </p14:sldIdLst>
        </p14:section>
      </p14:sectionLst>
    </p:ext>
    <p:ext uri="{EFAFB233-063F-42B5-8137-9DF3F51BA10A}">
      <p15:sldGuideLst>
        <p15:guide id="1" orient="horz" pos="2160">
          <p15:clr>
            <a:srgbClr val="A4A3A4"/>
          </p15:clr>
        </p15:guide>
        <p15:guide id="2" pos="3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C6982A-73C6-48C2-B484-0F0B99748F75}">
  <a:tblStyle styleId="{61C6982A-73C6-48C2-B484-0F0B99748F7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1025" Type="http://schemas.openxmlformats.org/officeDocument/2006/relationships/slide" Target="slides/slide25.xml"/><Relationship Id="rId1026" Type="http://schemas.openxmlformats.org/officeDocument/2006/relationships/slide" Target="slides/slide26.xml"/><Relationship Id="rId1027" Type="http://schemas.openxmlformats.org/officeDocument/2006/relationships/slide" Target="slides/slide27.xml"/><Relationship Id="rId1028" Type="http://schemas.openxmlformats.org/officeDocument/2006/relationships/slide" Target="slides/slide28.xml"/><Relationship Id="rId1029" Type="http://schemas.openxmlformats.org/officeDocument/2006/relationships/slide" Target="slides/slide29.xml"/><Relationship Id="rId1030" Type="http://schemas.openxmlformats.org/officeDocument/2006/relationships/slide" Target="slides/slide30.xml"/><Relationship Id="rId1031" Type="http://schemas.openxmlformats.org/officeDocument/2006/relationships/slide" Target="slides/slide31.xml"/><Relationship Id="rId1032" Type="http://schemas.openxmlformats.org/officeDocument/2006/relationships/slide" Target="slides/slide3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79488" y="1241425"/>
            <a:ext cx="48387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暫定スコア（現行の複合スコア）に足す「遅く効く素材」の候補として、Bartram–Grinblatt (2018) の Agnostic Fundamental Analysis をインド株で検証した結果のまとめ。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動機 → 方法 → 結果 → 判定の流れで一枚にまとめた。判定は保留（優先度は中）。使うなら Theil–Sen の中立化版を 80:20 で bax に。低回転の利点はスコアを混ぜる形では残らない。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暫定スコアは現行の複合スコア（コード上の名前は comp_ew）。最終的に効くかどうかは 4 段目の税引後ロングオンリーで判断する。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後で見返したときのための定義集。超過リターンは月次差の算術平均 × 12 で、複利ではない。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税は月次の近似ではなく、ロットごとの取得日と取得単価を追って計算している。損益は税務年度内で通算し、損失は 8 年繰り越す。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暫定スコアの弱点は売買の速さ。12 か月先でも IC は 1 か月の約半分が残るのに、回転率は年 4 倍で、売却の 8 割が短期課税になる。遅く効く独立な素材を混ぜれば、これを和らげられると考えた。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Bartram &amp; Grinblatt (2018, JFE) の手順をそのまま使う。理論やファクターを仮定せず、時価総額を財務項目の金額に回帰するだけなので、暫定スコアとは独立な情報になることも期待した。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評価ノートで最初に置いた問い。仮説が正しければ、それぞれ右の結果が出るはず。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論文は Compustat の金額を使うが、手元の core は比率なので金額に戻している。外れ値の閾値は各月、その月までのデータだけで決めるので先読みはない。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公正価値の推定式。線形は金額のまま回帰（論文どおり）、木は対数と比率で学習して指数で戻す。外れ値は総資産比で、その月までの全履歴の分位点でクリップする。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論文は学習に使った銘柄そのものの公正価値を出す（in-sample）。機械学習は in-sample だと自社の時価総額を覚えてしまうので、5 分割の交差推定にした。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生のスコアは時価総額が分母なので小型ほど割安に出る（結果で確認）。中立化でそれを除き、さらに論文の 1 年保有を近似する 12 か月平均版を作った。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公正価値が時価総額をどれだけ説明するか。in-sample の論文 OLS・Theil–Sen は R² 0.87 で論文（0.93）に近い。交差推定では R² は下がるが、順位では木のモデルが最も良い。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係数を見る前の注意。総資産・負債・純資産は会計上の恒等式でほぼ一直線に並び、利益の項目（純利益・税引前利益・EBIT・キャッシュ利益）も互いに強く相関する。OLS と Theil–Sen の係数は大きな正と負が打ち消し合っている。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各月の標準化係数を、その月の絶対値の合計で割った相対ウェイトの平均。Ridge は罰則の強さが月で大きく変わり、係数全体の大きさが 0.7〜14 の間で動くので、相対ウェイトで比べる。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説明変数ごとの要約。倍率は元の単位の係数（財務項目が 1 増えると時価総額がいくら増えるか、他を一定として）の中央値。共線性があるので、倍率は単独では解釈しない。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の相対ウェイトの 12 か月平均。純利益・EBIT がほぼ全期間で上位。2021〜2023 年は簿価の重みが上がり、純利益の重みは一時マイナスになった。利益剰余金は 2022〜2024 年に大きくマイナス。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乖離率の分母が時価総額なので、生のスコアは小型ほど割安に出る。そのままでは IC が負で使えない。サイズとセクターで中立化すると偏りは消える。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Theil–Sen 版の生と中立化後のスタイル相関。中立化でサイズとボラの偏りが消え、B/P・E/P との正の相関が残る。暫定スコアとはほぼ無相関なので、独立な素材にはなる。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中立化版と 12 か月平均版の単体の成績。IC は暫定スコアの 1/4 程度。固有リターン（スタイルを除いた部分）の IC はほぼ 0 で、予測力はバリューのスタイルから来ている。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Q5−Q1（等ウェイト、翌月 drtn）の月次の単純和。グラフは同じデータからの再計算で、年率の水準は表と少しずれる。全モデルが同じ時期に崩れるのは、中身がバリューのスタイルだから。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年ごとの IC の平均（翌月 drtn）。Theil–Sen 中立化版と LightGBM 中立化版はほぼ同じ年に勝ち負けする。2018〜2019 年が大きく負。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か月先の単月リターンとの IC（中立化版）。当てはまりは木のモデルが最も良いが、予測力は 2〜3 か月で消える。頑健な推定（Theil–Sen）だけが論文どおり長く効いた。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暫定スコアで説明できない予測力は Theil–Sen で残る（残差 IC t 2.6）。スパニングの α は大きく見えるが、β が負なので暫定スコアのリターンの一部が α に入っている。固有リターンでは α は縮む。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どの素材も 80:20 で Q5 超過・税引後はほぼ横ばい。劣化はしないが改善もしない。30% に上げると Q5 超過と税引後は下がる。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80:20 の複合 − 暫定スコアの Q5 EW 超過（固有リターン、年率）を 4 期間に分けた。バリューの効いた時期にだけ上乗せがあり、バリューが負けた時期に大きく足を引っ張る。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か月平均版は単体では回転率が暫定スコアの 4 分の 1。しかし 20% 混ぜたスコアの回転率は暫定スコアと同じ。順位の入れ替わりは暫定スコア側が決めるため。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仮説のうち「長く効く」は確認できた。ただし単体は弱く、中身はバリュー。混ぜても劣化しないので、bax で 80:20 を試す価値はある。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論文の主張のうち「頑健な推定で長く効く」はインドでも再現した。一方、期待した低回転の効果はスコアの混合では消えた。使い方をポートフォリオ側で設計する必要がある。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mura Standard Cover" showMasterSp="0">
  <p:cSld name="Nomura Standard Cov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2"/>
          <p:cNvGrpSpPr/>
          <p:nvPr/>
        </p:nvGrpSpPr>
        <p:grpSpPr>
          <a:xfrm>
            <a:off x="272750" y="-10800"/>
            <a:ext cx="9633285" cy="2528888"/>
            <a:chOff x="272750" y="-15875"/>
            <a:chExt cx="9633285" cy="2528888"/>
          </a:xfrm>
        </p:grpSpPr>
        <p:sp>
          <p:nvSpPr>
            <p:cNvPr id="38" name="Google Shape;38;p2"/>
            <p:cNvSpPr/>
            <p:nvPr/>
          </p:nvSpPr>
          <p:spPr>
            <a:xfrm>
              <a:off x="294975" y="-15875"/>
              <a:ext cx="9563100" cy="2509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94975" y="-1270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997025" y="-3175"/>
              <a:ext cx="5909010" cy="2516188"/>
            </a:xfrm>
            <a:custGeom>
              <a:rect b="b" l="l" r="r" t="t"/>
              <a:pathLst>
                <a:path extrusionOk="0" h="10000" w="10328">
                  <a:moveTo>
                    <a:pt x="0" y="3129"/>
                  </a:moveTo>
                  <a:lnTo>
                    <a:pt x="1340" y="10000"/>
                  </a:lnTo>
                  <a:lnTo>
                    <a:pt x="10328" y="10000"/>
                  </a:lnTo>
                  <a:lnTo>
                    <a:pt x="10328" y="0"/>
                  </a:lnTo>
                  <a:lnTo>
                    <a:pt x="594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481088" y="11699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261888" y="8270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330275" y="-317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654125" y="-317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981025" y="-317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631775" y="-317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585613" y="-317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2750" y="-317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50" name="Google Shape;50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2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"/>
          <p:cNvSpPr txBox="1"/>
          <p:nvPr>
            <p:ph idx="2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"/>
          <p:cNvSpPr txBox="1"/>
          <p:nvPr>
            <p:ph idx="3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"/>
          <p:cNvSpPr txBox="1"/>
          <p:nvPr/>
        </p:nvSpPr>
        <p:spPr>
          <a:xfrm>
            <a:off x="7374363" y="6315223"/>
            <a:ext cx="2238375" cy="138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PRIVATE AND CONFIDENTIAL</a:t>
            </a:r>
            <a:endParaRPr/>
          </a:p>
        </p:txBody>
      </p:sp>
      <p:sp>
        <p:nvSpPr>
          <p:cNvPr id="56" name="Google Shape;56;p2"/>
          <p:cNvSpPr txBox="1"/>
          <p:nvPr>
            <p:ph type="title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"/>
          <p:cNvSpPr txBox="1"/>
          <p:nvPr>
            <p:ph idx="4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"/>
          <p:cNvSpPr txBox="1"/>
          <p:nvPr>
            <p:ph idx="5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"/>
          <p:cNvSpPr txBox="1"/>
          <p:nvPr/>
        </p:nvSpPr>
        <p:spPr>
          <a:xfrm>
            <a:off x="9085350" y="6577299"/>
            <a:ext cx="52738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Nomura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" showMasterSp="0">
  <p:cSld name="Tab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3"/>
          <p:cNvGrpSpPr/>
          <p:nvPr/>
        </p:nvGrpSpPr>
        <p:grpSpPr>
          <a:xfrm>
            <a:off x="228599" y="-3600"/>
            <a:ext cx="9676800" cy="3555366"/>
            <a:chOff x="266700" y="0"/>
            <a:chExt cx="9647238" cy="3540126"/>
          </a:xfrm>
        </p:grpSpPr>
        <p:sp>
          <p:nvSpPr>
            <p:cNvPr id="62" name="Google Shape;62;p3"/>
            <p:cNvSpPr/>
            <p:nvPr/>
          </p:nvSpPr>
          <p:spPr>
            <a:xfrm>
              <a:off x="266700" y="0"/>
              <a:ext cx="9647238" cy="354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4282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2758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62692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61168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11658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308610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08603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13131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10845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63569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90909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60521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1574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21193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1242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6670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266400" y="3600000"/>
            <a:ext cx="7821613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66400" y="4608000"/>
            <a:ext cx="7821613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NOMURA_A4_PMS_1797.emf" id="85" name="Google Shape;8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55804" y="306904"/>
            <a:ext cx="1260000" cy="222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>
  <p:cSld name="タイトルのみ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9001" name="Title"/>
          <p:cNvSpPr>
            <a:spLocks noGrp="1"/>
          </p:cNvSpPr>
          <p:nvPr>
            <p:ph type="title"/>
          </p:nvPr>
        </p:nvSpPr>
        <p:spPr>
          <a:xfrm>
            <a:off x="1897202" y="57600"/>
            <a:ext cx="6336000" cy="720000"/>
          </a:xfrm>
          <a:prstGeom prst="rect">
            <a:avLst/>
          </a:prstGeom>
        </p:spPr>
        <p:txBody>
          <a:bodyPr wrap="square" lIns="91425" tIns="45700" rIns="91425" bIns="45700" anchor="b">
            <a:noAutofit/>
          </a:bodyPr>
          <a:lstStyle>
            <a:lvl1pPr algn="l">
              <a:defRPr sz="1800" b="1">
                <a:solidFill>
                  <a:schemeClr val="dk1"/>
                </a:solidFill>
              </a:defRPr>
            </a:lvl1pPr>
          </a:lstStyle>
          <a:p>
            <a:r>
              <a:rPr lang="ja-JP"/>
              <a:t>タイトル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idx="11" type="ftr"/>
          </p:nvPr>
        </p:nvSpPr>
        <p:spPr>
          <a:xfrm>
            <a:off x="8834400" y="6523049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5"/>
          <p:cNvSpPr txBox="1"/>
          <p:nvPr>
            <p:ph idx="2" type="body"/>
          </p:nvPr>
        </p:nvSpPr>
        <p:spPr>
          <a:xfrm>
            <a:off x="266400" y="1025041"/>
            <a:ext cx="9360000" cy="473622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648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⮚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⮚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 showMasterSp="0">
  <p:cSld name="Appendix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228599" y="-3600"/>
            <a:ext cx="9676800" cy="3555366"/>
            <a:chOff x="266700" y="0"/>
            <a:chExt cx="9647238" cy="3540126"/>
          </a:xfrm>
        </p:grpSpPr>
        <p:sp>
          <p:nvSpPr>
            <p:cNvPr id="95" name="Google Shape;95;p6"/>
            <p:cNvSpPr/>
            <p:nvPr/>
          </p:nvSpPr>
          <p:spPr>
            <a:xfrm>
              <a:off x="266700" y="0"/>
              <a:ext cx="9647238" cy="354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484282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82758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462692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461168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11658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308610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508603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413131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410845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363569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90909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360521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21574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21193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1242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26670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6"/>
          <p:cNvSpPr/>
          <p:nvPr/>
        </p:nvSpPr>
        <p:spPr>
          <a:xfrm>
            <a:off x="-4" y="-1"/>
            <a:ext cx="9906004" cy="3495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205921" y="3165"/>
            <a:ext cx="4700079" cy="3495684"/>
          </a:xfrm>
          <a:custGeom>
            <a:rect b="b" l="l" r="r" t="t"/>
            <a:pathLst>
              <a:path extrusionOk="0" h="2208" w="2964">
                <a:moveTo>
                  <a:pt x="2964" y="2208"/>
                </a:moveTo>
                <a:lnTo>
                  <a:pt x="980" y="2208"/>
                </a:lnTo>
                <a:lnTo>
                  <a:pt x="0" y="0"/>
                </a:lnTo>
                <a:lnTo>
                  <a:pt x="2964" y="0"/>
                </a:lnTo>
                <a:lnTo>
                  <a:pt x="2964" y="2208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947448" y="1622769"/>
            <a:ext cx="1344692" cy="1876081"/>
          </a:xfrm>
          <a:custGeom>
            <a:rect b="b" l="l" r="r" t="t"/>
            <a:pathLst>
              <a:path extrusionOk="0" h="1185" w="848">
                <a:moveTo>
                  <a:pt x="321" y="0"/>
                </a:moveTo>
                <a:lnTo>
                  <a:pt x="0" y="746"/>
                </a:lnTo>
                <a:lnTo>
                  <a:pt x="189" y="1185"/>
                </a:lnTo>
                <a:lnTo>
                  <a:pt x="848" y="1185"/>
                </a:lnTo>
                <a:lnTo>
                  <a:pt x="321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-3175" y="3165"/>
            <a:ext cx="6160529" cy="3495684"/>
          </a:xfrm>
          <a:custGeom>
            <a:rect b="b" l="l" r="r" t="t"/>
            <a:pathLst>
              <a:path extrusionOk="0" h="2208" w="3885">
                <a:moveTo>
                  <a:pt x="2327" y="0"/>
                </a:moveTo>
                <a:lnTo>
                  <a:pt x="0" y="0"/>
                </a:lnTo>
                <a:lnTo>
                  <a:pt x="0" y="2208"/>
                </a:lnTo>
                <a:lnTo>
                  <a:pt x="2932" y="2208"/>
                </a:lnTo>
                <a:lnTo>
                  <a:pt x="3122" y="1769"/>
                </a:lnTo>
                <a:lnTo>
                  <a:pt x="2669" y="721"/>
                </a:lnTo>
                <a:lnTo>
                  <a:pt x="2027" y="2208"/>
                </a:lnTo>
                <a:lnTo>
                  <a:pt x="1400" y="2208"/>
                </a:lnTo>
                <a:lnTo>
                  <a:pt x="2327" y="0"/>
                </a:lnTo>
                <a:moveTo>
                  <a:pt x="3885" y="0"/>
                </a:moveTo>
                <a:lnTo>
                  <a:pt x="2981" y="0"/>
                </a:lnTo>
                <a:lnTo>
                  <a:pt x="2988" y="0"/>
                </a:lnTo>
                <a:lnTo>
                  <a:pt x="3443" y="1023"/>
                </a:lnTo>
                <a:lnTo>
                  <a:pt x="3589" y="686"/>
                </a:lnTo>
                <a:lnTo>
                  <a:pt x="3285" y="0"/>
                </a:lnTo>
                <a:lnTo>
                  <a:pt x="3885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205921" y="3165"/>
            <a:ext cx="951433" cy="1086068"/>
          </a:xfrm>
          <a:custGeom>
            <a:rect b="b" l="l" r="r" t="t"/>
            <a:pathLst>
              <a:path extrusionOk="0" h="686" w="600">
                <a:moveTo>
                  <a:pt x="600" y="0"/>
                </a:moveTo>
                <a:lnTo>
                  <a:pt x="0" y="0"/>
                </a:lnTo>
                <a:lnTo>
                  <a:pt x="304" y="686"/>
                </a:lnTo>
                <a:lnTo>
                  <a:pt x="60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229117" y="3165"/>
            <a:ext cx="1227349" cy="2800664"/>
          </a:xfrm>
          <a:custGeom>
            <a:rect b="b" l="l" r="r" t="t"/>
            <a:pathLst>
              <a:path extrusionOk="0" h="1769" w="774">
                <a:moveTo>
                  <a:pt x="319" y="0"/>
                </a:moveTo>
                <a:lnTo>
                  <a:pt x="312" y="0"/>
                </a:lnTo>
                <a:lnTo>
                  <a:pt x="0" y="721"/>
                </a:lnTo>
                <a:lnTo>
                  <a:pt x="453" y="1769"/>
                </a:lnTo>
                <a:lnTo>
                  <a:pt x="774" y="1023"/>
                </a:lnTo>
                <a:lnTo>
                  <a:pt x="319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216835" y="3165"/>
            <a:ext cx="2507026" cy="3495684"/>
          </a:xfrm>
          <a:custGeom>
            <a:rect b="b" l="l" r="r" t="t"/>
            <a:pathLst>
              <a:path extrusionOk="0" h="2208" w="1581">
                <a:moveTo>
                  <a:pt x="1581" y="0"/>
                </a:moveTo>
                <a:lnTo>
                  <a:pt x="927" y="0"/>
                </a:lnTo>
                <a:lnTo>
                  <a:pt x="0" y="2208"/>
                </a:lnTo>
                <a:lnTo>
                  <a:pt x="627" y="2208"/>
                </a:lnTo>
                <a:lnTo>
                  <a:pt x="1269" y="721"/>
                </a:lnTo>
                <a:lnTo>
                  <a:pt x="957" y="0"/>
                </a:lnTo>
                <a:lnTo>
                  <a:pt x="1581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734371" y="3165"/>
            <a:ext cx="989490" cy="1141481"/>
          </a:xfrm>
          <a:custGeom>
            <a:rect b="b" l="l" r="r" t="t"/>
            <a:pathLst>
              <a:path extrusionOk="0" h="721" w="624">
                <a:moveTo>
                  <a:pt x="624" y="0"/>
                </a:moveTo>
                <a:lnTo>
                  <a:pt x="0" y="0"/>
                </a:lnTo>
                <a:lnTo>
                  <a:pt x="312" y="721"/>
                </a:lnTo>
                <a:lnTo>
                  <a:pt x="624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266400" y="3600000"/>
            <a:ext cx="7821613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6"/>
          <p:cNvSpPr txBox="1"/>
          <p:nvPr>
            <p:ph type="title"/>
          </p:nvPr>
        </p:nvSpPr>
        <p:spPr>
          <a:xfrm>
            <a:off x="266400" y="4608000"/>
            <a:ext cx="7821613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NOMURA_A4_PMS_1797.emf" id="126" name="Google Shape;1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55804" y="306904"/>
            <a:ext cx="1260000" cy="222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p_Nomura Standard Cover" showMasterSp="0">
  <p:cSld name="jp_Nomura Standard Cov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7"/>
          <p:cNvGrpSpPr/>
          <p:nvPr/>
        </p:nvGrpSpPr>
        <p:grpSpPr>
          <a:xfrm>
            <a:off x="272750" y="-10800"/>
            <a:ext cx="9633285" cy="2528888"/>
            <a:chOff x="272750" y="-15875"/>
            <a:chExt cx="9633285" cy="2528888"/>
          </a:xfrm>
        </p:grpSpPr>
        <p:sp>
          <p:nvSpPr>
            <p:cNvPr id="129" name="Google Shape;129;p7"/>
            <p:cNvSpPr/>
            <p:nvPr/>
          </p:nvSpPr>
          <p:spPr>
            <a:xfrm>
              <a:off x="294975" y="-15875"/>
              <a:ext cx="9563100" cy="2509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294975" y="-1270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997025" y="-3175"/>
              <a:ext cx="5909010" cy="2516188"/>
            </a:xfrm>
            <a:custGeom>
              <a:rect b="b" l="l" r="r" t="t"/>
              <a:pathLst>
                <a:path extrusionOk="0" h="10000" w="10328">
                  <a:moveTo>
                    <a:pt x="0" y="3129"/>
                  </a:moveTo>
                  <a:lnTo>
                    <a:pt x="1340" y="10000"/>
                  </a:lnTo>
                  <a:lnTo>
                    <a:pt x="10328" y="10000"/>
                  </a:lnTo>
                  <a:lnTo>
                    <a:pt x="10328" y="0"/>
                  </a:lnTo>
                  <a:lnTo>
                    <a:pt x="594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3481088" y="11699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2261888" y="8270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330275" y="-317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654125" y="-317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2981025" y="-317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2631775" y="-317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1585613" y="-317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272750" y="-317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141" name="Google Shape;141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7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7"/>
          <p:cNvSpPr txBox="1"/>
          <p:nvPr>
            <p:ph idx="2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7"/>
          <p:cNvSpPr txBox="1"/>
          <p:nvPr>
            <p:ph idx="3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7"/>
          <p:cNvSpPr txBox="1"/>
          <p:nvPr>
            <p:ph idx="4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7"/>
          <p:cNvSpPr txBox="1"/>
          <p:nvPr>
            <p:ph idx="5" type="body"/>
          </p:nvPr>
        </p:nvSpPr>
        <p:spPr>
          <a:xfrm>
            <a:off x="273050" y="3935952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7"/>
          <p:cNvSpPr txBox="1"/>
          <p:nvPr>
            <p:ph type="title"/>
          </p:nvPr>
        </p:nvSpPr>
        <p:spPr>
          <a:xfrm>
            <a:off x="273050" y="30024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7"/>
          <p:cNvSpPr txBox="1"/>
          <p:nvPr>
            <p:ph idx="6" type="body"/>
          </p:nvPr>
        </p:nvSpPr>
        <p:spPr>
          <a:xfrm>
            <a:off x="273050" y="2590800"/>
            <a:ext cx="720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SzPts val="1400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99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50" name="Google Shape;150;p7"/>
          <p:cNvGrpSpPr/>
          <p:nvPr/>
        </p:nvGrpSpPr>
        <p:grpSpPr>
          <a:xfrm>
            <a:off x="8091510" y="6507956"/>
            <a:ext cx="1517201" cy="178851"/>
            <a:chOff x="3884613" y="4575175"/>
            <a:chExt cx="1589087" cy="187325"/>
          </a:xfrm>
        </p:grpSpPr>
        <p:sp>
          <p:nvSpPr>
            <p:cNvPr id="151" name="Google Shape;151;p7"/>
            <p:cNvSpPr/>
            <p:nvPr/>
          </p:nvSpPr>
          <p:spPr>
            <a:xfrm>
              <a:off x="4991100" y="4578350"/>
              <a:ext cx="87312" cy="184150"/>
            </a:xfrm>
            <a:custGeom>
              <a:rect b="b" l="l" r="r" t="t"/>
              <a:pathLst>
                <a:path extrusionOk="0" h="116" w="55">
                  <a:moveTo>
                    <a:pt x="52" y="102"/>
                  </a:moveTo>
                  <a:lnTo>
                    <a:pt x="52" y="102"/>
                  </a:lnTo>
                  <a:lnTo>
                    <a:pt x="54" y="106"/>
                  </a:lnTo>
                  <a:lnTo>
                    <a:pt x="55" y="109"/>
                  </a:lnTo>
                  <a:lnTo>
                    <a:pt x="55" y="113"/>
                  </a:lnTo>
                  <a:lnTo>
                    <a:pt x="54" y="115"/>
                  </a:lnTo>
                  <a:lnTo>
                    <a:pt x="54" y="115"/>
                  </a:lnTo>
                  <a:lnTo>
                    <a:pt x="51" y="116"/>
                  </a:lnTo>
                  <a:lnTo>
                    <a:pt x="46" y="116"/>
                  </a:lnTo>
                  <a:lnTo>
                    <a:pt x="40" y="114"/>
                  </a:lnTo>
                  <a:lnTo>
                    <a:pt x="35" y="112"/>
                  </a:lnTo>
                  <a:lnTo>
                    <a:pt x="35" y="112"/>
                  </a:lnTo>
                  <a:lnTo>
                    <a:pt x="32" y="108"/>
                  </a:lnTo>
                  <a:lnTo>
                    <a:pt x="28" y="105"/>
                  </a:lnTo>
                  <a:lnTo>
                    <a:pt x="20" y="96"/>
                  </a:lnTo>
                  <a:lnTo>
                    <a:pt x="14" y="84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5" y="55"/>
                  </a:lnTo>
                  <a:lnTo>
                    <a:pt x="2" y="39"/>
                  </a:lnTo>
                  <a:lnTo>
                    <a:pt x="1" y="21"/>
                  </a:lnTo>
                  <a:lnTo>
                    <a:pt x="0" y="0"/>
                  </a:lnTo>
                  <a:lnTo>
                    <a:pt x="21" y="6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20" y="25"/>
                  </a:lnTo>
                  <a:lnTo>
                    <a:pt x="21" y="38"/>
                  </a:lnTo>
                  <a:lnTo>
                    <a:pt x="23" y="51"/>
                  </a:lnTo>
                  <a:lnTo>
                    <a:pt x="25" y="60"/>
                  </a:lnTo>
                  <a:lnTo>
                    <a:pt x="29" y="70"/>
                  </a:lnTo>
                  <a:lnTo>
                    <a:pt x="32" y="77"/>
                  </a:lnTo>
                  <a:lnTo>
                    <a:pt x="36" y="85"/>
                  </a:lnTo>
                  <a:lnTo>
                    <a:pt x="40" y="90"/>
                  </a:lnTo>
                  <a:lnTo>
                    <a:pt x="40" y="90"/>
                  </a:lnTo>
                  <a:lnTo>
                    <a:pt x="44" y="88"/>
                  </a:lnTo>
                  <a:lnTo>
                    <a:pt x="46" y="84"/>
                  </a:lnTo>
                  <a:lnTo>
                    <a:pt x="51" y="73"/>
                  </a:lnTo>
                  <a:lnTo>
                    <a:pt x="51" y="73"/>
                  </a:lnTo>
                  <a:lnTo>
                    <a:pt x="51" y="90"/>
                  </a:lnTo>
                  <a:lnTo>
                    <a:pt x="51" y="97"/>
                  </a:lnTo>
                  <a:lnTo>
                    <a:pt x="52" y="102"/>
                  </a:lnTo>
                  <a:lnTo>
                    <a:pt x="52" y="1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518025" y="4581525"/>
              <a:ext cx="139700" cy="176213"/>
            </a:xfrm>
            <a:custGeom>
              <a:rect b="b" l="l" r="r" t="t"/>
              <a:pathLst>
                <a:path extrusionOk="0" h="111" w="88">
                  <a:moveTo>
                    <a:pt x="88" y="10"/>
                  </a:moveTo>
                  <a:lnTo>
                    <a:pt x="72" y="0"/>
                  </a:lnTo>
                  <a:lnTo>
                    <a:pt x="72" y="0"/>
                  </a:lnTo>
                  <a:lnTo>
                    <a:pt x="63" y="14"/>
                  </a:lnTo>
                  <a:lnTo>
                    <a:pt x="55" y="25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81" y="12"/>
                  </a:lnTo>
                  <a:lnTo>
                    <a:pt x="88" y="10"/>
                  </a:lnTo>
                  <a:close/>
                  <a:moveTo>
                    <a:pt x="46" y="67"/>
                  </a:moveTo>
                  <a:lnTo>
                    <a:pt x="59" y="67"/>
                  </a:lnTo>
                  <a:lnTo>
                    <a:pt x="64" y="62"/>
                  </a:lnTo>
                  <a:lnTo>
                    <a:pt x="75" y="72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69" y="101"/>
                  </a:lnTo>
                  <a:lnTo>
                    <a:pt x="65" y="105"/>
                  </a:lnTo>
                  <a:lnTo>
                    <a:pt x="61" y="110"/>
                  </a:lnTo>
                  <a:lnTo>
                    <a:pt x="58" y="110"/>
                  </a:lnTo>
                  <a:lnTo>
                    <a:pt x="55" y="111"/>
                  </a:lnTo>
                  <a:lnTo>
                    <a:pt x="50" y="111"/>
                  </a:lnTo>
                  <a:lnTo>
                    <a:pt x="50" y="109"/>
                  </a:lnTo>
                  <a:lnTo>
                    <a:pt x="50" y="109"/>
                  </a:lnTo>
                  <a:lnTo>
                    <a:pt x="49" y="105"/>
                  </a:lnTo>
                  <a:lnTo>
                    <a:pt x="48" y="102"/>
                  </a:lnTo>
                  <a:lnTo>
                    <a:pt x="48" y="101"/>
                  </a:lnTo>
                  <a:lnTo>
                    <a:pt x="48" y="101"/>
                  </a:lnTo>
                  <a:lnTo>
                    <a:pt x="48" y="101"/>
                  </a:lnTo>
                  <a:lnTo>
                    <a:pt x="44" y="95"/>
                  </a:lnTo>
                  <a:lnTo>
                    <a:pt x="52" y="95"/>
                  </a:lnTo>
                  <a:lnTo>
                    <a:pt x="52" y="95"/>
                  </a:lnTo>
                  <a:lnTo>
                    <a:pt x="55" y="94"/>
                  </a:lnTo>
                  <a:lnTo>
                    <a:pt x="56" y="92"/>
                  </a:lnTo>
                  <a:lnTo>
                    <a:pt x="57" y="91"/>
                  </a:lnTo>
                  <a:lnTo>
                    <a:pt x="58" y="89"/>
                  </a:lnTo>
                  <a:lnTo>
                    <a:pt x="60" y="76"/>
                  </a:lnTo>
                  <a:lnTo>
                    <a:pt x="60" y="75"/>
                  </a:lnTo>
                  <a:lnTo>
                    <a:pt x="59" y="75"/>
                  </a:lnTo>
                  <a:lnTo>
                    <a:pt x="42" y="75"/>
                  </a:lnTo>
                  <a:lnTo>
                    <a:pt x="41" y="75"/>
                  </a:lnTo>
                  <a:lnTo>
                    <a:pt x="41" y="76"/>
                  </a:lnTo>
                  <a:lnTo>
                    <a:pt x="41" y="76"/>
                  </a:lnTo>
                  <a:lnTo>
                    <a:pt x="39" y="83"/>
                  </a:lnTo>
                  <a:lnTo>
                    <a:pt x="34" y="89"/>
                  </a:lnTo>
                  <a:lnTo>
                    <a:pt x="30" y="96"/>
                  </a:lnTo>
                  <a:lnTo>
                    <a:pt x="25" y="101"/>
                  </a:lnTo>
                  <a:lnTo>
                    <a:pt x="25" y="101"/>
                  </a:lnTo>
                  <a:lnTo>
                    <a:pt x="19" y="104"/>
                  </a:lnTo>
                  <a:lnTo>
                    <a:pt x="13" y="106"/>
                  </a:lnTo>
                  <a:lnTo>
                    <a:pt x="7" y="10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8" y="104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7" y="95"/>
                  </a:lnTo>
                  <a:lnTo>
                    <a:pt x="20" y="89"/>
                  </a:lnTo>
                  <a:lnTo>
                    <a:pt x="24" y="83"/>
                  </a:lnTo>
                  <a:lnTo>
                    <a:pt x="26" y="76"/>
                  </a:lnTo>
                  <a:lnTo>
                    <a:pt x="26" y="75"/>
                  </a:lnTo>
                  <a:lnTo>
                    <a:pt x="25" y="75"/>
                  </a:lnTo>
                  <a:lnTo>
                    <a:pt x="17" y="75"/>
                  </a:lnTo>
                  <a:lnTo>
                    <a:pt x="14" y="67"/>
                  </a:lnTo>
                  <a:lnTo>
                    <a:pt x="46" y="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3979863" y="4578350"/>
              <a:ext cx="90487" cy="115888"/>
            </a:xfrm>
            <a:custGeom>
              <a:rect b="b" l="l" r="r" t="t"/>
              <a:pathLst>
                <a:path extrusionOk="0" h="73" w="57">
                  <a:moveTo>
                    <a:pt x="24" y="29"/>
                  </a:moveTo>
                  <a:lnTo>
                    <a:pt x="24" y="29"/>
                  </a:lnTo>
                  <a:lnTo>
                    <a:pt x="38" y="21"/>
                  </a:lnTo>
                  <a:lnTo>
                    <a:pt x="53" y="10"/>
                  </a:lnTo>
                  <a:lnTo>
                    <a:pt x="40" y="0"/>
                  </a:lnTo>
                  <a:lnTo>
                    <a:pt x="34" y="5"/>
                  </a:lnTo>
                  <a:lnTo>
                    <a:pt x="0" y="5"/>
                  </a:lnTo>
                  <a:lnTo>
                    <a:pt x="2" y="13"/>
                  </a:lnTo>
                  <a:lnTo>
                    <a:pt x="32" y="13"/>
                  </a:lnTo>
                  <a:lnTo>
                    <a:pt x="32" y="13"/>
                  </a:lnTo>
                  <a:lnTo>
                    <a:pt x="27" y="20"/>
                  </a:lnTo>
                  <a:lnTo>
                    <a:pt x="21" y="26"/>
                  </a:lnTo>
                  <a:lnTo>
                    <a:pt x="24" y="29"/>
                  </a:lnTo>
                  <a:close/>
                  <a:moveTo>
                    <a:pt x="30" y="73"/>
                  </a:moveTo>
                  <a:lnTo>
                    <a:pt x="30" y="73"/>
                  </a:lnTo>
                  <a:lnTo>
                    <a:pt x="36" y="70"/>
                  </a:lnTo>
                  <a:lnTo>
                    <a:pt x="44" y="64"/>
                  </a:lnTo>
                  <a:lnTo>
                    <a:pt x="57" y="53"/>
                  </a:lnTo>
                  <a:lnTo>
                    <a:pt x="44" y="43"/>
                  </a:lnTo>
                  <a:lnTo>
                    <a:pt x="39" y="47"/>
                  </a:lnTo>
                  <a:lnTo>
                    <a:pt x="2" y="47"/>
                  </a:lnTo>
                  <a:lnTo>
                    <a:pt x="3" y="55"/>
                  </a:lnTo>
                  <a:lnTo>
                    <a:pt x="38" y="55"/>
                  </a:lnTo>
                  <a:lnTo>
                    <a:pt x="38" y="55"/>
                  </a:lnTo>
                  <a:lnTo>
                    <a:pt x="35" y="62"/>
                  </a:lnTo>
                  <a:lnTo>
                    <a:pt x="30" y="69"/>
                  </a:lnTo>
                  <a:lnTo>
                    <a:pt x="30" y="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178300" y="4648200"/>
              <a:ext cx="30162" cy="50800"/>
            </a:xfrm>
            <a:custGeom>
              <a:rect b="b" l="l" r="r" t="t"/>
              <a:pathLst>
                <a:path extrusionOk="0" h="32" w="19">
                  <a:moveTo>
                    <a:pt x="3" y="19"/>
                  </a:moveTo>
                  <a:lnTo>
                    <a:pt x="3" y="19"/>
                  </a:lnTo>
                  <a:lnTo>
                    <a:pt x="4" y="26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8" y="31"/>
                  </a:lnTo>
                  <a:lnTo>
                    <a:pt x="11" y="32"/>
                  </a:lnTo>
                  <a:lnTo>
                    <a:pt x="11" y="32"/>
                  </a:lnTo>
                  <a:lnTo>
                    <a:pt x="15" y="31"/>
                  </a:lnTo>
                  <a:lnTo>
                    <a:pt x="17" y="29"/>
                  </a:lnTo>
                  <a:lnTo>
                    <a:pt x="18" y="26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8" y="18"/>
                  </a:lnTo>
                  <a:lnTo>
                    <a:pt x="17" y="15"/>
                  </a:lnTo>
                  <a:lnTo>
                    <a:pt x="13" y="9"/>
                  </a:lnTo>
                  <a:lnTo>
                    <a:pt x="7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6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424363" y="4586288"/>
              <a:ext cx="36512" cy="20638"/>
            </a:xfrm>
            <a:custGeom>
              <a:rect b="b" l="l" r="r" t="t"/>
              <a:pathLst>
                <a:path extrusionOk="0" h="13" w="23">
                  <a:moveTo>
                    <a:pt x="4" y="13"/>
                  </a:moveTo>
                  <a:lnTo>
                    <a:pt x="4" y="13"/>
                  </a:lnTo>
                  <a:lnTo>
                    <a:pt x="13" y="11"/>
                  </a:lnTo>
                  <a:lnTo>
                    <a:pt x="23" y="8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6"/>
                  </a:lnTo>
                  <a:lnTo>
                    <a:pt x="0" y="12"/>
                  </a:lnTo>
                  <a:lnTo>
                    <a:pt x="4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4440238" y="4598988"/>
              <a:ext cx="34925" cy="19050"/>
            </a:xfrm>
            <a:custGeom>
              <a:rect b="b" l="l" r="r" t="t"/>
              <a:pathLst>
                <a:path extrusionOk="0" h="12" w="22">
                  <a:moveTo>
                    <a:pt x="5" y="12"/>
                  </a:moveTo>
                  <a:lnTo>
                    <a:pt x="5" y="12"/>
                  </a:lnTo>
                  <a:lnTo>
                    <a:pt x="22" y="8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8" y="7"/>
                  </a:lnTo>
                  <a:lnTo>
                    <a:pt x="0" y="12"/>
                  </a:lnTo>
                  <a:lnTo>
                    <a:pt x="5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4765675" y="4668838"/>
              <a:ext cx="119062" cy="76200"/>
            </a:xfrm>
            <a:custGeom>
              <a:rect b="b" l="l" r="r" t="t"/>
              <a:pathLst>
                <a:path extrusionOk="0" h="48" w="75">
                  <a:moveTo>
                    <a:pt x="45" y="20"/>
                  </a:moveTo>
                  <a:lnTo>
                    <a:pt x="45" y="20"/>
                  </a:lnTo>
                  <a:lnTo>
                    <a:pt x="54" y="34"/>
                  </a:lnTo>
                  <a:lnTo>
                    <a:pt x="61" y="42"/>
                  </a:lnTo>
                  <a:lnTo>
                    <a:pt x="68" y="48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67" y="25"/>
                  </a:lnTo>
                  <a:lnTo>
                    <a:pt x="59" y="18"/>
                  </a:lnTo>
                  <a:lnTo>
                    <a:pt x="51" y="10"/>
                  </a:lnTo>
                  <a:lnTo>
                    <a:pt x="45" y="0"/>
                  </a:lnTo>
                  <a:lnTo>
                    <a:pt x="45" y="20"/>
                  </a:lnTo>
                  <a:close/>
                  <a:moveTo>
                    <a:pt x="30" y="0"/>
                  </a:moveTo>
                  <a:lnTo>
                    <a:pt x="27" y="0"/>
                  </a:lnTo>
                  <a:lnTo>
                    <a:pt x="27" y="0"/>
                  </a:lnTo>
                  <a:lnTo>
                    <a:pt x="14" y="24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6" y="33"/>
                  </a:lnTo>
                  <a:lnTo>
                    <a:pt x="30" y="2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5402263" y="4578350"/>
              <a:ext cx="30162" cy="168275"/>
            </a:xfrm>
            <a:custGeom>
              <a:rect b="b" l="l" r="r" t="t"/>
              <a:pathLst>
                <a:path extrusionOk="0" h="106" w="19">
                  <a:moveTo>
                    <a:pt x="17" y="106"/>
                  </a:moveTo>
                  <a:lnTo>
                    <a:pt x="17" y="10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9" y="6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7" y="1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5376863" y="4633913"/>
              <a:ext cx="84137" cy="15875"/>
            </a:xfrm>
            <a:custGeom>
              <a:rect b="b" l="l" r="r" t="t"/>
              <a:pathLst>
                <a:path extrusionOk="0" h="10" w="53">
                  <a:moveTo>
                    <a:pt x="41" y="3"/>
                  </a:moveTo>
                  <a:lnTo>
                    <a:pt x="44" y="0"/>
                  </a:lnTo>
                  <a:lnTo>
                    <a:pt x="53" y="7"/>
                  </a:lnTo>
                  <a:lnTo>
                    <a:pt x="49" y="10"/>
                  </a:lnTo>
                  <a:lnTo>
                    <a:pt x="2" y="10"/>
                  </a:lnTo>
                  <a:lnTo>
                    <a:pt x="0" y="3"/>
                  </a:lnTo>
                  <a:lnTo>
                    <a:pt x="41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5360988" y="4740275"/>
              <a:ext cx="112712" cy="17463"/>
            </a:xfrm>
            <a:custGeom>
              <a:rect b="b" l="l" r="r" t="t"/>
              <a:pathLst>
                <a:path extrusionOk="0" h="11" w="71">
                  <a:moveTo>
                    <a:pt x="58" y="2"/>
                  </a:moveTo>
                  <a:lnTo>
                    <a:pt x="61" y="0"/>
                  </a:lnTo>
                  <a:lnTo>
                    <a:pt x="71" y="6"/>
                  </a:lnTo>
                  <a:lnTo>
                    <a:pt x="67" y="11"/>
                  </a:lnTo>
                  <a:lnTo>
                    <a:pt x="3" y="11"/>
                  </a:lnTo>
                  <a:lnTo>
                    <a:pt x="0" y="2"/>
                  </a:lnTo>
                  <a:lnTo>
                    <a:pt x="58" y="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5322888" y="4659313"/>
              <a:ext cx="25400" cy="98425"/>
            </a:xfrm>
            <a:custGeom>
              <a:rect b="b" l="l" r="r" t="t"/>
              <a:pathLst>
                <a:path extrusionOk="0" h="62" w="16">
                  <a:moveTo>
                    <a:pt x="16" y="0"/>
                  </a:moveTo>
                  <a:lnTo>
                    <a:pt x="16" y="62"/>
                  </a:lnTo>
                  <a:lnTo>
                    <a:pt x="0" y="62"/>
                  </a:lnTo>
                  <a:lnTo>
                    <a:pt x="0" y="1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5284788" y="4578350"/>
              <a:ext cx="92075" cy="138113"/>
            </a:xfrm>
            <a:custGeom>
              <a:rect b="b" l="l" r="r" t="t"/>
              <a:pathLst>
                <a:path extrusionOk="0" h="87" w="58">
                  <a:moveTo>
                    <a:pt x="43" y="26"/>
                  </a:moveTo>
                  <a:lnTo>
                    <a:pt x="40" y="26"/>
                  </a:lnTo>
                  <a:lnTo>
                    <a:pt x="40" y="9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8" y="35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28" y="47"/>
                  </a:lnTo>
                  <a:lnTo>
                    <a:pt x="21" y="60"/>
                  </a:lnTo>
                  <a:lnTo>
                    <a:pt x="11" y="74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2" y="81"/>
                  </a:lnTo>
                  <a:lnTo>
                    <a:pt x="23" y="73"/>
                  </a:lnTo>
                  <a:lnTo>
                    <a:pt x="32" y="63"/>
                  </a:lnTo>
                  <a:lnTo>
                    <a:pt x="41" y="54"/>
                  </a:lnTo>
                  <a:lnTo>
                    <a:pt x="41" y="54"/>
                  </a:lnTo>
                  <a:lnTo>
                    <a:pt x="47" y="44"/>
                  </a:lnTo>
                  <a:lnTo>
                    <a:pt x="54" y="35"/>
                  </a:lnTo>
                  <a:lnTo>
                    <a:pt x="54" y="35"/>
                  </a:lnTo>
                  <a:lnTo>
                    <a:pt x="54" y="35"/>
                  </a:lnTo>
                  <a:lnTo>
                    <a:pt x="58" y="29"/>
                  </a:lnTo>
                  <a:lnTo>
                    <a:pt x="48" y="22"/>
                  </a:lnTo>
                  <a:lnTo>
                    <a:pt x="43" y="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5343525" y="4665663"/>
              <a:ext cx="36512" cy="38100"/>
            </a:xfrm>
            <a:custGeom>
              <a:rect b="b" l="l" r="r" t="t"/>
              <a:pathLst>
                <a:path extrusionOk="0" h="24" w="23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3" y="2"/>
                  </a:lnTo>
                  <a:lnTo>
                    <a:pt x="17" y="5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5" y="24"/>
                  </a:lnTo>
                  <a:lnTo>
                    <a:pt x="13" y="22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5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4749800" y="4640263"/>
              <a:ext cx="34925" cy="39688"/>
            </a:xfrm>
            <a:custGeom>
              <a:rect b="b" l="l" r="r" t="t"/>
              <a:pathLst>
                <a:path extrusionOk="0" h="25" w="22">
                  <a:moveTo>
                    <a:pt x="0" y="0"/>
                  </a:moveTo>
                  <a:lnTo>
                    <a:pt x="0" y="0"/>
                  </a:lnTo>
                  <a:lnTo>
                    <a:pt x="7" y="1"/>
                  </a:lnTo>
                  <a:lnTo>
                    <a:pt x="12" y="3"/>
                  </a:lnTo>
                  <a:lnTo>
                    <a:pt x="16" y="6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22" y="15"/>
                  </a:lnTo>
                  <a:lnTo>
                    <a:pt x="22" y="17"/>
                  </a:lnTo>
                  <a:lnTo>
                    <a:pt x="21" y="20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6" y="25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5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5024438" y="4575175"/>
              <a:ext cx="39687" cy="34925"/>
            </a:xfrm>
            <a:custGeom>
              <a:rect b="b" l="l" r="r" t="t"/>
              <a:pathLst>
                <a:path extrusionOk="0" h="22" w="25">
                  <a:moveTo>
                    <a:pt x="0" y="0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15" y="1"/>
                  </a:lnTo>
                  <a:lnTo>
                    <a:pt x="19" y="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5" y="11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18" y="20"/>
                  </a:lnTo>
                  <a:lnTo>
                    <a:pt x="15" y="22"/>
                  </a:lnTo>
                  <a:lnTo>
                    <a:pt x="12" y="19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5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5094288" y="4576763"/>
              <a:ext cx="100012" cy="84138"/>
            </a:xfrm>
            <a:custGeom>
              <a:rect b="b" l="l" r="r" t="t"/>
              <a:pathLst>
                <a:path extrusionOk="0" h="53" w="63">
                  <a:moveTo>
                    <a:pt x="63" y="4"/>
                  </a:moveTo>
                  <a:lnTo>
                    <a:pt x="63" y="4"/>
                  </a:lnTo>
                  <a:lnTo>
                    <a:pt x="47" y="23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24" y="42"/>
                  </a:lnTo>
                  <a:lnTo>
                    <a:pt x="16" y="47"/>
                  </a:lnTo>
                  <a:lnTo>
                    <a:pt x="8" y="51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5" y="38"/>
                  </a:lnTo>
                  <a:lnTo>
                    <a:pt x="27" y="25"/>
                  </a:lnTo>
                  <a:lnTo>
                    <a:pt x="27" y="25"/>
                  </a:lnTo>
                  <a:lnTo>
                    <a:pt x="35" y="13"/>
                  </a:lnTo>
                  <a:lnTo>
                    <a:pt x="43" y="0"/>
                  </a:lnTo>
                  <a:lnTo>
                    <a:pt x="63" y="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5181600" y="4586288"/>
              <a:ext cx="96837" cy="77788"/>
            </a:xfrm>
            <a:custGeom>
              <a:rect b="b" l="l" r="r" t="t"/>
              <a:pathLst>
                <a:path extrusionOk="0" h="49" w="61">
                  <a:moveTo>
                    <a:pt x="4" y="0"/>
                  </a:moveTo>
                  <a:lnTo>
                    <a:pt x="4" y="0"/>
                  </a:lnTo>
                  <a:lnTo>
                    <a:pt x="17" y="10"/>
                  </a:lnTo>
                  <a:lnTo>
                    <a:pt x="32" y="19"/>
                  </a:lnTo>
                  <a:lnTo>
                    <a:pt x="46" y="27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56" y="41"/>
                  </a:lnTo>
                  <a:lnTo>
                    <a:pt x="52" y="49"/>
                  </a:lnTo>
                  <a:lnTo>
                    <a:pt x="52" y="49"/>
                  </a:lnTo>
                  <a:lnTo>
                    <a:pt x="35" y="38"/>
                  </a:lnTo>
                  <a:lnTo>
                    <a:pt x="21" y="27"/>
                  </a:lnTo>
                  <a:lnTo>
                    <a:pt x="9" y="16"/>
                  </a:lnTo>
                  <a:lnTo>
                    <a:pt x="5" y="9"/>
                  </a:lnTo>
                  <a:lnTo>
                    <a:pt x="0" y="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4905375" y="4652963"/>
              <a:ext cx="90487" cy="20638"/>
            </a:xfrm>
            <a:custGeom>
              <a:rect b="b" l="l" r="r" t="t"/>
              <a:pathLst>
                <a:path extrusionOk="0" h="13" w="57">
                  <a:moveTo>
                    <a:pt x="3" y="13"/>
                  </a:moveTo>
                  <a:lnTo>
                    <a:pt x="53" y="13"/>
                  </a:lnTo>
                  <a:lnTo>
                    <a:pt x="57" y="9"/>
                  </a:lnTo>
                  <a:lnTo>
                    <a:pt x="47" y="0"/>
                  </a:lnTo>
                  <a:lnTo>
                    <a:pt x="42" y="5"/>
                  </a:lnTo>
                  <a:lnTo>
                    <a:pt x="0" y="5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4787900" y="4616450"/>
              <a:ext cx="85725" cy="17463"/>
            </a:xfrm>
            <a:custGeom>
              <a:rect b="b" l="l" r="r" t="t"/>
              <a:pathLst>
                <a:path extrusionOk="0" h="11" w="54">
                  <a:moveTo>
                    <a:pt x="0" y="11"/>
                  </a:moveTo>
                  <a:lnTo>
                    <a:pt x="50" y="11"/>
                  </a:lnTo>
                  <a:lnTo>
                    <a:pt x="54" y="6"/>
                  </a:lnTo>
                  <a:lnTo>
                    <a:pt x="45" y="0"/>
                  </a:lnTo>
                  <a:lnTo>
                    <a:pt x="41" y="2"/>
                  </a:lnTo>
                  <a:lnTo>
                    <a:pt x="1" y="2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4699000" y="4616450"/>
              <a:ext cx="82550" cy="17463"/>
            </a:xfrm>
            <a:custGeom>
              <a:rect b="b" l="l" r="r" t="t"/>
              <a:pathLst>
                <a:path extrusionOk="0" h="11" w="52">
                  <a:moveTo>
                    <a:pt x="2" y="11"/>
                  </a:moveTo>
                  <a:lnTo>
                    <a:pt x="47" y="11"/>
                  </a:lnTo>
                  <a:lnTo>
                    <a:pt x="52" y="6"/>
                  </a:lnTo>
                  <a:lnTo>
                    <a:pt x="42" y="0"/>
                  </a:lnTo>
                  <a:lnTo>
                    <a:pt x="39" y="2"/>
                  </a:lnTo>
                  <a:lnTo>
                    <a:pt x="0" y="2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4510088" y="4614863"/>
              <a:ext cx="155575" cy="19050"/>
            </a:xfrm>
            <a:custGeom>
              <a:rect b="b" l="l" r="r" t="t"/>
              <a:pathLst>
                <a:path extrusionOk="0" h="12" w="98">
                  <a:moveTo>
                    <a:pt x="2" y="12"/>
                  </a:moveTo>
                  <a:lnTo>
                    <a:pt x="94" y="12"/>
                  </a:lnTo>
                  <a:lnTo>
                    <a:pt x="98" y="7"/>
                  </a:lnTo>
                  <a:lnTo>
                    <a:pt x="88" y="0"/>
                  </a:lnTo>
                  <a:lnTo>
                    <a:pt x="83" y="3"/>
                  </a:lnTo>
                  <a:lnTo>
                    <a:pt x="0" y="3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4498975" y="4648200"/>
              <a:ext cx="180975" cy="20638"/>
            </a:xfrm>
            <a:custGeom>
              <a:rect b="b" l="l" r="r" t="t"/>
              <a:pathLst>
                <a:path extrusionOk="0" h="13" w="114">
                  <a:moveTo>
                    <a:pt x="3" y="13"/>
                  </a:moveTo>
                  <a:lnTo>
                    <a:pt x="109" y="13"/>
                  </a:lnTo>
                  <a:lnTo>
                    <a:pt x="114" y="9"/>
                  </a:lnTo>
                  <a:lnTo>
                    <a:pt x="104" y="0"/>
                  </a:lnTo>
                  <a:lnTo>
                    <a:pt x="99" y="4"/>
                  </a:lnTo>
                  <a:lnTo>
                    <a:pt x="0" y="4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4510088" y="4614863"/>
              <a:ext cx="155575" cy="19050"/>
            </a:xfrm>
            <a:custGeom>
              <a:rect b="b" l="l" r="r" t="t"/>
              <a:pathLst>
                <a:path extrusionOk="0" h="12" w="98">
                  <a:moveTo>
                    <a:pt x="2" y="12"/>
                  </a:moveTo>
                  <a:lnTo>
                    <a:pt x="94" y="12"/>
                  </a:lnTo>
                  <a:lnTo>
                    <a:pt x="98" y="7"/>
                  </a:lnTo>
                  <a:lnTo>
                    <a:pt x="88" y="0"/>
                  </a:lnTo>
                  <a:lnTo>
                    <a:pt x="83" y="3"/>
                  </a:lnTo>
                  <a:lnTo>
                    <a:pt x="0" y="3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4295775" y="4586288"/>
              <a:ext cx="65087" cy="15875"/>
            </a:xfrm>
            <a:custGeom>
              <a:rect b="b" l="l" r="r" t="t"/>
              <a:pathLst>
                <a:path extrusionOk="0" h="10" w="41">
                  <a:moveTo>
                    <a:pt x="4" y="10"/>
                  </a:moveTo>
                  <a:lnTo>
                    <a:pt x="38" y="10"/>
                  </a:lnTo>
                  <a:lnTo>
                    <a:pt x="41" y="6"/>
                  </a:lnTo>
                  <a:lnTo>
                    <a:pt x="32" y="0"/>
                  </a:lnTo>
                  <a:lnTo>
                    <a:pt x="29" y="2"/>
                  </a:lnTo>
                  <a:lnTo>
                    <a:pt x="0" y="2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4386263" y="4637088"/>
              <a:ext cx="63500" cy="15875"/>
            </a:xfrm>
            <a:custGeom>
              <a:rect b="b" l="l" r="r" t="t"/>
              <a:pathLst>
                <a:path extrusionOk="0" h="10" w="40">
                  <a:moveTo>
                    <a:pt x="2" y="10"/>
                  </a:moveTo>
                  <a:lnTo>
                    <a:pt x="36" y="10"/>
                  </a:lnTo>
                  <a:lnTo>
                    <a:pt x="40" y="6"/>
                  </a:lnTo>
                  <a:lnTo>
                    <a:pt x="31" y="0"/>
                  </a:lnTo>
                  <a:lnTo>
                    <a:pt x="28" y="2"/>
                  </a:lnTo>
                  <a:lnTo>
                    <a:pt x="0" y="2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4370388" y="4583113"/>
              <a:ext cx="49212" cy="14288"/>
            </a:xfrm>
            <a:custGeom>
              <a:rect b="b" l="l" r="r" t="t"/>
              <a:pathLst>
                <a:path extrusionOk="0" h="9" w="31">
                  <a:moveTo>
                    <a:pt x="28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31" y="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4370388" y="4583113"/>
              <a:ext cx="49212" cy="14288"/>
            </a:xfrm>
            <a:custGeom>
              <a:rect b="b" l="l" r="r" t="t"/>
              <a:pathLst>
                <a:path extrusionOk="0" h="9" w="31">
                  <a:moveTo>
                    <a:pt x="28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31" y="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4295775" y="4641850"/>
              <a:ext cx="69850" cy="17463"/>
            </a:xfrm>
            <a:custGeom>
              <a:rect b="b" l="l" r="r" t="t"/>
              <a:pathLst>
                <a:path extrusionOk="0" h="11" w="44">
                  <a:moveTo>
                    <a:pt x="4" y="11"/>
                  </a:moveTo>
                  <a:lnTo>
                    <a:pt x="40" y="11"/>
                  </a:lnTo>
                  <a:lnTo>
                    <a:pt x="44" y="7"/>
                  </a:lnTo>
                  <a:lnTo>
                    <a:pt x="35" y="0"/>
                  </a:lnTo>
                  <a:lnTo>
                    <a:pt x="31" y="3"/>
                  </a:lnTo>
                  <a:lnTo>
                    <a:pt x="0" y="3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4295775" y="4668838"/>
              <a:ext cx="69850" cy="17463"/>
            </a:xfrm>
            <a:custGeom>
              <a:rect b="b" l="l" r="r" t="t"/>
              <a:pathLst>
                <a:path extrusionOk="0" h="11" w="44">
                  <a:moveTo>
                    <a:pt x="4" y="11"/>
                  </a:moveTo>
                  <a:lnTo>
                    <a:pt x="40" y="11"/>
                  </a:lnTo>
                  <a:lnTo>
                    <a:pt x="44" y="7"/>
                  </a:lnTo>
                  <a:lnTo>
                    <a:pt x="35" y="0"/>
                  </a:lnTo>
                  <a:lnTo>
                    <a:pt x="31" y="3"/>
                  </a:lnTo>
                  <a:lnTo>
                    <a:pt x="0" y="3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4370388" y="4737100"/>
              <a:ext cx="104775" cy="19050"/>
            </a:xfrm>
            <a:custGeom>
              <a:rect b="b" l="l" r="r" t="t"/>
              <a:pathLst>
                <a:path extrusionOk="0" h="12" w="66">
                  <a:moveTo>
                    <a:pt x="4" y="12"/>
                  </a:moveTo>
                  <a:lnTo>
                    <a:pt x="64" y="12"/>
                  </a:lnTo>
                  <a:lnTo>
                    <a:pt x="66" y="9"/>
                  </a:lnTo>
                  <a:lnTo>
                    <a:pt x="55" y="0"/>
                  </a:lnTo>
                  <a:lnTo>
                    <a:pt x="50" y="4"/>
                  </a:lnTo>
                  <a:lnTo>
                    <a:pt x="0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291013" y="4611688"/>
              <a:ext cx="77787" cy="19050"/>
            </a:xfrm>
            <a:custGeom>
              <a:rect b="b" l="l" r="r" t="t"/>
              <a:pathLst>
                <a:path extrusionOk="0" h="12" w="49">
                  <a:moveTo>
                    <a:pt x="2" y="12"/>
                  </a:moveTo>
                  <a:lnTo>
                    <a:pt x="45" y="12"/>
                  </a:lnTo>
                  <a:lnTo>
                    <a:pt x="49" y="8"/>
                  </a:lnTo>
                  <a:lnTo>
                    <a:pt x="39" y="0"/>
                  </a:lnTo>
                  <a:lnTo>
                    <a:pt x="33" y="4"/>
                  </a:lnTo>
                  <a:lnTo>
                    <a:pt x="0" y="4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775200" y="4654550"/>
              <a:ext cx="104775" cy="19050"/>
            </a:xfrm>
            <a:custGeom>
              <a:rect b="b" l="l" r="r" t="t"/>
              <a:pathLst>
                <a:path extrusionOk="0" h="12" w="66">
                  <a:moveTo>
                    <a:pt x="0" y="12"/>
                  </a:moveTo>
                  <a:lnTo>
                    <a:pt x="62" y="12"/>
                  </a:lnTo>
                  <a:lnTo>
                    <a:pt x="66" y="8"/>
                  </a:lnTo>
                  <a:lnTo>
                    <a:pt x="57" y="0"/>
                  </a:lnTo>
                  <a:lnTo>
                    <a:pt x="54" y="4"/>
                  </a:lnTo>
                  <a:lnTo>
                    <a:pt x="1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902200" y="4611688"/>
              <a:ext cx="169862" cy="22225"/>
            </a:xfrm>
            <a:custGeom>
              <a:rect b="b" l="l" r="r" t="t"/>
              <a:pathLst>
                <a:path extrusionOk="0" h="14" w="107">
                  <a:moveTo>
                    <a:pt x="2" y="14"/>
                  </a:moveTo>
                  <a:lnTo>
                    <a:pt x="102" y="14"/>
                  </a:lnTo>
                  <a:lnTo>
                    <a:pt x="107" y="8"/>
                  </a:lnTo>
                  <a:lnTo>
                    <a:pt x="92" y="0"/>
                  </a:lnTo>
                  <a:lnTo>
                    <a:pt x="86" y="5"/>
                  </a:lnTo>
                  <a:lnTo>
                    <a:pt x="0" y="5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113338" y="4667250"/>
              <a:ext cx="144462" cy="19050"/>
            </a:xfrm>
            <a:custGeom>
              <a:rect b="b" l="l" r="r" t="t"/>
              <a:pathLst>
                <a:path extrusionOk="0" h="12" w="91">
                  <a:moveTo>
                    <a:pt x="2" y="12"/>
                  </a:moveTo>
                  <a:lnTo>
                    <a:pt x="87" y="12"/>
                  </a:lnTo>
                  <a:lnTo>
                    <a:pt x="91" y="7"/>
                  </a:lnTo>
                  <a:lnTo>
                    <a:pt x="81" y="0"/>
                  </a:lnTo>
                  <a:lnTo>
                    <a:pt x="76" y="4"/>
                  </a:lnTo>
                  <a:lnTo>
                    <a:pt x="0" y="4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133975" y="4635500"/>
              <a:ext cx="104775" cy="17463"/>
            </a:xfrm>
            <a:custGeom>
              <a:rect b="b" l="l" r="r" t="t"/>
              <a:pathLst>
                <a:path extrusionOk="0" h="11" w="66">
                  <a:moveTo>
                    <a:pt x="3" y="11"/>
                  </a:moveTo>
                  <a:lnTo>
                    <a:pt x="61" y="11"/>
                  </a:lnTo>
                  <a:lnTo>
                    <a:pt x="66" y="6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0" y="3"/>
                  </a:lnTo>
                  <a:lnTo>
                    <a:pt x="3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127625" y="4679950"/>
              <a:ext cx="52387" cy="57150"/>
            </a:xfrm>
            <a:custGeom>
              <a:rect b="b" l="l" r="r" t="t"/>
              <a:pathLst>
                <a:path extrusionOk="0" h="36" w="33">
                  <a:moveTo>
                    <a:pt x="12" y="3"/>
                  </a:moveTo>
                  <a:lnTo>
                    <a:pt x="12" y="3"/>
                  </a:lnTo>
                  <a:lnTo>
                    <a:pt x="8" y="18"/>
                  </a:lnTo>
                  <a:lnTo>
                    <a:pt x="4" y="26"/>
                  </a:lnTo>
                  <a:lnTo>
                    <a:pt x="0" y="34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25" y="18"/>
                  </a:lnTo>
                  <a:lnTo>
                    <a:pt x="33" y="0"/>
                  </a:lnTo>
                  <a:lnTo>
                    <a:pt x="12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106988" y="4727575"/>
              <a:ext cx="134937" cy="30163"/>
            </a:xfrm>
            <a:custGeom>
              <a:rect b="b" l="l" r="r" t="t"/>
              <a:pathLst>
                <a:path extrusionOk="0" h="19" w="85">
                  <a:moveTo>
                    <a:pt x="6" y="19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41" y="3"/>
                  </a:lnTo>
                  <a:lnTo>
                    <a:pt x="80" y="0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45" y="13"/>
                  </a:lnTo>
                  <a:lnTo>
                    <a:pt x="6" y="19"/>
                  </a:lnTo>
                  <a:lnTo>
                    <a:pt x="6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5211763" y="4697413"/>
              <a:ext cx="58737" cy="60325"/>
            </a:xfrm>
            <a:custGeom>
              <a:rect b="b" l="l" r="r" t="t"/>
              <a:pathLst>
                <a:path extrusionOk="0" h="38" w="37">
                  <a:moveTo>
                    <a:pt x="0" y="0"/>
                  </a:moveTo>
                  <a:lnTo>
                    <a:pt x="0" y="0"/>
                  </a:lnTo>
                  <a:lnTo>
                    <a:pt x="6" y="9"/>
                  </a:lnTo>
                  <a:lnTo>
                    <a:pt x="11" y="18"/>
                  </a:lnTo>
                  <a:lnTo>
                    <a:pt x="17" y="29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9" y="31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0" y="17"/>
                  </a:lnTo>
                  <a:lnTo>
                    <a:pt x="22" y="10"/>
                  </a:lnTo>
                  <a:lnTo>
                    <a:pt x="11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4900613" y="4716463"/>
              <a:ext cx="104775" cy="39688"/>
            </a:xfrm>
            <a:custGeom>
              <a:rect b="b" l="l" r="r" t="t"/>
              <a:pathLst>
                <a:path extrusionOk="0" h="25" w="66">
                  <a:moveTo>
                    <a:pt x="8" y="25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17" y="7"/>
                  </a:lnTo>
                  <a:lnTo>
                    <a:pt x="34" y="5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54" y="7"/>
                  </a:lnTo>
                  <a:lnTo>
                    <a:pt x="39" y="15"/>
                  </a:lnTo>
                  <a:lnTo>
                    <a:pt x="24" y="20"/>
                  </a:lnTo>
                  <a:lnTo>
                    <a:pt x="8" y="25"/>
                  </a:lnTo>
                  <a:lnTo>
                    <a:pt x="8" y="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4938713" y="4672013"/>
              <a:ext cx="25400" cy="5873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4811713" y="4578350"/>
              <a:ext cx="30162" cy="179388"/>
            </a:xfrm>
            <a:custGeom>
              <a:rect b="b" l="l" r="r" t="t"/>
              <a:pathLst>
                <a:path extrusionOk="0" h="113" w="19">
                  <a:moveTo>
                    <a:pt x="0" y="113"/>
                  </a:moveTo>
                  <a:lnTo>
                    <a:pt x="0" y="0"/>
                  </a:lnTo>
                  <a:lnTo>
                    <a:pt x="19" y="6"/>
                  </a:lnTo>
                  <a:lnTo>
                    <a:pt x="17" y="9"/>
                  </a:lnTo>
                  <a:lnTo>
                    <a:pt x="17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4727575" y="4578350"/>
              <a:ext cx="30162" cy="179388"/>
            </a:xfrm>
            <a:custGeom>
              <a:rect b="b" l="l" r="r" t="t"/>
              <a:pathLst>
                <a:path extrusionOk="0" h="113" w="19">
                  <a:moveTo>
                    <a:pt x="0" y="113"/>
                  </a:moveTo>
                  <a:lnTo>
                    <a:pt x="0" y="0"/>
                  </a:lnTo>
                  <a:lnTo>
                    <a:pt x="19" y="6"/>
                  </a:lnTo>
                  <a:lnTo>
                    <a:pt x="16" y="9"/>
                  </a:lnTo>
                  <a:lnTo>
                    <a:pt x="16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4699000" y="4630738"/>
              <a:ext cx="34925" cy="80963"/>
            </a:xfrm>
            <a:custGeom>
              <a:rect b="b" l="l" r="r" t="t"/>
              <a:pathLst>
                <a:path extrusionOk="0" h="51" w="22">
                  <a:moveTo>
                    <a:pt x="0" y="51"/>
                  </a:moveTo>
                  <a:lnTo>
                    <a:pt x="0" y="51"/>
                  </a:lnTo>
                  <a:lnTo>
                    <a:pt x="5" y="41"/>
                  </a:lnTo>
                  <a:lnTo>
                    <a:pt x="10" y="29"/>
                  </a:lnTo>
                  <a:lnTo>
                    <a:pt x="14" y="17"/>
                  </a:lnTo>
                  <a:lnTo>
                    <a:pt x="17" y="0"/>
                  </a:lnTo>
                  <a:lnTo>
                    <a:pt x="22" y="0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11" y="43"/>
                  </a:lnTo>
                  <a:lnTo>
                    <a:pt x="6" y="48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4138613" y="4638675"/>
              <a:ext cx="34925" cy="41275"/>
            </a:xfrm>
            <a:custGeom>
              <a:rect b="b" l="l" r="r" t="t"/>
              <a:pathLst>
                <a:path extrusionOk="0" h="26" w="22">
                  <a:moveTo>
                    <a:pt x="0" y="0"/>
                  </a:moveTo>
                  <a:lnTo>
                    <a:pt x="0" y="0"/>
                  </a:lnTo>
                  <a:lnTo>
                    <a:pt x="8" y="2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2" y="17"/>
                  </a:lnTo>
                  <a:lnTo>
                    <a:pt x="22" y="20"/>
                  </a:lnTo>
                  <a:lnTo>
                    <a:pt x="20" y="23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9" y="24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4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4087813" y="4616450"/>
              <a:ext cx="85725" cy="17463"/>
            </a:xfrm>
            <a:custGeom>
              <a:rect b="b" l="l" r="r" t="t"/>
              <a:pathLst>
                <a:path extrusionOk="0" h="11" w="54">
                  <a:moveTo>
                    <a:pt x="2" y="11"/>
                  </a:moveTo>
                  <a:lnTo>
                    <a:pt x="49" y="11"/>
                  </a:lnTo>
                  <a:lnTo>
                    <a:pt x="54" y="6"/>
                  </a:lnTo>
                  <a:lnTo>
                    <a:pt x="44" y="0"/>
                  </a:lnTo>
                  <a:lnTo>
                    <a:pt x="41" y="2"/>
                  </a:lnTo>
                  <a:lnTo>
                    <a:pt x="0" y="2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3884613" y="4683125"/>
              <a:ext cx="98425" cy="17463"/>
            </a:xfrm>
            <a:custGeom>
              <a:rect b="b" l="l" r="r" t="t"/>
              <a:pathLst>
                <a:path extrusionOk="0" h="11" w="62">
                  <a:moveTo>
                    <a:pt x="2" y="11"/>
                  </a:moveTo>
                  <a:lnTo>
                    <a:pt x="58" y="11"/>
                  </a:lnTo>
                  <a:lnTo>
                    <a:pt x="62" y="8"/>
                  </a:lnTo>
                  <a:lnTo>
                    <a:pt x="51" y="0"/>
                  </a:lnTo>
                  <a:lnTo>
                    <a:pt x="47" y="4"/>
                  </a:lnTo>
                  <a:lnTo>
                    <a:pt x="0" y="4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4175125" y="4616450"/>
              <a:ext cx="92075" cy="17463"/>
            </a:xfrm>
            <a:custGeom>
              <a:rect b="b" l="l" r="r" t="t"/>
              <a:pathLst>
                <a:path extrusionOk="0" h="11" w="58">
                  <a:moveTo>
                    <a:pt x="2" y="11"/>
                  </a:moveTo>
                  <a:lnTo>
                    <a:pt x="55" y="11"/>
                  </a:lnTo>
                  <a:lnTo>
                    <a:pt x="58" y="6"/>
                  </a:lnTo>
                  <a:lnTo>
                    <a:pt x="50" y="0"/>
                  </a:lnTo>
                  <a:lnTo>
                    <a:pt x="47" y="2"/>
                  </a:lnTo>
                  <a:lnTo>
                    <a:pt x="0" y="2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4116388" y="4578350"/>
              <a:ext cx="28575" cy="179388"/>
            </a:xfrm>
            <a:custGeom>
              <a:rect b="b" l="l" r="r" t="t"/>
              <a:pathLst>
                <a:path extrusionOk="0" h="113" w="18">
                  <a:moveTo>
                    <a:pt x="0" y="113"/>
                  </a:moveTo>
                  <a:lnTo>
                    <a:pt x="0" y="0"/>
                  </a:lnTo>
                  <a:lnTo>
                    <a:pt x="18" y="6"/>
                  </a:lnTo>
                  <a:lnTo>
                    <a:pt x="16" y="9"/>
                  </a:lnTo>
                  <a:lnTo>
                    <a:pt x="16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4086225" y="4630738"/>
              <a:ext cx="33337" cy="80963"/>
            </a:xfrm>
            <a:custGeom>
              <a:rect b="b" l="l" r="r" t="t"/>
              <a:pathLst>
                <a:path extrusionOk="0" h="51" w="21">
                  <a:moveTo>
                    <a:pt x="0" y="51"/>
                  </a:moveTo>
                  <a:lnTo>
                    <a:pt x="0" y="51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5" y="17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1" y="34"/>
                  </a:lnTo>
                  <a:lnTo>
                    <a:pt x="21" y="34"/>
                  </a:lnTo>
                  <a:lnTo>
                    <a:pt x="12" y="43"/>
                  </a:lnTo>
                  <a:lnTo>
                    <a:pt x="6" y="48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775200" y="4586288"/>
              <a:ext cx="31750" cy="60325"/>
            </a:xfrm>
            <a:custGeom>
              <a:rect b="b" l="l" r="r" t="t"/>
              <a:pathLst>
                <a:path extrusionOk="0" h="38" w="20">
                  <a:moveTo>
                    <a:pt x="18" y="7"/>
                  </a:moveTo>
                  <a:lnTo>
                    <a:pt x="18" y="7"/>
                  </a:lnTo>
                  <a:lnTo>
                    <a:pt x="16" y="17"/>
                  </a:lnTo>
                  <a:lnTo>
                    <a:pt x="13" y="25"/>
                  </a:lnTo>
                  <a:lnTo>
                    <a:pt x="8" y="32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30"/>
                  </a:lnTo>
                  <a:lnTo>
                    <a:pt x="2" y="20"/>
                  </a:lnTo>
                  <a:lnTo>
                    <a:pt x="4" y="0"/>
                  </a:lnTo>
                  <a:lnTo>
                    <a:pt x="20" y="5"/>
                  </a:lnTo>
                  <a:lnTo>
                    <a:pt x="18" y="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4503738" y="4578350"/>
              <a:ext cx="104775" cy="134938"/>
            </a:xfrm>
            <a:custGeom>
              <a:rect b="b" l="l" r="r" t="t"/>
              <a:pathLst>
                <a:path extrusionOk="0" h="85" w="66">
                  <a:moveTo>
                    <a:pt x="62" y="10"/>
                  </a:moveTo>
                  <a:lnTo>
                    <a:pt x="62" y="10"/>
                  </a:lnTo>
                  <a:lnTo>
                    <a:pt x="57" y="27"/>
                  </a:lnTo>
                  <a:lnTo>
                    <a:pt x="52" y="41"/>
                  </a:lnTo>
                  <a:lnTo>
                    <a:pt x="44" y="54"/>
                  </a:lnTo>
                  <a:lnTo>
                    <a:pt x="37" y="63"/>
                  </a:lnTo>
                  <a:lnTo>
                    <a:pt x="29" y="72"/>
                  </a:lnTo>
                  <a:lnTo>
                    <a:pt x="20" y="77"/>
                  </a:lnTo>
                  <a:lnTo>
                    <a:pt x="10" y="82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11" y="74"/>
                  </a:lnTo>
                  <a:lnTo>
                    <a:pt x="20" y="64"/>
                  </a:lnTo>
                  <a:lnTo>
                    <a:pt x="27" y="55"/>
                  </a:lnTo>
                  <a:lnTo>
                    <a:pt x="33" y="45"/>
                  </a:lnTo>
                  <a:lnTo>
                    <a:pt x="36" y="36"/>
                  </a:lnTo>
                  <a:lnTo>
                    <a:pt x="39" y="24"/>
                  </a:lnTo>
                  <a:lnTo>
                    <a:pt x="44" y="0"/>
                  </a:lnTo>
                  <a:lnTo>
                    <a:pt x="66" y="6"/>
                  </a:lnTo>
                  <a:lnTo>
                    <a:pt x="6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4584700" y="4630738"/>
              <a:ext cx="98425" cy="90488"/>
            </a:xfrm>
            <a:custGeom>
              <a:rect b="b" l="l" r="r" t="t"/>
              <a:pathLst>
                <a:path extrusionOk="0" h="57" w="62">
                  <a:moveTo>
                    <a:pt x="5" y="0"/>
                  </a:moveTo>
                  <a:lnTo>
                    <a:pt x="5" y="0"/>
                  </a:lnTo>
                  <a:lnTo>
                    <a:pt x="18" y="14"/>
                  </a:lnTo>
                  <a:lnTo>
                    <a:pt x="32" y="26"/>
                  </a:lnTo>
                  <a:lnTo>
                    <a:pt x="46" y="35"/>
                  </a:lnTo>
                  <a:lnTo>
                    <a:pt x="62" y="42"/>
                  </a:lnTo>
                  <a:lnTo>
                    <a:pt x="52" y="57"/>
                  </a:lnTo>
                  <a:lnTo>
                    <a:pt x="52" y="57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23" y="37"/>
                  </a:lnTo>
                  <a:lnTo>
                    <a:pt x="17" y="29"/>
                  </a:lnTo>
                  <a:lnTo>
                    <a:pt x="11" y="22"/>
                  </a:lnTo>
                  <a:lnTo>
                    <a:pt x="5" y="13"/>
                  </a:lnTo>
                  <a:lnTo>
                    <a:pt x="0" y="3"/>
                  </a:lnTo>
                  <a:lnTo>
                    <a:pt x="1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4519613" y="4586288"/>
              <a:ext cx="38100" cy="36513"/>
            </a:xfrm>
            <a:custGeom>
              <a:rect b="b" l="l" r="r" t="t"/>
              <a:pathLst>
                <a:path extrusionOk="0" h="23" w="24">
                  <a:moveTo>
                    <a:pt x="0" y="0"/>
                  </a:moveTo>
                  <a:lnTo>
                    <a:pt x="0" y="0"/>
                  </a:lnTo>
                  <a:lnTo>
                    <a:pt x="8" y="2"/>
                  </a:lnTo>
                  <a:lnTo>
                    <a:pt x="14" y="4"/>
                  </a:lnTo>
                  <a:lnTo>
                    <a:pt x="19" y="8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4" y="18"/>
                  </a:lnTo>
                  <a:lnTo>
                    <a:pt x="23" y="23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9" y="19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6" y="7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4300538" y="4695825"/>
              <a:ext cx="66675" cy="61913"/>
            </a:xfrm>
            <a:custGeom>
              <a:rect b="b" l="l" r="r" t="t"/>
              <a:pathLst>
                <a:path extrusionOk="0" h="39" w="42">
                  <a:moveTo>
                    <a:pt x="34" y="0"/>
                  </a:moveTo>
                  <a:lnTo>
                    <a:pt x="26" y="5"/>
                  </a:lnTo>
                  <a:lnTo>
                    <a:pt x="13" y="5"/>
                  </a:lnTo>
                  <a:lnTo>
                    <a:pt x="0" y="2"/>
                  </a:lnTo>
                  <a:lnTo>
                    <a:pt x="0" y="39"/>
                  </a:lnTo>
                  <a:lnTo>
                    <a:pt x="13" y="39"/>
                  </a:lnTo>
                  <a:lnTo>
                    <a:pt x="13" y="35"/>
                  </a:lnTo>
                  <a:lnTo>
                    <a:pt x="27" y="35"/>
                  </a:lnTo>
                  <a:lnTo>
                    <a:pt x="27" y="39"/>
                  </a:lnTo>
                  <a:lnTo>
                    <a:pt x="40" y="39"/>
                  </a:lnTo>
                  <a:lnTo>
                    <a:pt x="40" y="10"/>
                  </a:lnTo>
                  <a:lnTo>
                    <a:pt x="42" y="7"/>
                  </a:lnTo>
                  <a:lnTo>
                    <a:pt x="34" y="0"/>
                  </a:lnTo>
                  <a:close/>
                  <a:moveTo>
                    <a:pt x="27" y="27"/>
                  </a:moveTo>
                  <a:lnTo>
                    <a:pt x="13" y="27"/>
                  </a:lnTo>
                  <a:lnTo>
                    <a:pt x="13" y="14"/>
                  </a:lnTo>
                  <a:lnTo>
                    <a:pt x="27" y="14"/>
                  </a:lnTo>
                  <a:lnTo>
                    <a:pt x="27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4365625" y="4575175"/>
              <a:ext cx="74612" cy="73025"/>
            </a:xfrm>
            <a:custGeom>
              <a:rect b="b" l="l" r="r" t="t"/>
              <a:pathLst>
                <a:path extrusionOk="0" h="46" w="47">
                  <a:moveTo>
                    <a:pt x="42" y="11"/>
                  </a:moveTo>
                  <a:lnTo>
                    <a:pt x="42" y="11"/>
                  </a:lnTo>
                  <a:lnTo>
                    <a:pt x="31" y="24"/>
                  </a:lnTo>
                  <a:lnTo>
                    <a:pt x="21" y="33"/>
                  </a:lnTo>
                  <a:lnTo>
                    <a:pt x="11" y="4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" y="37"/>
                  </a:lnTo>
                  <a:lnTo>
                    <a:pt x="17" y="25"/>
                  </a:lnTo>
                  <a:lnTo>
                    <a:pt x="24" y="13"/>
                  </a:lnTo>
                  <a:lnTo>
                    <a:pt x="29" y="0"/>
                  </a:lnTo>
                  <a:lnTo>
                    <a:pt x="47" y="7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4416425" y="4598988"/>
              <a:ext cx="63500" cy="50800"/>
            </a:xfrm>
            <a:custGeom>
              <a:rect b="b" l="l" r="r" t="t"/>
              <a:pathLst>
                <a:path extrusionOk="0" h="32" w="40">
                  <a:moveTo>
                    <a:pt x="4" y="0"/>
                  </a:moveTo>
                  <a:lnTo>
                    <a:pt x="4" y="0"/>
                  </a:lnTo>
                  <a:lnTo>
                    <a:pt x="13" y="8"/>
                  </a:lnTo>
                  <a:lnTo>
                    <a:pt x="21" y="13"/>
                  </a:lnTo>
                  <a:lnTo>
                    <a:pt x="31" y="16"/>
                  </a:lnTo>
                  <a:lnTo>
                    <a:pt x="40" y="18"/>
                  </a:lnTo>
                  <a:lnTo>
                    <a:pt x="32" y="32"/>
                  </a:lnTo>
                  <a:lnTo>
                    <a:pt x="32" y="32"/>
                  </a:lnTo>
                  <a:lnTo>
                    <a:pt x="23" y="27"/>
                  </a:lnTo>
                  <a:lnTo>
                    <a:pt x="14" y="20"/>
                  </a:lnTo>
                  <a:lnTo>
                    <a:pt x="7" y="13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4367213" y="4605338"/>
              <a:ext cx="25400" cy="23813"/>
            </a:xfrm>
            <a:custGeom>
              <a:rect b="b" l="l" r="r" t="t"/>
              <a:pathLst>
                <a:path extrusionOk="0" h="15" w="16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13" y="4"/>
                  </a:lnTo>
                  <a:lnTo>
                    <a:pt x="16" y="6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8" y="12"/>
                  </a:lnTo>
                  <a:lnTo>
                    <a:pt x="6" y="8"/>
                  </a:lnTo>
                  <a:lnTo>
                    <a:pt x="6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4378325" y="4659313"/>
              <a:ext cx="88900" cy="50800"/>
            </a:xfrm>
            <a:custGeom>
              <a:rect b="b" l="l" r="r" t="t"/>
              <a:pathLst>
                <a:path extrusionOk="0" h="32" w="56">
                  <a:moveTo>
                    <a:pt x="45" y="0"/>
                  </a:moveTo>
                  <a:lnTo>
                    <a:pt x="38" y="6"/>
                  </a:lnTo>
                  <a:lnTo>
                    <a:pt x="17" y="6"/>
                  </a:lnTo>
                  <a:lnTo>
                    <a:pt x="0" y="3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16" y="28"/>
                  </a:lnTo>
                  <a:lnTo>
                    <a:pt x="38" y="28"/>
                  </a:lnTo>
                  <a:lnTo>
                    <a:pt x="38" y="32"/>
                  </a:lnTo>
                  <a:lnTo>
                    <a:pt x="54" y="32"/>
                  </a:lnTo>
                  <a:lnTo>
                    <a:pt x="54" y="10"/>
                  </a:lnTo>
                  <a:lnTo>
                    <a:pt x="56" y="6"/>
                  </a:lnTo>
                  <a:lnTo>
                    <a:pt x="45" y="0"/>
                  </a:lnTo>
                  <a:close/>
                  <a:moveTo>
                    <a:pt x="38" y="22"/>
                  </a:moveTo>
                  <a:lnTo>
                    <a:pt x="16" y="22"/>
                  </a:lnTo>
                  <a:lnTo>
                    <a:pt x="16" y="12"/>
                  </a:lnTo>
                  <a:lnTo>
                    <a:pt x="38" y="12"/>
                  </a:lnTo>
                  <a:lnTo>
                    <a:pt x="38" y="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421188" y="4703763"/>
              <a:ext cx="41275" cy="41275"/>
            </a:xfrm>
            <a:custGeom>
              <a:rect b="b" l="l" r="r" t="t"/>
              <a:pathLst>
                <a:path extrusionOk="0" h="26" w="26">
                  <a:moveTo>
                    <a:pt x="26" y="11"/>
                  </a:moveTo>
                  <a:lnTo>
                    <a:pt x="11" y="0"/>
                  </a:lnTo>
                  <a:lnTo>
                    <a:pt x="11" y="0"/>
                  </a:lnTo>
                  <a:lnTo>
                    <a:pt x="7" y="14"/>
                  </a:lnTo>
                  <a:lnTo>
                    <a:pt x="4" y="20"/>
                  </a:lnTo>
                  <a:lnTo>
                    <a:pt x="0" y="25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15" y="20"/>
                  </a:lnTo>
                  <a:lnTo>
                    <a:pt x="26" y="11"/>
                  </a:lnTo>
                  <a:lnTo>
                    <a:pt x="26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4376738" y="4710113"/>
              <a:ext cx="34925" cy="38100"/>
            </a:xfrm>
            <a:custGeom>
              <a:rect b="b" l="l" r="r" t="t"/>
              <a:pathLst>
                <a:path extrusionOk="0" h="24" w="22">
                  <a:moveTo>
                    <a:pt x="0" y="0"/>
                  </a:moveTo>
                  <a:lnTo>
                    <a:pt x="0" y="0"/>
                  </a:lnTo>
                  <a:lnTo>
                    <a:pt x="8" y="1"/>
                  </a:lnTo>
                  <a:lnTo>
                    <a:pt x="13" y="4"/>
                  </a:lnTo>
                  <a:lnTo>
                    <a:pt x="19" y="8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2" y="18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2" y="23"/>
                  </a:lnTo>
                  <a:lnTo>
                    <a:pt x="11" y="21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4195763" y="4578350"/>
              <a:ext cx="53975" cy="179388"/>
            </a:xfrm>
            <a:custGeom>
              <a:rect b="b" l="l" r="r" t="t"/>
              <a:pathLst>
                <a:path extrusionOk="0" h="113" w="34">
                  <a:moveTo>
                    <a:pt x="14" y="91"/>
                  </a:moveTo>
                  <a:lnTo>
                    <a:pt x="14" y="0"/>
                  </a:lnTo>
                  <a:lnTo>
                    <a:pt x="34" y="6"/>
                  </a:lnTo>
                  <a:lnTo>
                    <a:pt x="31" y="10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0" y="101"/>
                  </a:lnTo>
                  <a:lnTo>
                    <a:pt x="30" y="103"/>
                  </a:lnTo>
                  <a:lnTo>
                    <a:pt x="26" y="108"/>
                  </a:lnTo>
                  <a:lnTo>
                    <a:pt x="22" y="112"/>
                  </a:lnTo>
                  <a:lnTo>
                    <a:pt x="15" y="113"/>
                  </a:lnTo>
                  <a:lnTo>
                    <a:pt x="8" y="113"/>
                  </a:lnTo>
                  <a:lnTo>
                    <a:pt x="8" y="113"/>
                  </a:lnTo>
                  <a:lnTo>
                    <a:pt x="7" y="108"/>
                  </a:lnTo>
                  <a:lnTo>
                    <a:pt x="7" y="108"/>
                  </a:lnTo>
                  <a:lnTo>
                    <a:pt x="5" y="103"/>
                  </a:lnTo>
                  <a:lnTo>
                    <a:pt x="0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12" y="96"/>
                  </a:lnTo>
                  <a:lnTo>
                    <a:pt x="13" y="96"/>
                  </a:lnTo>
                  <a:lnTo>
                    <a:pt x="14" y="93"/>
                  </a:lnTo>
                  <a:lnTo>
                    <a:pt x="14" y="91"/>
                  </a:lnTo>
                  <a:lnTo>
                    <a:pt x="14" y="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3984625" y="4672013"/>
              <a:ext cx="44450" cy="85725"/>
            </a:xfrm>
            <a:custGeom>
              <a:rect b="b" l="l" r="r" t="t"/>
              <a:pathLst>
                <a:path extrusionOk="0" h="54" w="28">
                  <a:moveTo>
                    <a:pt x="28" y="4"/>
                  </a:moveTo>
                  <a:lnTo>
                    <a:pt x="28" y="39"/>
                  </a:lnTo>
                  <a:lnTo>
                    <a:pt x="28" y="39"/>
                  </a:lnTo>
                  <a:lnTo>
                    <a:pt x="27" y="45"/>
                  </a:lnTo>
                  <a:lnTo>
                    <a:pt x="25" y="49"/>
                  </a:lnTo>
                  <a:lnTo>
                    <a:pt x="20" y="53"/>
                  </a:lnTo>
                  <a:lnTo>
                    <a:pt x="15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3" y="44"/>
                  </a:lnTo>
                  <a:lnTo>
                    <a:pt x="0" y="38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11" y="37"/>
                  </a:lnTo>
                  <a:lnTo>
                    <a:pt x="12" y="37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3" y="0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3990975" y="4605338"/>
              <a:ext cx="39687" cy="49213"/>
            </a:xfrm>
            <a:custGeom>
              <a:rect b="b" l="l" r="r" t="t"/>
              <a:pathLst>
                <a:path extrusionOk="0" h="31" w="25">
                  <a:moveTo>
                    <a:pt x="0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13" y="6"/>
                  </a:lnTo>
                  <a:lnTo>
                    <a:pt x="18" y="11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24" y="21"/>
                  </a:lnTo>
                  <a:lnTo>
                    <a:pt x="25" y="25"/>
                  </a:lnTo>
                  <a:lnTo>
                    <a:pt x="24" y="28"/>
                  </a:lnTo>
                  <a:lnTo>
                    <a:pt x="22" y="31"/>
                  </a:lnTo>
                  <a:lnTo>
                    <a:pt x="13" y="31"/>
                  </a:lnTo>
                  <a:lnTo>
                    <a:pt x="13" y="31"/>
                  </a:lnTo>
                  <a:lnTo>
                    <a:pt x="11" y="27"/>
                  </a:lnTo>
                  <a:lnTo>
                    <a:pt x="9" y="24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7" y="11"/>
                  </a:lnTo>
                  <a:lnTo>
                    <a:pt x="5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3886200" y="4713288"/>
              <a:ext cx="103187" cy="42863"/>
            </a:xfrm>
            <a:custGeom>
              <a:rect b="b" l="l" r="r" t="t"/>
              <a:pathLst>
                <a:path extrusionOk="0" h="27" w="65">
                  <a:moveTo>
                    <a:pt x="0" y="11"/>
                  </a:moveTo>
                  <a:lnTo>
                    <a:pt x="7" y="27"/>
                  </a:lnTo>
                  <a:lnTo>
                    <a:pt x="7" y="27"/>
                  </a:lnTo>
                  <a:lnTo>
                    <a:pt x="23" y="22"/>
                  </a:lnTo>
                  <a:lnTo>
                    <a:pt x="38" y="16"/>
                  </a:lnTo>
                  <a:lnTo>
                    <a:pt x="51" y="8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32" y="6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3890963" y="4576763"/>
              <a:ext cx="92075" cy="155575"/>
            </a:xfrm>
            <a:custGeom>
              <a:rect b="b" l="l" r="r" t="t"/>
              <a:pathLst>
                <a:path extrusionOk="0" h="98" w="58">
                  <a:moveTo>
                    <a:pt x="47" y="0"/>
                  </a:moveTo>
                  <a:lnTo>
                    <a:pt x="41" y="6"/>
                  </a:lnTo>
                  <a:lnTo>
                    <a:pt x="15" y="6"/>
                  </a:lnTo>
                  <a:lnTo>
                    <a:pt x="0" y="2"/>
                  </a:lnTo>
                  <a:lnTo>
                    <a:pt x="0" y="58"/>
                  </a:lnTo>
                  <a:lnTo>
                    <a:pt x="14" y="58"/>
                  </a:lnTo>
                  <a:lnTo>
                    <a:pt x="14" y="56"/>
                  </a:lnTo>
                  <a:lnTo>
                    <a:pt x="21" y="56"/>
                  </a:lnTo>
                  <a:lnTo>
                    <a:pt x="21" y="71"/>
                  </a:lnTo>
                  <a:lnTo>
                    <a:pt x="21" y="98"/>
                  </a:lnTo>
                  <a:lnTo>
                    <a:pt x="35" y="93"/>
                  </a:lnTo>
                  <a:lnTo>
                    <a:pt x="35" y="56"/>
                  </a:lnTo>
                  <a:lnTo>
                    <a:pt x="41" y="56"/>
                  </a:lnTo>
                  <a:lnTo>
                    <a:pt x="41" y="58"/>
                  </a:lnTo>
                  <a:lnTo>
                    <a:pt x="55" y="58"/>
                  </a:lnTo>
                  <a:lnTo>
                    <a:pt x="55" y="12"/>
                  </a:lnTo>
                  <a:lnTo>
                    <a:pt x="58" y="7"/>
                  </a:lnTo>
                  <a:lnTo>
                    <a:pt x="47" y="0"/>
                  </a:lnTo>
                  <a:close/>
                  <a:moveTo>
                    <a:pt x="21" y="47"/>
                  </a:moveTo>
                  <a:lnTo>
                    <a:pt x="14" y="47"/>
                  </a:lnTo>
                  <a:lnTo>
                    <a:pt x="14" y="34"/>
                  </a:lnTo>
                  <a:lnTo>
                    <a:pt x="21" y="34"/>
                  </a:lnTo>
                  <a:lnTo>
                    <a:pt x="21" y="47"/>
                  </a:lnTo>
                  <a:close/>
                  <a:moveTo>
                    <a:pt x="21" y="27"/>
                  </a:moveTo>
                  <a:lnTo>
                    <a:pt x="14" y="27"/>
                  </a:lnTo>
                  <a:lnTo>
                    <a:pt x="14" y="14"/>
                  </a:lnTo>
                  <a:lnTo>
                    <a:pt x="21" y="14"/>
                  </a:lnTo>
                  <a:lnTo>
                    <a:pt x="21" y="27"/>
                  </a:lnTo>
                  <a:close/>
                  <a:moveTo>
                    <a:pt x="41" y="47"/>
                  </a:moveTo>
                  <a:lnTo>
                    <a:pt x="35" y="47"/>
                  </a:lnTo>
                  <a:lnTo>
                    <a:pt x="35" y="34"/>
                  </a:lnTo>
                  <a:lnTo>
                    <a:pt x="41" y="34"/>
                  </a:lnTo>
                  <a:lnTo>
                    <a:pt x="41" y="47"/>
                  </a:lnTo>
                  <a:close/>
                  <a:moveTo>
                    <a:pt x="41" y="27"/>
                  </a:moveTo>
                  <a:lnTo>
                    <a:pt x="35" y="27"/>
                  </a:lnTo>
                  <a:lnTo>
                    <a:pt x="35" y="14"/>
                  </a:lnTo>
                  <a:lnTo>
                    <a:pt x="41" y="14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mura Standard Part Image Cover" showMasterSp="0">
  <p:cSld name="Nomura Standard Part Image Cover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Europe\Data\Creative_Media\02001-03000\02154 Landor Project\PowerPoint Template\Assets\200339868_PPT.jpg" id="217" name="Google Shape;217;p8"/>
          <p:cNvPicPr preferRelativeResize="0"/>
          <p:nvPr/>
        </p:nvPicPr>
        <p:blipFill rotWithShape="1">
          <a:blip r:embed="rId2">
            <a:alphaModFix/>
          </a:blip>
          <a:srcRect b="7581" l="0" r="0" t="0"/>
          <a:stretch/>
        </p:blipFill>
        <p:spPr>
          <a:xfrm>
            <a:off x="1" y="0"/>
            <a:ext cx="3919070" cy="251424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>
            <p:ph idx="1" type="body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8"/>
          <p:cNvSpPr txBox="1"/>
          <p:nvPr>
            <p:ph type="title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8"/>
          <p:cNvSpPr txBox="1"/>
          <p:nvPr>
            <p:ph idx="2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8"/>
          <p:cNvSpPr txBox="1"/>
          <p:nvPr>
            <p:ph idx="3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8"/>
          <p:cNvSpPr txBox="1"/>
          <p:nvPr/>
        </p:nvSpPr>
        <p:spPr>
          <a:xfrm>
            <a:off x="7374363" y="6315223"/>
            <a:ext cx="2238375" cy="138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PRIVATE AND CONFIDENTIAL</a:t>
            </a:r>
            <a:endParaRPr/>
          </a:p>
        </p:txBody>
      </p:sp>
      <p:sp>
        <p:nvSpPr>
          <p:cNvPr id="223" name="Google Shape;223;p8"/>
          <p:cNvSpPr txBox="1"/>
          <p:nvPr>
            <p:ph idx="4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8"/>
          <p:cNvSpPr txBox="1"/>
          <p:nvPr>
            <p:ph idx="5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" name="Google Shape;225;p8"/>
          <p:cNvSpPr txBox="1"/>
          <p:nvPr/>
        </p:nvSpPr>
        <p:spPr>
          <a:xfrm>
            <a:off x="9085350" y="6577299"/>
            <a:ext cx="52738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Nomura</a:t>
            </a:r>
            <a:endParaRPr/>
          </a:p>
        </p:txBody>
      </p:sp>
      <p:grpSp>
        <p:nvGrpSpPr>
          <p:cNvPr id="226" name="Google Shape;226;p8"/>
          <p:cNvGrpSpPr/>
          <p:nvPr/>
        </p:nvGrpSpPr>
        <p:grpSpPr>
          <a:xfrm>
            <a:off x="2606208" y="-10800"/>
            <a:ext cx="7299545" cy="2525713"/>
            <a:chOff x="2606208" y="-12700"/>
            <a:chExt cx="7299545" cy="2525713"/>
          </a:xfrm>
        </p:grpSpPr>
        <p:sp>
          <p:nvSpPr>
            <p:cNvPr id="227" name="Google Shape;227;p8"/>
            <p:cNvSpPr/>
            <p:nvPr/>
          </p:nvSpPr>
          <p:spPr>
            <a:xfrm>
              <a:off x="2628433" y="-1270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330482" y="-3175"/>
              <a:ext cx="3575271" cy="2516188"/>
            </a:xfrm>
            <a:custGeom>
              <a:rect b="b" l="l" r="r" t="t"/>
              <a:pathLst>
                <a:path extrusionOk="0" h="10000" w="10000">
                  <a:moveTo>
                    <a:pt x="0" y="3129"/>
                  </a:moveTo>
                  <a:lnTo>
                    <a:pt x="2144" y="10000"/>
                  </a:lnTo>
                  <a:lnTo>
                    <a:pt x="10000" y="10000"/>
                  </a:lnTo>
                  <a:lnTo>
                    <a:pt x="10000" y="0"/>
                  </a:lnTo>
                  <a:lnTo>
                    <a:pt x="951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824071" y="11699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4595346" y="8270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5663733" y="-317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5987583" y="-317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5314483" y="-317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4965233" y="-317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3919071" y="-317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2606208" y="-317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238" name="Google Shape;23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8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mura Standard Full Image Cover" showMasterSp="0">
  <p:cSld name="Nomura Standard Full Image Cov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Europe\Data\Creative_Media\02001-03000\02154 Landor Project\PowerPoint Template\Assets\200339868_PPT.jpg" id="241" name="Google Shape;24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57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>
            <p:ph idx="1" type="body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9"/>
          <p:cNvSpPr txBox="1"/>
          <p:nvPr>
            <p:ph type="title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9"/>
          <p:cNvSpPr txBox="1"/>
          <p:nvPr>
            <p:ph idx="2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9"/>
          <p:cNvSpPr txBox="1"/>
          <p:nvPr>
            <p:ph idx="3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9"/>
          <p:cNvSpPr txBox="1"/>
          <p:nvPr/>
        </p:nvSpPr>
        <p:spPr>
          <a:xfrm>
            <a:off x="7374363" y="6315223"/>
            <a:ext cx="2238375" cy="138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PRIVATE AND CONFIDENTIAL</a:t>
            </a:r>
            <a:endParaRPr/>
          </a:p>
        </p:txBody>
      </p:sp>
      <p:sp>
        <p:nvSpPr>
          <p:cNvPr id="247" name="Google Shape;247;p9"/>
          <p:cNvSpPr txBox="1"/>
          <p:nvPr>
            <p:ph idx="4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p9"/>
          <p:cNvSpPr txBox="1"/>
          <p:nvPr>
            <p:ph idx="5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9"/>
          <p:cNvSpPr txBox="1"/>
          <p:nvPr/>
        </p:nvSpPr>
        <p:spPr>
          <a:xfrm>
            <a:off x="9085350" y="6577299"/>
            <a:ext cx="52738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Nomura</a:t>
            </a:r>
            <a:endParaRPr/>
          </a:p>
        </p:txBody>
      </p:sp>
      <p:grpSp>
        <p:nvGrpSpPr>
          <p:cNvPr id="250" name="Google Shape;250;p9"/>
          <p:cNvGrpSpPr/>
          <p:nvPr/>
        </p:nvGrpSpPr>
        <p:grpSpPr>
          <a:xfrm>
            <a:off x="2606208" y="-7200"/>
            <a:ext cx="7299545" cy="2525713"/>
            <a:chOff x="2606208" y="0"/>
            <a:chExt cx="7299545" cy="2525713"/>
          </a:xfrm>
        </p:grpSpPr>
        <p:sp>
          <p:nvSpPr>
            <p:cNvPr id="251" name="Google Shape;251;p9"/>
            <p:cNvSpPr/>
            <p:nvPr/>
          </p:nvSpPr>
          <p:spPr>
            <a:xfrm>
              <a:off x="2628433" y="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6330482" y="9525"/>
              <a:ext cx="3575271" cy="2516188"/>
            </a:xfrm>
            <a:custGeom>
              <a:rect b="b" l="l" r="r" t="t"/>
              <a:pathLst>
                <a:path extrusionOk="0" h="10000" w="10000">
                  <a:moveTo>
                    <a:pt x="0" y="3129"/>
                  </a:moveTo>
                  <a:lnTo>
                    <a:pt x="2144" y="10000"/>
                  </a:lnTo>
                  <a:lnTo>
                    <a:pt x="10000" y="10000"/>
                  </a:lnTo>
                  <a:lnTo>
                    <a:pt x="10000" y="0"/>
                  </a:lnTo>
                  <a:lnTo>
                    <a:pt x="951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5824071" y="11826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4595346" y="8397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5663733" y="952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5987583" y="952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5314483" y="952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4965233" y="952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3919071" y="952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2606208" y="952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9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262" name="Google Shape;26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9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/>
          <p:nvPr/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>
            <p:ph idx="1" type="body"/>
          </p:nvPr>
        </p:nvSpPr>
        <p:spPr>
          <a:xfrm>
            <a:off x="266400" y="1900799"/>
            <a:ext cx="9360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8" name="Google Shape;268;p11"/>
          <p:cNvSpPr txBox="1"/>
          <p:nvPr>
            <p:ph idx="2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9" name="Google Shape;269;p11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11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11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idx="1" type="body"/>
          </p:nvPr>
        </p:nvSpPr>
        <p:spPr>
          <a:xfrm>
            <a:off x="266400" y="1900801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2" type="body"/>
          </p:nvPr>
        </p:nvSpPr>
        <p:spPr>
          <a:xfrm>
            <a:off x="5022000" y="1900801"/>
            <a:ext cx="460816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12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" name="Google Shape;277;p12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12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9" name="Google Shape;279;p12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12"/>
          <p:cNvSpPr txBox="1"/>
          <p:nvPr>
            <p:ph idx="5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6" type="body"/>
          </p:nvPr>
        </p:nvSpPr>
        <p:spPr>
          <a:xfrm>
            <a:off x="5022024" y="1684068"/>
            <a:ext cx="4608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/>
          <p:nvPr>
            <p:ph idx="1" type="body"/>
          </p:nvPr>
        </p:nvSpPr>
        <p:spPr>
          <a:xfrm>
            <a:off x="266400" y="1900800"/>
            <a:ext cx="9360000" cy="212593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2" type="body"/>
          </p:nvPr>
        </p:nvSpPr>
        <p:spPr>
          <a:xfrm>
            <a:off x="266400" y="4305599"/>
            <a:ext cx="9360000" cy="21333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13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13"/>
          <p:cNvSpPr txBox="1"/>
          <p:nvPr>
            <p:ph idx="5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13"/>
          <p:cNvSpPr txBox="1"/>
          <p:nvPr>
            <p:ph idx="6" type="body"/>
          </p:nvPr>
        </p:nvSpPr>
        <p:spPr>
          <a:xfrm>
            <a:off x="266400" y="4091964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/>
          <p:nvPr>
            <p:ph idx="1" type="body"/>
          </p:nvPr>
        </p:nvSpPr>
        <p:spPr>
          <a:xfrm>
            <a:off x="266400" y="3511116"/>
            <a:ext cx="9360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3" name="Google Shape;293;p14"/>
          <p:cNvSpPr txBox="1"/>
          <p:nvPr>
            <p:ph idx="2" type="body"/>
          </p:nvPr>
        </p:nvSpPr>
        <p:spPr>
          <a:xfrm>
            <a:off x="266400" y="5111751"/>
            <a:ext cx="9360000" cy="1327149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14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14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14"/>
          <p:cNvSpPr txBox="1"/>
          <p:nvPr>
            <p:ph idx="4" type="body"/>
          </p:nvPr>
        </p:nvSpPr>
        <p:spPr>
          <a:xfrm>
            <a:off x="266400" y="1900800"/>
            <a:ext cx="9360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7" name="Google Shape;297;p14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8" name="Google Shape;298;p14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14"/>
          <p:cNvSpPr txBox="1"/>
          <p:nvPr>
            <p:ph idx="6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14"/>
          <p:cNvSpPr txBox="1"/>
          <p:nvPr>
            <p:ph idx="7" type="body"/>
          </p:nvPr>
        </p:nvSpPr>
        <p:spPr>
          <a:xfrm>
            <a:off x="266400" y="3296436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1" name="Google Shape;301;p14"/>
          <p:cNvSpPr txBox="1"/>
          <p:nvPr>
            <p:ph idx="8" type="body"/>
          </p:nvPr>
        </p:nvSpPr>
        <p:spPr>
          <a:xfrm>
            <a:off x="266400" y="490082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" type="body"/>
          </p:nvPr>
        </p:nvSpPr>
        <p:spPr>
          <a:xfrm>
            <a:off x="266400" y="6525344"/>
            <a:ext cx="8568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5" name="Google Shape;305;p15"/>
          <p:cNvSpPr txBox="1"/>
          <p:nvPr>
            <p:ph idx="2" type="body"/>
          </p:nvPr>
        </p:nvSpPr>
        <p:spPr>
          <a:xfrm>
            <a:off x="266400" y="190080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15"/>
          <p:cNvSpPr txBox="1"/>
          <p:nvPr>
            <p:ph idx="3" type="body"/>
          </p:nvPr>
        </p:nvSpPr>
        <p:spPr>
          <a:xfrm>
            <a:off x="5025600" y="190080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15"/>
          <p:cNvSpPr txBox="1"/>
          <p:nvPr>
            <p:ph idx="4" type="body"/>
          </p:nvPr>
        </p:nvSpPr>
        <p:spPr>
          <a:xfrm>
            <a:off x="266400" y="3510477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15"/>
          <p:cNvSpPr txBox="1"/>
          <p:nvPr>
            <p:ph idx="5" type="body"/>
          </p:nvPr>
        </p:nvSpPr>
        <p:spPr>
          <a:xfrm>
            <a:off x="5025600" y="3510477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15"/>
          <p:cNvSpPr txBox="1"/>
          <p:nvPr>
            <p:ph idx="6" type="body"/>
          </p:nvPr>
        </p:nvSpPr>
        <p:spPr>
          <a:xfrm>
            <a:off x="266400" y="510824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15"/>
          <p:cNvSpPr txBox="1"/>
          <p:nvPr>
            <p:ph idx="7" type="body"/>
          </p:nvPr>
        </p:nvSpPr>
        <p:spPr>
          <a:xfrm>
            <a:off x="5025600" y="510824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p15"/>
          <p:cNvSpPr txBox="1"/>
          <p:nvPr>
            <p:ph idx="8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2" name="Google Shape;312;p15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9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4" name="Google Shape;314;p15"/>
          <p:cNvSpPr txBox="1"/>
          <p:nvPr>
            <p:ph idx="13" type="body"/>
          </p:nvPr>
        </p:nvSpPr>
        <p:spPr>
          <a:xfrm>
            <a:off x="266400" y="32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5" name="Google Shape;315;p15"/>
          <p:cNvSpPr txBox="1"/>
          <p:nvPr>
            <p:ph idx="14" type="body"/>
          </p:nvPr>
        </p:nvSpPr>
        <p:spPr>
          <a:xfrm>
            <a:off x="266400" y="4897780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15" type="body"/>
          </p:nvPr>
        </p:nvSpPr>
        <p:spPr>
          <a:xfrm>
            <a:off x="5026176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15"/>
          <p:cNvSpPr txBox="1"/>
          <p:nvPr>
            <p:ph idx="16" type="body"/>
          </p:nvPr>
        </p:nvSpPr>
        <p:spPr>
          <a:xfrm>
            <a:off x="5026176" y="32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15"/>
          <p:cNvSpPr txBox="1"/>
          <p:nvPr>
            <p:ph idx="17" type="body"/>
          </p:nvPr>
        </p:nvSpPr>
        <p:spPr>
          <a:xfrm>
            <a:off x="5026176" y="4897780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7">
  <p:cSld name="Content 7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 txBox="1"/>
          <p:nvPr>
            <p:ph idx="1" type="body"/>
          </p:nvPr>
        </p:nvSpPr>
        <p:spPr>
          <a:xfrm>
            <a:off x="2664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body"/>
          </p:nvPr>
        </p:nvSpPr>
        <p:spPr>
          <a:xfrm>
            <a:off x="6606000" y="1900800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body"/>
          </p:nvPr>
        </p:nvSpPr>
        <p:spPr>
          <a:xfrm>
            <a:off x="34398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4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6" type="body"/>
          </p:nvPr>
        </p:nvSpPr>
        <p:spPr>
          <a:xfrm>
            <a:off x="26640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7" type="body"/>
          </p:nvPr>
        </p:nvSpPr>
        <p:spPr>
          <a:xfrm>
            <a:off x="3440856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8" type="body"/>
          </p:nvPr>
        </p:nvSpPr>
        <p:spPr>
          <a:xfrm>
            <a:off x="660544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8">
  <p:cSld name="Content 8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p17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p17"/>
          <p:cNvSpPr txBox="1"/>
          <p:nvPr>
            <p:ph idx="2" type="body"/>
          </p:nvPr>
        </p:nvSpPr>
        <p:spPr>
          <a:xfrm>
            <a:off x="266400" y="1900799"/>
            <a:ext cx="302416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4" name="Google Shape;334;p17"/>
          <p:cNvSpPr txBox="1"/>
          <p:nvPr>
            <p:ph idx="3" type="body"/>
          </p:nvPr>
        </p:nvSpPr>
        <p:spPr>
          <a:xfrm>
            <a:off x="6606000" y="1900799"/>
            <a:ext cx="302416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idx="4" type="body"/>
          </p:nvPr>
        </p:nvSpPr>
        <p:spPr>
          <a:xfrm>
            <a:off x="3439800" y="1900799"/>
            <a:ext cx="302416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17"/>
          <p:cNvSpPr txBox="1"/>
          <p:nvPr>
            <p:ph idx="5" type="body"/>
          </p:nvPr>
        </p:nvSpPr>
        <p:spPr>
          <a:xfrm>
            <a:off x="266400" y="4324854"/>
            <a:ext cx="3024160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7" name="Google Shape;337;p17"/>
          <p:cNvSpPr txBox="1"/>
          <p:nvPr>
            <p:ph idx="6" type="body"/>
          </p:nvPr>
        </p:nvSpPr>
        <p:spPr>
          <a:xfrm>
            <a:off x="6606000" y="4324854"/>
            <a:ext cx="3024160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17"/>
          <p:cNvSpPr txBox="1"/>
          <p:nvPr>
            <p:ph idx="7" type="body"/>
          </p:nvPr>
        </p:nvSpPr>
        <p:spPr>
          <a:xfrm>
            <a:off x="3439800" y="4324854"/>
            <a:ext cx="3024160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17"/>
          <p:cNvSpPr txBox="1"/>
          <p:nvPr>
            <p:ph idx="8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17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17"/>
          <p:cNvSpPr txBox="1"/>
          <p:nvPr>
            <p:ph idx="9" type="body"/>
          </p:nvPr>
        </p:nvSpPr>
        <p:spPr>
          <a:xfrm>
            <a:off x="266400" y="168406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13" type="body"/>
          </p:nvPr>
        </p:nvSpPr>
        <p:spPr>
          <a:xfrm>
            <a:off x="3440856" y="168406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14" type="body"/>
          </p:nvPr>
        </p:nvSpPr>
        <p:spPr>
          <a:xfrm>
            <a:off x="6605440" y="168406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15" type="body"/>
          </p:nvPr>
        </p:nvSpPr>
        <p:spPr>
          <a:xfrm>
            <a:off x="266400" y="411634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16" type="body"/>
          </p:nvPr>
        </p:nvSpPr>
        <p:spPr>
          <a:xfrm>
            <a:off x="3440856" y="411634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17" type="body"/>
          </p:nvPr>
        </p:nvSpPr>
        <p:spPr>
          <a:xfrm>
            <a:off x="6605440" y="411634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9">
  <p:cSld name="Content 9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9" name="Google Shape;349;p18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18"/>
          <p:cNvSpPr txBox="1"/>
          <p:nvPr>
            <p:ph idx="2" type="body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1" name="Google Shape;351;p18"/>
          <p:cNvSpPr txBox="1"/>
          <p:nvPr>
            <p:ph idx="3" type="body"/>
          </p:nvPr>
        </p:nvSpPr>
        <p:spPr>
          <a:xfrm>
            <a:off x="5018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p18"/>
          <p:cNvSpPr txBox="1"/>
          <p:nvPr>
            <p:ph idx="4" type="body"/>
          </p:nvPr>
        </p:nvSpPr>
        <p:spPr>
          <a:xfrm>
            <a:off x="266400" y="4322070"/>
            <a:ext cx="4608000" cy="211683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3" name="Google Shape;353;p18"/>
          <p:cNvSpPr txBox="1"/>
          <p:nvPr>
            <p:ph idx="5" type="body"/>
          </p:nvPr>
        </p:nvSpPr>
        <p:spPr>
          <a:xfrm>
            <a:off x="5018400" y="4322070"/>
            <a:ext cx="4608000" cy="211683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4" name="Google Shape;354;p18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5" name="Google Shape;355;p18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8"/>
          <p:cNvSpPr txBox="1"/>
          <p:nvPr>
            <p:ph idx="7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18"/>
          <p:cNvSpPr txBox="1"/>
          <p:nvPr>
            <p:ph idx="8" type="body"/>
          </p:nvPr>
        </p:nvSpPr>
        <p:spPr>
          <a:xfrm>
            <a:off x="5017088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8" name="Google Shape;358;p18"/>
          <p:cNvSpPr txBox="1"/>
          <p:nvPr>
            <p:ph idx="9" type="body"/>
          </p:nvPr>
        </p:nvSpPr>
        <p:spPr>
          <a:xfrm>
            <a:off x="266400" y="411121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9" name="Google Shape;359;p18"/>
          <p:cNvSpPr txBox="1"/>
          <p:nvPr>
            <p:ph idx="13" type="body"/>
          </p:nvPr>
        </p:nvSpPr>
        <p:spPr>
          <a:xfrm>
            <a:off x="5017088" y="411121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0">
  <p:cSld name="Content 10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19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3" name="Google Shape;363;p19"/>
          <p:cNvSpPr txBox="1"/>
          <p:nvPr>
            <p:ph idx="2" type="body"/>
          </p:nvPr>
        </p:nvSpPr>
        <p:spPr>
          <a:xfrm>
            <a:off x="266400" y="1900799"/>
            <a:ext cx="619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4" name="Google Shape;364;p19"/>
          <p:cNvSpPr txBox="1"/>
          <p:nvPr>
            <p:ph idx="3" type="body"/>
          </p:nvPr>
        </p:nvSpPr>
        <p:spPr>
          <a:xfrm>
            <a:off x="66096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19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6" name="Google Shape;366;p19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9"/>
          <p:cNvSpPr txBox="1"/>
          <p:nvPr>
            <p:ph idx="5" type="body"/>
          </p:nvPr>
        </p:nvSpPr>
        <p:spPr>
          <a:xfrm>
            <a:off x="266400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8" name="Google Shape;368;p19"/>
          <p:cNvSpPr txBox="1"/>
          <p:nvPr>
            <p:ph idx="6" type="body"/>
          </p:nvPr>
        </p:nvSpPr>
        <p:spPr>
          <a:xfrm>
            <a:off x="6609184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1">
  <p:cSld name="Content 1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1" name="Google Shape;371;p20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2" name="Google Shape;372;p20"/>
          <p:cNvSpPr txBox="1"/>
          <p:nvPr>
            <p:ph idx="2" type="body"/>
          </p:nvPr>
        </p:nvSpPr>
        <p:spPr>
          <a:xfrm>
            <a:off x="3441600" y="1900799"/>
            <a:ext cx="619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3" name="Google Shape;373;p20"/>
          <p:cNvSpPr txBox="1"/>
          <p:nvPr>
            <p:ph idx="3" type="body"/>
          </p:nvPr>
        </p:nvSpPr>
        <p:spPr>
          <a:xfrm>
            <a:off x="2664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4" name="Google Shape;374;p20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5" name="Google Shape;375;p20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20"/>
          <p:cNvSpPr txBox="1"/>
          <p:nvPr>
            <p:ph idx="5" type="body"/>
          </p:nvPr>
        </p:nvSpPr>
        <p:spPr>
          <a:xfrm>
            <a:off x="26640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7" name="Google Shape;377;p20"/>
          <p:cNvSpPr txBox="1"/>
          <p:nvPr>
            <p:ph idx="6" type="body"/>
          </p:nvPr>
        </p:nvSpPr>
        <p:spPr>
          <a:xfrm>
            <a:off x="3440831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2">
  <p:cSld name="Content 1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0" name="Google Shape;380;p21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21"/>
          <p:cNvSpPr txBox="1"/>
          <p:nvPr>
            <p:ph idx="2" type="body"/>
          </p:nvPr>
        </p:nvSpPr>
        <p:spPr>
          <a:xfrm>
            <a:off x="3441600" y="1900799"/>
            <a:ext cx="619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21"/>
          <p:cNvSpPr txBox="1"/>
          <p:nvPr>
            <p:ph idx="3" type="body"/>
          </p:nvPr>
        </p:nvSpPr>
        <p:spPr>
          <a:xfrm>
            <a:off x="266400" y="1900799"/>
            <a:ext cx="3024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3" name="Google Shape;383;p21"/>
          <p:cNvSpPr txBox="1"/>
          <p:nvPr>
            <p:ph idx="4" type="body"/>
          </p:nvPr>
        </p:nvSpPr>
        <p:spPr>
          <a:xfrm>
            <a:off x="3441600" y="4310016"/>
            <a:ext cx="619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4" name="Google Shape;384;p21"/>
          <p:cNvSpPr txBox="1"/>
          <p:nvPr>
            <p:ph idx="5" type="body"/>
          </p:nvPr>
        </p:nvSpPr>
        <p:spPr>
          <a:xfrm>
            <a:off x="266400" y="4310016"/>
            <a:ext cx="3024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5" name="Google Shape;385;p21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6" name="Google Shape;386;p21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1"/>
          <p:cNvSpPr txBox="1"/>
          <p:nvPr>
            <p:ph idx="7" type="body"/>
          </p:nvPr>
        </p:nvSpPr>
        <p:spPr>
          <a:xfrm>
            <a:off x="26640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8" name="Google Shape;388;p21"/>
          <p:cNvSpPr txBox="1"/>
          <p:nvPr>
            <p:ph idx="8" type="body"/>
          </p:nvPr>
        </p:nvSpPr>
        <p:spPr>
          <a:xfrm>
            <a:off x="3440831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9" name="Google Shape;389;p21"/>
          <p:cNvSpPr txBox="1"/>
          <p:nvPr>
            <p:ph idx="9" type="body"/>
          </p:nvPr>
        </p:nvSpPr>
        <p:spPr>
          <a:xfrm>
            <a:off x="266400" y="4117492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0" name="Google Shape;390;p21"/>
          <p:cNvSpPr txBox="1"/>
          <p:nvPr>
            <p:ph idx="13" type="body"/>
          </p:nvPr>
        </p:nvSpPr>
        <p:spPr>
          <a:xfrm>
            <a:off x="3440831" y="4117492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3">
  <p:cSld name="Content 13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3" name="Google Shape;393;p22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4" name="Google Shape;394;p22"/>
          <p:cNvSpPr txBox="1"/>
          <p:nvPr>
            <p:ph idx="2" type="body"/>
          </p:nvPr>
        </p:nvSpPr>
        <p:spPr>
          <a:xfrm>
            <a:off x="266400" y="1900799"/>
            <a:ext cx="619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5" name="Google Shape;395;p22"/>
          <p:cNvSpPr txBox="1"/>
          <p:nvPr>
            <p:ph idx="3" type="body"/>
          </p:nvPr>
        </p:nvSpPr>
        <p:spPr>
          <a:xfrm>
            <a:off x="6609600" y="1900799"/>
            <a:ext cx="3024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" name="Google Shape;396;p22"/>
          <p:cNvSpPr txBox="1"/>
          <p:nvPr>
            <p:ph idx="4" type="body"/>
          </p:nvPr>
        </p:nvSpPr>
        <p:spPr>
          <a:xfrm>
            <a:off x="266400" y="4338891"/>
            <a:ext cx="6192000" cy="2100009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7" name="Google Shape;397;p22"/>
          <p:cNvSpPr txBox="1"/>
          <p:nvPr>
            <p:ph idx="5" type="body"/>
          </p:nvPr>
        </p:nvSpPr>
        <p:spPr>
          <a:xfrm>
            <a:off x="6609600" y="4338891"/>
            <a:ext cx="3024000" cy="2100009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8" name="Google Shape;398;p22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9" name="Google Shape;399;p22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2"/>
          <p:cNvSpPr txBox="1"/>
          <p:nvPr>
            <p:ph idx="7" type="body"/>
          </p:nvPr>
        </p:nvSpPr>
        <p:spPr>
          <a:xfrm>
            <a:off x="266400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1" name="Google Shape;401;p22"/>
          <p:cNvSpPr txBox="1"/>
          <p:nvPr>
            <p:ph idx="8" type="body"/>
          </p:nvPr>
        </p:nvSpPr>
        <p:spPr>
          <a:xfrm>
            <a:off x="6609184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2" name="Google Shape;402;p22"/>
          <p:cNvSpPr txBox="1"/>
          <p:nvPr>
            <p:ph idx="9" type="body"/>
          </p:nvPr>
        </p:nvSpPr>
        <p:spPr>
          <a:xfrm>
            <a:off x="266400" y="411249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3" name="Google Shape;403;p22"/>
          <p:cNvSpPr txBox="1"/>
          <p:nvPr>
            <p:ph idx="13" type="body"/>
          </p:nvPr>
        </p:nvSpPr>
        <p:spPr>
          <a:xfrm>
            <a:off x="6609184" y="411249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4">
  <p:cSld name="Content 14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"/>
          <p:cNvSpPr txBox="1"/>
          <p:nvPr>
            <p:ph idx="1" type="body"/>
          </p:nvPr>
        </p:nvSpPr>
        <p:spPr>
          <a:xfrm>
            <a:off x="2664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6" name="Google Shape;406;p23"/>
          <p:cNvSpPr txBox="1"/>
          <p:nvPr>
            <p:ph idx="2" type="body"/>
          </p:nvPr>
        </p:nvSpPr>
        <p:spPr>
          <a:xfrm>
            <a:off x="26424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7" name="Google Shape;407;p23"/>
          <p:cNvSpPr txBox="1"/>
          <p:nvPr>
            <p:ph idx="3" type="body"/>
          </p:nvPr>
        </p:nvSpPr>
        <p:spPr>
          <a:xfrm>
            <a:off x="50256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8" name="Google Shape;408;p23"/>
          <p:cNvSpPr txBox="1"/>
          <p:nvPr>
            <p:ph idx="4" type="body"/>
          </p:nvPr>
        </p:nvSpPr>
        <p:spPr>
          <a:xfrm>
            <a:off x="74016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9" name="Google Shape;409;p23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0" name="Google Shape;410;p23"/>
          <p:cNvSpPr txBox="1"/>
          <p:nvPr>
            <p:ph idx="5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1" name="Google Shape;411;p23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2" name="Google Shape;412;p23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23"/>
          <p:cNvSpPr txBox="1"/>
          <p:nvPr>
            <p:ph idx="7" type="body"/>
          </p:nvPr>
        </p:nvSpPr>
        <p:spPr>
          <a:xfrm>
            <a:off x="2664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" name="Google Shape;414;p23"/>
          <p:cNvSpPr txBox="1"/>
          <p:nvPr>
            <p:ph idx="8" type="body"/>
          </p:nvPr>
        </p:nvSpPr>
        <p:spPr>
          <a:xfrm>
            <a:off x="2641512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" name="Google Shape;415;p23"/>
          <p:cNvSpPr txBox="1"/>
          <p:nvPr>
            <p:ph idx="9" type="body"/>
          </p:nvPr>
        </p:nvSpPr>
        <p:spPr>
          <a:xfrm>
            <a:off x="5025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6" name="Google Shape;416;p23"/>
          <p:cNvSpPr txBox="1"/>
          <p:nvPr>
            <p:ph idx="13" type="body"/>
          </p:nvPr>
        </p:nvSpPr>
        <p:spPr>
          <a:xfrm>
            <a:off x="7401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5">
  <p:cSld name="Content 15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9" name="Google Shape;419;p24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0" name="Google Shape;420;p24"/>
          <p:cNvSpPr txBox="1"/>
          <p:nvPr>
            <p:ph idx="2" type="body"/>
          </p:nvPr>
        </p:nvSpPr>
        <p:spPr>
          <a:xfrm>
            <a:off x="2664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1" name="Google Shape;421;p24"/>
          <p:cNvSpPr txBox="1"/>
          <p:nvPr>
            <p:ph idx="3" type="body"/>
          </p:nvPr>
        </p:nvSpPr>
        <p:spPr>
          <a:xfrm>
            <a:off x="26424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2" name="Google Shape;422;p24"/>
          <p:cNvSpPr txBox="1"/>
          <p:nvPr>
            <p:ph idx="4" type="body"/>
          </p:nvPr>
        </p:nvSpPr>
        <p:spPr>
          <a:xfrm>
            <a:off x="50256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3" name="Google Shape;423;p24"/>
          <p:cNvSpPr txBox="1"/>
          <p:nvPr>
            <p:ph idx="5" type="body"/>
          </p:nvPr>
        </p:nvSpPr>
        <p:spPr>
          <a:xfrm>
            <a:off x="74016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4" name="Google Shape;424;p24"/>
          <p:cNvSpPr txBox="1"/>
          <p:nvPr>
            <p:ph idx="6" type="body"/>
          </p:nvPr>
        </p:nvSpPr>
        <p:spPr>
          <a:xfrm>
            <a:off x="2664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5" name="Google Shape;425;p24"/>
          <p:cNvSpPr txBox="1"/>
          <p:nvPr>
            <p:ph idx="7" type="body"/>
          </p:nvPr>
        </p:nvSpPr>
        <p:spPr>
          <a:xfrm>
            <a:off x="26424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6" name="Google Shape;426;p24"/>
          <p:cNvSpPr txBox="1"/>
          <p:nvPr>
            <p:ph idx="8" type="body"/>
          </p:nvPr>
        </p:nvSpPr>
        <p:spPr>
          <a:xfrm>
            <a:off x="5025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7" name="Google Shape;427;p24"/>
          <p:cNvSpPr txBox="1"/>
          <p:nvPr>
            <p:ph idx="9" type="body"/>
          </p:nvPr>
        </p:nvSpPr>
        <p:spPr>
          <a:xfrm>
            <a:off x="7401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8" name="Google Shape;428;p24"/>
          <p:cNvSpPr txBox="1"/>
          <p:nvPr>
            <p:ph idx="13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9" name="Google Shape;429;p24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24"/>
          <p:cNvSpPr txBox="1"/>
          <p:nvPr>
            <p:ph idx="14" type="body"/>
          </p:nvPr>
        </p:nvSpPr>
        <p:spPr>
          <a:xfrm>
            <a:off x="2664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1" name="Google Shape;431;p24"/>
          <p:cNvSpPr txBox="1"/>
          <p:nvPr>
            <p:ph idx="15" type="body"/>
          </p:nvPr>
        </p:nvSpPr>
        <p:spPr>
          <a:xfrm>
            <a:off x="2641512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2" name="Google Shape;432;p24"/>
          <p:cNvSpPr txBox="1"/>
          <p:nvPr>
            <p:ph idx="16" type="body"/>
          </p:nvPr>
        </p:nvSpPr>
        <p:spPr>
          <a:xfrm>
            <a:off x="5025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3" name="Google Shape;433;p24"/>
          <p:cNvSpPr txBox="1"/>
          <p:nvPr>
            <p:ph idx="17" type="body"/>
          </p:nvPr>
        </p:nvSpPr>
        <p:spPr>
          <a:xfrm>
            <a:off x="7401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4" name="Google Shape;434;p24"/>
          <p:cNvSpPr txBox="1"/>
          <p:nvPr>
            <p:ph idx="18" type="body"/>
          </p:nvPr>
        </p:nvSpPr>
        <p:spPr>
          <a:xfrm>
            <a:off x="2664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5" name="Google Shape;435;p24"/>
          <p:cNvSpPr txBox="1"/>
          <p:nvPr>
            <p:ph idx="19" type="body"/>
          </p:nvPr>
        </p:nvSpPr>
        <p:spPr>
          <a:xfrm>
            <a:off x="2641512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6" name="Google Shape;436;p24"/>
          <p:cNvSpPr txBox="1"/>
          <p:nvPr>
            <p:ph idx="20" type="body"/>
          </p:nvPr>
        </p:nvSpPr>
        <p:spPr>
          <a:xfrm>
            <a:off x="5025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7" name="Google Shape;437;p24"/>
          <p:cNvSpPr txBox="1"/>
          <p:nvPr>
            <p:ph idx="21" type="body"/>
          </p:nvPr>
        </p:nvSpPr>
        <p:spPr>
          <a:xfrm>
            <a:off x="7401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6">
  <p:cSld name="Content 16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0" name="Google Shape;440;p25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1" name="Google Shape;441;p25"/>
          <p:cNvSpPr txBox="1"/>
          <p:nvPr>
            <p:ph idx="2" type="body"/>
          </p:nvPr>
        </p:nvSpPr>
        <p:spPr>
          <a:xfrm>
            <a:off x="50256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2" name="Google Shape;442;p25"/>
          <p:cNvSpPr txBox="1"/>
          <p:nvPr>
            <p:ph idx="3" type="body"/>
          </p:nvPr>
        </p:nvSpPr>
        <p:spPr>
          <a:xfrm>
            <a:off x="50256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3" name="Google Shape;443;p25"/>
          <p:cNvSpPr txBox="1"/>
          <p:nvPr>
            <p:ph idx="4" type="body"/>
          </p:nvPr>
        </p:nvSpPr>
        <p:spPr>
          <a:xfrm>
            <a:off x="266400" y="1900801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4" name="Google Shape;444;p25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5" name="Google Shape;445;p25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5"/>
          <p:cNvSpPr txBox="1"/>
          <p:nvPr>
            <p:ph idx="6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7" name="Google Shape;447;p25"/>
          <p:cNvSpPr txBox="1"/>
          <p:nvPr>
            <p:ph idx="7" type="body"/>
          </p:nvPr>
        </p:nvSpPr>
        <p:spPr>
          <a:xfrm>
            <a:off x="50256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8" name="Google Shape;448;p25"/>
          <p:cNvSpPr txBox="1"/>
          <p:nvPr>
            <p:ph idx="8" type="body"/>
          </p:nvPr>
        </p:nvSpPr>
        <p:spPr>
          <a:xfrm>
            <a:off x="5025600" y="409196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7">
  <p:cSld name="Content 17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1" name="Google Shape;451;p26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2" name="Google Shape;452;p26"/>
          <p:cNvSpPr txBox="1"/>
          <p:nvPr>
            <p:ph idx="2" type="body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3" name="Google Shape;453;p26"/>
          <p:cNvSpPr txBox="1"/>
          <p:nvPr>
            <p:ph idx="3" type="body"/>
          </p:nvPr>
        </p:nvSpPr>
        <p:spPr>
          <a:xfrm>
            <a:off x="2664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4" name="Google Shape;454;p26"/>
          <p:cNvSpPr txBox="1"/>
          <p:nvPr>
            <p:ph idx="4" type="body"/>
          </p:nvPr>
        </p:nvSpPr>
        <p:spPr>
          <a:xfrm>
            <a:off x="5025600" y="1900801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5" name="Google Shape;455;p26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6" name="Google Shape;456;p26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26"/>
          <p:cNvSpPr txBox="1"/>
          <p:nvPr>
            <p:ph idx="6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8" name="Google Shape;458;p26"/>
          <p:cNvSpPr txBox="1"/>
          <p:nvPr>
            <p:ph idx="7" type="body"/>
          </p:nvPr>
        </p:nvSpPr>
        <p:spPr>
          <a:xfrm>
            <a:off x="5017088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9" name="Google Shape;459;p26"/>
          <p:cNvSpPr txBox="1"/>
          <p:nvPr>
            <p:ph idx="8" type="body"/>
          </p:nvPr>
        </p:nvSpPr>
        <p:spPr>
          <a:xfrm>
            <a:off x="266400" y="409310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8">
  <p:cSld name="Content 18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2" name="Google Shape;462;p27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3" name="Google Shape;463;p27"/>
          <p:cNvSpPr txBox="1"/>
          <p:nvPr>
            <p:ph idx="2" type="body"/>
          </p:nvPr>
        </p:nvSpPr>
        <p:spPr>
          <a:xfrm>
            <a:off x="2664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4" name="Google Shape;464;p27"/>
          <p:cNvSpPr txBox="1"/>
          <p:nvPr>
            <p:ph idx="3" type="body"/>
          </p:nvPr>
        </p:nvSpPr>
        <p:spPr>
          <a:xfrm>
            <a:off x="50184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5" name="Google Shape;465;p27"/>
          <p:cNvSpPr txBox="1"/>
          <p:nvPr>
            <p:ph idx="4" type="body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6" name="Google Shape;466;p27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7" name="Google Shape;467;p27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27"/>
          <p:cNvSpPr txBox="1"/>
          <p:nvPr>
            <p:ph idx="6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9" name="Google Shape;469;p27"/>
          <p:cNvSpPr txBox="1"/>
          <p:nvPr>
            <p:ph idx="7" type="body"/>
          </p:nvPr>
        </p:nvSpPr>
        <p:spPr>
          <a:xfrm>
            <a:off x="266400" y="409196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0" name="Google Shape;470;p27"/>
          <p:cNvSpPr txBox="1"/>
          <p:nvPr>
            <p:ph idx="8" type="body"/>
          </p:nvPr>
        </p:nvSpPr>
        <p:spPr>
          <a:xfrm>
            <a:off x="5017088" y="409196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9">
  <p:cSld name="Content 19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8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3" name="Google Shape;473;p28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4" name="Google Shape;474;p28"/>
          <p:cNvSpPr txBox="1"/>
          <p:nvPr>
            <p:ph idx="2" type="body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5" name="Google Shape;475;p28"/>
          <p:cNvSpPr txBox="1"/>
          <p:nvPr>
            <p:ph idx="3" type="body"/>
          </p:nvPr>
        </p:nvSpPr>
        <p:spPr>
          <a:xfrm>
            <a:off x="50256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6" name="Google Shape;476;p28"/>
          <p:cNvSpPr txBox="1"/>
          <p:nvPr>
            <p:ph idx="4" type="body"/>
          </p:nvPr>
        </p:nvSpPr>
        <p:spPr>
          <a:xfrm>
            <a:off x="266400" y="4317475"/>
            <a:ext cx="9360000" cy="212142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7" name="Google Shape;477;p28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8" name="Google Shape;478;p28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28"/>
          <p:cNvSpPr txBox="1"/>
          <p:nvPr>
            <p:ph idx="6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0" name="Google Shape;480;p28"/>
          <p:cNvSpPr txBox="1"/>
          <p:nvPr>
            <p:ph idx="7" type="body"/>
          </p:nvPr>
        </p:nvSpPr>
        <p:spPr>
          <a:xfrm>
            <a:off x="266400" y="4104156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1" name="Google Shape;481;p28"/>
          <p:cNvSpPr txBox="1"/>
          <p:nvPr>
            <p:ph idx="8" type="body"/>
          </p:nvPr>
        </p:nvSpPr>
        <p:spPr>
          <a:xfrm>
            <a:off x="5024312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0">
  <p:cSld name="Content 20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4" name="Google Shape;484;p29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5" name="Google Shape;485;p29"/>
          <p:cNvSpPr txBox="1"/>
          <p:nvPr>
            <p:ph idx="2" type="body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6" name="Google Shape;486;p29"/>
          <p:cNvSpPr txBox="1"/>
          <p:nvPr>
            <p:ph idx="3" type="body"/>
          </p:nvPr>
        </p:nvSpPr>
        <p:spPr>
          <a:xfrm>
            <a:off x="266400" y="4313837"/>
            <a:ext cx="3024000" cy="2125063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7" name="Google Shape;487;p29"/>
          <p:cNvSpPr txBox="1"/>
          <p:nvPr>
            <p:ph idx="4" type="body"/>
          </p:nvPr>
        </p:nvSpPr>
        <p:spPr>
          <a:xfrm>
            <a:off x="6609600" y="4313837"/>
            <a:ext cx="3024000" cy="2125063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8" name="Google Shape;488;p29"/>
          <p:cNvSpPr txBox="1"/>
          <p:nvPr>
            <p:ph idx="5" type="body"/>
          </p:nvPr>
        </p:nvSpPr>
        <p:spPr>
          <a:xfrm>
            <a:off x="3439800" y="4313837"/>
            <a:ext cx="3024000" cy="2125063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9" name="Google Shape;489;p29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0" name="Google Shape;490;p29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29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2" name="Google Shape;492;p29"/>
          <p:cNvSpPr txBox="1"/>
          <p:nvPr>
            <p:ph idx="8" type="body"/>
          </p:nvPr>
        </p:nvSpPr>
        <p:spPr>
          <a:xfrm>
            <a:off x="266400" y="4104156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3" name="Google Shape;493;p29"/>
          <p:cNvSpPr txBox="1"/>
          <p:nvPr>
            <p:ph idx="9" type="body"/>
          </p:nvPr>
        </p:nvSpPr>
        <p:spPr>
          <a:xfrm>
            <a:off x="3441600" y="4104156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4" name="Google Shape;494;p29"/>
          <p:cNvSpPr txBox="1"/>
          <p:nvPr>
            <p:ph idx="13" type="body"/>
          </p:nvPr>
        </p:nvSpPr>
        <p:spPr>
          <a:xfrm>
            <a:off x="6610048" y="4104156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1">
  <p:cSld name="Content 2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7" name="Google Shape;497;p30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8" name="Google Shape;498;p30"/>
          <p:cNvSpPr txBox="1"/>
          <p:nvPr>
            <p:ph idx="2" type="body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9" name="Google Shape;499;p30"/>
          <p:cNvSpPr txBox="1"/>
          <p:nvPr>
            <p:ph idx="3" type="body"/>
          </p:nvPr>
        </p:nvSpPr>
        <p:spPr>
          <a:xfrm>
            <a:off x="2664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0" name="Google Shape;500;p30"/>
          <p:cNvSpPr txBox="1"/>
          <p:nvPr>
            <p:ph idx="4" type="body"/>
          </p:nvPr>
        </p:nvSpPr>
        <p:spPr>
          <a:xfrm>
            <a:off x="2649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1" name="Google Shape;501;p30"/>
          <p:cNvSpPr txBox="1"/>
          <p:nvPr>
            <p:ph idx="5" type="body"/>
          </p:nvPr>
        </p:nvSpPr>
        <p:spPr>
          <a:xfrm>
            <a:off x="5025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2" name="Google Shape;502;p30"/>
          <p:cNvSpPr txBox="1"/>
          <p:nvPr>
            <p:ph idx="6" type="body"/>
          </p:nvPr>
        </p:nvSpPr>
        <p:spPr>
          <a:xfrm>
            <a:off x="7401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3" name="Google Shape;503;p30"/>
          <p:cNvSpPr txBox="1"/>
          <p:nvPr>
            <p:ph idx="7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4" name="Google Shape;504;p30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30"/>
          <p:cNvSpPr txBox="1"/>
          <p:nvPr>
            <p:ph idx="8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6" name="Google Shape;506;p30"/>
          <p:cNvSpPr txBox="1"/>
          <p:nvPr>
            <p:ph idx="9" type="body"/>
          </p:nvPr>
        </p:nvSpPr>
        <p:spPr>
          <a:xfrm>
            <a:off x="2664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7" name="Google Shape;507;p30"/>
          <p:cNvSpPr txBox="1"/>
          <p:nvPr>
            <p:ph idx="13" type="body"/>
          </p:nvPr>
        </p:nvSpPr>
        <p:spPr>
          <a:xfrm>
            <a:off x="2649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8" name="Google Shape;508;p30"/>
          <p:cNvSpPr txBox="1"/>
          <p:nvPr>
            <p:ph idx="14" type="body"/>
          </p:nvPr>
        </p:nvSpPr>
        <p:spPr>
          <a:xfrm>
            <a:off x="5023912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9" name="Google Shape;509;p30"/>
          <p:cNvSpPr txBox="1"/>
          <p:nvPr>
            <p:ph idx="15" type="body"/>
          </p:nvPr>
        </p:nvSpPr>
        <p:spPr>
          <a:xfrm>
            <a:off x="7401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2">
  <p:cSld name="Content 22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1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2" name="Google Shape;512;p31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3" name="Google Shape;513;p31"/>
          <p:cNvSpPr txBox="1"/>
          <p:nvPr>
            <p:ph idx="2" type="body"/>
          </p:nvPr>
        </p:nvSpPr>
        <p:spPr>
          <a:xfrm>
            <a:off x="266400" y="1900800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4" name="Google Shape;514;p31"/>
          <p:cNvSpPr txBox="1"/>
          <p:nvPr>
            <p:ph idx="3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5" name="Google Shape;515;p31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31"/>
          <p:cNvSpPr txBox="1"/>
          <p:nvPr>
            <p:ph idx="4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7" name="Google Shape;517;p31"/>
          <p:cNvSpPr txBox="1"/>
          <p:nvPr>
            <p:ph idx="5" type="body"/>
          </p:nvPr>
        </p:nvSpPr>
        <p:spPr>
          <a:xfrm>
            <a:off x="5020296" y="1900800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8" name="Google Shape;518;p31"/>
          <p:cNvSpPr txBox="1"/>
          <p:nvPr>
            <p:ph idx="6" type="body"/>
          </p:nvPr>
        </p:nvSpPr>
        <p:spPr>
          <a:xfrm>
            <a:off x="5020296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9" name="Google Shape;519;p31"/>
          <p:cNvSpPr txBox="1"/>
          <p:nvPr>
            <p:ph idx="7" type="body"/>
          </p:nvPr>
        </p:nvSpPr>
        <p:spPr>
          <a:xfrm>
            <a:off x="5020296" y="3556984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0" name="Google Shape;520;p31"/>
          <p:cNvSpPr txBox="1"/>
          <p:nvPr>
            <p:ph idx="8" type="body"/>
          </p:nvPr>
        </p:nvSpPr>
        <p:spPr>
          <a:xfrm>
            <a:off x="5020296" y="3340252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1" name="Google Shape;521;p31"/>
          <p:cNvSpPr txBox="1"/>
          <p:nvPr>
            <p:ph idx="9" type="body"/>
          </p:nvPr>
        </p:nvSpPr>
        <p:spPr>
          <a:xfrm>
            <a:off x="5020296" y="5213168"/>
            <a:ext cx="4608000" cy="12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2" name="Google Shape;522;p31"/>
          <p:cNvSpPr txBox="1"/>
          <p:nvPr>
            <p:ph idx="13" type="body"/>
          </p:nvPr>
        </p:nvSpPr>
        <p:spPr>
          <a:xfrm>
            <a:off x="5020296" y="49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3">
  <p:cSld name="Content 23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2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5" name="Google Shape;525;p32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6" name="Google Shape;526;p32"/>
          <p:cNvSpPr txBox="1"/>
          <p:nvPr>
            <p:ph idx="2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7" name="Google Shape;527;p32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32"/>
          <p:cNvSpPr txBox="1"/>
          <p:nvPr>
            <p:ph idx="3" type="body"/>
          </p:nvPr>
        </p:nvSpPr>
        <p:spPr>
          <a:xfrm>
            <a:off x="266400" y="1900800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9" name="Google Shape;529;p32"/>
          <p:cNvSpPr txBox="1"/>
          <p:nvPr>
            <p:ph idx="4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0" name="Google Shape;530;p32"/>
          <p:cNvSpPr txBox="1"/>
          <p:nvPr>
            <p:ph idx="5" type="body"/>
          </p:nvPr>
        </p:nvSpPr>
        <p:spPr>
          <a:xfrm>
            <a:off x="266400" y="3556984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1" name="Google Shape;531;p32"/>
          <p:cNvSpPr txBox="1"/>
          <p:nvPr>
            <p:ph idx="6" type="body"/>
          </p:nvPr>
        </p:nvSpPr>
        <p:spPr>
          <a:xfrm>
            <a:off x="266400" y="3340252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2" name="Google Shape;532;p32"/>
          <p:cNvSpPr txBox="1"/>
          <p:nvPr>
            <p:ph idx="7" type="body"/>
          </p:nvPr>
        </p:nvSpPr>
        <p:spPr>
          <a:xfrm>
            <a:off x="266400" y="5213168"/>
            <a:ext cx="4608000" cy="12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3" name="Google Shape;533;p32"/>
          <p:cNvSpPr txBox="1"/>
          <p:nvPr>
            <p:ph idx="8" type="body"/>
          </p:nvPr>
        </p:nvSpPr>
        <p:spPr>
          <a:xfrm>
            <a:off x="266400" y="49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4" name="Google Shape;534;p32"/>
          <p:cNvSpPr txBox="1"/>
          <p:nvPr>
            <p:ph idx="9" type="body"/>
          </p:nvPr>
        </p:nvSpPr>
        <p:spPr>
          <a:xfrm>
            <a:off x="5025008" y="1900800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5" name="Google Shape;535;p32"/>
          <p:cNvSpPr txBox="1"/>
          <p:nvPr>
            <p:ph idx="13" type="body"/>
          </p:nvPr>
        </p:nvSpPr>
        <p:spPr>
          <a:xfrm>
            <a:off x="5025008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4">
  <p:cSld name="Content 24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8" name="Google Shape;538;p33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9" name="Google Shape;539;p33"/>
          <p:cNvSpPr txBox="1"/>
          <p:nvPr>
            <p:ph idx="2" type="body"/>
          </p:nvPr>
        </p:nvSpPr>
        <p:spPr>
          <a:xfrm>
            <a:off x="266400" y="1900799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0" name="Google Shape;540;p33"/>
          <p:cNvSpPr txBox="1"/>
          <p:nvPr>
            <p:ph idx="3" type="body"/>
          </p:nvPr>
        </p:nvSpPr>
        <p:spPr>
          <a:xfrm>
            <a:off x="266400" y="4324854"/>
            <a:ext cx="3023057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1" name="Google Shape;541;p33"/>
          <p:cNvSpPr txBox="1"/>
          <p:nvPr>
            <p:ph idx="4" type="body"/>
          </p:nvPr>
        </p:nvSpPr>
        <p:spPr>
          <a:xfrm>
            <a:off x="6609600" y="4324854"/>
            <a:ext cx="3023057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2" name="Google Shape;542;p33"/>
          <p:cNvSpPr txBox="1"/>
          <p:nvPr>
            <p:ph idx="5" type="body"/>
          </p:nvPr>
        </p:nvSpPr>
        <p:spPr>
          <a:xfrm>
            <a:off x="3439800" y="4324854"/>
            <a:ext cx="3023057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3" name="Google Shape;543;p33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4" name="Google Shape;544;p33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33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6" name="Google Shape;546;p33"/>
          <p:cNvSpPr txBox="1"/>
          <p:nvPr>
            <p:ph idx="8" type="body"/>
          </p:nvPr>
        </p:nvSpPr>
        <p:spPr>
          <a:xfrm>
            <a:off x="266400" y="4116348"/>
            <a:ext cx="3023057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7" name="Google Shape;547;p33"/>
          <p:cNvSpPr txBox="1"/>
          <p:nvPr>
            <p:ph idx="9" type="body"/>
          </p:nvPr>
        </p:nvSpPr>
        <p:spPr>
          <a:xfrm>
            <a:off x="3440856" y="4116348"/>
            <a:ext cx="3023057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8" name="Google Shape;548;p33"/>
          <p:cNvSpPr txBox="1"/>
          <p:nvPr>
            <p:ph idx="13" type="body"/>
          </p:nvPr>
        </p:nvSpPr>
        <p:spPr>
          <a:xfrm>
            <a:off x="6609600" y="4116348"/>
            <a:ext cx="3023057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5">
  <p:cSld name="Content 25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4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1" name="Google Shape;551;p34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2" name="Google Shape;552;p34"/>
          <p:cNvSpPr txBox="1"/>
          <p:nvPr>
            <p:ph idx="2" type="body"/>
          </p:nvPr>
        </p:nvSpPr>
        <p:spPr>
          <a:xfrm>
            <a:off x="266400" y="1899072"/>
            <a:ext cx="30240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3" name="Google Shape;553;p34"/>
          <p:cNvSpPr txBox="1"/>
          <p:nvPr>
            <p:ph idx="3" type="body"/>
          </p:nvPr>
        </p:nvSpPr>
        <p:spPr>
          <a:xfrm>
            <a:off x="6609600" y="1899072"/>
            <a:ext cx="30240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4" name="Google Shape;554;p34"/>
          <p:cNvSpPr txBox="1"/>
          <p:nvPr>
            <p:ph idx="4" type="body"/>
          </p:nvPr>
        </p:nvSpPr>
        <p:spPr>
          <a:xfrm>
            <a:off x="3439800" y="1899072"/>
            <a:ext cx="30240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5" name="Google Shape;555;p34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6" name="Google Shape;556;p34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34"/>
          <p:cNvSpPr txBox="1"/>
          <p:nvPr>
            <p:ph idx="6" type="body"/>
          </p:nvPr>
        </p:nvSpPr>
        <p:spPr>
          <a:xfrm>
            <a:off x="266400" y="1684800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8" name="Google Shape;558;p34"/>
          <p:cNvSpPr txBox="1"/>
          <p:nvPr>
            <p:ph idx="7" type="body"/>
          </p:nvPr>
        </p:nvSpPr>
        <p:spPr>
          <a:xfrm>
            <a:off x="3440856" y="1684800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9" name="Google Shape;559;p34"/>
          <p:cNvSpPr txBox="1"/>
          <p:nvPr>
            <p:ph idx="8" type="body"/>
          </p:nvPr>
        </p:nvSpPr>
        <p:spPr>
          <a:xfrm>
            <a:off x="6609600" y="1684800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0" name="Google Shape;560;p34"/>
          <p:cNvSpPr txBox="1"/>
          <p:nvPr>
            <p:ph idx="9" type="body"/>
          </p:nvPr>
        </p:nvSpPr>
        <p:spPr>
          <a:xfrm>
            <a:off x="266400" y="4351553"/>
            <a:ext cx="9360000" cy="2087347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1" name="Google Shape;561;p34"/>
          <p:cNvSpPr txBox="1"/>
          <p:nvPr>
            <p:ph idx="13" type="body"/>
          </p:nvPr>
        </p:nvSpPr>
        <p:spPr>
          <a:xfrm>
            <a:off x="266400" y="4134822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6">
  <p:cSld name="Content 26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5"/>
          <p:cNvSpPr txBox="1"/>
          <p:nvPr>
            <p:ph idx="1" type="body"/>
          </p:nvPr>
        </p:nvSpPr>
        <p:spPr>
          <a:xfrm>
            <a:off x="266400" y="4624482"/>
            <a:ext cx="4608000" cy="1814418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4" name="Google Shape;564;p35"/>
          <p:cNvSpPr txBox="1"/>
          <p:nvPr>
            <p:ph idx="2" type="body"/>
          </p:nvPr>
        </p:nvSpPr>
        <p:spPr>
          <a:xfrm>
            <a:off x="5016751" y="4624482"/>
            <a:ext cx="4608000" cy="1814418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5" name="Google Shape;565;p35"/>
          <p:cNvSpPr txBox="1"/>
          <p:nvPr>
            <p:ph idx="3" type="body"/>
          </p:nvPr>
        </p:nvSpPr>
        <p:spPr>
          <a:xfrm>
            <a:off x="266400" y="2204864"/>
            <a:ext cx="4608000" cy="17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6" name="Google Shape;566;p35"/>
          <p:cNvSpPr txBox="1"/>
          <p:nvPr>
            <p:ph idx="4" type="body"/>
          </p:nvPr>
        </p:nvSpPr>
        <p:spPr>
          <a:xfrm>
            <a:off x="5016751" y="2204864"/>
            <a:ext cx="4608000" cy="17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7" name="Google Shape;567;p3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8" name="Google Shape;568;p35"/>
          <p:cNvSpPr txBox="1"/>
          <p:nvPr>
            <p:ph idx="5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9" name="Google Shape;569;p35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0" name="Google Shape;570;p35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35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2" name="Google Shape;572;p35"/>
          <p:cNvSpPr txBox="1"/>
          <p:nvPr>
            <p:ph idx="8" type="body"/>
          </p:nvPr>
        </p:nvSpPr>
        <p:spPr>
          <a:xfrm>
            <a:off x="266400" y="4091964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3" name="Google Shape;573;p35"/>
          <p:cNvSpPr txBox="1"/>
          <p:nvPr>
            <p:ph idx="9" type="body"/>
          </p:nvPr>
        </p:nvSpPr>
        <p:spPr>
          <a:xfrm>
            <a:off x="266400" y="1988864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35"/>
          <p:cNvSpPr txBox="1"/>
          <p:nvPr>
            <p:ph idx="13" type="body"/>
          </p:nvPr>
        </p:nvSpPr>
        <p:spPr>
          <a:xfrm>
            <a:off x="5018400" y="1988864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5" name="Google Shape;575;p35"/>
          <p:cNvSpPr txBox="1"/>
          <p:nvPr>
            <p:ph idx="14" type="body"/>
          </p:nvPr>
        </p:nvSpPr>
        <p:spPr>
          <a:xfrm>
            <a:off x="266400" y="4406522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6" name="Google Shape;576;p35"/>
          <p:cNvSpPr txBox="1"/>
          <p:nvPr>
            <p:ph idx="15" type="body"/>
          </p:nvPr>
        </p:nvSpPr>
        <p:spPr>
          <a:xfrm>
            <a:off x="5018400" y="4406522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7">
  <p:cSld name="Content 27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6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9" name="Google Shape;579;p36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0" name="Google Shape;580;p36"/>
          <p:cNvSpPr txBox="1"/>
          <p:nvPr>
            <p:ph idx="2" type="body"/>
          </p:nvPr>
        </p:nvSpPr>
        <p:spPr>
          <a:xfrm>
            <a:off x="266400" y="2187104"/>
            <a:ext cx="3024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1" name="Google Shape;581;p36"/>
          <p:cNvSpPr txBox="1"/>
          <p:nvPr>
            <p:ph idx="3" type="body"/>
          </p:nvPr>
        </p:nvSpPr>
        <p:spPr>
          <a:xfrm>
            <a:off x="6609600" y="2187104"/>
            <a:ext cx="3024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2" name="Google Shape;582;p36"/>
          <p:cNvSpPr txBox="1"/>
          <p:nvPr>
            <p:ph idx="4" type="body"/>
          </p:nvPr>
        </p:nvSpPr>
        <p:spPr>
          <a:xfrm>
            <a:off x="3439800" y="2187104"/>
            <a:ext cx="3024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3" name="Google Shape;583;p36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4" name="Google Shape;584;p36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36"/>
          <p:cNvSpPr txBox="1"/>
          <p:nvPr>
            <p:ph idx="6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6" name="Google Shape;586;p36"/>
          <p:cNvSpPr txBox="1"/>
          <p:nvPr>
            <p:ph idx="7" type="body"/>
          </p:nvPr>
        </p:nvSpPr>
        <p:spPr>
          <a:xfrm>
            <a:off x="266400" y="1978598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7" name="Google Shape;587;p36"/>
          <p:cNvSpPr txBox="1"/>
          <p:nvPr>
            <p:ph idx="8" type="body"/>
          </p:nvPr>
        </p:nvSpPr>
        <p:spPr>
          <a:xfrm>
            <a:off x="3440856" y="1978598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8" name="Google Shape;588;p36"/>
          <p:cNvSpPr txBox="1"/>
          <p:nvPr>
            <p:ph idx="9" type="body"/>
          </p:nvPr>
        </p:nvSpPr>
        <p:spPr>
          <a:xfrm>
            <a:off x="6609600" y="1978598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9" name="Google Shape;589;p36"/>
          <p:cNvSpPr txBox="1"/>
          <p:nvPr>
            <p:ph idx="13" type="body"/>
          </p:nvPr>
        </p:nvSpPr>
        <p:spPr>
          <a:xfrm>
            <a:off x="266400" y="4653336"/>
            <a:ext cx="3024000" cy="178556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0" name="Google Shape;590;p36"/>
          <p:cNvSpPr txBox="1"/>
          <p:nvPr>
            <p:ph idx="14" type="body"/>
          </p:nvPr>
        </p:nvSpPr>
        <p:spPr>
          <a:xfrm>
            <a:off x="6609600" y="4653336"/>
            <a:ext cx="3024000" cy="178556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1" name="Google Shape;591;p36"/>
          <p:cNvSpPr txBox="1"/>
          <p:nvPr>
            <p:ph idx="15" type="body"/>
          </p:nvPr>
        </p:nvSpPr>
        <p:spPr>
          <a:xfrm>
            <a:off x="3439800" y="4653336"/>
            <a:ext cx="3024000" cy="178556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2" name="Google Shape;592;p36"/>
          <p:cNvSpPr txBox="1"/>
          <p:nvPr>
            <p:ph idx="16" type="body"/>
          </p:nvPr>
        </p:nvSpPr>
        <p:spPr>
          <a:xfrm>
            <a:off x="266400" y="4150300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3" name="Google Shape;593;p36"/>
          <p:cNvSpPr txBox="1"/>
          <p:nvPr>
            <p:ph idx="17" type="body"/>
          </p:nvPr>
        </p:nvSpPr>
        <p:spPr>
          <a:xfrm>
            <a:off x="266400" y="4444830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4" name="Google Shape;594;p36"/>
          <p:cNvSpPr txBox="1"/>
          <p:nvPr>
            <p:ph idx="18" type="body"/>
          </p:nvPr>
        </p:nvSpPr>
        <p:spPr>
          <a:xfrm>
            <a:off x="3440856" y="4444830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5" name="Google Shape;595;p36"/>
          <p:cNvSpPr txBox="1"/>
          <p:nvPr>
            <p:ph idx="19" type="body"/>
          </p:nvPr>
        </p:nvSpPr>
        <p:spPr>
          <a:xfrm>
            <a:off x="6609600" y="4444830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8">
  <p:cSld name="Content 28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7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8" name="Google Shape;598;p37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9" name="Google Shape;599;p37"/>
          <p:cNvSpPr txBox="1"/>
          <p:nvPr>
            <p:ph idx="2" type="body"/>
          </p:nvPr>
        </p:nvSpPr>
        <p:spPr>
          <a:xfrm>
            <a:off x="2664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0" name="Google Shape;600;p37"/>
          <p:cNvSpPr txBox="1"/>
          <p:nvPr>
            <p:ph idx="3" type="body"/>
          </p:nvPr>
        </p:nvSpPr>
        <p:spPr>
          <a:xfrm>
            <a:off x="26553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1" name="Google Shape;601;p37"/>
          <p:cNvSpPr txBox="1"/>
          <p:nvPr>
            <p:ph idx="4" type="body"/>
          </p:nvPr>
        </p:nvSpPr>
        <p:spPr>
          <a:xfrm>
            <a:off x="50313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2" name="Google Shape;602;p37"/>
          <p:cNvSpPr txBox="1"/>
          <p:nvPr>
            <p:ph idx="5" type="body"/>
          </p:nvPr>
        </p:nvSpPr>
        <p:spPr>
          <a:xfrm>
            <a:off x="74073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3" name="Google Shape;603;p37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4" name="Google Shape;604;p37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37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6" name="Google Shape;606;p37"/>
          <p:cNvSpPr txBox="1"/>
          <p:nvPr>
            <p:ph idx="8" type="body"/>
          </p:nvPr>
        </p:nvSpPr>
        <p:spPr>
          <a:xfrm>
            <a:off x="266400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7" name="Google Shape;607;p37"/>
          <p:cNvSpPr txBox="1"/>
          <p:nvPr>
            <p:ph idx="9" type="body"/>
          </p:nvPr>
        </p:nvSpPr>
        <p:spPr>
          <a:xfrm>
            <a:off x="2655300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8" name="Google Shape;608;p37"/>
          <p:cNvSpPr txBox="1"/>
          <p:nvPr>
            <p:ph idx="13" type="body"/>
          </p:nvPr>
        </p:nvSpPr>
        <p:spPr>
          <a:xfrm>
            <a:off x="5029612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9" name="Google Shape;609;p37"/>
          <p:cNvSpPr txBox="1"/>
          <p:nvPr>
            <p:ph idx="14" type="body"/>
          </p:nvPr>
        </p:nvSpPr>
        <p:spPr>
          <a:xfrm>
            <a:off x="7401600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0" name="Google Shape;610;p37"/>
          <p:cNvSpPr txBox="1"/>
          <p:nvPr>
            <p:ph idx="15" type="body"/>
          </p:nvPr>
        </p:nvSpPr>
        <p:spPr>
          <a:xfrm>
            <a:off x="2664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1" name="Google Shape;611;p37"/>
          <p:cNvSpPr txBox="1"/>
          <p:nvPr>
            <p:ph idx="16" type="body"/>
          </p:nvPr>
        </p:nvSpPr>
        <p:spPr>
          <a:xfrm>
            <a:off x="26553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2" name="Google Shape;612;p37"/>
          <p:cNvSpPr txBox="1"/>
          <p:nvPr>
            <p:ph idx="17" type="body"/>
          </p:nvPr>
        </p:nvSpPr>
        <p:spPr>
          <a:xfrm>
            <a:off x="50313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3" name="Google Shape;613;p37"/>
          <p:cNvSpPr txBox="1"/>
          <p:nvPr>
            <p:ph idx="18" type="body"/>
          </p:nvPr>
        </p:nvSpPr>
        <p:spPr>
          <a:xfrm>
            <a:off x="74016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4" name="Google Shape;614;p37"/>
          <p:cNvSpPr txBox="1"/>
          <p:nvPr>
            <p:ph idx="19" type="body"/>
          </p:nvPr>
        </p:nvSpPr>
        <p:spPr>
          <a:xfrm>
            <a:off x="266400" y="4077072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5" name="Google Shape;615;p37"/>
          <p:cNvSpPr txBox="1"/>
          <p:nvPr>
            <p:ph idx="20" type="body"/>
          </p:nvPr>
        </p:nvSpPr>
        <p:spPr>
          <a:xfrm>
            <a:off x="266400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6" name="Google Shape;616;p37"/>
          <p:cNvSpPr txBox="1"/>
          <p:nvPr>
            <p:ph idx="21" type="body"/>
          </p:nvPr>
        </p:nvSpPr>
        <p:spPr>
          <a:xfrm>
            <a:off x="2655300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7" name="Google Shape;617;p37"/>
          <p:cNvSpPr txBox="1"/>
          <p:nvPr>
            <p:ph idx="22" type="body"/>
          </p:nvPr>
        </p:nvSpPr>
        <p:spPr>
          <a:xfrm>
            <a:off x="5029612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8" name="Google Shape;618;p37"/>
          <p:cNvSpPr txBox="1"/>
          <p:nvPr>
            <p:ph idx="23" type="body"/>
          </p:nvPr>
        </p:nvSpPr>
        <p:spPr>
          <a:xfrm>
            <a:off x="7401600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9">
  <p:cSld name="Content 29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1" name="Google Shape;621;p38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2" name="Google Shape;622;p38"/>
          <p:cNvSpPr txBox="1"/>
          <p:nvPr>
            <p:ph idx="2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3" name="Google Shape;623;p38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0_Blank">
  <p:cSld name="Content 30_Blank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1_Complete Blank" showMasterSp="0">
  <p:cSld name="Content 31_Complete Blank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0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22729" y="0"/>
            <a:ext cx="8383423" cy="842963"/>
          </a:xfrm>
          <a:custGeom>
            <a:rect b="b" l="l" r="r" t="t"/>
            <a:pathLst>
              <a:path extrusionOk="0" h="10000" w="9982">
                <a:moveTo>
                  <a:pt x="0" y="3202"/>
                </a:moveTo>
                <a:cubicBezTo>
                  <a:pt x="102" y="5468"/>
                  <a:pt x="206" y="7734"/>
                  <a:pt x="308" y="10000"/>
                </a:cubicBezTo>
                <a:lnTo>
                  <a:pt x="9982" y="10000"/>
                </a:lnTo>
                <a:lnTo>
                  <a:pt x="9982" y="0"/>
                </a:lnTo>
                <a:lnTo>
                  <a:pt x="139" y="0"/>
                </a:lnTo>
                <a:cubicBezTo>
                  <a:pt x="93" y="1067"/>
                  <a:pt x="46" y="2135"/>
                  <a:pt x="0" y="3202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8834400" y="6580800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NOMURA_A4_PMS_1797.emf"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55804" y="306904"/>
            <a:ext cx="1260000" cy="22280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1522730" y="0"/>
            <a:ext cx="8428038" cy="842963"/>
          </a:xfrm>
          <a:custGeom>
            <a:rect b="b" l="l" r="r" t="t"/>
            <a:pathLst>
              <a:path extrusionOk="0" h="531" w="5309">
                <a:moveTo>
                  <a:pt x="0" y="170"/>
                </a:moveTo>
                <a:lnTo>
                  <a:pt x="163" y="531"/>
                </a:lnTo>
                <a:lnTo>
                  <a:pt x="5309" y="531"/>
                </a:lnTo>
                <a:lnTo>
                  <a:pt x="5309" y="0"/>
                </a:lnTo>
                <a:lnTo>
                  <a:pt x="74" y="0"/>
                </a:lnTo>
                <a:lnTo>
                  <a:pt x="0" y="17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349692" y="396875"/>
            <a:ext cx="325438" cy="446088"/>
          </a:xfrm>
          <a:custGeom>
            <a:rect b="b" l="l" r="r" t="t"/>
            <a:pathLst>
              <a:path extrusionOk="0" h="281" w="205">
                <a:moveTo>
                  <a:pt x="77" y="0"/>
                </a:moveTo>
                <a:lnTo>
                  <a:pt x="0" y="179"/>
                </a:lnTo>
                <a:lnTo>
                  <a:pt x="48" y="281"/>
                </a:lnTo>
                <a:lnTo>
                  <a:pt x="205" y="281"/>
                </a:lnTo>
                <a:lnTo>
                  <a:pt x="77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344930" y="396875"/>
            <a:ext cx="325438" cy="446088"/>
          </a:xfrm>
          <a:custGeom>
            <a:rect b="b" l="l" r="r" t="t"/>
            <a:pathLst>
              <a:path extrusionOk="0" h="281" w="205">
                <a:moveTo>
                  <a:pt x="77" y="0"/>
                </a:moveTo>
                <a:lnTo>
                  <a:pt x="0" y="179"/>
                </a:lnTo>
                <a:lnTo>
                  <a:pt x="48" y="281"/>
                </a:lnTo>
                <a:lnTo>
                  <a:pt x="205" y="281"/>
                </a:lnTo>
                <a:lnTo>
                  <a:pt x="7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305242" y="0"/>
            <a:ext cx="222250" cy="396875"/>
          </a:xfrm>
          <a:custGeom>
            <a:rect b="b" l="l" r="r" t="t"/>
            <a:pathLst>
              <a:path extrusionOk="0" h="250" w="140">
                <a:moveTo>
                  <a:pt x="67" y="0"/>
                </a:moveTo>
                <a:lnTo>
                  <a:pt x="0" y="0"/>
                </a:lnTo>
                <a:lnTo>
                  <a:pt x="0" y="6"/>
                </a:lnTo>
                <a:lnTo>
                  <a:pt x="105" y="250"/>
                </a:lnTo>
                <a:lnTo>
                  <a:pt x="140" y="170"/>
                </a:lnTo>
                <a:lnTo>
                  <a:pt x="67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300480" y="0"/>
            <a:ext cx="222250" cy="396875"/>
          </a:xfrm>
          <a:custGeom>
            <a:rect b="b" l="l" r="r" t="t"/>
            <a:pathLst>
              <a:path extrusionOk="0" h="250" w="140">
                <a:moveTo>
                  <a:pt x="67" y="0"/>
                </a:moveTo>
                <a:lnTo>
                  <a:pt x="0" y="0"/>
                </a:lnTo>
                <a:lnTo>
                  <a:pt x="0" y="6"/>
                </a:lnTo>
                <a:lnTo>
                  <a:pt x="105" y="250"/>
                </a:lnTo>
                <a:lnTo>
                  <a:pt x="140" y="170"/>
                </a:lnTo>
                <a:lnTo>
                  <a:pt x="6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43292" y="284163"/>
            <a:ext cx="411163" cy="558800"/>
          </a:xfrm>
          <a:custGeom>
            <a:rect b="b" l="l" r="r" t="t"/>
            <a:pathLst>
              <a:path extrusionOk="0" h="352" w="259">
                <a:moveTo>
                  <a:pt x="154" y="0"/>
                </a:moveTo>
                <a:lnTo>
                  <a:pt x="0" y="352"/>
                </a:lnTo>
                <a:lnTo>
                  <a:pt x="215" y="352"/>
                </a:lnTo>
                <a:lnTo>
                  <a:pt x="259" y="250"/>
                </a:lnTo>
                <a:lnTo>
                  <a:pt x="154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33768" y="284163"/>
            <a:ext cx="411163" cy="558800"/>
          </a:xfrm>
          <a:custGeom>
            <a:rect b="b" l="l" r="r" t="t"/>
            <a:pathLst>
              <a:path extrusionOk="0" h="352" w="259">
                <a:moveTo>
                  <a:pt x="154" y="0"/>
                </a:moveTo>
                <a:lnTo>
                  <a:pt x="0" y="352"/>
                </a:lnTo>
                <a:lnTo>
                  <a:pt x="215" y="352"/>
                </a:lnTo>
                <a:lnTo>
                  <a:pt x="259" y="250"/>
                </a:lnTo>
                <a:lnTo>
                  <a:pt x="154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3366" y="0"/>
            <a:ext cx="796925" cy="842963"/>
          </a:xfrm>
          <a:custGeom>
            <a:rect b="b" l="l" r="r" t="t"/>
            <a:pathLst>
              <a:path extrusionOk="0" h="531" w="502">
                <a:moveTo>
                  <a:pt x="502" y="0"/>
                </a:moveTo>
                <a:lnTo>
                  <a:pt x="224" y="0"/>
                </a:lnTo>
                <a:lnTo>
                  <a:pt x="0" y="531"/>
                </a:lnTo>
                <a:lnTo>
                  <a:pt x="275" y="531"/>
                </a:lnTo>
                <a:lnTo>
                  <a:pt x="50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59080" y="0"/>
            <a:ext cx="796925" cy="842963"/>
          </a:xfrm>
          <a:custGeom>
            <a:rect b="b" l="l" r="r" t="t"/>
            <a:pathLst>
              <a:path extrusionOk="0" h="531" w="502">
                <a:moveTo>
                  <a:pt x="502" y="0"/>
                </a:moveTo>
                <a:lnTo>
                  <a:pt x="224" y="0"/>
                </a:lnTo>
                <a:lnTo>
                  <a:pt x="0" y="531"/>
                </a:lnTo>
                <a:lnTo>
                  <a:pt x="275" y="531"/>
                </a:lnTo>
                <a:lnTo>
                  <a:pt x="502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406843" y="0"/>
            <a:ext cx="233363" cy="269875"/>
          </a:xfrm>
          <a:custGeom>
            <a:rect b="b" l="l" r="r" t="t"/>
            <a:pathLst>
              <a:path extrusionOk="0" h="170" w="147">
                <a:moveTo>
                  <a:pt x="0" y="0"/>
                </a:moveTo>
                <a:lnTo>
                  <a:pt x="73" y="170"/>
                </a:lnTo>
                <a:lnTo>
                  <a:pt x="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406843" y="0"/>
            <a:ext cx="233363" cy="269875"/>
          </a:xfrm>
          <a:custGeom>
            <a:rect b="b" l="l" r="r" t="t"/>
            <a:pathLst>
              <a:path extrusionOk="0" h="170" w="147">
                <a:moveTo>
                  <a:pt x="0" y="0"/>
                </a:moveTo>
                <a:lnTo>
                  <a:pt x="73" y="170"/>
                </a:lnTo>
                <a:lnTo>
                  <a:pt x="147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409224" y="0"/>
            <a:ext cx="233363" cy="269875"/>
          </a:xfrm>
          <a:custGeom>
            <a:rect b="b" l="l" r="r" t="t"/>
            <a:pathLst>
              <a:path extrusionOk="0" h="170" w="147">
                <a:moveTo>
                  <a:pt x="147" y="0"/>
                </a:moveTo>
                <a:lnTo>
                  <a:pt x="0" y="0"/>
                </a:lnTo>
                <a:lnTo>
                  <a:pt x="73" y="170"/>
                </a:lnTo>
                <a:lnTo>
                  <a:pt x="147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406843" y="0"/>
            <a:ext cx="233363" cy="269875"/>
          </a:xfrm>
          <a:custGeom>
            <a:rect b="b" l="l" r="r" t="t"/>
            <a:pathLst>
              <a:path extrusionOk="0" h="170" w="147">
                <a:moveTo>
                  <a:pt x="147" y="0"/>
                </a:moveTo>
                <a:lnTo>
                  <a:pt x="0" y="0"/>
                </a:lnTo>
                <a:lnTo>
                  <a:pt x="73" y="170"/>
                </a:lnTo>
                <a:lnTo>
                  <a:pt x="14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185386" y="9525"/>
            <a:ext cx="288925" cy="671513"/>
          </a:xfrm>
          <a:custGeom>
            <a:rect b="b" l="l" r="r" t="t"/>
            <a:pathLst>
              <a:path extrusionOk="0" h="423" w="182">
                <a:moveTo>
                  <a:pt x="77" y="0"/>
                </a:moveTo>
                <a:lnTo>
                  <a:pt x="0" y="173"/>
                </a:lnTo>
                <a:lnTo>
                  <a:pt x="105" y="423"/>
                </a:lnTo>
                <a:lnTo>
                  <a:pt x="182" y="244"/>
                </a:lnTo>
                <a:lnTo>
                  <a:pt x="77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78243" y="9525"/>
            <a:ext cx="288925" cy="671513"/>
          </a:xfrm>
          <a:custGeom>
            <a:rect b="b" l="l" r="r" t="t"/>
            <a:pathLst>
              <a:path extrusionOk="0" h="423" w="182">
                <a:moveTo>
                  <a:pt x="77" y="0"/>
                </a:moveTo>
                <a:lnTo>
                  <a:pt x="0" y="173"/>
                </a:lnTo>
                <a:lnTo>
                  <a:pt x="105" y="423"/>
                </a:lnTo>
                <a:lnTo>
                  <a:pt x="182" y="244"/>
                </a:lnTo>
                <a:lnTo>
                  <a:pt x="7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294130" y="0"/>
            <a:ext cx="6350" cy="9525"/>
          </a:xfrm>
          <a:custGeom>
            <a:rect b="b" l="l" r="r" t="t"/>
            <a:pathLst>
              <a:path extrusionOk="0" h="6" w="4">
                <a:moveTo>
                  <a:pt x="4" y="0"/>
                </a:moveTo>
                <a:lnTo>
                  <a:pt x="0" y="0"/>
                </a:lnTo>
                <a:lnTo>
                  <a:pt x="4" y="6"/>
                </a:lnTo>
                <a:lnTo>
                  <a:pt x="4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294130" y="0"/>
            <a:ext cx="6350" cy="9525"/>
          </a:xfrm>
          <a:custGeom>
            <a:rect b="b" l="l" r="r" t="t"/>
            <a:pathLst>
              <a:path extrusionOk="0" h="6" w="4">
                <a:moveTo>
                  <a:pt x="4" y="0"/>
                </a:moveTo>
                <a:lnTo>
                  <a:pt x="0" y="0"/>
                </a:lnTo>
                <a:lnTo>
                  <a:pt x="4" y="6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07548" y="0"/>
            <a:ext cx="482600" cy="842963"/>
          </a:xfrm>
          <a:custGeom>
            <a:rect b="b" l="l" r="r" t="t"/>
            <a:pathLst>
              <a:path extrusionOk="0" h="531" w="304">
                <a:moveTo>
                  <a:pt x="227" y="0"/>
                </a:moveTo>
                <a:lnTo>
                  <a:pt x="227" y="0"/>
                </a:lnTo>
                <a:lnTo>
                  <a:pt x="0" y="531"/>
                </a:lnTo>
                <a:lnTo>
                  <a:pt x="150" y="531"/>
                </a:lnTo>
                <a:lnTo>
                  <a:pt x="304" y="179"/>
                </a:lnTo>
                <a:lnTo>
                  <a:pt x="227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5643" y="0"/>
            <a:ext cx="482600" cy="842963"/>
          </a:xfrm>
          <a:custGeom>
            <a:rect b="b" l="l" r="r" t="t"/>
            <a:pathLst>
              <a:path extrusionOk="0" h="531" w="304">
                <a:moveTo>
                  <a:pt x="227" y="0"/>
                </a:moveTo>
                <a:lnTo>
                  <a:pt x="227" y="0"/>
                </a:lnTo>
                <a:lnTo>
                  <a:pt x="0" y="531"/>
                </a:lnTo>
                <a:lnTo>
                  <a:pt x="150" y="531"/>
                </a:lnTo>
                <a:lnTo>
                  <a:pt x="304" y="179"/>
                </a:lnTo>
                <a:lnTo>
                  <a:pt x="22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065529" y="0"/>
            <a:ext cx="244475" cy="284163"/>
          </a:xfrm>
          <a:custGeom>
            <a:rect b="b" l="l" r="r" t="t"/>
            <a:pathLst>
              <a:path extrusionOk="0" h="179" w="154">
                <a:moveTo>
                  <a:pt x="150" y="0"/>
                </a:moveTo>
                <a:lnTo>
                  <a:pt x="0" y="0"/>
                </a:lnTo>
                <a:lnTo>
                  <a:pt x="77" y="179"/>
                </a:lnTo>
                <a:lnTo>
                  <a:pt x="154" y="6"/>
                </a:lnTo>
                <a:lnTo>
                  <a:pt x="150" y="0"/>
                </a:lnTo>
                <a:close/>
              </a:path>
            </a:pathLst>
          </a:custGeom>
          <a:solidFill>
            <a:srgbClr val="909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056005" y="0"/>
            <a:ext cx="244475" cy="284163"/>
          </a:xfrm>
          <a:custGeom>
            <a:rect b="b" l="l" r="r" t="t"/>
            <a:pathLst>
              <a:path extrusionOk="0" h="179" w="154">
                <a:moveTo>
                  <a:pt x="150" y="0"/>
                </a:moveTo>
                <a:lnTo>
                  <a:pt x="0" y="0"/>
                </a:lnTo>
                <a:lnTo>
                  <a:pt x="77" y="179"/>
                </a:lnTo>
                <a:lnTo>
                  <a:pt x="154" y="6"/>
                </a:lnTo>
                <a:lnTo>
                  <a:pt x="15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056005" y="0"/>
            <a:ext cx="1588" cy="1588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1056005" y="0"/>
            <a:ext cx="1588" cy="15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265176" y="2880360"/>
            <a:ext cx="7196328" cy="8595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インド株アクティブ戦略</a:t>
            </a:r>
            <a:endParaRPr lang="ja-JP" sz="2400" dirty="0"/>
          </a:p>
        </p:txBody>
      </p:sp>
      <p:sp>
        <p:nvSpPr>
          <p:cNvPr id="3" name="Text 0"/>
          <p:cNvSpPr/>
          <p:nvPr>
            <p:ph type="body" idx="1"/>
          </p:nvPr>
        </p:nvSpPr>
        <p:spPr>
          <a:xfrm>
            <a:off x="265176" y="3886200"/>
            <a:ext cx="7196328" cy="51206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Agnostic Fundamental Analysis の検証（10/30）</a:t>
            </a:r>
            <a:endParaRPr lang="ja-JP" sz="1800" dirty="0"/>
          </a:p>
        </p:txBody>
      </p:sp>
      <p:sp>
        <p:nvSpPr>
          <p:cNvPr id="4" name="Text 0"/>
          <p:cNvSpPr/>
          <p:nvPr>
            <p:ph type="body" idx="4"/>
          </p:nvPr>
        </p:nvSpPr>
        <p:spPr>
          <a:xfrm>
            <a:off x="265176" y="4864608"/>
            <a:ext cx="3959352" cy="7955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財務から推定した公正価値と時価総額のずれ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MSCI India IMI・ロングオンリー・税引後評価</a:t>
            </a:r>
            <a:endParaRPr lang="ja-JP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要旨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公正価値との乖離は 2 年先まで効くが、単体は弱く、暫定スコアに混ぜても横ばい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9082735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8629" y="1508760"/>
            <a:ext cx="87084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出発点: </a:t>
            </a:r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暫定スコア（現行の複合スコア）は Q5 等ウェイト超過 13.0%、税引後 8.5%。ただし年 4 倍売買し、税とコストで年 4.5% 失っている</a:t>
            </a:r>
            <a:endParaRPr lang="ja-JP" sz="1200" dirty="0"/>
          </a:p>
        </p:txBody>
      </p:sp>
      <p:sp>
        <p:nvSpPr>
          <p:cNvPr id="7" name="card"/>
          <p:cNvSpPr/>
          <p:nvPr/>
        </p:nvSpPr>
        <p:spPr>
          <a:xfrm>
            <a:off x="411480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8" name="badge"/>
          <p:cNvSpPr/>
          <p:nvPr/>
        </p:nvSpPr>
        <p:spPr>
          <a:xfrm>
            <a:off x="565469" y="2651760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5469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10358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動機</a:t>
            </a:r>
            <a:endParaRPr lang="ja-JP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1200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030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 4.0 倍</a:t>
            </a:r>
            <a:endParaRPr lang="ja-JP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61200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暫定スコアの情報は 12 か月先でも残るのに年 4 倍売買。遅く効き、独立な素材がほしい</a:t>
            </a:r>
            <a:endParaRPr lang="ja-JP" sz="1100" dirty="0"/>
          </a:p>
        </p:txBody>
      </p:sp>
      <p:sp>
        <p:nvSpPr>
          <p:cNvPr id="13" name="arrow"/>
          <p:cNvSpPr/>
          <p:nvPr/>
        </p:nvSpPr>
        <p:spPr>
          <a:xfrm>
            <a:off x="2564073" y="36576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4" name="card"/>
          <p:cNvSpPr/>
          <p:nvPr/>
        </p:nvSpPr>
        <p:spPr>
          <a:xfrm>
            <a:off x="2740367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15" name="badge"/>
          <p:cNvSpPr/>
          <p:nvPr/>
        </p:nvSpPr>
        <p:spPr>
          <a:xfrm>
            <a:off x="2894356" y="2651760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89435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339245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890087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030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モデル</a:t>
            </a:r>
            <a:endParaRPr lang="ja-JP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2890087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時価総額を財務の金額に回帰した公正価値との乖離。論文の Theil–Sen と機械学習を比べる</a:t>
            </a:r>
            <a:endParaRPr lang="ja-JP" sz="1100" dirty="0"/>
          </a:p>
        </p:txBody>
      </p:sp>
      <p:sp>
        <p:nvSpPr>
          <p:cNvPr id="20" name="arrow"/>
          <p:cNvSpPr/>
          <p:nvPr/>
        </p:nvSpPr>
        <p:spPr>
          <a:xfrm>
            <a:off x="4892960" y="36576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21" name="card"/>
          <p:cNvSpPr/>
          <p:nvPr/>
        </p:nvSpPr>
        <p:spPr>
          <a:xfrm>
            <a:off x="5069255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22" name="badge"/>
          <p:cNvSpPr/>
          <p:nvPr/>
        </p:nvSpPr>
        <p:spPr>
          <a:xfrm>
            <a:off x="5223243" y="265176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223243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68133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ja-JP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218974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 か月</a:t>
            </a:r>
            <a:endParaRPr lang="ja-JP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5218974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中立化するとバリュー寄りで暫定スコアと無相関。24 か月先まで効くが、単体は IC 0.014 と弱い</a:t>
            </a:r>
            <a:endParaRPr lang="ja-JP" sz="1100" dirty="0"/>
          </a:p>
        </p:txBody>
      </p:sp>
      <p:sp>
        <p:nvSpPr>
          <p:cNvPr id="27" name="arrow"/>
          <p:cNvSpPr/>
          <p:nvPr/>
        </p:nvSpPr>
        <p:spPr>
          <a:xfrm>
            <a:off x="7221847" y="36576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28" name="card"/>
          <p:cNvSpPr/>
          <p:nvPr/>
        </p:nvSpPr>
        <p:spPr>
          <a:xfrm>
            <a:off x="7398142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29" name="badge"/>
          <p:cNvSpPr/>
          <p:nvPr/>
        </p:nvSpPr>
        <p:spPr>
          <a:xfrm>
            <a:off x="7552131" y="265176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552131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97020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ja-JP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547861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保留</a:t>
            </a:r>
            <a:endParaRPr lang="ja-JP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7547861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 80:20 で税引後 8.5% → 8.6%。12 か月平均の低回転も、混ぜると消える</a:t>
            </a:r>
            <a:endParaRPr lang="ja-JP" sz="1100" dirty="0"/>
          </a:p>
        </p:txBody>
      </p:sp>
      <p:sp>
        <p:nvSpPr>
          <p:cNvPr id="34" name="takeaway"/>
          <p:cNvSpPr/>
          <p:nvPr/>
        </p:nvSpPr>
        <p:spPr>
          <a:xfrm>
            <a:off x="411480" y="5394960"/>
            <a:ext cx="9082735" cy="914400"/>
          </a:xfrm>
          <a:prstGeom prst="roundRect">
            <a:avLst>
              <a:gd name="adj" fmla="val 6000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8629" y="5394960"/>
            <a:ext cx="8708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使うなら: </a:t>
            </a:r>
            <a:pPr indent="0" marL="0">
              <a:buNone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bax で暫定スコア 80 : Theil–Sen 中立化版 20 を回す（期待は小幅）。低回転を活かすなら、スコアの混合ではなくポートフォリオ側で組む</a:t>
            </a:r>
            <a:endParaRPr lang="ja-JP" sz="13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評価の枠組み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どの素材も暫定スコアを基準に、同じ 4 段階で確かめる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602899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2899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8629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単体の予測力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翌月リターンとの IC（t 値）、5 分位の Q5 超過と Q5−Q1</a:t>
            </a:r>
            <a:endParaRPr lang="ja-JP" sz="1200" dirty="0"/>
          </a:p>
        </p:txBody>
      </p:sp>
      <p:sp>
        <p:nvSpPr>
          <p:cNvPr id="10" name="arrow"/>
          <p:cNvSpPr/>
          <p:nvPr/>
        </p:nvSpPr>
        <p:spPr>
          <a:xfrm>
            <a:off x="2564073" y="267462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1" name="card"/>
          <p:cNvSpPr/>
          <p:nvPr/>
        </p:nvSpPr>
        <p:spPr>
          <a:xfrm>
            <a:off x="2740367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12" name="badge"/>
          <p:cNvSpPr/>
          <p:nvPr/>
        </p:nvSpPr>
        <p:spPr>
          <a:xfrm>
            <a:off x="2931786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3178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927517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独立性</a:t>
            </a:r>
            <a:endParaRPr lang="ja-JP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927517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暫定スコアとの順位相関、暫定スコアで説明できない部分の IC（残差 IC）、スパニング回帰</a:t>
            </a:r>
            <a:endParaRPr lang="ja-JP" sz="1200" dirty="0"/>
          </a:p>
        </p:txBody>
      </p:sp>
      <p:sp>
        <p:nvSpPr>
          <p:cNvPr id="16" name="arrow"/>
          <p:cNvSpPr/>
          <p:nvPr/>
        </p:nvSpPr>
        <p:spPr>
          <a:xfrm>
            <a:off x="4892960" y="267462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7" name="card"/>
          <p:cNvSpPr/>
          <p:nvPr/>
        </p:nvSpPr>
        <p:spPr>
          <a:xfrm>
            <a:off x="5069255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18" name="badge"/>
          <p:cNvSpPr/>
          <p:nvPr/>
        </p:nvSpPr>
        <p:spPr>
          <a:xfrm>
            <a:off x="5260673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60673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256404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複合</a:t>
            </a:r>
            <a:endParaRPr lang="ja-JP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56404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暫定スコアと各月正規スコア化し、90:10 / 80:20 / 70:30 で加重平均</a:t>
            </a:r>
            <a:endParaRPr lang="ja-JP" sz="1200" dirty="0"/>
          </a:p>
        </p:txBody>
      </p:sp>
      <p:sp>
        <p:nvSpPr>
          <p:cNvPr id="22" name="arrow"/>
          <p:cNvSpPr/>
          <p:nvPr/>
        </p:nvSpPr>
        <p:spPr>
          <a:xfrm>
            <a:off x="7221847" y="267462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23" name="card"/>
          <p:cNvSpPr/>
          <p:nvPr/>
        </p:nvSpPr>
        <p:spPr>
          <a:xfrm>
            <a:off x="7398142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24" name="badge"/>
          <p:cNvSpPr/>
          <p:nvPr/>
        </p:nvSpPr>
        <p:spPr>
          <a:xfrm>
            <a:off x="7589561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589561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85291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税引後ロングオンリー</a:t>
            </a:r>
            <a:endParaRPr lang="ja-JP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5291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等ウェイトを BM と比べる。売買コストと短期・長期の譲渡益課税を控除</a:t>
            </a:r>
            <a:endParaRPr lang="ja-JP" sz="1200" dirty="0"/>
          </a:p>
        </p:txBody>
      </p:sp>
      <p:sp>
        <p:nvSpPr>
          <p:cNvPr id="28" name="conditions"/>
          <p:cNvSpPr/>
          <p:nvPr/>
        </p:nvSpPr>
        <p:spPr>
          <a:xfrm>
            <a:off x="411480" y="4343400"/>
            <a:ext cx="9082735" cy="1965960"/>
          </a:xfrm>
          <a:prstGeom prst="roundRect">
            <a:avLst>
              <a:gd name="adj" fmla="val 2791"/>
            </a:avLst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8629" y="4507992"/>
            <a:ext cx="29943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共通の条件</a:t>
            </a:r>
            <a:endParaRPr lang="ja-JP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98629" y="4937760"/>
            <a:ext cx="42606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ユニバース MSCI India IMI、BM MSCI India、月次リバランス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 2008-01〜、評価 2009-01〜2026-07（2008 年はバーンイン）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金融（GICS 40）はスコアなし。単体の分位は非金融だけで組む</a:t>
            </a:r>
            <a:endParaRPr lang="ja-JP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046422" y="4937760"/>
            <a:ext cx="42606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リターンは配当込み（drtn）と固有リターン（srtn）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税は時期別の税率表、コストは買い 15bp・売り 25bp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 = 現行の複合スコア（コード上は comp_ew）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評価方法の詳細 1  リターンと予測力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指標の定義（全検証で共通）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超過・Q5−Q1</a:t>
            </a:r>
            <a:endParaRPr lang="ja-JP" sz="1200" dirty="0"/>
          </a:p>
        </p:txBody>
      </p:sp>
      <p:pic>
        <p:nvPicPr>
          <p:cNvPr id="6" name="Image 0" descr="eq_x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0684" y="1554480"/>
            <a:ext cx="3621024" cy="4480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70684" y="2057400"/>
            <a:ext cx="7323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各月末 t にユニバース内でスコアを 5 分位に分け、翌月 1 か月保有。r は配当込み（drtn）。EW = 等ウェイト、CW = 時価総額ウェイト。月次差の算術平均 × 12</a:t>
            </a:r>
            <a:endParaRPr lang="ja-JP" sz="1050" dirty="0"/>
          </a:p>
        </p:txBody>
      </p:sp>
      <p:sp>
        <p:nvSpPr>
          <p:cNvPr id="8" name="rule"/>
          <p:cNvSpPr/>
          <p:nvPr/>
        </p:nvSpPr>
        <p:spPr>
          <a:xfrm>
            <a:off x="411480" y="2478024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2523744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</a:t>
            </a:r>
            <a:endParaRPr lang="ja-JP" sz="1200" dirty="0"/>
          </a:p>
        </p:txBody>
      </p:sp>
      <p:pic>
        <p:nvPicPr>
          <p:cNvPr id="10" name="Image 1" descr="eq_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84" y="2523744"/>
            <a:ext cx="2371344" cy="3535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70684" y="2932176"/>
            <a:ext cx="7323531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ρ_S は銘柄横断の順位相関（Spearman）。t 値は Newey–West（ラグ 6）</a:t>
            </a:r>
            <a:endParaRPr lang="ja-JP" sz="1050" dirty="0"/>
          </a:p>
        </p:txBody>
      </p:sp>
      <p:sp>
        <p:nvSpPr>
          <p:cNvPr id="12" name="rule"/>
          <p:cNvSpPr/>
          <p:nvPr/>
        </p:nvSpPr>
        <p:spPr>
          <a:xfrm>
            <a:off x="411480" y="3447288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11480" y="3493008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 IC</a:t>
            </a:r>
            <a:endParaRPr lang="ja-JP" sz="1200" dirty="0"/>
          </a:p>
        </p:txBody>
      </p:sp>
      <p:pic>
        <p:nvPicPr>
          <p:cNvPr id="14" name="Image 2" descr="eq_r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84" y="3493008"/>
            <a:ext cx="3404616" cy="2225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170684" y="3770376"/>
            <a:ext cx="7323531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 = 暫定スコア。各月の横断面回帰の残差 u の IC。暫定スコアで説明できない部分の予測力</a:t>
            </a:r>
            <a:endParaRPr lang="ja-JP" sz="1050" dirty="0"/>
          </a:p>
        </p:txBody>
      </p:sp>
      <p:sp>
        <p:nvSpPr>
          <p:cNvPr id="16" name="rule"/>
          <p:cNvSpPr/>
          <p:nvPr/>
        </p:nvSpPr>
        <p:spPr>
          <a:xfrm>
            <a:off x="411480" y="4416552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11480" y="4462272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スパニング回帰</a:t>
            </a:r>
            <a:endParaRPr lang="ja-JP" sz="1200" dirty="0"/>
          </a:p>
        </p:txBody>
      </p:sp>
      <p:pic>
        <p:nvPicPr>
          <p:cNvPr id="18" name="Image 3" descr="eq_sp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684" y="4462272"/>
            <a:ext cx="1344168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70684" y="4736592"/>
            <a:ext cx="73235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LS^s は素材、LS^c は暫定スコアの月次 Q5−Q1。α は年率（× 12）、t 値は Newey–West（ラグ 6）</a:t>
            </a:r>
            <a:endParaRPr lang="ja-JP" sz="1050" dirty="0"/>
          </a:p>
        </p:txBody>
      </p:sp>
      <p:sp>
        <p:nvSpPr>
          <p:cNvPr id="20" name="rule"/>
          <p:cNvSpPr/>
          <p:nvPr/>
        </p:nvSpPr>
        <p:spPr>
          <a:xfrm>
            <a:off x="411480" y="5385816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11480" y="5431536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正規スコアと複合</a:t>
            </a:r>
            <a:endParaRPr lang="ja-JP" sz="1200" dirty="0"/>
          </a:p>
        </p:txBody>
      </p:sp>
      <p:pic>
        <p:nvPicPr>
          <p:cNvPr id="22" name="Image 4" descr="eq_blo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684" y="5431536"/>
            <a:ext cx="4276344" cy="3810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170684" y="5867400"/>
            <a:ext cx="7323531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は各月ユニバース内の Blom 正規スコア。w は暫定スコアの比率（0.9 / 0.8 / 0.7）</a:t>
            </a:r>
            <a:endParaRPr lang="ja-JP" sz="105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評価方法の詳細 2  回転率と税引後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税引後は FIFO のロット台帳で、実際の保有期間から短期・長期を判定する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回転率（片道）</a:t>
            </a:r>
            <a:endParaRPr lang="ja-JP" sz="1200" dirty="0"/>
          </a:p>
        </p:txBody>
      </p:sp>
      <p:pic>
        <p:nvPicPr>
          <p:cNvPr id="6" name="Image 0" descr="eq_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0684" y="1554480"/>
            <a:ext cx="4322064" cy="4297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70684" y="2039112"/>
            <a:ext cx="73235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 は Q5 のウェイト、w^− は前月のウェイトを当月のリターンで動かした値（リバランス直前）</a:t>
            </a:r>
            <a:endParaRPr lang="ja-JP" sz="1050" dirty="0"/>
          </a:p>
        </p:txBody>
      </p:sp>
      <p:sp>
        <p:nvSpPr>
          <p:cNvPr id="8" name="rule"/>
          <p:cNvSpPr/>
          <p:nvPr/>
        </p:nvSpPr>
        <p:spPr>
          <a:xfrm>
            <a:off x="411480" y="256032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260604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 Q5 超過</a:t>
            </a:r>
            <a:endParaRPr lang="ja-JP" sz="1200" dirty="0"/>
          </a:p>
        </p:txBody>
      </p:sp>
      <p:pic>
        <p:nvPicPr>
          <p:cNvPr id="10" name="Image 1" descr="eq_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84" y="2606040"/>
            <a:ext cx="2904744" cy="3627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70684" y="3023616"/>
            <a:ext cx="732353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cost・tax は月次のコスト・税ドラッグ（ポートフォリオ価値比）</a:t>
            </a:r>
            <a:endParaRPr lang="ja-JP" sz="1050" dirty="0"/>
          </a:p>
        </p:txBody>
      </p:sp>
      <p:sp>
        <p:nvSpPr>
          <p:cNvPr id="12" name="rule"/>
          <p:cNvSpPr/>
          <p:nvPr/>
        </p:nvSpPr>
        <p:spPr>
          <a:xfrm>
            <a:off x="411480" y="342900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11480" y="347472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実現損益</a:t>
            </a:r>
            <a:endParaRPr lang="ja-JP" sz="1200" dirty="0"/>
          </a:p>
        </p:txBody>
      </p:sp>
      <p:pic>
        <p:nvPicPr>
          <p:cNvPr id="14" name="Image 2" descr="eq_taxl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84" y="3474720"/>
            <a:ext cx="4581144" cy="24688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170684" y="3776472"/>
            <a:ext cx="732353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売却は古いロットから充当（FIFO）。h は保有期間</a:t>
            </a:r>
            <a:endParaRPr lang="ja-JP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343400"/>
          <a:ext cx="9082735" cy="914400"/>
        </p:xfrm>
        <a:graphic>
          <a:graphicData uri="http://schemas.openxmlformats.org/drawingml/2006/table">
            <a:tbl>
              <a:tblPr/>
              <a:tblGrid>
                <a:gridCol w="1646915"/>
                <a:gridCol w="74358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税率（現行）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STCG 20%・LTCG 12.5% にサーチャージ 15%・cess 4% を加えた 23.9% / 15.0%（信託・AOP 扱い）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税率（過去）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時期別の税率表。2018 年 3 月以前は上場株の LTCG は非課税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通算と繰越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税務年度（4 月始まり）内で短期・長期の損益を通算。損失は 8 年繰越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買い 15bp・売り 25bp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"/>
          </p:nvPr>
        </p:nvSpPr>
        <p:spPr>
          <a:xfrm>
            <a:off x="265176" y="3602736"/>
            <a:ext cx="7818120" cy="8595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 背景と仮説</a:t>
            </a:r>
            <a:endParaRPr lang="ja-JP" sz="24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265176" y="4608576"/>
            <a:ext cx="7818120" cy="51206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なぜ財務から推定した公正価値を試したか</a:t>
            </a:r>
            <a:endParaRPr lang="ja-JP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背景｜暫定スコアの売買の速さ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暫定スコアの情報は 1 年残るのに、年 4 倍売買している</a:t>
            </a:r>
            <a:endParaRPr lang="ja-JP" sz="1500" dirty="0"/>
          </a:p>
        </p:txBody>
      </p:sp>
      <p:pic>
        <p:nvPicPr>
          <p:cNvPr id="5" name="Image 0" descr="暫定スコアの IC の減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 4.0 倍の売買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短期売却の比率 81%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税ドラッグ 年 2.8%、コスト 年 1.7%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税引前 13.0% → 税引後 8.5%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差の 4.5% が売買の速さのコスト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価格系に寄っている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中期モメンタムとの順位相関 0.60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背景｜論文と仮説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財務が示す価値からのずれは、数年かけて戻る（米国）。インドでも成り立つか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4417849" cy="3611880"/>
          </a:xfrm>
          <a:prstGeom prst="roundRect">
            <a:avLst>
              <a:gd name="adj" fmla="val 1519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8629" y="1691640"/>
            <a:ext cx="40435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論文: Bartram &amp; Grinblatt (2018, JFE)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8629" y="2148840"/>
            <a:ext cx="404355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毎月、時価総額 V を財務項目の金額に横断面回帰し、公正価値 P を推定する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乖離 M = (P − V) / V が大きい（割安な）銘柄ほど、その後上がる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理論やファクターを仮定しない（agnostic）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米国では効果がおよそ 34 か月続く。推定は外れ値に頑健な Theil–Sen 型を推す</a:t>
            </a:r>
            <a:endParaRPr lang="ja-JP" sz="1100" dirty="0"/>
          </a:p>
        </p:txBody>
      </p:sp>
      <p:sp>
        <p:nvSpPr>
          <p:cNvPr id="8" name="card"/>
          <p:cNvSpPr/>
          <p:nvPr/>
        </p:nvSpPr>
        <p:spPr>
          <a:xfrm>
            <a:off x="5076366" y="1508760"/>
            <a:ext cx="4417849" cy="3611880"/>
          </a:xfrm>
          <a:prstGeom prst="roundRect">
            <a:avLst>
              <a:gd name="adj" fmla="val 151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63516" y="1691640"/>
            <a:ext cx="40435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その後の拡張: Geertsema &amp; Lu (2023)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263516" y="2148840"/>
            <a:ext cx="404355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推定を機械学習（木のモデル）に置き換えると、米国では予測力が上がる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ここでは線形 5 本（論文 OLS・Theil–Sen・OLS・Ridge・Lasso）と木 2 本（Random Forest・LightGBM）を比べる</a:t>
            </a:r>
            <a:endParaRPr lang="ja-JP" sz="1100" dirty="0"/>
          </a:p>
        </p:txBody>
      </p:sp>
      <p:sp>
        <p:nvSpPr>
          <p:cNvPr id="11" name="hypothesis"/>
          <p:cNvSpPr/>
          <p:nvPr/>
        </p:nvSpPr>
        <p:spPr>
          <a:xfrm>
            <a:off x="411480" y="5303520"/>
            <a:ext cx="9082735" cy="1051560"/>
          </a:xfrm>
          <a:prstGeom prst="roundRect">
            <a:avLst>
              <a:gd name="adj" fmla="val 5217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629" y="5303520"/>
            <a:ext cx="87084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  </a:t>
            </a:r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インドでも株価は財務が示す価値からずれ、数年かけて戻る。推定を機械学習で良くすると、さらに効く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背景｜確かめること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つの問いを順に確かめる</a:t>
            </a:r>
            <a:endParaRPr lang="ja-JP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1946354"/>
                <a:gridCol w="3742988"/>
                <a:gridCol w="3393393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問い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仮説が正しければ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測り方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 当てはまり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公正価値が時価総額をよく説明する（論文の in-sample R² は中央値 92.7%）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月次の R² と、公正価値と時価総額の順位相関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 スタイル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特定のスタイル（サイズなど）への偏りが小さい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時価総額・B/P・E/P・モメンタム・ボラとの順位相関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 予測力と持続性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翌月の IC が正で、数年かけてゆっくり減る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 と、h か月先（1〜24）の IC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 暫定スコアへの上乗せ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暫定スコアで説明できない予測力があり、混ぜると良くなる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残差 IC、スパニング回帰、80:20 などの複合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 長期保有版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 か月平均で回転率と税が下がり、税引後が良くなる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回転率、短期売却比率、税引後 Q5 超過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"/>
          </p:nvPr>
        </p:nvSpPr>
        <p:spPr>
          <a:xfrm>
            <a:off x="265176" y="3602736"/>
            <a:ext cx="7818120" cy="8595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手法</a:t>
            </a:r>
            <a:endParaRPr lang="ja-JP" sz="24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265176" y="4608576"/>
            <a:ext cx="7818120" cy="51206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財務の金額を復元し、7 通りの推定で公正価値を出す</a:t>
            </a:r>
            <a:endParaRPr lang="ja-JP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 1  流れと財務項目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 の比率から財務の金額を復元し、外れ値を過去データだけで処理する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2096073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565469" y="169164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5469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10358" y="164592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金額を復元</a:t>
            </a:r>
            <a:endParaRPr lang="ja-JP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1200" y="2194560"/>
            <a:ext cx="17966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 の比率 × 時価総額（または総資産・負債）で 13 項目の金額へ</a:t>
            </a:r>
            <a:endParaRPr lang="ja-JP" sz="1100" dirty="0"/>
          </a:p>
        </p:txBody>
      </p:sp>
      <p:sp>
        <p:nvSpPr>
          <p:cNvPr id="10" name="arrow"/>
          <p:cNvSpPr/>
          <p:nvPr/>
        </p:nvSpPr>
        <p:spPr>
          <a:xfrm>
            <a:off x="2564073" y="20574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1" name="card"/>
          <p:cNvSpPr/>
          <p:nvPr/>
        </p:nvSpPr>
        <p:spPr>
          <a:xfrm>
            <a:off x="2740367" y="1508760"/>
            <a:ext cx="2096073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2" name="badge"/>
          <p:cNvSpPr/>
          <p:nvPr/>
        </p:nvSpPr>
        <p:spPr>
          <a:xfrm>
            <a:off x="2894356" y="169164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94356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39245" y="164592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外れ値処理</a:t>
            </a:r>
            <a:endParaRPr lang="ja-JP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890087" y="2194560"/>
            <a:ext cx="17966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総資産比を過去全履歴の 5% / 95% 点でクリップし、総資産を掛け戻す</a:t>
            </a:r>
            <a:endParaRPr lang="ja-JP" sz="1100" dirty="0"/>
          </a:p>
        </p:txBody>
      </p:sp>
      <p:sp>
        <p:nvSpPr>
          <p:cNvPr id="16" name="arrow"/>
          <p:cNvSpPr/>
          <p:nvPr/>
        </p:nvSpPr>
        <p:spPr>
          <a:xfrm>
            <a:off x="4892960" y="20574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7" name="card"/>
          <p:cNvSpPr/>
          <p:nvPr/>
        </p:nvSpPr>
        <p:spPr>
          <a:xfrm>
            <a:off x="5069255" y="1508760"/>
            <a:ext cx="2096073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8" name="badge"/>
          <p:cNvSpPr/>
          <p:nvPr/>
        </p:nvSpPr>
        <p:spPr>
          <a:xfrm>
            <a:off x="5223243" y="169164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23243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668133" y="164592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公正価値を推定</a:t>
            </a:r>
            <a:endParaRPr lang="ja-JP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218974" y="2194560"/>
            <a:ext cx="17966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毎月、非金融銘柄で時価総額を財務の金額に回帰（7 通り）</a:t>
            </a:r>
            <a:endParaRPr lang="ja-JP" sz="1100" dirty="0"/>
          </a:p>
        </p:txBody>
      </p:sp>
      <p:sp>
        <p:nvSpPr>
          <p:cNvPr id="22" name="arrow"/>
          <p:cNvSpPr/>
          <p:nvPr/>
        </p:nvSpPr>
        <p:spPr>
          <a:xfrm>
            <a:off x="7221847" y="20574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23" name="card"/>
          <p:cNvSpPr/>
          <p:nvPr/>
        </p:nvSpPr>
        <p:spPr>
          <a:xfrm>
            <a:off x="7398142" y="1508760"/>
            <a:ext cx="2096073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24" name="badge"/>
          <p:cNvSpPr/>
          <p:nvPr/>
        </p:nvSpPr>
        <p:spPr>
          <a:xfrm>
            <a:off x="7552131" y="169164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552131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997020" y="164592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スコア化</a:t>
            </a:r>
            <a:endParaRPr lang="ja-JP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547861" y="2194560"/>
            <a:ext cx="17966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 = (P − V) / V を Blom 正規スコア化。高いほど割安</a:t>
            </a:r>
            <a:endParaRPr lang="ja-JP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63240"/>
          <a:ext cx="4417849" cy="914400"/>
        </p:xfrm>
        <a:graphic>
          <a:graphicData uri="http://schemas.openxmlformats.org/drawingml/2006/table">
            <a:tbl>
              <a:tblPr/>
              <a:tblGrid>
                <a:gridCol w="935747"/>
                <a:gridCol w="1871494"/>
                <a:gridCol w="1610608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復元式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TL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負債合計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MV ÷ mve_tl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総資産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TL ÷ tl_ta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簿価（株主資本）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bp_act × MV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ni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純利益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ep_act × MV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sales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sp_act × MV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cfe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キャッシュ利益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cfp_act × MV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ocf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 CF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ocfp × MV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div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配当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dp_act × MV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6366" y="3063240"/>
          <a:ext cx="4417849" cy="914400"/>
        </p:xfrm>
        <a:graphic>
          <a:graphicData uri="http://schemas.openxmlformats.org/drawingml/2006/table">
            <a:tbl>
              <a:tblPr/>
              <a:tblGrid>
                <a:gridCol w="935747"/>
                <a:gridCol w="1871494"/>
                <a:gridCol w="1610608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復元式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td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有利子負債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td_ta × 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利益剰余金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re_ta × 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wk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運転資本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wk_ta × 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ebit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EBIT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ebit_ta × 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gp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売上総利益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gpa_act × 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sga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sga_ta × TA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pti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税引前利益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pti_tl × TL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5"/>
          <p:cNvSpPr txBox="1"/>
          <p:nvPr/>
        </p:nvSpPr>
        <p:spPr>
          <a:xfrm>
            <a:off x="411480" y="5943600"/>
            <a:ext cx="9082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 = 時価総額。財務は年次決算（*_act、3 月期決算の発表後に主に 5〜7 月更新）。売上は sales_ta が 2013〜2020 年に一部壊れているため sp_act から復元。FCF は 2019 年に大量欠損するため不使用</a:t>
            </a:r>
            <a:endParaRPr lang="ja-JP" sz="95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 2  公正価値とスコアの式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時価総額を財務の金額に回帰した予測値を公正価値とし、乖離率をスコアにする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8714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外れ値処理</a:t>
            </a:r>
            <a:endParaRPr lang="ja-JP" sz="1200" dirty="0"/>
          </a:p>
        </p:txBody>
      </p:sp>
      <p:pic>
        <p:nvPicPr>
          <p:cNvPr id="6" name="Image 0" descr="eq_w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264" y="1554480"/>
            <a:ext cx="2587752" cy="4145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95264" y="2023872"/>
            <a:ext cx="709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は各項目の総資産比の、月 t までの全履歴（2003 年以降の非金融銘柄）の 5% / 95% 点。先読みなし</a:t>
            </a:r>
            <a:endParaRPr lang="ja-JP" sz="1050" dirty="0"/>
          </a:p>
        </p:txBody>
      </p:sp>
      <p:sp>
        <p:nvSpPr>
          <p:cNvPr id="8" name="rule"/>
          <p:cNvSpPr/>
          <p:nvPr/>
        </p:nvSpPr>
        <p:spPr>
          <a:xfrm>
            <a:off x="411480" y="231648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2362200"/>
            <a:ext cx="18714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線形（論文 OLS ほか）</a:t>
            </a:r>
            <a:endParaRPr lang="ja-JP" sz="1200" dirty="0"/>
          </a:p>
        </p:txBody>
      </p:sp>
      <p:pic>
        <p:nvPicPr>
          <p:cNvPr id="10" name="Image 1" descr="eq_l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264" y="2362200"/>
            <a:ext cx="1490472" cy="4602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395264" y="2877312"/>
            <a:ext cx="709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毎月、非金融銘柄（各月 100 銘柄以上、平均約 270）の横断面回帰。X は TA・TL と 13 項目の金額</a:t>
            </a:r>
            <a:endParaRPr lang="ja-JP" sz="1050" dirty="0"/>
          </a:p>
        </p:txBody>
      </p:sp>
      <p:sp>
        <p:nvSpPr>
          <p:cNvPr id="12" name="rule"/>
          <p:cNvSpPr/>
          <p:nvPr/>
        </p:nvSpPr>
        <p:spPr>
          <a:xfrm>
            <a:off x="411480" y="312420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11480" y="3169920"/>
            <a:ext cx="18714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Theil–Sen 型</a:t>
            </a:r>
            <a:endParaRPr lang="ja-JP" sz="1200" dirty="0"/>
          </a:p>
        </p:txBody>
      </p:sp>
      <p:pic>
        <p:nvPicPr>
          <p:cNvPr id="14" name="Image 2" descr="eq_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264" y="3169920"/>
            <a:ext cx="5391912" cy="381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395264" y="3605784"/>
            <a:ext cx="709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外れ値に頑健。学習に使った銘柄そのものも予測する（in-sample、論文は 10 万回）</a:t>
            </a:r>
            <a:endParaRPr lang="ja-JP" sz="1050" dirty="0"/>
          </a:p>
        </p:txBody>
      </p:sp>
      <p:sp>
        <p:nvSpPr>
          <p:cNvPr id="16" name="rule"/>
          <p:cNvSpPr/>
          <p:nvPr/>
        </p:nvSpPr>
        <p:spPr>
          <a:xfrm>
            <a:off x="411480" y="393192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11480" y="3977640"/>
            <a:ext cx="18714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交差推定</a:t>
            </a:r>
            <a:endParaRPr lang="ja-JP" sz="1200" dirty="0"/>
          </a:p>
        </p:txBody>
      </p:sp>
      <p:pic>
        <p:nvPicPr>
          <p:cNvPr id="18" name="Image 3" descr="eq_c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264" y="3977640"/>
            <a:ext cx="3685032" cy="2590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395264" y="4291584"/>
            <a:ext cx="709895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OLS・Ridge・Lasso・RF・LightGBM は 5 分割。自分を含まない 4/5 の銘柄で学習した f で予測</a:t>
            </a:r>
            <a:endParaRPr lang="ja-JP" sz="1050" dirty="0"/>
          </a:p>
        </p:txBody>
      </p:sp>
      <p:sp>
        <p:nvSpPr>
          <p:cNvPr id="20" name="rule"/>
          <p:cNvSpPr/>
          <p:nvPr/>
        </p:nvSpPr>
        <p:spPr>
          <a:xfrm>
            <a:off x="411480" y="473964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11480" y="4785360"/>
            <a:ext cx="18714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木（RF・LightGBM）</a:t>
            </a:r>
            <a:endParaRPr lang="ja-JP" sz="1200" dirty="0"/>
          </a:p>
        </p:txBody>
      </p:sp>
      <p:pic>
        <p:nvPicPr>
          <p:cNvPr id="22" name="Image 4" descr="eq_tre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264" y="4785360"/>
            <a:ext cx="3407664" cy="34137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395264" y="5181600"/>
            <a:ext cx="70989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対数の時価総額を、log 総資産と総資産比の比率で予測し、指数で金額に戻す</a:t>
            </a:r>
            <a:endParaRPr lang="ja-JP" sz="1050" dirty="0"/>
          </a:p>
        </p:txBody>
      </p:sp>
      <p:sp>
        <p:nvSpPr>
          <p:cNvPr id="24" name="rule"/>
          <p:cNvSpPr/>
          <p:nvPr/>
        </p:nvSpPr>
        <p:spPr>
          <a:xfrm>
            <a:off x="411480" y="554736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411480" y="5593080"/>
            <a:ext cx="18714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</a:t>
            </a:r>
            <a:endParaRPr lang="ja-JP" sz="1200" dirty="0"/>
          </a:p>
        </p:txBody>
      </p:sp>
      <p:pic>
        <p:nvPicPr>
          <p:cNvPr id="26" name="Image 5" descr="eq_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5264" y="5593080"/>
            <a:ext cx="2450592" cy="4602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395264" y="6108192"/>
            <a:ext cx="709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 &gt; 0 は時価総額が公正価値より低い（割安）。z は各月の Blom 正規スコア</a:t>
            </a:r>
            <a:endParaRPr lang="ja-JP" sz="105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 3  推定モデルの設定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線形 5 本と木 2 本。論文と同じ in-sample 推定と、交差推定を比べる</a:t>
            </a:r>
            <a:endParaRPr lang="ja-JP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1497195"/>
                <a:gridCol w="2694952"/>
                <a:gridCol w="489058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目的変数・特徴量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推定の仕方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 OLS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 ~ 定数 + TA・TL・13 項目の金額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全銘柄で OLS、同じ銘柄を予測（in-sample）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 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無作為 100 銘柄で OLS → 全銘柄を予測、を 1 万回。銘柄ごとの中央値（in-sample）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OLS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 分割の交差推定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Ridge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同上（学習データで標準化）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交差推定。罰則は LOO（10^-4〜10^4）で選ぶ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Lasso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同上（学習データで標準化）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交差推定。罰則は内側 5 分割 CV で選ぶ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Random Forest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log V ~ log TA + 各項目 ÷ TA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交差推定。500 本、葉の最小 3 銘柄、分割候補 1/3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LightGBM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log V ~ log TA + 各項目 ÷ TA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交差推定。300 回、学習率 0.05、葉 15、葉の最小 10 銘柄、行・列 80%、L2 1.0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56692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金融（GICS 40）は財務の構造が違うため対象外。各月 100 銘柄以上の月だけ推定</a:t>
            </a:r>
            <a:endParaRPr lang="ja-JP" sz="95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 4  加工と論文との違い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サイズと業種の偏りを除き、12 か月平均で論文の 1 年保有に近づける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4971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中立化版</a:t>
            </a:r>
            <a:endParaRPr lang="ja-JP" sz="1200" dirty="0"/>
          </a:p>
        </p:txBody>
      </p:sp>
      <p:pic>
        <p:nvPicPr>
          <p:cNvPr id="6" name="Image 0" descr="eq_agn_ne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965" y="1554480"/>
            <a:ext cx="4111752" cy="341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20965" y="1950720"/>
            <a:ext cx="747325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D_g は GICS セクターダミー。各月 OLS の残差を再び Blom 化</a:t>
            </a:r>
            <a:endParaRPr lang="ja-JP" sz="1050" dirty="0"/>
          </a:p>
        </p:txBody>
      </p:sp>
      <p:sp>
        <p:nvSpPr>
          <p:cNvPr id="8" name="rule"/>
          <p:cNvSpPr/>
          <p:nvPr/>
        </p:nvSpPr>
        <p:spPr>
          <a:xfrm>
            <a:off x="411480" y="242316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2468880"/>
            <a:ext cx="14971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か月平均版</a:t>
            </a:r>
            <a:endParaRPr lang="ja-JP" sz="1200" dirty="0"/>
          </a:p>
        </p:txBody>
      </p:sp>
      <p:pic>
        <p:nvPicPr>
          <p:cNvPr id="10" name="Image 1" descr="eq_av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965" y="2468880"/>
            <a:ext cx="2840736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20965" y="2980944"/>
            <a:ext cx="74732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当月を含む過去 12 か月（最小 6 か月）。ラグ 0〜11 のシグナルで作った 12 本のポートフォリオの平均（論文の 1 年保有）を近似</a:t>
            </a:r>
            <a:endParaRPr lang="ja-JP" sz="1050" dirty="0"/>
          </a:p>
        </p:txBody>
      </p:sp>
      <p:sp>
        <p:nvSpPr>
          <p:cNvPr id="12" name="card"/>
          <p:cNvSpPr/>
          <p:nvPr/>
        </p:nvSpPr>
        <p:spPr>
          <a:xfrm>
            <a:off x="411480" y="3611880"/>
            <a:ext cx="9082735" cy="1691640"/>
          </a:xfrm>
          <a:prstGeom prst="roundRect">
            <a:avLst>
              <a:gd name="adj" fmla="val 3243"/>
            </a:avLst>
          </a:prstGeom>
          <a:solidFill>
            <a:srgbClr val="F2F2F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98629" y="3794760"/>
            <a:ext cx="8708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論文（Bartram &amp; Grinblatt 2018）との違い</a:t>
            </a:r>
            <a:endParaRPr lang="ja-JP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98629" y="4251960"/>
            <a:ext cx="8708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財務: 論文は四半期の直近 12 か月と直近四半期末の残高（28 項目）。ここでは年次決算の 15 項目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推定: 交差推定と木のモデルは論文にない（木は Geertsema–Lu 2023 型の拡張）。Theil–Sen の反復は 10 万回 → 1 万回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保有: 論文は 1 年保有。ここでは毎月入れ替え（12 か月平均版で近似）</a:t>
            </a:r>
            <a:endParaRPr lang="ja-JP" sz="1100" dirty="0"/>
          </a:p>
        </p:txBody>
      </p:sp>
      <p:sp>
        <p:nvSpPr>
          <p:cNvPr id="15" name="takeaway"/>
          <p:cNvSpPr/>
          <p:nvPr/>
        </p:nvSpPr>
        <p:spPr>
          <a:xfrm>
            <a:off x="411480" y="5486400"/>
            <a:ext cx="9082735" cy="868680"/>
          </a:xfrm>
          <a:prstGeom prst="roundRect">
            <a:avLst>
              <a:gd name="adj" fmla="val 6316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8629" y="5486400"/>
            <a:ext cx="87084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比べるもの  </a:t>
            </a:r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単体は中立化版 5 本と 12 か月平均版。複合は Theil–Sen（中立化・12 か月平均）・LightGBM・RF の中立化版を暫定スコアと 90:10〜70:30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"/>
          </p:nvPr>
        </p:nvSpPr>
        <p:spPr>
          <a:xfrm>
            <a:off x="265176" y="3602736"/>
            <a:ext cx="7818120" cy="8595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結果</a:t>
            </a:r>
            <a:endParaRPr lang="ja-JP" sz="24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265176" y="4608576"/>
            <a:ext cx="7818120" cy="51206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当てはまり・スタイル・予測力・暫定スコアへの上乗せ</a:t>
            </a:r>
            <a:endParaRPr lang="ja-JP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結果｜当てはまり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in-sample は論文並み。交差推定では木の順位相関が最も高い</a:t>
            </a:r>
            <a:endParaRPr lang="ja-JP" sz="1500" dirty="0"/>
          </a:p>
        </p:txBody>
      </p:sp>
      <p:pic>
        <p:nvPicPr>
          <p:cNvPr id="5" name="Image 0" descr="モデル別の当てはま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in-sample は論文並み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論文 OLS・Theil–Sen の R² 0.87（論文 0.93）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交差推定は木が最良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順位相関 RF 0.71・LightGBM 0.72、線形 0.56〜0.65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 1 の答え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当てはまりは十分。予測力との関係は「情報の寿命」で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結果｜係数 1  共線性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総資産 = 負債 + 純資産の関係で説明変数がほぼ完全に重なり、個々の係数は不安定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7966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標準化係数・VIF</a:t>
            </a:r>
            <a:endParaRPr lang="ja-JP" sz="1200" dirty="0"/>
          </a:p>
        </p:txBody>
      </p:sp>
      <p:pic>
        <p:nvPicPr>
          <p:cNvPr id="6" name="Image 0" descr="eq_stdcoe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0404" y="1554480"/>
            <a:ext cx="2532888" cy="4511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20404" y="2060448"/>
            <a:ext cx="7173811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は月 t の横断面回帰の係数（元の単位）。R²_k は X_k を他の説明変数に回帰した決定係数。VIF が 10 を超えると係数の推定が不安定とされる</a:t>
            </a:r>
            <a:endParaRPr lang="ja-JP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60320"/>
          <a:ext cx="5539623" cy="914400"/>
        </p:xfrm>
        <a:graphic>
          <a:graphicData uri="http://schemas.openxmlformats.org/drawingml/2006/table">
            <a:tbl>
              <a:tblPr/>
              <a:tblGrid>
                <a:gridCol w="2844671"/>
                <a:gridCol w="1122896"/>
                <a:gridCol w="157205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診断（223 か月）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中央値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範囲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総資産と（負債 + 純資産）の相関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1.000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0.999〜1.000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 VIF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3,629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1,167〜20,085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標準化した説明変数の条件数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266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150〜617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|標準化係数| の合計（OLS）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13.0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8.6〜19.9（10〜90%）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|標準化係数| の合計（Theil–Sen）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9.1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6.1〜13.2（10〜90%）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11480" y="4937760"/>
            <a:ext cx="55396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|標準化係数| の合計: 説明変数が独立なら 1 前後。大きいほど係数どうしが打ち消し合っている</a:t>
            </a:r>
            <a:endParaRPr lang="ja-JP" sz="950" dirty="0"/>
          </a:p>
        </p:txBody>
      </p:sp>
      <p:sp>
        <p:nvSpPr>
          <p:cNvPr id="10" name="card"/>
          <p:cNvSpPr/>
          <p:nvPr/>
        </p:nvSpPr>
        <p:spPr>
          <a:xfrm>
            <a:off x="6198140" y="2560320"/>
            <a:ext cx="3296075" cy="17830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6385289" y="27432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打ち消し合いの例（OLS）</a:t>
            </a:r>
            <a:endParaRPr lang="ja-JP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385289" y="3200400"/>
            <a:ext cx="29217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純利益 +12.4 倍、税引前利益 −9.8 倍、キャッシュ利益 −3.8 倍（係数の中央値）</a:t>
            </a:r>
            <a:endParaRPr lang="ja-JP" sz="1100" dirty="0"/>
          </a:p>
        </p:txBody>
      </p:sp>
      <p:sp>
        <p:nvSpPr>
          <p:cNvPr id="13" name="card"/>
          <p:cNvSpPr/>
          <p:nvPr/>
        </p:nvSpPr>
        <p:spPr>
          <a:xfrm>
            <a:off x="6198140" y="4480560"/>
            <a:ext cx="3296075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385289" y="46634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ja-JP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385289" y="5120640"/>
            <a:ext cx="292177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個々の係数の符号は解釈しない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Lasso の選択率と、Ridge の相対ウェイトで見る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結果｜係数 2  何が時価総額を説明するか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どのモデルでも利益（純利益・EBIT）が中心。次に配当・販管費・簿価</a:t>
            </a:r>
            <a:endParaRPr lang="ja-JP" sz="1500" dirty="0"/>
          </a:p>
        </p:txBody>
      </p:sp>
      <p:pic>
        <p:nvPicPr>
          <p:cNvPr id="5" name="Image 0" descr="線形モデルの相対ウェイ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利益が中心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純利益と EBIT がどのモデルでも上位。Lasso は純利益を 87% の月で選ぶ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次に配当・販管費・簿価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配当と販管費は 85〜96% の月で正（Ridge・Theil–Sen）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符号が割れる項目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税引前利益・キャッシュ利益は利益の重複分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結果｜係数 3  一覧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線形モデルの説明変数ごとの重み・符号の安定性・選択率・倍率</a:t>
            </a:r>
            <a:endParaRPr lang="ja-JP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1946354"/>
                <a:gridCol w="1310046"/>
                <a:gridCol w="1160326"/>
                <a:gridCol w="1310046"/>
                <a:gridCol w="1160326"/>
                <a:gridCol w="1048037"/>
                <a:gridCol w="114760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説明変数</a:t>
                      </a:r>
                      <a:endParaRPr lang="ja-JP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Ridge 相対ウェイト</a:t>
                      </a:r>
                      <a:endParaRPr lang="ja-JP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Ridge 正の月</a:t>
                      </a:r>
                      <a:endParaRPr lang="ja-JP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 正の月</a:t>
                      </a:r>
                      <a:endParaRPr lang="ja-JP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Lasso 選択率</a:t>
                      </a:r>
                      <a:endParaRPr lang="ja-JP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OLS 倍率</a:t>
                      </a:r>
                      <a:endParaRPr lang="ja-JP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 倍率</a:t>
                      </a:r>
                      <a:endParaRPr lang="ja-JP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純利益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10.6%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87%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87%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12.4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27.2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EBIT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9.0%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7.4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6.1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配当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7.1%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10.0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16.0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運転資本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0.44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−0.10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6.4%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89%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2.6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簿価（株主資本）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87%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46%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0.24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0.84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税引前利益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6.1%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−9.8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−9.1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総資産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1.29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−0.55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 CF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−0.53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0.14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キャッシュ利益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3.1%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−3.8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−10.6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売上総利益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67%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−1.11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1.08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利益剰余金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1.2%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−0.82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−0.89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0.9%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−0.06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−0.08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有利子負債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0.68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0.19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負債合計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−1.6%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25%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−1.94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−0.39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608076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223 か月（2008-01〜2026-07）。Theil–Sen の係数は 100 銘柄 OLS を 2,000 回推定した係数の中央値（スコアは予測値の中央値を使う）。集計は scripts/agnostic_coefficients.py</a:t>
            </a:r>
            <a:endParaRPr lang="ja-JP" sz="95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結果｜係数 4  推移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利益の重みは常に大きいが、2021〜2023 年は簿価の重みが上がった</a:t>
            </a:r>
            <a:endParaRPr lang="ja-JP" sz="1500" dirty="0"/>
          </a:p>
        </p:txBody>
      </p:sp>
      <p:pic>
        <p:nvPicPr>
          <p:cNvPr id="5" name="Image 0" descr="Ridge の相対ウェイトの推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利益が中心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純利益・EBIT の重みは多くの期間で 10〜20%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2021〜2023 年の変化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簿価の重みが 15% 前後に上昇、純利益は一時マイナス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含意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評価の物差しは時期で変わる。毎月推定し直す設計と整合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結果｜サイズとの関係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生のスコアは小型株ベット。そのままでは IC が負</a:t>
            </a:r>
            <a:endParaRPr lang="ja-JP" sz="1500" dirty="0"/>
          </a:p>
        </p:txBody>
      </p:sp>
      <p:pic>
        <p:nvPicPr>
          <p:cNvPr id="5" name="Image 0" descr="時価総額との順位相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2240280"/>
          </a:xfrm>
          <a:prstGeom prst="roundRect">
            <a:avLst>
              <a:gd name="adj" fmla="val 244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生のスコアは使えない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本とも時価総額と −0.47〜−0.76。小型ほど「割安」に出る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翌月 IC は −0.023〜+0.002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4023360"/>
            <a:ext cx="3296075" cy="233172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42062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中立化で偏りが消える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4663440"/>
            <a:ext cx="292177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時価総額との相関は −0.06〜0.00 に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以降の結果は中立化版で見る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結果｜スタイルとの関係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中立化するとバリューのスコアになり、暫定スコアとはほぼ無相関</a:t>
            </a:r>
            <a:endParaRPr lang="ja-JP" sz="1500" dirty="0"/>
          </a:p>
        </p:txBody>
      </p:sp>
      <p:pic>
        <p:nvPicPr>
          <p:cNvPr id="5" name="Image 0" descr="スタイル相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中身はバリュー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中立化版 7 本で B/P +0.38〜+0.51、E/P +0.43〜+0.60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暫定スコアと独立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中立化版 7 本で −0.12〜−0.03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 2 の答え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生はサイズに偏る。中立化後はバリュー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結果｜単体の成績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単体の IC は最大 0.017 と弱く、固有リターンではほぼ効かない</a:t>
            </a:r>
            <a:endParaRPr lang="ja-JP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2170933"/>
                <a:gridCol w="1235186"/>
                <a:gridCol w="1384906"/>
                <a:gridCol w="1085467"/>
                <a:gridCol w="898317"/>
                <a:gridCol w="1310046"/>
                <a:gridCol w="997881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固有 IC（t）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Q5 EW 超過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Q5−Q1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税引後 Q5 超過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回転率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暫定スコア（基準）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0.065（7.0）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0.039（5.5）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13.0%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17.6%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8.5%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 倍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 OLS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0.009（1.6）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0.003（0.5）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3.7%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3.0%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 倍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0.014（2.3）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0.005（0.8）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 倍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 12 か月平均版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0.017（2.8）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0.003（0.6）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5.4%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7.8%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 倍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RF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0.009（1.4）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−0.002（−0.3）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6.7%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6.5%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3.2%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3.2 倍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LightGBM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0.007（1.1）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−0.001（−0.2）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3.5%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1.5%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4.3 倍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4526280"/>
            <a:ext cx="9082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 IC = GEMLT の固有リターン（srtn）との IC。超過・Q5−Q1 は年率、回転率は年間（片道）。Ridge・Lasso の中立化版は IC が負（−0.005、−0.004）</a:t>
            </a:r>
            <a:endParaRPr lang="ja-JP" sz="950" dirty="0"/>
          </a:p>
        </p:txBody>
      </p:sp>
      <p:sp>
        <p:nvSpPr>
          <p:cNvPr id="7" name="card"/>
          <p:cNvSpPr/>
          <p:nvPr/>
        </p:nvSpPr>
        <p:spPr>
          <a:xfrm>
            <a:off x="411480" y="5029200"/>
            <a:ext cx="2862887" cy="132588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8629" y="521208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単体は弱い</a:t>
            </a:r>
            <a:endParaRPr lang="ja-JP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98629" y="5669280"/>
            <a:ext cx="248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は暫定スコアの 1/4 程度</a:t>
            </a:r>
            <a:endParaRPr lang="ja-JP" sz="1100" dirty="0"/>
          </a:p>
        </p:txBody>
      </p:sp>
      <p:sp>
        <p:nvSpPr>
          <p:cNvPr id="10" name="card"/>
          <p:cNvSpPr/>
          <p:nvPr/>
        </p:nvSpPr>
        <p:spPr>
          <a:xfrm>
            <a:off x="3521404" y="5029200"/>
            <a:ext cx="2862887" cy="132588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708554" y="521208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中身はスタイル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708554" y="5669280"/>
            <a:ext cx="248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固有リターンでは全モデルほぼ 0</a:t>
            </a:r>
            <a:endParaRPr lang="ja-JP" sz="1100" dirty="0"/>
          </a:p>
        </p:txBody>
      </p:sp>
      <p:sp>
        <p:nvSpPr>
          <p:cNvPr id="13" name="card"/>
          <p:cNvSpPr/>
          <p:nvPr/>
        </p:nvSpPr>
        <p:spPr>
          <a:xfrm>
            <a:off x="6631328" y="5029200"/>
            <a:ext cx="2862887" cy="132588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18478" y="521208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か月平均が最も良い</a:t>
            </a:r>
            <a:endParaRPr lang="ja-JP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18478" y="5669280"/>
            <a:ext cx="248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t 2.8、回転率 1.1 倍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結果｜累積リターン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ロングショートは右肩上がりだが、2017〜2020 年に大きく崩れる</a:t>
            </a:r>
            <a:endParaRPr lang="ja-JP" sz="1500" dirty="0"/>
          </a:p>
        </p:txBody>
      </p:sp>
      <p:pic>
        <p:nvPicPr>
          <p:cNvPr id="5" name="Image 0" descr="累積 Q5−Q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モデルの差より共通の動き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本とも同じ時期に上下する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2017〜2020 年に下落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バリューの不振期と重なり、2020 年以降に戻す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暫定スコアとの差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Q5−Q1 の規模は暫定スコアの半分以下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結果｜年別の IC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が正の年は 18 年中 12 年。負の年はまとまって来る</a:t>
            </a:r>
            <a:endParaRPr lang="ja-JP" sz="1500" dirty="0"/>
          </a:p>
        </p:txBody>
      </p:sp>
      <p:pic>
        <p:nvPicPr>
          <p:cNvPr id="5" name="Image 0" descr="年別の 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正の年は 12 年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Theil–Sen・LightGBM とも 18 年中 12 年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負の年が続く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2018〜2019 年に大きく負。スタイルの局面に左右される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含意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単体で持つと数年単位で負ける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結果｜情報の寿命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長く効くのは Theil–Sen と OLS。機械学習の残差は短命</a:t>
            </a:r>
            <a:endParaRPr lang="ja-JP" sz="1500" dirty="0"/>
          </a:p>
        </p:txBody>
      </p:sp>
      <p:pic>
        <p:nvPicPr>
          <p:cNvPr id="5" name="Image 0" descr="IC の減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166360" cy="475488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1383" y="1508760"/>
          <a:ext cx="3692832" cy="914400"/>
        </p:xfrm>
        <a:graphic>
          <a:graphicData uri="http://schemas.openxmlformats.org/drawingml/2006/table">
            <a:tbl>
              <a:tblPr/>
              <a:tblGrid>
                <a:gridCol w="1085467"/>
                <a:gridCol w="860887"/>
                <a:gridCol w="786028"/>
                <a:gridCol w="960451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当てはまり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 翌月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 12 か月先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0.70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0.014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0.016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OLS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0.56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0.007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0.012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RF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0.71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0.009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−0.003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LightGBM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0.72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0.007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0.002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801383" y="3520440"/>
            <a:ext cx="3692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当てはまり = 公正価値と時価総額の順位相関（月次の中央値）</a:t>
            </a:r>
            <a:endParaRPr lang="ja-JP" sz="950" dirty="0"/>
          </a:p>
        </p:txBody>
      </p:sp>
      <p:sp>
        <p:nvSpPr>
          <p:cNvPr id="8" name="Text 3"/>
          <p:cNvSpPr txBox="1"/>
          <p:nvPr/>
        </p:nvSpPr>
        <p:spPr>
          <a:xfrm>
            <a:off x="5801383" y="4069080"/>
            <a:ext cx="3692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Theil–Sen は 6〜24 か月先でも 0.012〜0.017。論文の「数年続く」と整合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当てはまりが良いほど効くわけではない。論文の「頑健な推定が効く」はインドでも成立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 3 の答え: 持続性は Theil–Sen と OLS だけ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結果｜暫定スコアとの独立性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 IC は残るが、スパニングの α の大半は暫定スコアと逆に動くヘッジ</a:t>
            </a:r>
            <a:endParaRPr lang="ja-JP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2245793"/>
                <a:gridCol w="1646915"/>
                <a:gridCol w="1646915"/>
                <a:gridCol w="1646915"/>
                <a:gridCol w="189619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残差 IC（t）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α 年率（t）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β（t）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固有リターンの α（t）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 OLS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0.011（1.9）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5.7%（2.6）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−0.15（−3.1）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1.7%（0.8）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0.015（2.6）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8.7%（3.2）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−0.20（−3.7）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3.2%（1.3）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Theil–Sen 12 か月平均版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0.014（2.4）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9.6%（3.6）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−0.10（−1.7）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3.6%（1.5）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RF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0.010（1.6）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13.5%（4.2）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−0.40（−6.4）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5.7%（2.2）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LightGBM 中立化版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0.010（1.7）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10.6%（4.5）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−0.41（−9.3）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4.6%（2.1）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42976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スパニング回帰: 素材の Q5−Q1 を暫定スコアの Q5−Q1（年 17.6%）に回帰。定義は「評価方法の詳細 1」</a:t>
            </a:r>
            <a:endParaRPr lang="ja-JP" sz="950" dirty="0"/>
          </a:p>
        </p:txBody>
      </p:sp>
      <p:sp>
        <p:nvSpPr>
          <p:cNvPr id="7" name="card"/>
          <p:cNvSpPr/>
          <p:nvPr/>
        </p:nvSpPr>
        <p:spPr>
          <a:xfrm>
            <a:off x="411480" y="4709160"/>
            <a:ext cx="4417849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8629" y="4892040"/>
            <a:ext cx="40435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α の大半はヘッジ</a:t>
            </a:r>
            <a:endParaRPr lang="ja-JP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98629" y="5349240"/>
            <a:ext cx="40435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β が −0.10〜−0.41。暫定スコアが負ける月に勝つ分が α に入る</a:t>
            </a:r>
            <a:endParaRPr lang="ja-JP" sz="1100" dirty="0"/>
          </a:p>
        </p:txBody>
      </p:sp>
      <p:sp>
        <p:nvSpPr>
          <p:cNvPr id="10" name="card"/>
          <p:cNvSpPr/>
          <p:nvPr/>
        </p:nvSpPr>
        <p:spPr>
          <a:xfrm>
            <a:off x="5076366" y="4709160"/>
            <a:ext cx="4417849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263516" y="4892040"/>
            <a:ext cx="40435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 4 の前半の答え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263516" y="5349240"/>
            <a:ext cx="40435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独立な予測力は残る（Theil–Sen）。ただし固有リターンでは有意でない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結果｜暫定スコアとの複合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暫定スコアに 20% 混ぜても、Q5 超過と税引後は横ばい</a:t>
            </a:r>
            <a:endParaRPr lang="ja-JP" sz="1500" dirty="0"/>
          </a:p>
        </p:txBody>
      </p:sp>
      <p:pic>
        <p:nvPicPr>
          <p:cNvPr id="5" name="Image 0" descr="80:20 の複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80:20 はほぼ横ばい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Theil–Sen 中立化版で税引後 8.5% → 8.6%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30% では下がる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EW 超過 11.7〜12.4%、税引後 7.3〜7.7%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上がるのはロングショート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Theil–Sen 版の Q5−Q1 17.6% → 18.1〜18.4%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結果｜期間別の上乗せ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上乗せは 2014〜2018 年にプラス、2019〜2022 年にマイナスで安定しない</a:t>
            </a:r>
            <a:endParaRPr lang="ja-JP" sz="1500" dirty="0"/>
          </a:p>
        </p:txBody>
      </p:sp>
      <p:pic>
        <p:nvPicPr>
          <p:cNvPr id="5" name="Image 0" descr="期間別の上乗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2014〜2018 年はプラス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+0.3〜+1.3%/年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2019〜2022 年はマイナス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−1.9〜−3.2%/年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ほかの期間はほぼ 0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2009〜2013 年と 2023 年以降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結果｜回転率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か月平均は低回転だが、混ぜると回転率が戻る</a:t>
            </a:r>
            <a:endParaRPr lang="ja-JP" sz="1500" dirty="0"/>
          </a:p>
        </p:txBody>
      </p:sp>
      <p:pic>
        <p:nvPicPr>
          <p:cNvPr id="5" name="Image 0" descr="回転率の比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2514600"/>
          </a:xfrm>
          <a:prstGeom prst="roundRect">
            <a:avLst>
              <a:gd name="adj" fmla="val 2182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か月平均版の単体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011680"/>
            <a:ext cx="1460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31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45%</a:t>
            </a:r>
            <a:endParaRPr lang="ja-JP" sz="3100" dirty="0"/>
          </a:p>
        </p:txBody>
      </p:sp>
      <p:sp>
        <p:nvSpPr>
          <p:cNvPr id="9" name="Text 5"/>
          <p:cNvSpPr txBox="1"/>
          <p:nvPr/>
        </p:nvSpPr>
        <p:spPr>
          <a:xfrm>
            <a:off x="6385289" y="2880360"/>
            <a:ext cx="1460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短期売却の比率</a:t>
            </a:r>
            <a:endParaRPr lang="ja-JP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暫定スコアは 81%</a:t>
            </a:r>
            <a:endParaRPr lang="ja-JP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846177" y="2011680"/>
            <a:ext cx="1460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31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1.2%</a:t>
            </a:r>
            <a:endParaRPr lang="ja-JP" sz="3100" dirty="0"/>
          </a:p>
        </p:txBody>
      </p:sp>
      <p:sp>
        <p:nvSpPr>
          <p:cNvPr id="11" name="Text 7"/>
          <p:cNvSpPr txBox="1"/>
          <p:nvPr/>
        </p:nvSpPr>
        <p:spPr>
          <a:xfrm>
            <a:off x="7846177" y="2880360"/>
            <a:ext cx="1460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税ドラッグ（年）</a:t>
            </a:r>
            <a:endParaRPr lang="ja-JP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暫定スコアは 2.8%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297680"/>
            <a:ext cx="3296075" cy="20574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44805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 5 の答え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4937760"/>
            <a:ext cx="292177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単体では回転率と税が下がるが、混ぜると回転率 401% で暫定スコア（402%）と同じ。売買の速さは暫定スコア側が決める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優先度は中。使うなら Theil–Sen の中立化版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2862887" cy="256032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602899" y="1783080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2899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85218" y="1737360"/>
            <a:ext cx="2039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仮説は一部支持</a:t>
            </a:r>
            <a:endParaRPr lang="ja-JP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2377440"/>
            <a:ext cx="24885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中立化版は 24 か月先まで効き、論文と整合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頑健な推定が効き、柔軟な機械学習は効かない</a:t>
            </a:r>
            <a:endParaRPr lang="ja-JP" sz="1200" dirty="0"/>
          </a:p>
        </p:txBody>
      </p:sp>
      <p:sp>
        <p:nvSpPr>
          <p:cNvPr id="10" name="card"/>
          <p:cNvSpPr/>
          <p:nvPr/>
        </p:nvSpPr>
        <p:spPr>
          <a:xfrm>
            <a:off x="3521404" y="1508760"/>
            <a:ext cx="2862887" cy="256032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11" name="badge"/>
          <p:cNvSpPr/>
          <p:nvPr/>
        </p:nvSpPr>
        <p:spPr>
          <a:xfrm>
            <a:off x="3712823" y="178308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12823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95142" y="1737360"/>
            <a:ext cx="2039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ただし単体は弱い</a:t>
            </a:r>
            <a:endParaRPr lang="ja-JP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708554" y="2377440"/>
            <a:ext cx="24885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は暫定スコアの約 1/5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固有リターンでは効かず、中身はバリュー</a:t>
            </a:r>
            <a:endParaRPr lang="ja-JP" sz="1200" dirty="0"/>
          </a:p>
        </p:txBody>
      </p:sp>
      <p:sp>
        <p:nvSpPr>
          <p:cNvPr id="15" name="card"/>
          <p:cNvSpPr/>
          <p:nvPr/>
        </p:nvSpPr>
        <p:spPr>
          <a:xfrm>
            <a:off x="6631328" y="1508760"/>
            <a:ext cx="2862887" cy="256032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16" name="badge"/>
          <p:cNvSpPr/>
          <p:nvPr/>
        </p:nvSpPr>
        <p:spPr>
          <a:xfrm>
            <a:off x="6822747" y="1783080"/>
            <a:ext cx="365760" cy="365760"/>
          </a:xfrm>
          <a:prstGeom prst="ellipse">
            <a:avLst/>
          </a:prstGeom>
          <a:solidFill>
            <a:srgbClr val="4E7C8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22747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05066" y="1737360"/>
            <a:ext cx="2039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混ぜても劣化しない</a:t>
            </a:r>
            <a:endParaRPr lang="ja-JP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818478" y="2377440"/>
            <a:ext cx="24885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80:20 で税引後 8.5% → 8.6%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上乗せは期間で不安定</a:t>
            </a:r>
            <a:endParaRPr lang="ja-JP" sz="1200" dirty="0"/>
          </a:p>
        </p:txBody>
      </p:sp>
      <p:sp>
        <p:nvSpPr>
          <p:cNvPr id="20" name="next"/>
          <p:cNvSpPr/>
          <p:nvPr/>
        </p:nvSpPr>
        <p:spPr>
          <a:xfrm>
            <a:off x="411480" y="4343400"/>
            <a:ext cx="9082735" cy="1600200"/>
          </a:xfrm>
          <a:prstGeom prst="roundRect">
            <a:avLst>
              <a:gd name="adj" fmla="val 3429"/>
            </a:avLst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8629" y="4526280"/>
            <a:ext cx="29943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次に試すなら</a:t>
            </a:r>
            <a:endParaRPr lang="ja-JP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98629" y="4983480"/>
            <a:ext cx="87084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bax で暫定スコア 80 : Theil–Sen 中立化版 20 を回す（期待は小幅）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四半期の直近 12 か月の財務が使えれば、論文に近づき更新頻度も上がる。Theil–Sen の設定（部分標本の大きさ・回数）の感度も未確認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遅い情報は、スコアに混ぜる形では低回転の利点が残らない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602899" y="1755648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2899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85218" y="170992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頑健な推定が効く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233172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Theil–Sen は 24 か月先まで効く。当てはまりの良い機械学習の残差は 2〜3 か月で消える</a:t>
            </a:r>
            <a:endParaRPr lang="ja-JP" sz="1200" dirty="0"/>
          </a:p>
        </p:txBody>
      </p:sp>
      <p:sp>
        <p:nvSpPr>
          <p:cNvPr id="10" name="card"/>
          <p:cNvSpPr/>
          <p:nvPr/>
        </p:nvSpPr>
        <p:spPr>
          <a:xfrm>
            <a:off x="5076366" y="150876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11" name="badge"/>
          <p:cNvSpPr/>
          <p:nvPr/>
        </p:nvSpPr>
        <p:spPr>
          <a:xfrm>
            <a:off x="5267785" y="1755648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67785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50104" y="170992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中身はバリュー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63516" y="233172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中立化後は B/P・E/P と正の相関。固有リターンでは効かず、バリューの局面に左右される</a:t>
            </a:r>
            <a:endParaRPr lang="ja-JP" sz="1200" dirty="0"/>
          </a:p>
        </p:txBody>
      </p:sp>
      <p:sp>
        <p:nvSpPr>
          <p:cNvPr id="15" name="card"/>
          <p:cNvSpPr/>
          <p:nvPr/>
        </p:nvSpPr>
        <p:spPr>
          <a:xfrm>
            <a:off x="411480" y="361188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16" name="badge"/>
          <p:cNvSpPr/>
          <p:nvPr/>
        </p:nvSpPr>
        <p:spPr>
          <a:xfrm>
            <a:off x="602899" y="3858768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2899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85218" y="381304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混ぜると回転率が戻る</a:t>
            </a:r>
            <a:endParaRPr lang="ja-JP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8629" y="443484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順位の入れ替わりは暫定スコア側が決める。遅い素材を 20% 混ぜても売買は減らない</a:t>
            </a:r>
            <a:endParaRPr lang="ja-JP" sz="1200" dirty="0"/>
          </a:p>
        </p:txBody>
      </p:sp>
      <p:sp>
        <p:nvSpPr>
          <p:cNvPr id="20" name="card"/>
          <p:cNvSpPr/>
          <p:nvPr/>
        </p:nvSpPr>
        <p:spPr>
          <a:xfrm>
            <a:off x="5076366" y="361188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21" name="badge"/>
          <p:cNvSpPr/>
          <p:nvPr/>
        </p:nvSpPr>
        <p:spPr>
          <a:xfrm>
            <a:off x="5267785" y="3858768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67785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750104" y="381304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低回転はポートフォリオ側で</a:t>
            </a:r>
            <a:endParaRPr lang="ja-JP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63516" y="443484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遅いスリーブを別に保有する、目標へ部分的に寄せる（Portfolio-ML 型）など</a:t>
            </a:r>
            <a:endParaRPr lang="ja-JP" sz="1200" dirty="0"/>
          </a:p>
        </p:txBody>
      </p:sp>
      <p:sp>
        <p:nvSpPr>
          <p:cNvPr id="25" name="takeaway"/>
          <p:cNvSpPr/>
          <p:nvPr/>
        </p:nvSpPr>
        <p:spPr>
          <a:xfrm>
            <a:off x="411480" y="5623560"/>
            <a:ext cx="9082735" cy="731520"/>
          </a:xfrm>
          <a:prstGeom prst="roundRect">
            <a:avLst>
              <a:gd name="adj" fmla="val 7500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8629" y="5623560"/>
            <a:ext cx="87084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次の一手: </a:t>
            </a:r>
            <a:pPr indent="0" marL="0">
              <a:buNone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素材を足す前に、ポートフォリオ側で売買の速さを設計する（目標への部分調整、保有 12 か月直前の売却回避）</a:t>
            </a:r>
            <a:endParaRPr lang="ja-JP" sz="13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mura 2013 v11jp">
  <a:themeElements>
    <a:clrScheme name="Main Nomura Global Colo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B2420"/>
      </a:accent1>
      <a:accent2>
        <a:srgbClr val="737374"/>
      </a:accent2>
      <a:accent3>
        <a:srgbClr val="80A9AE"/>
      </a:accent3>
      <a:accent4>
        <a:srgbClr val="00305C"/>
      </a:accent4>
      <a:accent5>
        <a:srgbClr val="80003F"/>
      </a:accent5>
      <a:accent6>
        <a:srgbClr val="CC8D19"/>
      </a:accent6>
      <a:hlink>
        <a:srgbClr val="B1B1B0"/>
      </a:hlink>
      <a:folHlink>
        <a:srgbClr val="B1B1B0"/>
      </a:folHlink>
    </a:clrScheme>
    <a:fontScheme name="Office">
      <a:maj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