
<file path=[Content_Types].xml><?xml version="1.0" encoding="utf-8"?>
<Types xmlns="http://schemas.openxmlformats.org/package/2006/content-types">
  <Default ContentType="application/vnd.openxmlformats-officedocument.spreadsheetml.sheet" Extension="xlsx"/>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ContentType="application/vnd.openxmlformats-officedocument.presentationml.notesSlide+xml" PartName="/ppt/notesSlides/notesSlide1.xml"/>
  <Override ContentType="application/vnd.openxmlformats-officedocument.presentationml.slide+xml" PartName="/ppt/slides/slide1.xml"/>
  <Override ContentType="application/vnd.openxmlformats-officedocument.presentationml.notesSlide+xml" PartName="/ppt/notesSlides/notesSlide2.xml"/>
  <Override ContentType="application/vnd.openxmlformats-officedocument.presentationml.slide+xml" PartName="/ppt/slides/slide2.xml"/>
  <Override ContentType="application/vnd.openxmlformats-officedocument.presentationml.notesSlide+xml" PartName="/ppt/notesSlides/notesSlide3.xml"/>
  <Override ContentType="application/vnd.openxmlformats-officedocument.presentationml.slide+xml" PartName="/ppt/slides/slide3.xml"/>
  <Override ContentType="application/vnd.openxmlformats-officedocument.presentationml.notesSlide+xml" PartName="/ppt/notesSlides/notesSlide4.xml"/>
  <Override ContentType="application/vnd.openxmlformats-officedocument.presentationml.slide+xml" PartName="/ppt/slides/slide4.xml"/>
  <Override ContentType="application/vnd.openxmlformats-officedocument.presentationml.notesSlide+xml" PartName="/ppt/notesSlides/notesSlide5.xml"/>
  <Override ContentType="application/vnd.openxmlformats-officedocument.presentationml.slide+xml" PartName="/ppt/slides/slide5.xml"/>
  <Override ContentType="application/vnd.openxmlformats-officedocument.presentationml.notesSlide+xml" PartName="/ppt/notesSlides/notesSlide6.xml"/>
  <Override ContentType="application/vnd.openxmlformats-officedocument.presentationml.slide+xml" PartName="/ppt/slides/slide6.xml"/>
  <Override ContentType="application/vnd.openxmlformats-officedocument.presentationml.notesSlide+xml" PartName="/ppt/notesSlides/notesSlide7.xml"/>
  <Override ContentType="application/vnd.openxmlformats-officedocument.presentationml.slide+xml" PartName="/ppt/slides/slide7.xml"/>
  <Override ContentType="application/vnd.openxmlformats-officedocument.presentationml.notesSlide+xml" PartName="/ppt/notesSlides/notesSlide8.xml"/>
  <Override ContentType="application/vnd.openxmlformats-officedocument.presentationml.slide+xml" PartName="/ppt/slides/slide8.xml"/>
  <Override ContentType="application/vnd.openxmlformats-officedocument.presentationml.notesSlide+xml" PartName="/ppt/notesSlides/notesSlide9.xml"/>
  <Override ContentType="application/vnd.openxmlformats-officedocument.presentationml.slide+xml" PartName="/ppt/slides/slide9.xml"/>
  <Override ContentType="application/vnd.openxmlformats-officedocument.presentationml.notesSlide+xml" PartName="/ppt/notesSlides/notesSlide10.xml"/>
  <Override ContentType="application/vnd.openxmlformats-officedocument.presentationml.slide+xml" PartName="/ppt/slides/slide10.xml"/>
  <Override ContentType="application/vnd.openxmlformats-officedocument.presentationml.notesSlide+xml" PartName="/ppt/notesSlides/notesSlide11.xml"/>
  <Override ContentType="application/vnd.openxmlformats-officedocument.presentationml.slide+xml" PartName="/ppt/slides/slide11.xml"/>
  <Override ContentType="application/vnd.openxmlformats-officedocument.presentationml.notesSlide+xml" PartName="/ppt/notesSlides/notesSlide12.xml"/>
  <Override ContentType="application/vnd.openxmlformats-officedocument.presentationml.slide+xml" PartName="/ppt/slides/slide12.xml"/>
  <Override ContentType="application/vnd.openxmlformats-officedocument.presentationml.notesSlide+xml" PartName="/ppt/notesSlides/notesSlide13.xml"/>
  <Override ContentType="application/vnd.openxmlformats-officedocument.presentationml.slide+xml" PartName="/ppt/slides/slide13.xml"/>
  <Override ContentType="application/vnd.openxmlformats-officedocument.presentationml.notesSlide+xml" PartName="/ppt/notesSlides/notesSlide14.xml"/>
  <Override ContentType="application/vnd.openxmlformats-officedocument.presentationml.slide+xml" PartName="/ppt/slides/slide14.xml"/>
  <Override ContentType="application/vnd.openxmlformats-officedocument.presentationml.notesSlide+xml" PartName="/ppt/notesSlides/notesSlide15.xml"/>
  <Override ContentType="application/vnd.openxmlformats-officedocument.presentationml.slide+xml" PartName="/ppt/slides/slide15.xml"/>
  <Override ContentType="application/vnd.openxmlformats-officedocument.presentationml.notesSlide+xml" PartName="/ppt/notesSlides/notesSlide16.xml"/>
  <Override ContentType="application/vnd.openxmlformats-officedocument.presentationml.slide+xml" PartName="/ppt/slides/slide16.xml"/>
  <Override ContentType="application/vnd.openxmlformats-officedocument.presentationml.notesSlide+xml" PartName="/ppt/notesSlides/notesSlide17.xml"/>
  <Override ContentType="application/vnd.openxmlformats-officedocument.presentationml.slide+xml" PartName="/ppt/slides/slide17.xml"/>
  <Override ContentType="application/vnd.openxmlformats-officedocument.presentationml.notesSlide+xml" PartName="/ppt/notesSlides/notesSlide18.xml"/>
  <Override ContentType="application/vnd.openxmlformats-officedocument.presentationml.slide+xml" PartName="/ppt/slides/slide18.xml"/>
  <Override ContentType="application/vnd.openxmlformats-officedocument.presentationml.notesSlide+xml" PartName="/ppt/notesSlides/notesSlide19.xml"/>
  <Override ContentType="application/vnd.openxmlformats-officedocument.presentationml.slide+xml" PartName="/ppt/slides/slide19.xml"/>
  <Override ContentType="application/vnd.openxmlformats-officedocument.presentationml.notesSlide+xml" PartName="/ppt/notesSlides/notesSlide20.xml"/>
  <Override ContentType="application/vnd.openxmlformats-officedocument.presentationml.slide+xml" PartName="/ppt/slides/slide20.xml"/>
  <Override ContentType="application/vnd.openxmlformats-officedocument.presentationml.notesSlide+xml" PartName="/ppt/notesSlides/notesSlide21.xml"/>
  <Override ContentType="application/vnd.openxmlformats-officedocument.presentationml.slide+xml" PartName="/ppt/slides/slide21.xml"/>
  <Override ContentType="application/vnd.openxmlformats-officedocument.presentationml.notesSlide+xml" PartName="/ppt/notesSlides/notesSlide22.xml"/>
  <Override ContentType="application/vnd.openxmlformats-officedocument.presentationml.slide+xml" PartName="/ppt/slides/slide22.xml"/>
  <Override ContentType="application/vnd.openxmlformats-officedocument.presentationml.notesSlide+xml" PartName="/ppt/notesSlides/notesSlide23.xml"/>
  <Override ContentType="application/vnd.openxmlformats-officedocument.presentationml.slide+xml" PartName="/ppt/slides/slide23.xml"/>
  <Override ContentType="application/vnd.openxmlformats-officedocument.presentationml.notesSlide+xml" PartName="/ppt/notesSlides/notesSlide24.xml"/>
  <Override ContentType="application/vnd.openxmlformats-officedocument.presentationml.slide+xml" PartName="/ppt/slides/slide24.xml"/>
  <Override ContentType="application/vnd.openxmlformats-officedocument.presentationml.notesSlide+xml" PartName="/ppt/notesSlides/notesSlide25.xml"/>
  <Override ContentType="application/vnd.openxmlformats-officedocument.presentationml.slide+xml" PartName="/ppt/slides/slide25.xml"/>
  <Override ContentType="application/vnd.openxmlformats-officedocument.presentationml.notesSlide+xml" PartName="/ppt/notesSlides/notesSlide26.xml"/>
  <Override ContentType="application/vnd.openxmlformats-officedocument.presentationml.slide+xml" PartName="/ppt/slides/slide26.xml"/>
  <Override ContentType="application/vnd.openxmlformats-officedocument.presentationml.notesSlide+xml" PartName="/ppt/notesSlides/notesSlide27.xml"/>
  <Override ContentType="application/vnd.openxmlformats-officedocument.presentationml.slide+xml" PartName="/ppt/slides/slide27.xml"/>
  <Override ContentType="application/vnd.openxmlformats-officedocument.presentationml.notesSlide+xml" PartName="/ppt/notesSlides/notesSlide28.xml"/>
  <Override ContentType="application/vnd.openxmlformats-officedocument.presentationml.slide+xml" PartName="/ppt/slides/slide28.xml"/>
  <Override ContentType="application/vnd.openxmlformats-officedocument.presentationml.notesSlide+xml" PartName="/ppt/notesSlides/notesSlide29.xml"/>
  <Override ContentType="application/vnd.openxmlformats-officedocument.presentationml.slide+xml" PartName="/ppt/slides/slide29.xml"/>
  <Override ContentType="application/vnd.openxmlformats-officedocument.presentationml.notesSlide+xml" PartName="/ppt/notesSlides/notesSlide30.xml"/>
  <Override ContentType="application/vnd.openxmlformats-officedocument.presentationml.slide+xml" PartName="/ppt/slides/slide30.xml"/>
  <Override ContentType="application/vnd.openxmlformats-officedocument.presentationml.notesSlide+xml" PartName="/ppt/notesSlides/notesSlide31.xml"/>
  <Override ContentType="application/vnd.openxmlformats-officedocument.presentationml.slide+xml" PartName="/ppt/slides/slide31.xml"/>
  <Override ContentType="application/vnd.openxmlformats-officedocument.presentationml.notesSlide+xml" PartName="/ppt/notesSlides/notesSlide32.xml"/>
  <Override ContentType="application/vnd.openxmlformats-officedocument.presentationml.slide+xml" PartName="/ppt/slides/slide32.xml"/>
  <Override ContentType="application/vnd.openxmlformats-officedocument.presentationml.notesSlide+xml" PartName="/ppt/notesSlides/notesSlide33.xml"/>
  <Override ContentType="application/vnd.openxmlformats-officedocument.presentationml.slide+xml" PartName="/ppt/slides/slide33.xml"/>
  <Override ContentType="application/vnd.openxmlformats-officedocument.presentationml.notesSlide+xml" PartName="/ppt/notesSlides/notesSlide34.xml"/>
  <Override ContentType="application/vnd.openxmlformats-officedocument.presentationml.slide+xml" PartName="/ppt/slides/slide34.xml"/>
  <Override ContentType="application/vnd.openxmlformats-officedocument.presentationml.notesSlide+xml" PartName="/ppt/notesSlides/notesSlide35.xml"/>
  <Override ContentType="application/vnd.openxmlformats-officedocument.presentationml.slide+xml" PartName="/ppt/slides/slide35.xml"/>
  <Override ContentType="application/vnd.openxmlformats-officedocument.presentationml.notesSlide+xml" PartName="/ppt/notesSlides/notesSlide36.xml"/>
  <Override ContentType="application/vnd.openxmlformats-officedocument.presentationml.slide+xml" PartName="/ppt/slides/slide36.xml"/>
  <Override ContentType="application/vnd.openxmlformats-officedocument.presentationml.notesSlide+xml" PartName="/ppt/notesSlides/notesSlide37.xml"/>
  <Override ContentType="application/vnd.openxmlformats-officedocument.presentationml.slide+xml" PartName="/ppt/slides/slide37.xml"/>
  <Override ContentType="application/vnd.openxmlformats-officedocument.presentationml.notesSlide+xml" PartName="/ppt/notesSlides/notesSlide38.xml"/>
  <Override ContentType="application/vnd.openxmlformats-officedocument.presentationml.slide+xml" PartName="/ppt/slides/slide38.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87" r:id="rId5"/>
  </p:sldMasterIdLst>
  <p:notesMasterIdLst>
    <p:notesMasterId r:id="rId6"/>
  </p:notesMasterIdLst>
  <p:sldIdLst>
    <p:sldId id="256" r:id="rId1001"/>
    <p:sldId id="257" r:id="rId1002"/>
    <p:sldId id="258" r:id="rId1003"/>
    <p:sldId id="259" r:id="rId1004"/>
    <p:sldId id="260" r:id="rId1005"/>
    <p:sldId id="261" r:id="rId1006"/>
    <p:sldId id="262" r:id="rId1007"/>
    <p:sldId id="263" r:id="rId1008"/>
    <p:sldId id="264" r:id="rId1009"/>
    <p:sldId id="265" r:id="rId1010"/>
    <p:sldId id="266" r:id="rId1011"/>
    <p:sldId id="267" r:id="rId1012"/>
    <p:sldId id="268" r:id="rId1013"/>
    <p:sldId id="269" r:id="rId1014"/>
    <p:sldId id="270" r:id="rId1015"/>
    <p:sldId id="271" r:id="rId1016"/>
    <p:sldId id="272" r:id="rId1017"/>
    <p:sldId id="273" r:id="rId1018"/>
    <p:sldId id="274" r:id="rId1019"/>
    <p:sldId id="275" r:id="rId1020"/>
    <p:sldId id="276" r:id="rId1021"/>
    <p:sldId id="277" r:id="rId1022"/>
    <p:sldId id="278" r:id="rId1023"/>
    <p:sldId id="279" r:id="rId1024"/>
    <p:sldId id="280" r:id="rId1025"/>
    <p:sldId id="281" r:id="rId1026"/>
    <p:sldId id="282" r:id="rId1027"/>
    <p:sldId id="283" r:id="rId1028"/>
    <p:sldId id="284" r:id="rId1029"/>
    <p:sldId id="285" r:id="rId1030"/>
    <p:sldId id="286" r:id="rId1031"/>
    <p:sldId id="287" r:id="rId1032"/>
    <p:sldId id="288" r:id="rId1033"/>
    <p:sldId id="289" r:id="rId1034"/>
    <p:sldId id="290" r:id="rId1035"/>
    <p:sldId id="291" r:id="rId1036"/>
    <p:sldId id="292" r:id="rId1037"/>
    <p:sldId id="293" r:id="rId1038"/>
  </p:sldIdLst>
  <p:sldSz cy="6858000" cx="9906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はじめに" id="{cc79d2c9-e3c4-e664-e263-8093f4535daa}">
          <p14:sldIdLst>
            <p14:sldId id="256"/>
            <p14:sldId id="257"/>
            <p14:sldId id="258"/>
            <p14:sldId id="259"/>
            <p14:sldId id="260"/>
          </p14:sldIdLst>
        </p14:section>
        <p14:section name="01 異常回転率" id="{474be103-56ec-9fbb-b6fc-c01e59c41165}">
          <p14:sldIdLst>
            <p14:sldId id="261"/>
            <p14:sldId id="262"/>
            <p14:sldId id="263"/>
            <p14:sldId id="264"/>
            <p14:sldId id="265"/>
            <p14:sldId id="266"/>
            <p14:sldId id="267"/>
            <p14:sldId id="268"/>
            <p14:sldId id="269"/>
            <p14:sldId id="270"/>
            <p14:sldId id="271"/>
          </p14:sldIdLst>
        </p14:section>
        <p14:section name="02 Agnostic" id="{7c05bf81-e2a0-4852-4e64-6da03485d14f}">
          <p14:sldIdLst>
            <p14:sldId id="272"/>
            <p14:sldId id="273"/>
            <p14:sldId id="274"/>
            <p14:sldId id="275"/>
            <p14:sldId id="276"/>
            <p14:sldId id="277"/>
            <p14:sldId id="278"/>
            <p14:sldId id="279"/>
            <p14:sldId id="280"/>
            <p14:sldId id="281"/>
            <p14:sldId id="282"/>
          </p14:sldIdLst>
        </p14:section>
        <p14:section name="まとめ" id="{518f9d5a-28e8-6567-16a2-e9d710b1b321}">
          <p14:sldIdLst>
            <p14:sldId id="283"/>
            <p14:sldId id="284"/>
          </p14:sldIdLst>
        </p14:section>
        <p14:section name="Appendix DTW" id="{8b1e3e17-afd3-03ea-f314-772a4ea7ab59}">
          <p14:sldIdLst>
            <p14:sldId id="285"/>
            <p14:sldId id="286"/>
            <p14:sldId id="287"/>
            <p14:sldId id="288"/>
            <p14:sldId id="289"/>
            <p14:sldId id="290"/>
            <p14:sldId id="291"/>
            <p14:sldId id="292"/>
            <p14:sldId id="293"/>
          </p14:sldIdLst>
        </p14:section>
      </p14:sectionLst>
    </p:ext>
    <p:ext uri="{EFAFB233-063F-42B5-8137-9DF3F51BA10A}">
      <p15:sldGuideLst>
        <p15:guide id="1" orient="horz" pos="2160">
          <p15:clr>
            <a:srgbClr val="A4A3A4"/>
          </p15:clr>
        </p15:guide>
        <p15:guide id="2" pos="31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C6982A-73C6-48C2-B484-0F0B99748F75}">
  <a:tblStyle styleId="{61C6982A-73C6-48C2-B484-0F0B99748F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1001" Type="http://schemas.openxmlformats.org/officeDocument/2006/relationships/slide" Target="slides/slide1.xml"/><Relationship Id="rId1002" Type="http://schemas.openxmlformats.org/officeDocument/2006/relationships/slide" Target="slides/slide2.xml"/><Relationship Id="rId1003" Type="http://schemas.openxmlformats.org/officeDocument/2006/relationships/slide" Target="slides/slide3.xml"/><Relationship Id="rId1004" Type="http://schemas.openxmlformats.org/officeDocument/2006/relationships/slide" Target="slides/slide4.xml"/><Relationship Id="rId1005" Type="http://schemas.openxmlformats.org/officeDocument/2006/relationships/slide" Target="slides/slide5.xml"/><Relationship Id="rId1006" Type="http://schemas.openxmlformats.org/officeDocument/2006/relationships/slide" Target="slides/slide6.xml"/><Relationship Id="rId1007" Type="http://schemas.openxmlformats.org/officeDocument/2006/relationships/slide" Target="slides/slide7.xml"/><Relationship Id="rId1008" Type="http://schemas.openxmlformats.org/officeDocument/2006/relationships/slide" Target="slides/slide8.xml"/><Relationship Id="rId1009" Type="http://schemas.openxmlformats.org/officeDocument/2006/relationships/slide" Target="slides/slide9.xml"/><Relationship Id="rId1010" Type="http://schemas.openxmlformats.org/officeDocument/2006/relationships/slide" Target="slides/slide10.xml"/><Relationship Id="rId1011" Type="http://schemas.openxmlformats.org/officeDocument/2006/relationships/slide" Target="slides/slide11.xml"/><Relationship Id="rId1012" Type="http://schemas.openxmlformats.org/officeDocument/2006/relationships/slide" Target="slides/slide12.xml"/><Relationship Id="rId1013" Type="http://schemas.openxmlformats.org/officeDocument/2006/relationships/slide" Target="slides/slide13.xml"/><Relationship Id="rId1014" Type="http://schemas.openxmlformats.org/officeDocument/2006/relationships/slide" Target="slides/slide14.xml"/><Relationship Id="rId1015" Type="http://schemas.openxmlformats.org/officeDocument/2006/relationships/slide" Target="slides/slide15.xml"/><Relationship Id="rId1016" Type="http://schemas.openxmlformats.org/officeDocument/2006/relationships/slide" Target="slides/slide16.xml"/><Relationship Id="rId1017" Type="http://schemas.openxmlformats.org/officeDocument/2006/relationships/slide" Target="slides/slide17.xml"/><Relationship Id="rId1018" Type="http://schemas.openxmlformats.org/officeDocument/2006/relationships/slide" Target="slides/slide18.xml"/><Relationship Id="rId1019" Type="http://schemas.openxmlformats.org/officeDocument/2006/relationships/slide" Target="slides/slide19.xml"/><Relationship Id="rId1020" Type="http://schemas.openxmlformats.org/officeDocument/2006/relationships/slide" Target="slides/slide20.xml"/><Relationship Id="rId1021" Type="http://schemas.openxmlformats.org/officeDocument/2006/relationships/slide" Target="slides/slide21.xml"/><Relationship Id="rId1022" Type="http://schemas.openxmlformats.org/officeDocument/2006/relationships/slide" Target="slides/slide22.xml"/><Relationship Id="rId1023" Type="http://schemas.openxmlformats.org/officeDocument/2006/relationships/slide" Target="slides/slide23.xml"/><Relationship Id="rId1024" Type="http://schemas.openxmlformats.org/officeDocument/2006/relationships/slide" Target="slides/slide24.xml"/><Relationship Id="rId1025" Type="http://schemas.openxmlformats.org/officeDocument/2006/relationships/slide" Target="slides/slide25.xml"/><Relationship Id="rId1026" Type="http://schemas.openxmlformats.org/officeDocument/2006/relationships/slide" Target="slides/slide26.xml"/><Relationship Id="rId1027" Type="http://schemas.openxmlformats.org/officeDocument/2006/relationships/slide" Target="slides/slide27.xml"/><Relationship Id="rId1028" Type="http://schemas.openxmlformats.org/officeDocument/2006/relationships/slide" Target="slides/slide28.xml"/><Relationship Id="rId1029" Type="http://schemas.openxmlformats.org/officeDocument/2006/relationships/slide" Target="slides/slide29.xml"/><Relationship Id="rId1030" Type="http://schemas.openxmlformats.org/officeDocument/2006/relationships/slide" Target="slides/slide30.xml"/><Relationship Id="rId1031" Type="http://schemas.openxmlformats.org/officeDocument/2006/relationships/slide" Target="slides/slide31.xml"/><Relationship Id="rId1032" Type="http://schemas.openxmlformats.org/officeDocument/2006/relationships/slide" Target="slides/slide32.xml"/><Relationship Id="rId1033" Type="http://schemas.openxmlformats.org/officeDocument/2006/relationships/slide" Target="slides/slide33.xml"/><Relationship Id="rId1034" Type="http://schemas.openxmlformats.org/officeDocument/2006/relationships/slide" Target="slides/slide34.xml"/><Relationship Id="rId1035" Type="http://schemas.openxmlformats.org/officeDocument/2006/relationships/slide" Target="slides/slide35.xml"/><Relationship Id="rId1036" Type="http://schemas.openxmlformats.org/officeDocument/2006/relationships/slide" Target="slides/slide36.xml"/><Relationship Id="rId1037" Type="http://schemas.openxmlformats.org/officeDocument/2006/relationships/slide" Target="slides/slide37.xml"/><Relationship Id="rId1038"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49688" y="0"/>
            <a:ext cx="2946400" cy="4968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79488" y="1241425"/>
            <a:ext cx="48387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76788"/>
            <a:ext cx="5438775" cy="39084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9750"/>
            <a:ext cx="2946400" cy="4968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49688" y="9429750"/>
            <a:ext cx="2946400" cy="49688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ja-JP"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comp_ew に足す素材の候補として、出来高の変化（abn_to）と、財務から推定した公正価値との乖離（Agnostic）を検証した結果のまとめ。うまくいかなかったスタイル類似局面（DTW）の検証は Appendix に残した。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結論を先に。2 つとも comp_ew と独立した情報だったが、ロングオンリー・税引後では comp_ew を改善しなかった。理由は情報の速さで、そこから次の一手（ポートフォリオ側の設計）につながる。DTW は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どの素材も同じ手順で評価している。最終的に効くかどうかは 4 段目の税引後ロングオンリーで判断する。指標の定義は次のスライド。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後で見返したときのための定義集。数値はすべてこの定義で計算している。超過リターンは月次差の算術平均 × 12 で、複利ではない。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税は月次の近似ではなく、ロットごとの取得日と取得単価を追って計算している。損益は税務年度内で通算し、損失は 8 年繰り越す。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市場の基礎分析で偶然見つかった特性。既存の特性を同時に入れた回帰でも残ったので、comp_ew にない情報かもしれないと考えた。仮説は 3 つ立て、データを見る前に予測を置いた。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データの使い方とスコアの定義。変形を増やすほど偶然の当たりを拾うので、データを見る前に 4 本に決めた。中立化版は既存の価格系特性で説明できる部分を除いたもの。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仮説ごとに結果の出方が違う点を 5 つ選び、それぞれを測る方法を決めてから計算した。判定は後のスライド。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定義の変形は事前に決めた 4 本だけ。どれも IC は正だが、回転率が高く税引後はほぼ残らない。comp_ew と比べると規模は 1/4 程度。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分位で見ると、Q5 が勝つより Q1（出来高が細った銘柄）が負ける形。しかも小型株だけ。空売りできないロングオンリーでは取りにくい。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か月前のスコアで当月のリターンを予測した IC。abn_to は 2 か月目まで、comp_ew は 12 か月先でも半分残る。寿命が一桁違う。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事前に置いた予測と結果の対応。結果と合う予測を色付けした。情報イベント説は残差 IC が残ることで、過剰反応説は反転しないことで否定。注目度説に一番近いが、寿命は想定より短い。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comp_ew と独立なので、混ぜればロングショートの Q5−Q1 は少し上がる。しかしロングオンリーの Q5 超過と税引後は下がり、回転率が増える。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側の情報をロングオンリーで使う方法。comp_ew の Q5 に入った銘柄のうち、出来高が細ったものは翌月負ける。外すと税引前は有意に改善するが、税引後は有意でない。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情報としては本物だが、小さく、短く、ロングオンリーで取りにくい側にある。素材として comp_ew に混ぜるのは見送り。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comp_ew の弱点は売買が速いこと。論文では効果が約 3 年続くとされるので、回転率を上げずに comp_ew を分散できる素材を期待した。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論文は Compustat の金額を使うが、手元の core は比率なので金額に戻している。外れ値の閾値は各月、その月までのデータだけで決めるので先読みはない。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公正価値の推定式。線形は金額のまま回帰（論文どおり）、木は対数と比率で学習して指数で戻す。外れ値は総資産比で、その月までの全履歴の分位点でクリップする。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論文は学習に使った銘柄そのものの公正価値を出す（in-sample）。機械学習は in-sample だと自社の時価総額を覚えてしまうので、5 分割の交差推定にした。当てはまりは公正価値と時価総額の順位相関。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生のスコアは時価総額が分母なので小型ほど割安に出る。中立化でそれを除き、さらに論文の 1 年保有を近似する 12 か月平均版を作った。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乖離率の分母が時価総額なので、生のスコアは小型ほど割安に出る。そのままでは IC が負。サイズとセクターで中立化すると、バリューに近く comp_ew とほぼ無相関の素材になる。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時価総額への当てはまりは木のモデルが最も良いが、予測力は 2〜3 か月で消える。頑健な推定（Theil–Sen）だけが論文どおり長く効いた。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どの素材も 80:20 で Q5 超過・税引後はほぼ横ばい。劣化はしないが改善もしない。スパニングの α が大きく見えるのは comp_ew と逆に動くヘッジ効果。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か月平均版は単体では回転率が comp_ew の 4 分の 1。しかし 20% 混ぜたスコアの回転率は comp_ew と同じ。順位の入れ替わりは comp_ew 側が決めるため。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仮説のうち「長く効く」は確認できた。ただし単体は弱く、中身はバリュー。混ぜても劣化しないので、bax で 80:20 を試す価値はある。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abn_to は速すぎて税に食われ、Agnostic は遅さの利点がスコアの混合で消えた。comp_ew 自身も 12 か月先まで情報が残るのに年 4 倍売買している。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まず既存の bax 出力で部分調整を試し、効果の大きさを見る。効果が大きければ多期間最適化に進む。素材の小さな使い道は並行して試せる。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うまくいかなかった検証だが、何を試して何が分かったかを残しておく。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背景は野村の BPN スタイル配分の改良案。インドのスタイルリターンは大きく時期で変わるので、静的な等ウェイトより時変ウェイトが良くなる余地があると考えた。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照合の材料になる日次のスタイルリターンの作り方。符号はリターンを見ずに、スタイル内で向きがそろうように決めた。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照合の詳細。先読みを防ぐため、候補は翌 21 日が確定していて、しかもクエリの窓と重ならない過去に限った。直前の窓はほぼ自分自身と一致し、予測が「先月のリターン」になってしまうため。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スコア化と比較の設計。base_ew（全スタイル等ウェイト）との差が、DTW による時変ウェイトの上乗せ。照合方法だけを変えた版（sdtw_z、sknn_euc）も用意して、DTW そのものの効果を切り分けた。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個別株にする前に、スタイルの予測そのものを確認した。符号の的中率は 52%（標準誤差 約 1.2%）で、12 か月モメンタムや過去平均より低い。DTW とユークリッド距離の差もない。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個別株スコアにしても、DTW 版は静的な等ウェイト（base_ew）と同じ。月次の差の t 値はどれも 1 未満。回転率は 8 倍で、インドの短期譲渡益課税を考えるとさらに不利。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期間を 3 つに分けると、DTW が等ウェイトに勝ったのは最初の 5 年だけ。野村資料でもサイズの DTW 戦略は 2012 年頃から頭打ちで、初期にだけ効いた点が似ている。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仮説は支持されなかった。スタイルの予測は単純なモメンタムに負け、個別株スコアでも静的な等ウェイトと同じ。回転率だけが増える。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mura Standard Cover" showMasterSp="0">
  <p:cSld name="Nomura Standard Cover">
    <p:spTree>
      <p:nvGrpSpPr>
        <p:cNvPr id="36" name="Shape 36"/>
        <p:cNvGrpSpPr/>
        <p:nvPr/>
      </p:nvGrpSpPr>
      <p:grpSpPr>
        <a:xfrm>
          <a:off x="0" y="0"/>
          <a:ext cx="0" cy="0"/>
          <a:chOff x="0" y="0"/>
          <a:chExt cx="0" cy="0"/>
        </a:xfrm>
      </p:grpSpPr>
      <p:grpSp>
        <p:nvGrpSpPr>
          <p:cNvPr id="37" name="Google Shape;37;p2"/>
          <p:cNvGrpSpPr/>
          <p:nvPr/>
        </p:nvGrpSpPr>
        <p:grpSpPr>
          <a:xfrm>
            <a:off x="272750" y="-10800"/>
            <a:ext cx="9633285" cy="2528888"/>
            <a:chOff x="272750" y="-15875"/>
            <a:chExt cx="9633285" cy="2528888"/>
          </a:xfrm>
        </p:grpSpPr>
        <p:sp>
          <p:nvSpPr>
            <p:cNvPr id="38" name="Google Shape;38;p2"/>
            <p:cNvSpPr/>
            <p:nvPr/>
          </p:nvSpPr>
          <p:spPr>
            <a:xfrm>
              <a:off x="294975" y="-15875"/>
              <a:ext cx="9563100" cy="25098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2"/>
            <p:cNvSpPr/>
            <p:nvPr/>
          </p:nvSpPr>
          <p:spPr>
            <a:xfrm>
              <a:off x="294975" y="-12700"/>
              <a:ext cx="2370138" cy="2509838"/>
            </a:xfrm>
            <a:custGeom>
              <a:rect b="b" l="l" r="r" t="t"/>
              <a:pathLst>
                <a:path extrusionOk="0" h="1581" w="1493">
                  <a:moveTo>
                    <a:pt x="1493" y="0"/>
                  </a:moveTo>
                  <a:lnTo>
                    <a:pt x="663" y="0"/>
                  </a:lnTo>
                  <a:lnTo>
                    <a:pt x="0" y="1581"/>
                  </a:lnTo>
                  <a:lnTo>
                    <a:pt x="832" y="1581"/>
                  </a:lnTo>
                  <a:lnTo>
                    <a:pt x="149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2"/>
            <p:cNvSpPr/>
            <p:nvPr/>
          </p:nvSpPr>
          <p:spPr>
            <a:xfrm>
              <a:off x="3997025" y="-3175"/>
              <a:ext cx="5909010" cy="2516188"/>
            </a:xfrm>
            <a:custGeom>
              <a:rect b="b" l="l" r="r" t="t"/>
              <a:pathLst>
                <a:path extrusionOk="0" h="10000" w="10328">
                  <a:moveTo>
                    <a:pt x="0" y="3129"/>
                  </a:moveTo>
                  <a:lnTo>
                    <a:pt x="1340" y="10000"/>
                  </a:lnTo>
                  <a:lnTo>
                    <a:pt x="10328" y="10000"/>
                  </a:lnTo>
                  <a:lnTo>
                    <a:pt x="10328" y="0"/>
                  </a:lnTo>
                  <a:lnTo>
                    <a:pt x="594" y="0"/>
                  </a:lnTo>
                  <a:lnTo>
                    <a:pt x="0" y="3129"/>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2"/>
            <p:cNvSpPr/>
            <p:nvPr/>
          </p:nvSpPr>
          <p:spPr>
            <a:xfrm>
              <a:off x="3481088" y="1169988"/>
              <a:ext cx="963613" cy="1343025"/>
            </a:xfrm>
            <a:custGeom>
              <a:rect b="b" l="l" r="r" t="t"/>
              <a:pathLst>
                <a:path extrusionOk="0" h="846" w="607">
                  <a:moveTo>
                    <a:pt x="135" y="846"/>
                  </a:moveTo>
                  <a:lnTo>
                    <a:pt x="607" y="846"/>
                  </a:lnTo>
                  <a:lnTo>
                    <a:pt x="230" y="0"/>
                  </a:lnTo>
                  <a:lnTo>
                    <a:pt x="0" y="532"/>
                  </a:lnTo>
                  <a:lnTo>
                    <a:pt x="135" y="846"/>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2"/>
            <p:cNvSpPr/>
            <p:nvPr/>
          </p:nvSpPr>
          <p:spPr>
            <a:xfrm>
              <a:off x="2261888" y="827088"/>
              <a:ext cx="1241425" cy="1685925"/>
            </a:xfrm>
            <a:custGeom>
              <a:rect b="b" l="l" r="r" t="t"/>
              <a:pathLst>
                <a:path extrusionOk="0" h="1062" w="782">
                  <a:moveTo>
                    <a:pt x="0" y="1062"/>
                  </a:moveTo>
                  <a:lnTo>
                    <a:pt x="647" y="1062"/>
                  </a:lnTo>
                  <a:lnTo>
                    <a:pt x="782" y="748"/>
                  </a:lnTo>
                  <a:lnTo>
                    <a:pt x="459" y="0"/>
                  </a:lnTo>
                  <a:lnTo>
                    <a:pt x="0" y="1062"/>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2"/>
            <p:cNvSpPr/>
            <p:nvPr/>
          </p:nvSpPr>
          <p:spPr>
            <a:xfrm>
              <a:off x="3330275" y="-3175"/>
              <a:ext cx="685800" cy="1173163"/>
            </a:xfrm>
            <a:custGeom>
              <a:rect b="b" l="l" r="r" t="t"/>
              <a:pathLst>
                <a:path extrusionOk="0" h="739" w="432">
                  <a:moveTo>
                    <a:pt x="0" y="0"/>
                  </a:moveTo>
                  <a:lnTo>
                    <a:pt x="0" y="0"/>
                  </a:lnTo>
                  <a:lnTo>
                    <a:pt x="327" y="739"/>
                  </a:lnTo>
                  <a:lnTo>
                    <a:pt x="432" y="496"/>
                  </a:lnTo>
                  <a:lnTo>
                    <a:pt x="210" y="0"/>
                  </a:lnTo>
                  <a:lnTo>
                    <a:pt x="0"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2"/>
            <p:cNvSpPr/>
            <p:nvPr/>
          </p:nvSpPr>
          <p:spPr>
            <a:xfrm>
              <a:off x="3654125" y="-3175"/>
              <a:ext cx="692150" cy="787400"/>
            </a:xfrm>
            <a:custGeom>
              <a:rect b="b" l="l" r="r" t="t"/>
              <a:pathLst>
                <a:path extrusionOk="0" h="496" w="436">
                  <a:moveTo>
                    <a:pt x="0" y="0"/>
                  </a:moveTo>
                  <a:lnTo>
                    <a:pt x="222" y="496"/>
                  </a:lnTo>
                  <a:lnTo>
                    <a:pt x="436" y="0"/>
                  </a:lnTo>
                  <a:lnTo>
                    <a:pt x="0" y="0"/>
                  </a:lnTo>
                  <a:close/>
                </a:path>
              </a:pathLst>
            </a:custGeom>
            <a:solidFill>
              <a:srgbClr val="A618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2"/>
            <p:cNvSpPr/>
            <p:nvPr/>
          </p:nvSpPr>
          <p:spPr>
            <a:xfrm>
              <a:off x="2981025" y="-3175"/>
              <a:ext cx="877888" cy="2017713"/>
            </a:xfrm>
            <a:custGeom>
              <a:rect b="b" l="l" r="r" t="t"/>
              <a:pathLst>
                <a:path extrusionOk="0" h="1271" w="553">
                  <a:moveTo>
                    <a:pt x="0" y="523"/>
                  </a:moveTo>
                  <a:lnTo>
                    <a:pt x="323" y="1271"/>
                  </a:lnTo>
                  <a:lnTo>
                    <a:pt x="553" y="739"/>
                  </a:lnTo>
                  <a:lnTo>
                    <a:pt x="226" y="0"/>
                  </a:lnTo>
                  <a:lnTo>
                    <a:pt x="0" y="523"/>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2"/>
            <p:cNvSpPr/>
            <p:nvPr/>
          </p:nvSpPr>
          <p:spPr>
            <a:xfrm>
              <a:off x="2631775" y="-3175"/>
              <a:ext cx="717550" cy="830263"/>
            </a:xfrm>
            <a:custGeom>
              <a:rect b="b" l="l" r="r" t="t"/>
              <a:pathLst>
                <a:path extrusionOk="0" h="523" w="452">
                  <a:moveTo>
                    <a:pt x="452" y="0"/>
                  </a:moveTo>
                  <a:lnTo>
                    <a:pt x="452" y="0"/>
                  </a:lnTo>
                  <a:lnTo>
                    <a:pt x="0" y="0"/>
                  </a:lnTo>
                  <a:lnTo>
                    <a:pt x="226" y="523"/>
                  </a:lnTo>
                  <a:lnTo>
                    <a:pt x="447" y="7"/>
                  </a:lnTo>
                  <a:lnTo>
                    <a:pt x="452" y="0"/>
                  </a:lnTo>
                  <a:close/>
                </a:path>
              </a:pathLst>
            </a:custGeom>
            <a:solidFill>
              <a:srgbClr val="A2171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2"/>
            <p:cNvSpPr/>
            <p:nvPr/>
          </p:nvSpPr>
          <p:spPr>
            <a:xfrm>
              <a:off x="1585613" y="-3175"/>
              <a:ext cx="1414463" cy="2516188"/>
            </a:xfrm>
            <a:custGeom>
              <a:rect b="b" l="l" r="r" t="t"/>
              <a:pathLst>
                <a:path extrusionOk="0" h="1585" w="891">
                  <a:moveTo>
                    <a:pt x="667" y="7"/>
                  </a:moveTo>
                  <a:lnTo>
                    <a:pt x="665" y="0"/>
                  </a:lnTo>
                  <a:lnTo>
                    <a:pt x="0" y="1585"/>
                  </a:lnTo>
                  <a:lnTo>
                    <a:pt x="432" y="1585"/>
                  </a:lnTo>
                  <a:lnTo>
                    <a:pt x="891" y="523"/>
                  </a:lnTo>
                  <a:lnTo>
                    <a:pt x="667" y="7"/>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2"/>
            <p:cNvSpPr/>
            <p:nvPr/>
          </p:nvSpPr>
          <p:spPr>
            <a:xfrm>
              <a:off x="272750" y="-3175"/>
              <a:ext cx="2381250" cy="2516188"/>
            </a:xfrm>
            <a:custGeom>
              <a:rect b="b" l="l" r="r" t="t"/>
              <a:pathLst>
                <a:path extrusionOk="0" h="1585" w="1500">
                  <a:moveTo>
                    <a:pt x="667" y="0"/>
                  </a:moveTo>
                  <a:lnTo>
                    <a:pt x="0" y="1585"/>
                  </a:lnTo>
                  <a:lnTo>
                    <a:pt x="833" y="1585"/>
                  </a:lnTo>
                  <a:lnTo>
                    <a:pt x="1500" y="0"/>
                  </a:lnTo>
                  <a:lnTo>
                    <a:pt x="667"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49" name="Google Shape;49;p2"/>
          <p:cNvGrpSpPr/>
          <p:nvPr/>
        </p:nvGrpSpPr>
        <p:grpSpPr>
          <a:xfrm>
            <a:off x="7786024" y="310690"/>
            <a:ext cx="1839368" cy="386336"/>
            <a:chOff x="7740649" y="378000"/>
            <a:chExt cx="1839368" cy="386336"/>
          </a:xfrm>
        </p:grpSpPr>
        <p:pic>
          <p:nvPicPr>
            <p:cNvPr descr="O:\Logo_Library\N\NOMURA\A4\NOMURA_A4_CMYK_WHITE.emf" id="50" name="Google Shape;50;p2"/>
            <p:cNvPicPr preferRelativeResize="0"/>
            <p:nvPr/>
          </p:nvPicPr>
          <p:blipFill rotWithShape="1">
            <a:blip r:embed="rId2">
              <a:alphaModFix/>
            </a:blip>
            <a:srcRect b="0" l="0" r="0" t="0"/>
            <a:stretch/>
          </p:blipFill>
          <p:spPr>
            <a:xfrm>
              <a:off x="8319877" y="378000"/>
              <a:ext cx="1260140" cy="216024"/>
            </a:xfrm>
            <a:prstGeom prst="rect">
              <a:avLst/>
            </a:prstGeom>
            <a:noFill/>
            <a:ln>
              <a:noFill/>
            </a:ln>
          </p:spPr>
        </p:pic>
        <p:sp>
          <p:nvSpPr>
            <p:cNvPr id="51" name="Google Shape;51;p2"/>
            <p:cNvSpPr txBox="1"/>
            <p:nvPr/>
          </p:nvSpPr>
          <p:spPr>
            <a:xfrm>
              <a:off x="7740649" y="625837"/>
              <a:ext cx="1809115" cy="138499"/>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1" lang="ja-JP" sz="900">
                  <a:solidFill>
                    <a:schemeClr val="lt1"/>
                  </a:solidFill>
                  <a:latin typeface="Arial"/>
                  <a:ea typeface="Arial"/>
                  <a:cs typeface="Arial"/>
                  <a:sym typeface="Arial"/>
                </a:rPr>
                <a:t>Connecting</a:t>
              </a:r>
              <a:r>
                <a:rPr i="1" lang="ja-JP" sz="900">
                  <a:solidFill>
                    <a:schemeClr val="lt1"/>
                  </a:solidFill>
                  <a:latin typeface="Arial"/>
                  <a:ea typeface="Arial"/>
                  <a:cs typeface="Arial"/>
                  <a:sym typeface="Arial"/>
                </a:rPr>
                <a:t> Markets East &amp; West</a:t>
              </a:r>
              <a:endParaRPr i="1" sz="900">
                <a:solidFill>
                  <a:schemeClr val="lt1"/>
                </a:solidFill>
                <a:latin typeface="Arial"/>
                <a:ea typeface="Arial"/>
                <a:cs typeface="Arial"/>
                <a:sym typeface="Arial"/>
              </a:endParaRPr>
            </a:p>
          </p:txBody>
        </p:sp>
      </p:grpSp>
      <p:sp>
        <p:nvSpPr>
          <p:cNvPr id="52" name="Google Shape;52;p2"/>
          <p:cNvSpPr txBox="1"/>
          <p:nvPr>
            <p:ph idx="1" type="body"/>
          </p:nvPr>
        </p:nvSpPr>
        <p:spPr>
          <a:xfrm>
            <a:off x="266400" y="3888000"/>
            <a:ext cx="7200000" cy="507600"/>
          </a:xfrm>
          <a:prstGeom prst="rect">
            <a:avLst/>
          </a:prstGeom>
          <a:noFill/>
          <a:ln>
            <a:noFill/>
          </a:ln>
        </p:spPr>
        <p:txBody>
          <a:bodyPr anchorCtr="0" anchor="t" bIns="0" lIns="0" spcFirstLastPara="1" rIns="0" wrap="square" tIns="72000">
            <a:noAutofit/>
          </a:bodyPr>
          <a:lstStyle>
            <a:lvl1pPr indent="-228600" lvl="0" marL="457200" marR="0" rtl="0" algn="l">
              <a:lnSpc>
                <a:spcPct val="120000"/>
              </a:lnSpc>
              <a:spcBef>
                <a:spcPts val="0"/>
              </a:spcBef>
              <a:spcAft>
                <a:spcPts val="0"/>
              </a:spcAft>
              <a:buSzPts val="1400"/>
              <a:buNone/>
              <a:defRPr b="1" i="0" sz="18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3" name="Google Shape;53;p2"/>
          <p:cNvSpPr txBox="1"/>
          <p:nvPr>
            <p:ph idx="2" type="body"/>
          </p:nvPr>
        </p:nvSpPr>
        <p:spPr>
          <a:xfrm>
            <a:off x="266400" y="6453336"/>
            <a:ext cx="3960440" cy="239907"/>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4" name="Google Shape;54;p2"/>
          <p:cNvSpPr txBox="1"/>
          <p:nvPr>
            <p:ph idx="3" type="body"/>
          </p:nvPr>
        </p:nvSpPr>
        <p:spPr>
          <a:xfrm>
            <a:off x="7164466" y="4869160"/>
            <a:ext cx="2448272" cy="1223417"/>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540"/>
              </a:spcBef>
              <a:spcAft>
                <a:spcPts val="0"/>
              </a:spcAft>
              <a:buSzPts val="1400"/>
              <a:buNone/>
              <a:defRPr b="0" i="0" sz="1200" u="none" cap="none" strike="noStrike">
                <a:solidFill>
                  <a:schemeClr val="dk1"/>
                </a:solidFill>
                <a:latin typeface="Arial"/>
                <a:ea typeface="Arial"/>
                <a:cs typeface="Arial"/>
                <a:sym typeface="Arial"/>
              </a:defRPr>
            </a:lvl1pPr>
            <a:lvl2pPr indent="-281940" lvl="1" marL="914400" marR="0" rtl="0" algn="l">
              <a:spcBef>
                <a:spcPts val="54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5" name="Google Shape;55;p2"/>
          <p:cNvSpPr txBox="1"/>
          <p:nvPr/>
        </p:nvSpPr>
        <p:spPr>
          <a:xfrm>
            <a:off x="7374363" y="6315223"/>
            <a:ext cx="2238375" cy="138113"/>
          </a:xfrm>
          <a:prstGeom prst="rect">
            <a:avLst/>
          </a:prstGeom>
          <a:noFill/>
          <a:ln>
            <a:noFill/>
          </a:ln>
        </p:spPr>
        <p:txBody>
          <a:bodyPr anchorCtr="0" anchor="b" bIns="0" lIns="0" spcFirstLastPara="1" rIns="0" wrap="square" tIns="0">
            <a:spAutoFit/>
          </a:bodyPr>
          <a:lstStyle/>
          <a:p>
            <a:pPr indent="0" lvl="0" marL="0" marR="0" rtl="0" algn="r">
              <a:spcBef>
                <a:spcPts val="0"/>
              </a:spcBef>
              <a:spcAft>
                <a:spcPts val="0"/>
              </a:spcAft>
              <a:buNone/>
            </a:pPr>
            <a:r>
              <a:rPr lang="ja-JP" sz="900">
                <a:solidFill>
                  <a:schemeClr val="dk1"/>
                </a:solidFill>
                <a:latin typeface="Arial"/>
                <a:ea typeface="Arial"/>
                <a:cs typeface="Arial"/>
                <a:sym typeface="Arial"/>
              </a:rPr>
              <a:t>STRICTLY PRIVATE AND CONFIDENTIAL</a:t>
            </a:r>
            <a:endParaRPr/>
          </a:p>
        </p:txBody>
      </p:sp>
      <p:sp>
        <p:nvSpPr>
          <p:cNvPr id="56" name="Google Shape;56;p2"/>
          <p:cNvSpPr txBox="1"/>
          <p:nvPr>
            <p:ph type="title"/>
          </p:nvPr>
        </p:nvSpPr>
        <p:spPr>
          <a:xfrm>
            <a:off x="266400" y="2880000"/>
            <a:ext cx="7200000" cy="858952"/>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i="0" sz="2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7" name="Google Shape;57;p2"/>
          <p:cNvSpPr txBox="1"/>
          <p:nvPr>
            <p:ph idx="4" type="body"/>
          </p:nvPr>
        </p:nvSpPr>
        <p:spPr>
          <a:xfrm>
            <a:off x="266400" y="4869160"/>
            <a:ext cx="3960440" cy="79208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8" name="Google Shape;58;p2"/>
          <p:cNvSpPr txBox="1"/>
          <p:nvPr>
            <p:ph idx="5" type="body"/>
          </p:nvPr>
        </p:nvSpPr>
        <p:spPr>
          <a:xfrm>
            <a:off x="266400" y="5821288"/>
            <a:ext cx="3960440" cy="47200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9" name="Google Shape;59;p2"/>
          <p:cNvSpPr txBox="1"/>
          <p:nvPr/>
        </p:nvSpPr>
        <p:spPr>
          <a:xfrm>
            <a:off x="9085350" y="6577299"/>
            <a:ext cx="527388" cy="138499"/>
          </a:xfrm>
          <a:prstGeom prst="rect">
            <a:avLst/>
          </a:prstGeom>
          <a:noFill/>
          <a:ln>
            <a:noFill/>
          </a:ln>
        </p:spPr>
        <p:txBody>
          <a:bodyPr anchorCtr="0" anchor="b" bIns="0" lIns="0" spcFirstLastPara="1" rIns="0" wrap="square" tIns="0">
            <a:spAutoFit/>
          </a:bodyPr>
          <a:lstStyle/>
          <a:p>
            <a:pPr indent="0" lvl="0" marL="0" marR="0" rtl="0" algn="r">
              <a:spcBef>
                <a:spcPts val="0"/>
              </a:spcBef>
              <a:spcAft>
                <a:spcPts val="0"/>
              </a:spcAft>
              <a:buNone/>
            </a:pPr>
            <a:r>
              <a:rPr lang="ja-JP" sz="900">
                <a:solidFill>
                  <a:schemeClr val="dk1"/>
                </a:solidFill>
                <a:latin typeface="Arial"/>
                <a:ea typeface="Arial"/>
                <a:cs typeface="Arial"/>
                <a:sym typeface="Arial"/>
              </a:rPr>
              <a:t>© Nomura</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 showMasterSp="0">
  <p:cSld name="Tab">
    <p:spTree>
      <p:nvGrpSpPr>
        <p:cNvPr id="60" name="Shape 60"/>
        <p:cNvGrpSpPr/>
        <p:nvPr/>
      </p:nvGrpSpPr>
      <p:grpSpPr>
        <a:xfrm>
          <a:off x="0" y="0"/>
          <a:ext cx="0" cy="0"/>
          <a:chOff x="0" y="0"/>
          <a:chExt cx="0" cy="0"/>
        </a:xfrm>
      </p:grpSpPr>
      <p:grpSp>
        <p:nvGrpSpPr>
          <p:cNvPr id="61" name="Google Shape;61;p3"/>
          <p:cNvGrpSpPr/>
          <p:nvPr/>
        </p:nvGrpSpPr>
        <p:grpSpPr>
          <a:xfrm>
            <a:off x="228599" y="-3600"/>
            <a:ext cx="9676800" cy="3555366"/>
            <a:chOff x="266700" y="0"/>
            <a:chExt cx="9647238" cy="3540126"/>
          </a:xfrm>
        </p:grpSpPr>
        <p:sp>
          <p:nvSpPr>
            <p:cNvPr id="62" name="Google Shape;62;p3"/>
            <p:cNvSpPr/>
            <p:nvPr/>
          </p:nvSpPr>
          <p:spPr>
            <a:xfrm>
              <a:off x="266700" y="0"/>
              <a:ext cx="9647238" cy="3540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3"/>
            <p:cNvSpPr/>
            <p:nvPr/>
          </p:nvSpPr>
          <p:spPr>
            <a:xfrm>
              <a:off x="5572125" y="3175"/>
              <a:ext cx="4341813" cy="3536950"/>
            </a:xfrm>
            <a:custGeom>
              <a:rect b="b" l="l" r="r" t="t"/>
              <a:pathLst>
                <a:path extrusionOk="0" h="2228" w="2735">
                  <a:moveTo>
                    <a:pt x="0" y="704"/>
                  </a:moveTo>
                  <a:lnTo>
                    <a:pt x="679" y="2228"/>
                  </a:lnTo>
                  <a:lnTo>
                    <a:pt x="2735" y="2228"/>
                  </a:lnTo>
                  <a:lnTo>
                    <a:pt x="2735" y="0"/>
                  </a:lnTo>
                  <a:lnTo>
                    <a:pt x="306" y="0"/>
                  </a:lnTo>
                  <a:lnTo>
                    <a:pt x="0" y="704"/>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3"/>
            <p:cNvSpPr/>
            <p:nvPr/>
          </p:nvSpPr>
          <p:spPr>
            <a:xfrm>
              <a:off x="5572125" y="3175"/>
              <a:ext cx="4341813" cy="3536950"/>
            </a:xfrm>
            <a:custGeom>
              <a:rect b="b" l="l" r="r" t="t"/>
              <a:pathLst>
                <a:path extrusionOk="0" h="2228" w="2735">
                  <a:moveTo>
                    <a:pt x="0" y="704"/>
                  </a:moveTo>
                  <a:lnTo>
                    <a:pt x="679" y="2228"/>
                  </a:lnTo>
                  <a:lnTo>
                    <a:pt x="2735" y="2228"/>
                  </a:lnTo>
                  <a:lnTo>
                    <a:pt x="2735" y="0"/>
                  </a:lnTo>
                  <a:lnTo>
                    <a:pt x="306" y="0"/>
                  </a:lnTo>
                  <a:lnTo>
                    <a:pt x="0" y="704"/>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3"/>
            <p:cNvSpPr/>
            <p:nvPr/>
          </p:nvSpPr>
          <p:spPr>
            <a:xfrm>
              <a:off x="4842828" y="1652588"/>
              <a:ext cx="1352550" cy="1887538"/>
            </a:xfrm>
            <a:custGeom>
              <a:rect b="b" l="l" r="r" t="t"/>
              <a:pathLst>
                <a:path extrusionOk="0" h="1189" w="852">
                  <a:moveTo>
                    <a:pt x="325" y="0"/>
                  </a:moveTo>
                  <a:lnTo>
                    <a:pt x="0" y="749"/>
                  </a:lnTo>
                  <a:lnTo>
                    <a:pt x="190" y="1189"/>
                  </a:lnTo>
                  <a:lnTo>
                    <a:pt x="852" y="1189"/>
                  </a:lnTo>
                  <a:lnTo>
                    <a:pt x="325" y="0"/>
                  </a:lnTo>
                  <a:close/>
                </a:path>
              </a:pathLst>
            </a:custGeom>
            <a:solidFill>
              <a:srgbClr val="D5D5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3"/>
            <p:cNvSpPr/>
            <p:nvPr/>
          </p:nvSpPr>
          <p:spPr>
            <a:xfrm>
              <a:off x="4827588" y="1652588"/>
              <a:ext cx="1352550" cy="1887538"/>
            </a:xfrm>
            <a:custGeom>
              <a:rect b="b" l="l" r="r" t="t"/>
              <a:pathLst>
                <a:path extrusionOk="0" h="1189" w="852">
                  <a:moveTo>
                    <a:pt x="325" y="0"/>
                  </a:moveTo>
                  <a:lnTo>
                    <a:pt x="0" y="749"/>
                  </a:lnTo>
                  <a:lnTo>
                    <a:pt x="190" y="1189"/>
                  </a:lnTo>
                  <a:lnTo>
                    <a:pt x="852" y="1189"/>
                  </a:lnTo>
                  <a:lnTo>
                    <a:pt x="325"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3"/>
            <p:cNvSpPr/>
            <p:nvPr/>
          </p:nvSpPr>
          <p:spPr>
            <a:xfrm>
              <a:off x="4626928" y="3175"/>
              <a:ext cx="960438" cy="1649413"/>
            </a:xfrm>
            <a:custGeom>
              <a:rect b="b" l="l" r="r" t="t"/>
              <a:pathLst>
                <a:path extrusionOk="0" h="1039" w="605">
                  <a:moveTo>
                    <a:pt x="294" y="0"/>
                  </a:moveTo>
                  <a:lnTo>
                    <a:pt x="0" y="0"/>
                  </a:lnTo>
                  <a:lnTo>
                    <a:pt x="461" y="1039"/>
                  </a:lnTo>
                  <a:lnTo>
                    <a:pt x="605" y="704"/>
                  </a:lnTo>
                  <a:lnTo>
                    <a:pt x="294"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3"/>
            <p:cNvSpPr/>
            <p:nvPr/>
          </p:nvSpPr>
          <p:spPr>
            <a:xfrm>
              <a:off x="4611688" y="3175"/>
              <a:ext cx="960438" cy="1649413"/>
            </a:xfrm>
            <a:custGeom>
              <a:rect b="b" l="l" r="r" t="t"/>
              <a:pathLst>
                <a:path extrusionOk="0" h="1039" w="605">
                  <a:moveTo>
                    <a:pt x="294" y="0"/>
                  </a:moveTo>
                  <a:lnTo>
                    <a:pt x="0" y="0"/>
                  </a:lnTo>
                  <a:lnTo>
                    <a:pt x="461" y="1039"/>
                  </a:lnTo>
                  <a:lnTo>
                    <a:pt x="605" y="704"/>
                  </a:lnTo>
                  <a:lnTo>
                    <a:pt x="29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3"/>
            <p:cNvSpPr/>
            <p:nvPr/>
          </p:nvSpPr>
          <p:spPr>
            <a:xfrm>
              <a:off x="3116580" y="1171575"/>
              <a:ext cx="1741488" cy="2368550"/>
            </a:xfrm>
            <a:custGeom>
              <a:rect b="b" l="l" r="r" t="t"/>
              <a:pathLst>
                <a:path extrusionOk="0" h="1492" w="1097">
                  <a:moveTo>
                    <a:pt x="644" y="0"/>
                  </a:moveTo>
                  <a:lnTo>
                    <a:pt x="0" y="1492"/>
                  </a:lnTo>
                  <a:lnTo>
                    <a:pt x="906" y="1492"/>
                  </a:lnTo>
                  <a:lnTo>
                    <a:pt x="1097" y="1052"/>
                  </a:lnTo>
                  <a:lnTo>
                    <a:pt x="644"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3"/>
            <p:cNvSpPr/>
            <p:nvPr/>
          </p:nvSpPr>
          <p:spPr>
            <a:xfrm>
              <a:off x="3086100" y="1171575"/>
              <a:ext cx="1741488" cy="2368550"/>
            </a:xfrm>
            <a:custGeom>
              <a:rect b="b" l="l" r="r" t="t"/>
              <a:pathLst>
                <a:path extrusionOk="0" h="1492" w="1097">
                  <a:moveTo>
                    <a:pt x="644" y="0"/>
                  </a:moveTo>
                  <a:lnTo>
                    <a:pt x="0" y="1492"/>
                  </a:lnTo>
                  <a:lnTo>
                    <a:pt x="906" y="1492"/>
                  </a:lnTo>
                  <a:lnTo>
                    <a:pt x="1097" y="1052"/>
                  </a:lnTo>
                  <a:lnTo>
                    <a:pt x="64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3"/>
            <p:cNvSpPr/>
            <p:nvPr/>
          </p:nvSpPr>
          <p:spPr>
            <a:xfrm>
              <a:off x="5078413" y="3175"/>
              <a:ext cx="979488" cy="1117600"/>
            </a:xfrm>
            <a:custGeom>
              <a:rect b="b" l="l" r="r" t="t"/>
              <a:pathLst>
                <a:path extrusionOk="0" h="704" w="617">
                  <a:moveTo>
                    <a:pt x="0" y="0"/>
                  </a:moveTo>
                  <a:lnTo>
                    <a:pt x="311" y="704"/>
                  </a:lnTo>
                  <a:lnTo>
                    <a:pt x="617" y="0"/>
                  </a:lnTo>
                  <a:lnTo>
                    <a:pt x="0" y="0"/>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3"/>
            <p:cNvSpPr/>
            <p:nvPr/>
          </p:nvSpPr>
          <p:spPr>
            <a:xfrm>
              <a:off x="5078413" y="3175"/>
              <a:ext cx="979488" cy="1117600"/>
            </a:xfrm>
            <a:custGeom>
              <a:rect b="b" l="l" r="r" t="t"/>
              <a:pathLst>
                <a:path extrusionOk="0" h="704" w="617">
                  <a:moveTo>
                    <a:pt x="0" y="0"/>
                  </a:moveTo>
                  <a:lnTo>
                    <a:pt x="311" y="704"/>
                  </a:lnTo>
                  <a:lnTo>
                    <a:pt x="617" y="0"/>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3"/>
            <p:cNvSpPr/>
            <p:nvPr/>
          </p:nvSpPr>
          <p:spPr>
            <a:xfrm>
              <a:off x="5086033" y="3175"/>
              <a:ext cx="979488" cy="1117600"/>
            </a:xfrm>
            <a:custGeom>
              <a:rect b="b" l="l" r="r" t="t"/>
              <a:pathLst>
                <a:path extrusionOk="0" h="704" w="617">
                  <a:moveTo>
                    <a:pt x="617" y="0"/>
                  </a:moveTo>
                  <a:lnTo>
                    <a:pt x="0" y="0"/>
                  </a:lnTo>
                  <a:lnTo>
                    <a:pt x="311" y="704"/>
                  </a:lnTo>
                  <a:lnTo>
                    <a:pt x="617" y="0"/>
                  </a:lnTo>
                  <a:close/>
                </a:path>
              </a:pathLst>
            </a:custGeom>
            <a:solidFill>
              <a:srgbClr val="9B9B9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3"/>
            <p:cNvSpPr/>
            <p:nvPr/>
          </p:nvSpPr>
          <p:spPr>
            <a:xfrm>
              <a:off x="5078413" y="3175"/>
              <a:ext cx="979488" cy="1117600"/>
            </a:xfrm>
            <a:custGeom>
              <a:rect b="b" l="l" r="r" t="t"/>
              <a:pathLst>
                <a:path extrusionOk="0" h="704" w="617">
                  <a:moveTo>
                    <a:pt x="617" y="0"/>
                  </a:moveTo>
                  <a:lnTo>
                    <a:pt x="0" y="0"/>
                  </a:lnTo>
                  <a:lnTo>
                    <a:pt x="311" y="704"/>
                  </a:lnTo>
                  <a:lnTo>
                    <a:pt x="61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3"/>
            <p:cNvSpPr/>
            <p:nvPr/>
          </p:nvSpPr>
          <p:spPr>
            <a:xfrm>
              <a:off x="4131310" y="3175"/>
              <a:ext cx="1235075" cy="2838450"/>
            </a:xfrm>
            <a:custGeom>
              <a:rect b="b" l="l" r="r" t="t"/>
              <a:pathLst>
                <a:path extrusionOk="0" h="1788" w="778">
                  <a:moveTo>
                    <a:pt x="317" y="0"/>
                  </a:moveTo>
                  <a:lnTo>
                    <a:pt x="0" y="736"/>
                  </a:lnTo>
                  <a:lnTo>
                    <a:pt x="453" y="1788"/>
                  </a:lnTo>
                  <a:lnTo>
                    <a:pt x="778" y="1039"/>
                  </a:lnTo>
                  <a:lnTo>
                    <a:pt x="317"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3"/>
            <p:cNvSpPr/>
            <p:nvPr/>
          </p:nvSpPr>
          <p:spPr>
            <a:xfrm>
              <a:off x="4108450" y="3175"/>
              <a:ext cx="1235075" cy="2838450"/>
            </a:xfrm>
            <a:custGeom>
              <a:rect b="b" l="l" r="r" t="t"/>
              <a:pathLst>
                <a:path extrusionOk="0" h="1788" w="778">
                  <a:moveTo>
                    <a:pt x="317" y="0"/>
                  </a:moveTo>
                  <a:lnTo>
                    <a:pt x="0" y="736"/>
                  </a:lnTo>
                  <a:lnTo>
                    <a:pt x="453" y="1788"/>
                  </a:lnTo>
                  <a:lnTo>
                    <a:pt x="778" y="1039"/>
                  </a:lnTo>
                  <a:lnTo>
                    <a:pt x="31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 name="Google Shape;77;p3"/>
            <p:cNvSpPr/>
            <p:nvPr/>
          </p:nvSpPr>
          <p:spPr>
            <a:xfrm>
              <a:off x="3635693" y="3175"/>
              <a:ext cx="1006475" cy="1168400"/>
            </a:xfrm>
            <a:custGeom>
              <a:rect b="b" l="l" r="r" t="t"/>
              <a:pathLst>
                <a:path extrusionOk="0" h="736" w="634">
                  <a:moveTo>
                    <a:pt x="634" y="0"/>
                  </a:moveTo>
                  <a:lnTo>
                    <a:pt x="0" y="0"/>
                  </a:lnTo>
                  <a:lnTo>
                    <a:pt x="317" y="736"/>
                  </a:lnTo>
                  <a:lnTo>
                    <a:pt x="634" y="0"/>
                  </a:lnTo>
                  <a:close/>
                </a:path>
              </a:pathLst>
            </a:custGeom>
            <a:solidFill>
              <a:srgbClr val="909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 name="Google Shape;78;p3"/>
            <p:cNvSpPr/>
            <p:nvPr/>
          </p:nvSpPr>
          <p:spPr>
            <a:xfrm>
              <a:off x="3605213" y="3175"/>
              <a:ext cx="1006475" cy="1168400"/>
            </a:xfrm>
            <a:custGeom>
              <a:rect b="b" l="l" r="r" t="t"/>
              <a:pathLst>
                <a:path extrusionOk="0" h="736" w="634">
                  <a:moveTo>
                    <a:pt x="634" y="0"/>
                  </a:moveTo>
                  <a:lnTo>
                    <a:pt x="0" y="0"/>
                  </a:lnTo>
                  <a:lnTo>
                    <a:pt x="317" y="736"/>
                  </a:lnTo>
                  <a:lnTo>
                    <a:pt x="63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9" name="Google Shape;79;p3"/>
            <p:cNvSpPr/>
            <p:nvPr/>
          </p:nvSpPr>
          <p:spPr>
            <a:xfrm>
              <a:off x="2157413" y="3175"/>
              <a:ext cx="1989138" cy="3536950"/>
            </a:xfrm>
            <a:custGeom>
              <a:rect b="b" l="l" r="r" t="t"/>
              <a:pathLst>
                <a:path extrusionOk="0" h="2228" w="1253">
                  <a:moveTo>
                    <a:pt x="936" y="0"/>
                  </a:moveTo>
                  <a:lnTo>
                    <a:pt x="936" y="0"/>
                  </a:lnTo>
                  <a:lnTo>
                    <a:pt x="0" y="2228"/>
                  </a:lnTo>
                  <a:lnTo>
                    <a:pt x="609" y="2228"/>
                  </a:lnTo>
                  <a:lnTo>
                    <a:pt x="1253" y="736"/>
                  </a:lnTo>
                  <a:lnTo>
                    <a:pt x="936"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 name="Google Shape;80;p3"/>
            <p:cNvSpPr/>
            <p:nvPr/>
          </p:nvSpPr>
          <p:spPr>
            <a:xfrm>
              <a:off x="2119313" y="3175"/>
              <a:ext cx="1989138" cy="3536950"/>
            </a:xfrm>
            <a:custGeom>
              <a:rect b="b" l="l" r="r" t="t"/>
              <a:pathLst>
                <a:path extrusionOk="0" h="2228" w="1253">
                  <a:moveTo>
                    <a:pt x="936" y="0"/>
                  </a:moveTo>
                  <a:lnTo>
                    <a:pt x="936" y="0"/>
                  </a:lnTo>
                  <a:lnTo>
                    <a:pt x="0" y="2228"/>
                  </a:lnTo>
                  <a:lnTo>
                    <a:pt x="609" y="2228"/>
                  </a:lnTo>
                  <a:lnTo>
                    <a:pt x="1253" y="736"/>
                  </a:lnTo>
                  <a:lnTo>
                    <a:pt x="936"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3"/>
            <p:cNvSpPr/>
            <p:nvPr/>
          </p:nvSpPr>
          <p:spPr>
            <a:xfrm>
              <a:off x="312420" y="3175"/>
              <a:ext cx="3338513" cy="3536950"/>
            </a:xfrm>
            <a:custGeom>
              <a:rect b="b" l="l" r="r" t="t"/>
              <a:pathLst>
                <a:path extrusionOk="0" h="2228" w="2103">
                  <a:moveTo>
                    <a:pt x="2103" y="0"/>
                  </a:moveTo>
                  <a:lnTo>
                    <a:pt x="940" y="0"/>
                  </a:lnTo>
                  <a:lnTo>
                    <a:pt x="0" y="2228"/>
                  </a:lnTo>
                  <a:lnTo>
                    <a:pt x="1167" y="2228"/>
                  </a:lnTo>
                  <a:lnTo>
                    <a:pt x="2103"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3"/>
            <p:cNvSpPr/>
            <p:nvPr/>
          </p:nvSpPr>
          <p:spPr>
            <a:xfrm>
              <a:off x="266700" y="3175"/>
              <a:ext cx="3338513" cy="3536950"/>
            </a:xfrm>
            <a:custGeom>
              <a:rect b="b" l="l" r="r" t="t"/>
              <a:pathLst>
                <a:path extrusionOk="0" h="2228" w="2103">
                  <a:moveTo>
                    <a:pt x="2103" y="0"/>
                  </a:moveTo>
                  <a:lnTo>
                    <a:pt x="940" y="0"/>
                  </a:lnTo>
                  <a:lnTo>
                    <a:pt x="0" y="2228"/>
                  </a:lnTo>
                  <a:lnTo>
                    <a:pt x="1167" y="2228"/>
                  </a:lnTo>
                  <a:lnTo>
                    <a:pt x="210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3" name="Google Shape;83;p3"/>
          <p:cNvSpPr txBox="1"/>
          <p:nvPr>
            <p:ph idx="1" type="body"/>
          </p:nvPr>
        </p:nvSpPr>
        <p:spPr>
          <a:xfrm>
            <a:off x="266400" y="3600000"/>
            <a:ext cx="7821613" cy="860400"/>
          </a:xfrm>
          <a:prstGeom prst="rect">
            <a:avLst/>
          </a:prstGeom>
          <a:noFill/>
          <a:ln>
            <a:noFill/>
          </a:ln>
        </p:spPr>
        <p:txBody>
          <a:bodyPr anchorCtr="0" anchor="b" bIns="0" lIns="0" spcFirstLastPara="1" rIns="0" wrap="square" tIns="0">
            <a:noAutofit/>
          </a:bodyPr>
          <a:lstStyle>
            <a:lvl1pPr indent="-228600" lvl="0" marL="457200" marR="0" rtl="0" algn="l">
              <a:lnSpc>
                <a:spcPct val="100000"/>
              </a:lnSpc>
              <a:spcBef>
                <a:spcPts val="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84" name="Google Shape;84;p3"/>
          <p:cNvSpPr txBox="1"/>
          <p:nvPr>
            <p:ph type="title"/>
          </p:nvPr>
        </p:nvSpPr>
        <p:spPr>
          <a:xfrm>
            <a:off x="266400" y="4608000"/>
            <a:ext cx="7821613" cy="507600"/>
          </a:xfrm>
          <a:prstGeom prst="rect">
            <a:avLst/>
          </a:prstGeom>
          <a:noFill/>
          <a:ln>
            <a:noFill/>
          </a:ln>
        </p:spPr>
        <p:txBody>
          <a:bodyPr anchorCtr="0" anchor="t" bIns="0" lIns="0" spcFirstLastPara="1" rIns="0" wrap="square" tIns="72000">
            <a:noAutofit/>
          </a:bodyPr>
          <a:lstStyle>
            <a:lvl1pPr lvl="0" marR="0" rtl="0" algn="l">
              <a:lnSpc>
                <a:spcPct val="120000"/>
              </a:lnSpc>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pic>
        <p:nvPicPr>
          <p:cNvPr descr="NOMURA_A4_PMS_1797.emf" id="85" name="Google Shape;85;p3"/>
          <p:cNvPicPr preferRelativeResize="0"/>
          <p:nvPr/>
        </p:nvPicPr>
        <p:blipFill rotWithShape="1">
          <a:blip r:embed="rId2">
            <a:alphaModFix/>
          </a:blip>
          <a:srcRect b="0" l="0" r="0" t="0"/>
          <a:stretch/>
        </p:blipFill>
        <p:spPr>
          <a:xfrm>
            <a:off x="8355804" y="306904"/>
            <a:ext cx="1260000" cy="22280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p:cSld name="タイトルのみ">
    <p:spTree>
      <p:nvGrpSpPr>
        <p:cNvPr id="86" name="Shape 86"/>
        <p:cNvGrpSpPr/>
        <p:nvPr/>
      </p:nvGrpSpPr>
      <p:grpSpPr>
        <a:xfrm>
          <a:off x="0" y="0"/>
          <a:ext cx="0" cy="0"/>
          <a:chOff x="0" y="0"/>
          <a:chExt cx="0" cy="0"/>
        </a:xfrm>
      </p:grpSpPr>
      <p:sp>
        <p:nvSpPr>
          <p:cNvPr id="87" name="Google Shape;87;p4"/>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000">
                <a:solidFill>
                  <a:schemeClr val="dk1"/>
                </a:solidFill>
                <a:latin typeface="Arial"/>
                <a:ea typeface="Arial"/>
                <a:cs typeface="Arial"/>
                <a:sym typeface="Arial"/>
              </a:defRPr>
            </a:lvl1pPr>
            <a:lvl2pPr indent="0" lvl="1" marL="0" marR="0" rtl="0" algn="l">
              <a:spcBef>
                <a:spcPts val="0"/>
              </a:spcBef>
              <a:buNone/>
              <a:defRPr sz="1000">
                <a:solidFill>
                  <a:schemeClr val="dk1"/>
                </a:solidFill>
                <a:latin typeface="Arial"/>
                <a:ea typeface="Arial"/>
                <a:cs typeface="Arial"/>
                <a:sym typeface="Arial"/>
              </a:defRPr>
            </a:lvl2pPr>
            <a:lvl3pPr indent="0" lvl="2" marL="0" marR="0" rtl="0" algn="l">
              <a:spcBef>
                <a:spcPts val="0"/>
              </a:spcBef>
              <a:buNone/>
              <a:defRPr sz="1000">
                <a:solidFill>
                  <a:schemeClr val="dk1"/>
                </a:solidFill>
                <a:latin typeface="Arial"/>
                <a:ea typeface="Arial"/>
                <a:cs typeface="Arial"/>
                <a:sym typeface="Arial"/>
              </a:defRPr>
            </a:lvl3pPr>
            <a:lvl4pPr indent="0" lvl="3" marL="0" marR="0" rtl="0" algn="l">
              <a:spcBef>
                <a:spcPts val="0"/>
              </a:spcBef>
              <a:buNone/>
              <a:defRPr sz="1000">
                <a:solidFill>
                  <a:schemeClr val="dk1"/>
                </a:solidFill>
                <a:latin typeface="Arial"/>
                <a:ea typeface="Arial"/>
                <a:cs typeface="Arial"/>
                <a:sym typeface="Arial"/>
              </a:defRPr>
            </a:lvl4pPr>
            <a:lvl5pPr indent="0" lvl="4" marL="0" marR="0" rtl="0" algn="l">
              <a:spcBef>
                <a:spcPts val="0"/>
              </a:spcBef>
              <a:buNone/>
              <a:defRPr sz="1000">
                <a:solidFill>
                  <a:schemeClr val="dk1"/>
                </a:solidFill>
                <a:latin typeface="Arial"/>
                <a:ea typeface="Arial"/>
                <a:cs typeface="Arial"/>
                <a:sym typeface="Arial"/>
              </a:defRPr>
            </a:lvl5pPr>
            <a:lvl6pPr indent="0" lvl="5" marL="0" marR="0" rtl="0" algn="l">
              <a:spcBef>
                <a:spcPts val="0"/>
              </a:spcBef>
              <a:buNone/>
              <a:defRPr sz="1000">
                <a:solidFill>
                  <a:schemeClr val="dk1"/>
                </a:solidFill>
                <a:latin typeface="Arial"/>
                <a:ea typeface="Arial"/>
                <a:cs typeface="Arial"/>
                <a:sym typeface="Arial"/>
              </a:defRPr>
            </a:lvl6pPr>
            <a:lvl7pPr indent="0" lvl="6" marL="0" marR="0" rtl="0" algn="l">
              <a:spcBef>
                <a:spcPts val="0"/>
              </a:spcBef>
              <a:buNone/>
              <a:defRPr sz="1000">
                <a:solidFill>
                  <a:schemeClr val="dk1"/>
                </a:solidFill>
                <a:latin typeface="Arial"/>
                <a:ea typeface="Arial"/>
                <a:cs typeface="Arial"/>
                <a:sym typeface="Arial"/>
              </a:defRPr>
            </a:lvl7pPr>
            <a:lvl8pPr indent="0" lvl="7" marL="0" marR="0" rtl="0" algn="l">
              <a:spcBef>
                <a:spcPts val="0"/>
              </a:spcBef>
              <a:buNone/>
              <a:defRPr sz="1000">
                <a:solidFill>
                  <a:schemeClr val="dk1"/>
                </a:solidFill>
                <a:latin typeface="Arial"/>
                <a:ea typeface="Arial"/>
                <a:cs typeface="Arial"/>
                <a:sym typeface="Arial"/>
              </a:defRPr>
            </a:lvl8pPr>
            <a:lvl9pPr indent="0" lvl="8" marL="0" marR="0" rtl="0" algn="l">
              <a:spcBef>
                <a:spcPts val="0"/>
              </a:spcBef>
              <a:buNone/>
              <a:defRPr sz="10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ja-JP"/>
              <a:t>‹#›</a:t>
            </a:fld>
            <a:endParaRPr/>
          </a:p>
        </p:txBody>
      </p:sp>
      <p:sp>
        <p:nvSpPr>
          <p:cNvPr id="9001" name="Title"/>
          <p:cNvSpPr>
            <a:spLocks noGrp="1"/>
          </p:cNvSpPr>
          <p:nvPr>
            <p:ph type="title"/>
          </p:nvPr>
        </p:nvSpPr>
        <p:spPr>
          <a:xfrm>
            <a:off x="1897202" y="57600"/>
            <a:ext cx="6336000" cy="720000"/>
          </a:xfrm>
          <a:prstGeom prst="rect">
            <a:avLst/>
          </a:prstGeom>
        </p:spPr>
        <p:txBody>
          <a:bodyPr wrap="square" lIns="91425" tIns="45700" rIns="91425" bIns="45700" anchor="b">
            <a:noAutofit/>
          </a:bodyPr>
          <a:lstStyle>
            <a:lvl1pPr algn="l">
              <a:defRPr sz="1800" b="1">
                <a:solidFill>
                  <a:schemeClr val="dk1"/>
                </a:solidFill>
              </a:defRPr>
            </a:lvl1pPr>
          </a:lstStyle>
          <a:p>
            <a:r>
              <a:rPr lang="ja-JP"/>
              <a:t>タイトル</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p:cSld name="Content 1">
    <p:spTree>
      <p:nvGrpSpPr>
        <p:cNvPr id="88" name="Shape 88"/>
        <p:cNvGrpSpPr/>
        <p:nvPr/>
      </p:nvGrpSpPr>
      <p:grpSpPr>
        <a:xfrm>
          <a:off x="0" y="0"/>
          <a:ext cx="0" cy="0"/>
          <a:chOff x="0" y="0"/>
          <a:chExt cx="0" cy="0"/>
        </a:xfrm>
      </p:grpSpPr>
      <p:sp>
        <p:nvSpPr>
          <p:cNvPr id="89" name="Google Shape;89;p5"/>
          <p:cNvSpPr txBox="1"/>
          <p:nvPr>
            <p:ph idx="11" type="ftr"/>
          </p:nvPr>
        </p:nvSpPr>
        <p:spPr>
          <a:xfrm>
            <a:off x="8834400" y="6523049"/>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lnSpc>
                <a:spcPct val="120000"/>
              </a:lnSpc>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91" name="Google Shape;91;p5"/>
          <p:cNvSpPr txBox="1"/>
          <p:nvPr>
            <p:ph idx="2" type="body"/>
          </p:nvPr>
        </p:nvSpPr>
        <p:spPr>
          <a:xfrm>
            <a:off x="266400" y="1025041"/>
            <a:ext cx="9360000" cy="4736224"/>
          </a:xfrm>
          <a:prstGeom prst="rect">
            <a:avLst/>
          </a:prstGeom>
          <a:noFill/>
          <a:ln>
            <a:noFill/>
          </a:ln>
        </p:spPr>
        <p:txBody>
          <a:bodyPr anchorCtr="0" anchor="t" bIns="64800" lIns="0" spcFirstLastPara="1" rIns="46800" wrap="square" tIns="64800">
            <a:noAutofit/>
          </a:bodyPr>
          <a:lstStyle>
            <a:lvl1pPr indent="-228600" lvl="0" marL="457200" marR="0" rtl="0" algn="l">
              <a:lnSpc>
                <a:spcPct val="120000"/>
              </a:lnSpc>
              <a:spcBef>
                <a:spcPts val="200"/>
              </a:spcBef>
              <a:spcAft>
                <a:spcPts val="0"/>
              </a:spcAft>
              <a:buClr>
                <a:srgbClr val="CC3300"/>
              </a:buClr>
              <a:buSzPts val="1800"/>
              <a:buFont typeface="Arial"/>
              <a:buNone/>
              <a:defRPr b="0" i="0" sz="1200" u="none" cap="none" strike="noStrike">
                <a:solidFill>
                  <a:schemeClr val="dk1"/>
                </a:solidFill>
                <a:latin typeface="Arial"/>
                <a:ea typeface="Arial"/>
                <a:cs typeface="Arial"/>
                <a:sym typeface="Arial"/>
              </a:defRPr>
            </a:lvl1pPr>
            <a:lvl2pPr indent="-281940" lvl="1" marL="914400" marR="0" rtl="0" algn="l">
              <a:lnSpc>
                <a:spcPct val="120000"/>
              </a:lnSpc>
              <a:spcBef>
                <a:spcPts val="20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lnSpc>
                <a:spcPct val="120000"/>
              </a:lnSpc>
              <a:spcBef>
                <a:spcPts val="20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lnSpc>
                <a:spcPct val="120000"/>
              </a:lnSpc>
              <a:spcBef>
                <a:spcPts val="20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lnSpc>
                <a:spcPct val="120000"/>
              </a:lnSpc>
              <a:spcBef>
                <a:spcPts val="200"/>
              </a:spcBef>
              <a:spcAft>
                <a:spcPts val="0"/>
              </a:spcAft>
              <a:buClr>
                <a:schemeClr val="accent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92" name="Google Shape;92;p5"/>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showMasterSp="0">
  <p:cSld name="Appendix">
    <p:spTree>
      <p:nvGrpSpPr>
        <p:cNvPr id="93" name="Shape 93"/>
        <p:cNvGrpSpPr/>
        <p:nvPr/>
      </p:nvGrpSpPr>
      <p:grpSpPr>
        <a:xfrm>
          <a:off x="0" y="0"/>
          <a:ext cx="0" cy="0"/>
          <a:chOff x="0" y="0"/>
          <a:chExt cx="0" cy="0"/>
        </a:xfrm>
      </p:grpSpPr>
      <p:grpSp>
        <p:nvGrpSpPr>
          <p:cNvPr id="94" name="Google Shape;94;p6"/>
          <p:cNvGrpSpPr/>
          <p:nvPr/>
        </p:nvGrpSpPr>
        <p:grpSpPr>
          <a:xfrm>
            <a:off x="228599" y="-3600"/>
            <a:ext cx="9676800" cy="3555366"/>
            <a:chOff x="266700" y="0"/>
            <a:chExt cx="9647238" cy="3540126"/>
          </a:xfrm>
        </p:grpSpPr>
        <p:sp>
          <p:nvSpPr>
            <p:cNvPr id="95" name="Google Shape;95;p6"/>
            <p:cNvSpPr/>
            <p:nvPr/>
          </p:nvSpPr>
          <p:spPr>
            <a:xfrm>
              <a:off x="266700" y="0"/>
              <a:ext cx="9647238" cy="3540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6"/>
            <p:cNvSpPr/>
            <p:nvPr/>
          </p:nvSpPr>
          <p:spPr>
            <a:xfrm>
              <a:off x="5572125" y="3175"/>
              <a:ext cx="4341813" cy="3536950"/>
            </a:xfrm>
            <a:custGeom>
              <a:rect b="b" l="l" r="r" t="t"/>
              <a:pathLst>
                <a:path extrusionOk="0" h="2228" w="2735">
                  <a:moveTo>
                    <a:pt x="0" y="704"/>
                  </a:moveTo>
                  <a:lnTo>
                    <a:pt x="679" y="2228"/>
                  </a:lnTo>
                  <a:lnTo>
                    <a:pt x="2735" y="2228"/>
                  </a:lnTo>
                  <a:lnTo>
                    <a:pt x="2735" y="0"/>
                  </a:lnTo>
                  <a:lnTo>
                    <a:pt x="306" y="0"/>
                  </a:lnTo>
                  <a:lnTo>
                    <a:pt x="0" y="704"/>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7" name="Google Shape;97;p6"/>
            <p:cNvSpPr/>
            <p:nvPr/>
          </p:nvSpPr>
          <p:spPr>
            <a:xfrm>
              <a:off x="5572125" y="3175"/>
              <a:ext cx="4341813" cy="3536950"/>
            </a:xfrm>
            <a:custGeom>
              <a:rect b="b" l="l" r="r" t="t"/>
              <a:pathLst>
                <a:path extrusionOk="0" h="2228" w="2735">
                  <a:moveTo>
                    <a:pt x="0" y="704"/>
                  </a:moveTo>
                  <a:lnTo>
                    <a:pt x="679" y="2228"/>
                  </a:lnTo>
                  <a:lnTo>
                    <a:pt x="2735" y="2228"/>
                  </a:lnTo>
                  <a:lnTo>
                    <a:pt x="2735" y="0"/>
                  </a:lnTo>
                  <a:lnTo>
                    <a:pt x="306" y="0"/>
                  </a:lnTo>
                  <a:lnTo>
                    <a:pt x="0" y="704"/>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6"/>
            <p:cNvSpPr/>
            <p:nvPr/>
          </p:nvSpPr>
          <p:spPr>
            <a:xfrm>
              <a:off x="4842828" y="1652588"/>
              <a:ext cx="1352550" cy="1887538"/>
            </a:xfrm>
            <a:custGeom>
              <a:rect b="b" l="l" r="r" t="t"/>
              <a:pathLst>
                <a:path extrusionOk="0" h="1189" w="852">
                  <a:moveTo>
                    <a:pt x="325" y="0"/>
                  </a:moveTo>
                  <a:lnTo>
                    <a:pt x="0" y="749"/>
                  </a:lnTo>
                  <a:lnTo>
                    <a:pt x="190" y="1189"/>
                  </a:lnTo>
                  <a:lnTo>
                    <a:pt x="852" y="1189"/>
                  </a:lnTo>
                  <a:lnTo>
                    <a:pt x="325" y="0"/>
                  </a:lnTo>
                  <a:close/>
                </a:path>
              </a:pathLst>
            </a:custGeom>
            <a:solidFill>
              <a:srgbClr val="D5D5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6"/>
            <p:cNvSpPr/>
            <p:nvPr/>
          </p:nvSpPr>
          <p:spPr>
            <a:xfrm>
              <a:off x="4827588" y="1652588"/>
              <a:ext cx="1352550" cy="1887538"/>
            </a:xfrm>
            <a:custGeom>
              <a:rect b="b" l="l" r="r" t="t"/>
              <a:pathLst>
                <a:path extrusionOk="0" h="1189" w="852">
                  <a:moveTo>
                    <a:pt x="325" y="0"/>
                  </a:moveTo>
                  <a:lnTo>
                    <a:pt x="0" y="749"/>
                  </a:lnTo>
                  <a:lnTo>
                    <a:pt x="190" y="1189"/>
                  </a:lnTo>
                  <a:lnTo>
                    <a:pt x="852" y="1189"/>
                  </a:lnTo>
                  <a:lnTo>
                    <a:pt x="325"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6"/>
            <p:cNvSpPr/>
            <p:nvPr/>
          </p:nvSpPr>
          <p:spPr>
            <a:xfrm>
              <a:off x="4626928" y="3175"/>
              <a:ext cx="960438" cy="1649413"/>
            </a:xfrm>
            <a:custGeom>
              <a:rect b="b" l="l" r="r" t="t"/>
              <a:pathLst>
                <a:path extrusionOk="0" h="1039" w="605">
                  <a:moveTo>
                    <a:pt x="294" y="0"/>
                  </a:moveTo>
                  <a:lnTo>
                    <a:pt x="0" y="0"/>
                  </a:lnTo>
                  <a:lnTo>
                    <a:pt x="461" y="1039"/>
                  </a:lnTo>
                  <a:lnTo>
                    <a:pt x="605" y="704"/>
                  </a:lnTo>
                  <a:lnTo>
                    <a:pt x="294"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6"/>
            <p:cNvSpPr/>
            <p:nvPr/>
          </p:nvSpPr>
          <p:spPr>
            <a:xfrm>
              <a:off x="4611688" y="3175"/>
              <a:ext cx="960438" cy="1649413"/>
            </a:xfrm>
            <a:custGeom>
              <a:rect b="b" l="l" r="r" t="t"/>
              <a:pathLst>
                <a:path extrusionOk="0" h="1039" w="605">
                  <a:moveTo>
                    <a:pt x="294" y="0"/>
                  </a:moveTo>
                  <a:lnTo>
                    <a:pt x="0" y="0"/>
                  </a:lnTo>
                  <a:lnTo>
                    <a:pt x="461" y="1039"/>
                  </a:lnTo>
                  <a:lnTo>
                    <a:pt x="605" y="704"/>
                  </a:lnTo>
                  <a:lnTo>
                    <a:pt x="29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6"/>
            <p:cNvSpPr/>
            <p:nvPr/>
          </p:nvSpPr>
          <p:spPr>
            <a:xfrm>
              <a:off x="3116580" y="1171575"/>
              <a:ext cx="1741488" cy="2368550"/>
            </a:xfrm>
            <a:custGeom>
              <a:rect b="b" l="l" r="r" t="t"/>
              <a:pathLst>
                <a:path extrusionOk="0" h="1492" w="1097">
                  <a:moveTo>
                    <a:pt x="644" y="0"/>
                  </a:moveTo>
                  <a:lnTo>
                    <a:pt x="0" y="1492"/>
                  </a:lnTo>
                  <a:lnTo>
                    <a:pt x="906" y="1492"/>
                  </a:lnTo>
                  <a:lnTo>
                    <a:pt x="1097" y="1052"/>
                  </a:lnTo>
                  <a:lnTo>
                    <a:pt x="644"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6"/>
            <p:cNvSpPr/>
            <p:nvPr/>
          </p:nvSpPr>
          <p:spPr>
            <a:xfrm>
              <a:off x="3086100" y="1171575"/>
              <a:ext cx="1741488" cy="2368550"/>
            </a:xfrm>
            <a:custGeom>
              <a:rect b="b" l="l" r="r" t="t"/>
              <a:pathLst>
                <a:path extrusionOk="0" h="1492" w="1097">
                  <a:moveTo>
                    <a:pt x="644" y="0"/>
                  </a:moveTo>
                  <a:lnTo>
                    <a:pt x="0" y="1492"/>
                  </a:lnTo>
                  <a:lnTo>
                    <a:pt x="906" y="1492"/>
                  </a:lnTo>
                  <a:lnTo>
                    <a:pt x="1097" y="1052"/>
                  </a:lnTo>
                  <a:lnTo>
                    <a:pt x="64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6"/>
            <p:cNvSpPr/>
            <p:nvPr/>
          </p:nvSpPr>
          <p:spPr>
            <a:xfrm>
              <a:off x="5078413" y="3175"/>
              <a:ext cx="979488" cy="1117600"/>
            </a:xfrm>
            <a:custGeom>
              <a:rect b="b" l="l" r="r" t="t"/>
              <a:pathLst>
                <a:path extrusionOk="0" h="704" w="617">
                  <a:moveTo>
                    <a:pt x="0" y="0"/>
                  </a:moveTo>
                  <a:lnTo>
                    <a:pt x="311" y="704"/>
                  </a:lnTo>
                  <a:lnTo>
                    <a:pt x="617" y="0"/>
                  </a:lnTo>
                  <a:lnTo>
                    <a:pt x="0" y="0"/>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6"/>
            <p:cNvSpPr/>
            <p:nvPr/>
          </p:nvSpPr>
          <p:spPr>
            <a:xfrm>
              <a:off x="5078413" y="3175"/>
              <a:ext cx="979488" cy="1117600"/>
            </a:xfrm>
            <a:custGeom>
              <a:rect b="b" l="l" r="r" t="t"/>
              <a:pathLst>
                <a:path extrusionOk="0" h="704" w="617">
                  <a:moveTo>
                    <a:pt x="0" y="0"/>
                  </a:moveTo>
                  <a:lnTo>
                    <a:pt x="311" y="704"/>
                  </a:lnTo>
                  <a:lnTo>
                    <a:pt x="617" y="0"/>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6"/>
            <p:cNvSpPr/>
            <p:nvPr/>
          </p:nvSpPr>
          <p:spPr>
            <a:xfrm>
              <a:off x="5086033" y="3175"/>
              <a:ext cx="979488" cy="1117600"/>
            </a:xfrm>
            <a:custGeom>
              <a:rect b="b" l="l" r="r" t="t"/>
              <a:pathLst>
                <a:path extrusionOk="0" h="704" w="617">
                  <a:moveTo>
                    <a:pt x="617" y="0"/>
                  </a:moveTo>
                  <a:lnTo>
                    <a:pt x="0" y="0"/>
                  </a:lnTo>
                  <a:lnTo>
                    <a:pt x="311" y="704"/>
                  </a:lnTo>
                  <a:lnTo>
                    <a:pt x="617" y="0"/>
                  </a:lnTo>
                  <a:close/>
                </a:path>
              </a:pathLst>
            </a:custGeom>
            <a:solidFill>
              <a:srgbClr val="9B9B9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6"/>
            <p:cNvSpPr/>
            <p:nvPr/>
          </p:nvSpPr>
          <p:spPr>
            <a:xfrm>
              <a:off x="5078413" y="3175"/>
              <a:ext cx="979488" cy="1117600"/>
            </a:xfrm>
            <a:custGeom>
              <a:rect b="b" l="l" r="r" t="t"/>
              <a:pathLst>
                <a:path extrusionOk="0" h="704" w="617">
                  <a:moveTo>
                    <a:pt x="617" y="0"/>
                  </a:moveTo>
                  <a:lnTo>
                    <a:pt x="0" y="0"/>
                  </a:lnTo>
                  <a:lnTo>
                    <a:pt x="311" y="704"/>
                  </a:lnTo>
                  <a:lnTo>
                    <a:pt x="61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6"/>
            <p:cNvSpPr/>
            <p:nvPr/>
          </p:nvSpPr>
          <p:spPr>
            <a:xfrm>
              <a:off x="4131310" y="3175"/>
              <a:ext cx="1235075" cy="2838450"/>
            </a:xfrm>
            <a:custGeom>
              <a:rect b="b" l="l" r="r" t="t"/>
              <a:pathLst>
                <a:path extrusionOk="0" h="1788" w="778">
                  <a:moveTo>
                    <a:pt x="317" y="0"/>
                  </a:moveTo>
                  <a:lnTo>
                    <a:pt x="0" y="736"/>
                  </a:lnTo>
                  <a:lnTo>
                    <a:pt x="453" y="1788"/>
                  </a:lnTo>
                  <a:lnTo>
                    <a:pt x="778" y="1039"/>
                  </a:lnTo>
                  <a:lnTo>
                    <a:pt x="317"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6"/>
            <p:cNvSpPr/>
            <p:nvPr/>
          </p:nvSpPr>
          <p:spPr>
            <a:xfrm>
              <a:off x="4108450" y="3175"/>
              <a:ext cx="1235075" cy="2838450"/>
            </a:xfrm>
            <a:custGeom>
              <a:rect b="b" l="l" r="r" t="t"/>
              <a:pathLst>
                <a:path extrusionOk="0" h="1788" w="778">
                  <a:moveTo>
                    <a:pt x="317" y="0"/>
                  </a:moveTo>
                  <a:lnTo>
                    <a:pt x="0" y="736"/>
                  </a:lnTo>
                  <a:lnTo>
                    <a:pt x="453" y="1788"/>
                  </a:lnTo>
                  <a:lnTo>
                    <a:pt x="778" y="1039"/>
                  </a:lnTo>
                  <a:lnTo>
                    <a:pt x="31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6"/>
            <p:cNvSpPr/>
            <p:nvPr/>
          </p:nvSpPr>
          <p:spPr>
            <a:xfrm>
              <a:off x="3635693" y="3175"/>
              <a:ext cx="1006475" cy="1168400"/>
            </a:xfrm>
            <a:custGeom>
              <a:rect b="b" l="l" r="r" t="t"/>
              <a:pathLst>
                <a:path extrusionOk="0" h="736" w="634">
                  <a:moveTo>
                    <a:pt x="634" y="0"/>
                  </a:moveTo>
                  <a:lnTo>
                    <a:pt x="0" y="0"/>
                  </a:lnTo>
                  <a:lnTo>
                    <a:pt x="317" y="736"/>
                  </a:lnTo>
                  <a:lnTo>
                    <a:pt x="634" y="0"/>
                  </a:lnTo>
                  <a:close/>
                </a:path>
              </a:pathLst>
            </a:custGeom>
            <a:solidFill>
              <a:srgbClr val="909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6"/>
            <p:cNvSpPr/>
            <p:nvPr/>
          </p:nvSpPr>
          <p:spPr>
            <a:xfrm>
              <a:off x="3605213" y="3175"/>
              <a:ext cx="1006475" cy="1168400"/>
            </a:xfrm>
            <a:custGeom>
              <a:rect b="b" l="l" r="r" t="t"/>
              <a:pathLst>
                <a:path extrusionOk="0" h="736" w="634">
                  <a:moveTo>
                    <a:pt x="634" y="0"/>
                  </a:moveTo>
                  <a:lnTo>
                    <a:pt x="0" y="0"/>
                  </a:lnTo>
                  <a:lnTo>
                    <a:pt x="317" y="736"/>
                  </a:lnTo>
                  <a:lnTo>
                    <a:pt x="63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6"/>
            <p:cNvSpPr/>
            <p:nvPr/>
          </p:nvSpPr>
          <p:spPr>
            <a:xfrm>
              <a:off x="2157413" y="3175"/>
              <a:ext cx="1989138" cy="3536950"/>
            </a:xfrm>
            <a:custGeom>
              <a:rect b="b" l="l" r="r" t="t"/>
              <a:pathLst>
                <a:path extrusionOk="0" h="2228" w="1253">
                  <a:moveTo>
                    <a:pt x="936" y="0"/>
                  </a:moveTo>
                  <a:lnTo>
                    <a:pt x="936" y="0"/>
                  </a:lnTo>
                  <a:lnTo>
                    <a:pt x="0" y="2228"/>
                  </a:lnTo>
                  <a:lnTo>
                    <a:pt x="609" y="2228"/>
                  </a:lnTo>
                  <a:lnTo>
                    <a:pt x="1253" y="736"/>
                  </a:lnTo>
                  <a:lnTo>
                    <a:pt x="936"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6"/>
            <p:cNvSpPr/>
            <p:nvPr/>
          </p:nvSpPr>
          <p:spPr>
            <a:xfrm>
              <a:off x="2119313" y="3175"/>
              <a:ext cx="1989138" cy="3536950"/>
            </a:xfrm>
            <a:custGeom>
              <a:rect b="b" l="l" r="r" t="t"/>
              <a:pathLst>
                <a:path extrusionOk="0" h="2228" w="1253">
                  <a:moveTo>
                    <a:pt x="936" y="0"/>
                  </a:moveTo>
                  <a:lnTo>
                    <a:pt x="936" y="0"/>
                  </a:lnTo>
                  <a:lnTo>
                    <a:pt x="0" y="2228"/>
                  </a:lnTo>
                  <a:lnTo>
                    <a:pt x="609" y="2228"/>
                  </a:lnTo>
                  <a:lnTo>
                    <a:pt x="1253" y="736"/>
                  </a:lnTo>
                  <a:lnTo>
                    <a:pt x="936"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6"/>
            <p:cNvSpPr/>
            <p:nvPr/>
          </p:nvSpPr>
          <p:spPr>
            <a:xfrm>
              <a:off x="312420" y="3175"/>
              <a:ext cx="3338513" cy="3536950"/>
            </a:xfrm>
            <a:custGeom>
              <a:rect b="b" l="l" r="r" t="t"/>
              <a:pathLst>
                <a:path extrusionOk="0" h="2228" w="2103">
                  <a:moveTo>
                    <a:pt x="2103" y="0"/>
                  </a:moveTo>
                  <a:lnTo>
                    <a:pt x="940" y="0"/>
                  </a:lnTo>
                  <a:lnTo>
                    <a:pt x="0" y="2228"/>
                  </a:lnTo>
                  <a:lnTo>
                    <a:pt x="1167" y="2228"/>
                  </a:lnTo>
                  <a:lnTo>
                    <a:pt x="2103"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 name="Google Shape;115;p6"/>
            <p:cNvSpPr/>
            <p:nvPr/>
          </p:nvSpPr>
          <p:spPr>
            <a:xfrm>
              <a:off x="266700" y="3175"/>
              <a:ext cx="3338513" cy="3536950"/>
            </a:xfrm>
            <a:custGeom>
              <a:rect b="b" l="l" r="r" t="t"/>
              <a:pathLst>
                <a:path extrusionOk="0" h="2228" w="2103">
                  <a:moveTo>
                    <a:pt x="2103" y="0"/>
                  </a:moveTo>
                  <a:lnTo>
                    <a:pt x="940" y="0"/>
                  </a:lnTo>
                  <a:lnTo>
                    <a:pt x="0" y="2228"/>
                  </a:lnTo>
                  <a:lnTo>
                    <a:pt x="1167" y="2228"/>
                  </a:lnTo>
                  <a:lnTo>
                    <a:pt x="210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6" name="Google Shape;116;p6"/>
          <p:cNvSpPr/>
          <p:nvPr/>
        </p:nvSpPr>
        <p:spPr>
          <a:xfrm>
            <a:off x="-4" y="-1"/>
            <a:ext cx="9906004" cy="34956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 name="Google Shape;117;p6"/>
          <p:cNvSpPr/>
          <p:nvPr/>
        </p:nvSpPr>
        <p:spPr>
          <a:xfrm>
            <a:off x="5205921" y="3165"/>
            <a:ext cx="4700079" cy="3495684"/>
          </a:xfrm>
          <a:custGeom>
            <a:rect b="b" l="l" r="r" t="t"/>
            <a:pathLst>
              <a:path extrusionOk="0" h="2208" w="2964">
                <a:moveTo>
                  <a:pt x="2964" y="2208"/>
                </a:moveTo>
                <a:lnTo>
                  <a:pt x="980" y="2208"/>
                </a:lnTo>
                <a:lnTo>
                  <a:pt x="0" y="0"/>
                </a:lnTo>
                <a:lnTo>
                  <a:pt x="2964" y="0"/>
                </a:lnTo>
                <a:lnTo>
                  <a:pt x="2964" y="2208"/>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 name="Google Shape;118;p6"/>
          <p:cNvSpPr/>
          <p:nvPr/>
        </p:nvSpPr>
        <p:spPr>
          <a:xfrm>
            <a:off x="4947448" y="1622769"/>
            <a:ext cx="1344692" cy="1876081"/>
          </a:xfrm>
          <a:custGeom>
            <a:rect b="b" l="l" r="r" t="t"/>
            <a:pathLst>
              <a:path extrusionOk="0" h="1185" w="848">
                <a:moveTo>
                  <a:pt x="321" y="0"/>
                </a:moveTo>
                <a:lnTo>
                  <a:pt x="0" y="746"/>
                </a:lnTo>
                <a:lnTo>
                  <a:pt x="189" y="1185"/>
                </a:lnTo>
                <a:lnTo>
                  <a:pt x="848" y="1185"/>
                </a:lnTo>
                <a:lnTo>
                  <a:pt x="321"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 name="Google Shape;119;p6"/>
          <p:cNvSpPr/>
          <p:nvPr/>
        </p:nvSpPr>
        <p:spPr>
          <a:xfrm>
            <a:off x="-3175" y="3165"/>
            <a:ext cx="6160529" cy="3495684"/>
          </a:xfrm>
          <a:custGeom>
            <a:rect b="b" l="l" r="r" t="t"/>
            <a:pathLst>
              <a:path extrusionOk="0" h="2208" w="3885">
                <a:moveTo>
                  <a:pt x="2327" y="0"/>
                </a:moveTo>
                <a:lnTo>
                  <a:pt x="0" y="0"/>
                </a:lnTo>
                <a:lnTo>
                  <a:pt x="0" y="2208"/>
                </a:lnTo>
                <a:lnTo>
                  <a:pt x="2932" y="2208"/>
                </a:lnTo>
                <a:lnTo>
                  <a:pt x="3122" y="1769"/>
                </a:lnTo>
                <a:lnTo>
                  <a:pt x="2669" y="721"/>
                </a:lnTo>
                <a:lnTo>
                  <a:pt x="2027" y="2208"/>
                </a:lnTo>
                <a:lnTo>
                  <a:pt x="1400" y="2208"/>
                </a:lnTo>
                <a:lnTo>
                  <a:pt x="2327" y="0"/>
                </a:lnTo>
                <a:moveTo>
                  <a:pt x="3885" y="0"/>
                </a:moveTo>
                <a:lnTo>
                  <a:pt x="2981" y="0"/>
                </a:lnTo>
                <a:lnTo>
                  <a:pt x="2988" y="0"/>
                </a:lnTo>
                <a:lnTo>
                  <a:pt x="3443" y="1023"/>
                </a:lnTo>
                <a:lnTo>
                  <a:pt x="3589" y="686"/>
                </a:lnTo>
                <a:lnTo>
                  <a:pt x="3285" y="0"/>
                </a:lnTo>
                <a:lnTo>
                  <a:pt x="3885"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6"/>
          <p:cNvSpPr/>
          <p:nvPr/>
        </p:nvSpPr>
        <p:spPr>
          <a:xfrm>
            <a:off x="5205921" y="3165"/>
            <a:ext cx="951433" cy="1086068"/>
          </a:xfrm>
          <a:custGeom>
            <a:rect b="b" l="l" r="r" t="t"/>
            <a:pathLst>
              <a:path extrusionOk="0" h="686" w="600">
                <a:moveTo>
                  <a:pt x="600" y="0"/>
                </a:moveTo>
                <a:lnTo>
                  <a:pt x="0" y="0"/>
                </a:lnTo>
                <a:lnTo>
                  <a:pt x="304" y="686"/>
                </a:lnTo>
                <a:lnTo>
                  <a:pt x="60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 name="Google Shape;121;p6"/>
          <p:cNvSpPr/>
          <p:nvPr/>
        </p:nvSpPr>
        <p:spPr>
          <a:xfrm>
            <a:off x="4229117" y="3165"/>
            <a:ext cx="1227349" cy="2800664"/>
          </a:xfrm>
          <a:custGeom>
            <a:rect b="b" l="l" r="r" t="t"/>
            <a:pathLst>
              <a:path extrusionOk="0" h="1769" w="774">
                <a:moveTo>
                  <a:pt x="319" y="0"/>
                </a:moveTo>
                <a:lnTo>
                  <a:pt x="312" y="0"/>
                </a:lnTo>
                <a:lnTo>
                  <a:pt x="0" y="721"/>
                </a:lnTo>
                <a:lnTo>
                  <a:pt x="453" y="1769"/>
                </a:lnTo>
                <a:lnTo>
                  <a:pt x="774" y="1023"/>
                </a:lnTo>
                <a:lnTo>
                  <a:pt x="319"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6"/>
          <p:cNvSpPr/>
          <p:nvPr/>
        </p:nvSpPr>
        <p:spPr>
          <a:xfrm>
            <a:off x="2216835" y="3165"/>
            <a:ext cx="2507026" cy="3495684"/>
          </a:xfrm>
          <a:custGeom>
            <a:rect b="b" l="l" r="r" t="t"/>
            <a:pathLst>
              <a:path extrusionOk="0" h="2208" w="1581">
                <a:moveTo>
                  <a:pt x="1581" y="0"/>
                </a:moveTo>
                <a:lnTo>
                  <a:pt x="927" y="0"/>
                </a:lnTo>
                <a:lnTo>
                  <a:pt x="0" y="2208"/>
                </a:lnTo>
                <a:lnTo>
                  <a:pt x="627" y="2208"/>
                </a:lnTo>
                <a:lnTo>
                  <a:pt x="1269" y="721"/>
                </a:lnTo>
                <a:lnTo>
                  <a:pt x="957" y="0"/>
                </a:lnTo>
                <a:lnTo>
                  <a:pt x="1581"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6"/>
          <p:cNvSpPr/>
          <p:nvPr/>
        </p:nvSpPr>
        <p:spPr>
          <a:xfrm>
            <a:off x="3734371" y="3165"/>
            <a:ext cx="989490" cy="1141481"/>
          </a:xfrm>
          <a:custGeom>
            <a:rect b="b" l="l" r="r" t="t"/>
            <a:pathLst>
              <a:path extrusionOk="0" h="721" w="624">
                <a:moveTo>
                  <a:pt x="624" y="0"/>
                </a:moveTo>
                <a:lnTo>
                  <a:pt x="0" y="0"/>
                </a:lnTo>
                <a:lnTo>
                  <a:pt x="312" y="721"/>
                </a:lnTo>
                <a:lnTo>
                  <a:pt x="62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6"/>
          <p:cNvSpPr txBox="1"/>
          <p:nvPr>
            <p:ph idx="1" type="body"/>
          </p:nvPr>
        </p:nvSpPr>
        <p:spPr>
          <a:xfrm>
            <a:off x="266400" y="3600000"/>
            <a:ext cx="7821613" cy="860400"/>
          </a:xfrm>
          <a:prstGeom prst="rect">
            <a:avLst/>
          </a:prstGeom>
          <a:noFill/>
          <a:ln>
            <a:noFill/>
          </a:ln>
        </p:spPr>
        <p:txBody>
          <a:bodyPr anchorCtr="0" anchor="b" bIns="0" lIns="0" spcFirstLastPara="1" rIns="0" wrap="square" tIns="0">
            <a:noAutofit/>
          </a:bodyPr>
          <a:lstStyle>
            <a:lvl1pPr indent="-228600" lvl="0" marL="457200" marR="0" rtl="0" algn="l">
              <a:lnSpc>
                <a:spcPct val="100000"/>
              </a:lnSpc>
              <a:spcBef>
                <a:spcPts val="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125" name="Google Shape;125;p6"/>
          <p:cNvSpPr txBox="1"/>
          <p:nvPr>
            <p:ph type="title"/>
          </p:nvPr>
        </p:nvSpPr>
        <p:spPr>
          <a:xfrm>
            <a:off x="266400" y="4608000"/>
            <a:ext cx="7821613" cy="507600"/>
          </a:xfrm>
          <a:prstGeom prst="rect">
            <a:avLst/>
          </a:prstGeom>
          <a:noFill/>
          <a:ln>
            <a:noFill/>
          </a:ln>
        </p:spPr>
        <p:txBody>
          <a:bodyPr anchorCtr="0" anchor="t" bIns="0" lIns="0" spcFirstLastPara="1" rIns="0" wrap="square" tIns="7200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pic>
        <p:nvPicPr>
          <p:cNvPr descr="NOMURA_A4_PMS_1797.emf" id="126" name="Google Shape;126;p6"/>
          <p:cNvPicPr preferRelativeResize="0"/>
          <p:nvPr/>
        </p:nvPicPr>
        <p:blipFill rotWithShape="1">
          <a:blip r:embed="rId2">
            <a:alphaModFix/>
          </a:blip>
          <a:srcRect b="0" l="0" r="0" t="0"/>
          <a:stretch/>
        </p:blipFill>
        <p:spPr>
          <a:xfrm>
            <a:off x="8355804" y="306904"/>
            <a:ext cx="1260000" cy="22280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p_Nomura Standard Cover" showMasterSp="0">
  <p:cSld name="jp_Nomura Standard Cover">
    <p:spTree>
      <p:nvGrpSpPr>
        <p:cNvPr id="127" name="Shape 127"/>
        <p:cNvGrpSpPr/>
        <p:nvPr/>
      </p:nvGrpSpPr>
      <p:grpSpPr>
        <a:xfrm>
          <a:off x="0" y="0"/>
          <a:ext cx="0" cy="0"/>
          <a:chOff x="0" y="0"/>
          <a:chExt cx="0" cy="0"/>
        </a:xfrm>
      </p:grpSpPr>
      <p:grpSp>
        <p:nvGrpSpPr>
          <p:cNvPr id="128" name="Google Shape;128;p7"/>
          <p:cNvGrpSpPr/>
          <p:nvPr/>
        </p:nvGrpSpPr>
        <p:grpSpPr>
          <a:xfrm>
            <a:off x="272750" y="-10800"/>
            <a:ext cx="9633285" cy="2528888"/>
            <a:chOff x="272750" y="-15875"/>
            <a:chExt cx="9633285" cy="2528888"/>
          </a:xfrm>
        </p:grpSpPr>
        <p:sp>
          <p:nvSpPr>
            <p:cNvPr id="129" name="Google Shape;129;p7"/>
            <p:cNvSpPr/>
            <p:nvPr/>
          </p:nvSpPr>
          <p:spPr>
            <a:xfrm>
              <a:off x="294975" y="-15875"/>
              <a:ext cx="9563100" cy="25098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7"/>
            <p:cNvSpPr/>
            <p:nvPr/>
          </p:nvSpPr>
          <p:spPr>
            <a:xfrm>
              <a:off x="294975" y="-12700"/>
              <a:ext cx="2370138" cy="2509838"/>
            </a:xfrm>
            <a:custGeom>
              <a:rect b="b" l="l" r="r" t="t"/>
              <a:pathLst>
                <a:path extrusionOk="0" h="1581" w="1493">
                  <a:moveTo>
                    <a:pt x="1493" y="0"/>
                  </a:moveTo>
                  <a:lnTo>
                    <a:pt x="663" y="0"/>
                  </a:lnTo>
                  <a:lnTo>
                    <a:pt x="0" y="1581"/>
                  </a:lnTo>
                  <a:lnTo>
                    <a:pt x="832" y="1581"/>
                  </a:lnTo>
                  <a:lnTo>
                    <a:pt x="149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7"/>
            <p:cNvSpPr/>
            <p:nvPr/>
          </p:nvSpPr>
          <p:spPr>
            <a:xfrm>
              <a:off x="3997025" y="-3175"/>
              <a:ext cx="5909010" cy="2516188"/>
            </a:xfrm>
            <a:custGeom>
              <a:rect b="b" l="l" r="r" t="t"/>
              <a:pathLst>
                <a:path extrusionOk="0" h="10000" w="10328">
                  <a:moveTo>
                    <a:pt x="0" y="3129"/>
                  </a:moveTo>
                  <a:lnTo>
                    <a:pt x="1340" y="10000"/>
                  </a:lnTo>
                  <a:lnTo>
                    <a:pt x="10328" y="10000"/>
                  </a:lnTo>
                  <a:lnTo>
                    <a:pt x="10328" y="0"/>
                  </a:lnTo>
                  <a:lnTo>
                    <a:pt x="594" y="0"/>
                  </a:lnTo>
                  <a:lnTo>
                    <a:pt x="0" y="3129"/>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7"/>
            <p:cNvSpPr/>
            <p:nvPr/>
          </p:nvSpPr>
          <p:spPr>
            <a:xfrm>
              <a:off x="3481088" y="1169988"/>
              <a:ext cx="963613" cy="1343025"/>
            </a:xfrm>
            <a:custGeom>
              <a:rect b="b" l="l" r="r" t="t"/>
              <a:pathLst>
                <a:path extrusionOk="0" h="846" w="607">
                  <a:moveTo>
                    <a:pt x="135" y="846"/>
                  </a:moveTo>
                  <a:lnTo>
                    <a:pt x="607" y="846"/>
                  </a:lnTo>
                  <a:lnTo>
                    <a:pt x="230" y="0"/>
                  </a:lnTo>
                  <a:lnTo>
                    <a:pt x="0" y="532"/>
                  </a:lnTo>
                  <a:lnTo>
                    <a:pt x="135" y="846"/>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7"/>
            <p:cNvSpPr/>
            <p:nvPr/>
          </p:nvSpPr>
          <p:spPr>
            <a:xfrm>
              <a:off x="2261888" y="827088"/>
              <a:ext cx="1241425" cy="1685925"/>
            </a:xfrm>
            <a:custGeom>
              <a:rect b="b" l="l" r="r" t="t"/>
              <a:pathLst>
                <a:path extrusionOk="0" h="1062" w="782">
                  <a:moveTo>
                    <a:pt x="0" y="1062"/>
                  </a:moveTo>
                  <a:lnTo>
                    <a:pt x="647" y="1062"/>
                  </a:lnTo>
                  <a:lnTo>
                    <a:pt x="782" y="748"/>
                  </a:lnTo>
                  <a:lnTo>
                    <a:pt x="459" y="0"/>
                  </a:lnTo>
                  <a:lnTo>
                    <a:pt x="0" y="1062"/>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7"/>
            <p:cNvSpPr/>
            <p:nvPr/>
          </p:nvSpPr>
          <p:spPr>
            <a:xfrm>
              <a:off x="3330275" y="-3175"/>
              <a:ext cx="685800" cy="1173163"/>
            </a:xfrm>
            <a:custGeom>
              <a:rect b="b" l="l" r="r" t="t"/>
              <a:pathLst>
                <a:path extrusionOk="0" h="739" w="432">
                  <a:moveTo>
                    <a:pt x="0" y="0"/>
                  </a:moveTo>
                  <a:lnTo>
                    <a:pt x="0" y="0"/>
                  </a:lnTo>
                  <a:lnTo>
                    <a:pt x="327" y="739"/>
                  </a:lnTo>
                  <a:lnTo>
                    <a:pt x="432" y="496"/>
                  </a:lnTo>
                  <a:lnTo>
                    <a:pt x="210" y="0"/>
                  </a:lnTo>
                  <a:lnTo>
                    <a:pt x="0"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 name="Google Shape;135;p7"/>
            <p:cNvSpPr/>
            <p:nvPr/>
          </p:nvSpPr>
          <p:spPr>
            <a:xfrm>
              <a:off x="3654125" y="-3175"/>
              <a:ext cx="692150" cy="787400"/>
            </a:xfrm>
            <a:custGeom>
              <a:rect b="b" l="l" r="r" t="t"/>
              <a:pathLst>
                <a:path extrusionOk="0" h="496" w="436">
                  <a:moveTo>
                    <a:pt x="0" y="0"/>
                  </a:moveTo>
                  <a:lnTo>
                    <a:pt x="222" y="496"/>
                  </a:lnTo>
                  <a:lnTo>
                    <a:pt x="436" y="0"/>
                  </a:lnTo>
                  <a:lnTo>
                    <a:pt x="0" y="0"/>
                  </a:lnTo>
                  <a:close/>
                </a:path>
              </a:pathLst>
            </a:custGeom>
            <a:solidFill>
              <a:srgbClr val="A618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7"/>
            <p:cNvSpPr/>
            <p:nvPr/>
          </p:nvSpPr>
          <p:spPr>
            <a:xfrm>
              <a:off x="2981025" y="-3175"/>
              <a:ext cx="877888" cy="2017713"/>
            </a:xfrm>
            <a:custGeom>
              <a:rect b="b" l="l" r="r" t="t"/>
              <a:pathLst>
                <a:path extrusionOk="0" h="1271" w="553">
                  <a:moveTo>
                    <a:pt x="0" y="523"/>
                  </a:moveTo>
                  <a:lnTo>
                    <a:pt x="323" y="1271"/>
                  </a:lnTo>
                  <a:lnTo>
                    <a:pt x="553" y="739"/>
                  </a:lnTo>
                  <a:lnTo>
                    <a:pt x="226" y="0"/>
                  </a:lnTo>
                  <a:lnTo>
                    <a:pt x="0" y="523"/>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7"/>
            <p:cNvSpPr/>
            <p:nvPr/>
          </p:nvSpPr>
          <p:spPr>
            <a:xfrm>
              <a:off x="2631775" y="-3175"/>
              <a:ext cx="717550" cy="830263"/>
            </a:xfrm>
            <a:custGeom>
              <a:rect b="b" l="l" r="r" t="t"/>
              <a:pathLst>
                <a:path extrusionOk="0" h="523" w="452">
                  <a:moveTo>
                    <a:pt x="452" y="0"/>
                  </a:moveTo>
                  <a:lnTo>
                    <a:pt x="452" y="0"/>
                  </a:lnTo>
                  <a:lnTo>
                    <a:pt x="0" y="0"/>
                  </a:lnTo>
                  <a:lnTo>
                    <a:pt x="226" y="523"/>
                  </a:lnTo>
                  <a:lnTo>
                    <a:pt x="447" y="7"/>
                  </a:lnTo>
                  <a:lnTo>
                    <a:pt x="452" y="0"/>
                  </a:lnTo>
                  <a:close/>
                </a:path>
              </a:pathLst>
            </a:custGeom>
            <a:solidFill>
              <a:srgbClr val="A2171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 name="Google Shape;138;p7"/>
            <p:cNvSpPr/>
            <p:nvPr/>
          </p:nvSpPr>
          <p:spPr>
            <a:xfrm>
              <a:off x="1585613" y="-3175"/>
              <a:ext cx="1414463" cy="2516188"/>
            </a:xfrm>
            <a:custGeom>
              <a:rect b="b" l="l" r="r" t="t"/>
              <a:pathLst>
                <a:path extrusionOk="0" h="1585" w="891">
                  <a:moveTo>
                    <a:pt x="667" y="7"/>
                  </a:moveTo>
                  <a:lnTo>
                    <a:pt x="665" y="0"/>
                  </a:lnTo>
                  <a:lnTo>
                    <a:pt x="0" y="1585"/>
                  </a:lnTo>
                  <a:lnTo>
                    <a:pt x="432" y="1585"/>
                  </a:lnTo>
                  <a:lnTo>
                    <a:pt x="891" y="523"/>
                  </a:lnTo>
                  <a:lnTo>
                    <a:pt x="667" y="7"/>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7"/>
            <p:cNvSpPr/>
            <p:nvPr/>
          </p:nvSpPr>
          <p:spPr>
            <a:xfrm>
              <a:off x="272750" y="-3175"/>
              <a:ext cx="2381250" cy="2516188"/>
            </a:xfrm>
            <a:custGeom>
              <a:rect b="b" l="l" r="r" t="t"/>
              <a:pathLst>
                <a:path extrusionOk="0" h="1585" w="1500">
                  <a:moveTo>
                    <a:pt x="667" y="0"/>
                  </a:moveTo>
                  <a:lnTo>
                    <a:pt x="0" y="1585"/>
                  </a:lnTo>
                  <a:lnTo>
                    <a:pt x="833" y="1585"/>
                  </a:lnTo>
                  <a:lnTo>
                    <a:pt x="1500" y="0"/>
                  </a:lnTo>
                  <a:lnTo>
                    <a:pt x="667"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40" name="Google Shape;140;p7"/>
          <p:cNvGrpSpPr/>
          <p:nvPr/>
        </p:nvGrpSpPr>
        <p:grpSpPr>
          <a:xfrm>
            <a:off x="7786024" y="310690"/>
            <a:ext cx="1839368" cy="386336"/>
            <a:chOff x="7740649" y="378000"/>
            <a:chExt cx="1839368" cy="386336"/>
          </a:xfrm>
        </p:grpSpPr>
        <p:pic>
          <p:nvPicPr>
            <p:cNvPr descr="O:\Logo_Library\N\NOMURA\A4\NOMURA_A4_CMYK_WHITE.emf" id="141" name="Google Shape;141;p7"/>
            <p:cNvPicPr preferRelativeResize="0"/>
            <p:nvPr/>
          </p:nvPicPr>
          <p:blipFill rotWithShape="1">
            <a:blip r:embed="rId2">
              <a:alphaModFix/>
            </a:blip>
            <a:srcRect b="0" l="0" r="0" t="0"/>
            <a:stretch/>
          </p:blipFill>
          <p:spPr>
            <a:xfrm>
              <a:off x="8319877" y="378000"/>
              <a:ext cx="1260140" cy="216024"/>
            </a:xfrm>
            <a:prstGeom prst="rect">
              <a:avLst/>
            </a:prstGeom>
            <a:noFill/>
            <a:ln>
              <a:noFill/>
            </a:ln>
          </p:spPr>
        </p:pic>
        <p:sp>
          <p:nvSpPr>
            <p:cNvPr id="142" name="Google Shape;142;p7"/>
            <p:cNvSpPr txBox="1"/>
            <p:nvPr/>
          </p:nvSpPr>
          <p:spPr>
            <a:xfrm>
              <a:off x="7740649" y="625837"/>
              <a:ext cx="1809115" cy="138499"/>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1" lang="ja-JP" sz="900">
                  <a:solidFill>
                    <a:schemeClr val="lt1"/>
                  </a:solidFill>
                  <a:latin typeface="Arial"/>
                  <a:ea typeface="Arial"/>
                  <a:cs typeface="Arial"/>
                  <a:sym typeface="Arial"/>
                </a:rPr>
                <a:t>Connecting</a:t>
              </a:r>
              <a:r>
                <a:rPr i="1" lang="ja-JP" sz="900">
                  <a:solidFill>
                    <a:schemeClr val="lt1"/>
                  </a:solidFill>
                  <a:latin typeface="Arial"/>
                  <a:ea typeface="Arial"/>
                  <a:cs typeface="Arial"/>
                  <a:sym typeface="Arial"/>
                </a:rPr>
                <a:t> Markets East &amp; West</a:t>
              </a:r>
              <a:endParaRPr i="1" sz="900">
                <a:solidFill>
                  <a:schemeClr val="lt1"/>
                </a:solidFill>
                <a:latin typeface="Arial"/>
                <a:ea typeface="Arial"/>
                <a:cs typeface="Arial"/>
                <a:sym typeface="Arial"/>
              </a:endParaRPr>
            </a:p>
          </p:txBody>
        </p:sp>
      </p:grpSp>
      <p:sp>
        <p:nvSpPr>
          <p:cNvPr id="143" name="Google Shape;143;p7"/>
          <p:cNvSpPr txBox="1"/>
          <p:nvPr>
            <p:ph idx="1" type="body"/>
          </p:nvPr>
        </p:nvSpPr>
        <p:spPr>
          <a:xfrm>
            <a:off x="266400" y="6453336"/>
            <a:ext cx="3960440" cy="239907"/>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144" name="Google Shape;144;p7"/>
          <p:cNvSpPr txBox="1"/>
          <p:nvPr>
            <p:ph idx="2" type="body"/>
          </p:nvPr>
        </p:nvSpPr>
        <p:spPr>
          <a:xfrm>
            <a:off x="7164466" y="4869160"/>
            <a:ext cx="2448272" cy="1223417"/>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540"/>
              </a:spcBef>
              <a:spcAft>
                <a:spcPts val="0"/>
              </a:spcAft>
              <a:buSzPts val="1400"/>
              <a:buNone/>
              <a:defRPr b="0" i="0" sz="1200" u="none" cap="none" strike="noStrike">
                <a:solidFill>
                  <a:schemeClr val="dk1"/>
                </a:solidFill>
                <a:latin typeface="Arial"/>
                <a:ea typeface="Arial"/>
                <a:cs typeface="Arial"/>
                <a:sym typeface="Arial"/>
              </a:defRPr>
            </a:lvl1pPr>
            <a:lvl2pPr indent="-281940" lvl="1" marL="914400" marR="0" rtl="0" algn="l">
              <a:spcBef>
                <a:spcPts val="54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145" name="Google Shape;145;p7"/>
          <p:cNvSpPr txBox="1"/>
          <p:nvPr>
            <p:ph idx="3" type="body"/>
          </p:nvPr>
        </p:nvSpPr>
        <p:spPr>
          <a:xfrm>
            <a:off x="266400" y="4869160"/>
            <a:ext cx="3960440" cy="79208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146" name="Google Shape;146;p7"/>
          <p:cNvSpPr txBox="1"/>
          <p:nvPr>
            <p:ph idx="4" type="body"/>
          </p:nvPr>
        </p:nvSpPr>
        <p:spPr>
          <a:xfrm>
            <a:off x="266400" y="5821288"/>
            <a:ext cx="3960440" cy="47200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147" name="Google Shape;147;p7"/>
          <p:cNvSpPr txBox="1"/>
          <p:nvPr>
            <p:ph idx="5" type="body"/>
          </p:nvPr>
        </p:nvSpPr>
        <p:spPr>
          <a:xfrm>
            <a:off x="273050" y="3935952"/>
            <a:ext cx="7200000" cy="507600"/>
          </a:xfrm>
          <a:prstGeom prst="rect">
            <a:avLst/>
          </a:prstGeom>
          <a:noFill/>
          <a:ln>
            <a:noFill/>
          </a:ln>
        </p:spPr>
        <p:txBody>
          <a:bodyPr anchorCtr="0" anchor="b" bIns="0" lIns="0" spcFirstLastPara="1" rIns="0" wrap="square" tIns="72000">
            <a:noAutofit/>
          </a:bodyPr>
          <a:lstStyle>
            <a:lvl1pPr indent="-228600" lvl="0" marL="457200" marR="0" rtl="0" algn="l">
              <a:lnSpc>
                <a:spcPct val="120000"/>
              </a:lnSpc>
              <a:spcBef>
                <a:spcPts val="0"/>
              </a:spcBef>
              <a:spcAft>
                <a:spcPts val="0"/>
              </a:spcAft>
              <a:buSzPts val="1400"/>
              <a:buNone/>
              <a:defRPr b="1" i="0" sz="18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148" name="Google Shape;148;p7"/>
          <p:cNvSpPr txBox="1"/>
          <p:nvPr>
            <p:ph type="title"/>
          </p:nvPr>
        </p:nvSpPr>
        <p:spPr>
          <a:xfrm>
            <a:off x="273050" y="3002400"/>
            <a:ext cx="7200000" cy="858952"/>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24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149" name="Google Shape;149;p7"/>
          <p:cNvSpPr txBox="1"/>
          <p:nvPr>
            <p:ph idx="6" type="body"/>
          </p:nvPr>
        </p:nvSpPr>
        <p:spPr>
          <a:xfrm>
            <a:off x="273050" y="2590800"/>
            <a:ext cx="7200000" cy="3048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990"/>
              </a:spcBef>
              <a:spcAft>
                <a:spcPts val="0"/>
              </a:spcAft>
              <a:buSzPts val="1400"/>
              <a:buNone/>
              <a:defRPr b="1" i="0" sz="2200" u="none" cap="none" strike="noStrike">
                <a:solidFill>
                  <a:schemeClr val="dk1"/>
                </a:solidFill>
                <a:latin typeface="Arial"/>
                <a:ea typeface="Arial"/>
                <a:cs typeface="Arial"/>
                <a:sym typeface="Arial"/>
              </a:defRPr>
            </a:lvl1pPr>
            <a:lvl2pPr indent="-281940" lvl="1" marL="914400" marR="0" rtl="0" algn="l">
              <a:spcBef>
                <a:spcPts val="99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grpSp>
        <p:nvGrpSpPr>
          <p:cNvPr id="150" name="Google Shape;150;p7"/>
          <p:cNvGrpSpPr/>
          <p:nvPr/>
        </p:nvGrpSpPr>
        <p:grpSpPr>
          <a:xfrm>
            <a:off x="8091510" y="6507956"/>
            <a:ext cx="1517201" cy="178851"/>
            <a:chOff x="3884613" y="4575175"/>
            <a:chExt cx="1589087" cy="187325"/>
          </a:xfrm>
        </p:grpSpPr>
        <p:sp>
          <p:nvSpPr>
            <p:cNvPr id="151" name="Google Shape;151;p7"/>
            <p:cNvSpPr/>
            <p:nvPr/>
          </p:nvSpPr>
          <p:spPr>
            <a:xfrm>
              <a:off x="4991100" y="4578350"/>
              <a:ext cx="87312" cy="184150"/>
            </a:xfrm>
            <a:custGeom>
              <a:rect b="b" l="l" r="r" t="t"/>
              <a:pathLst>
                <a:path extrusionOk="0" h="116" w="55">
                  <a:moveTo>
                    <a:pt x="52" y="102"/>
                  </a:moveTo>
                  <a:lnTo>
                    <a:pt x="52" y="102"/>
                  </a:lnTo>
                  <a:lnTo>
                    <a:pt x="54" y="106"/>
                  </a:lnTo>
                  <a:lnTo>
                    <a:pt x="55" y="109"/>
                  </a:lnTo>
                  <a:lnTo>
                    <a:pt x="55" y="113"/>
                  </a:lnTo>
                  <a:lnTo>
                    <a:pt x="54" y="115"/>
                  </a:lnTo>
                  <a:lnTo>
                    <a:pt x="54" y="115"/>
                  </a:lnTo>
                  <a:lnTo>
                    <a:pt x="51" y="116"/>
                  </a:lnTo>
                  <a:lnTo>
                    <a:pt x="46" y="116"/>
                  </a:lnTo>
                  <a:lnTo>
                    <a:pt x="40" y="114"/>
                  </a:lnTo>
                  <a:lnTo>
                    <a:pt x="35" y="112"/>
                  </a:lnTo>
                  <a:lnTo>
                    <a:pt x="35" y="112"/>
                  </a:lnTo>
                  <a:lnTo>
                    <a:pt x="32" y="108"/>
                  </a:lnTo>
                  <a:lnTo>
                    <a:pt x="28" y="105"/>
                  </a:lnTo>
                  <a:lnTo>
                    <a:pt x="20" y="96"/>
                  </a:lnTo>
                  <a:lnTo>
                    <a:pt x="14" y="84"/>
                  </a:lnTo>
                  <a:lnTo>
                    <a:pt x="9" y="70"/>
                  </a:lnTo>
                  <a:lnTo>
                    <a:pt x="9" y="70"/>
                  </a:lnTo>
                  <a:lnTo>
                    <a:pt x="5" y="55"/>
                  </a:lnTo>
                  <a:lnTo>
                    <a:pt x="2" y="39"/>
                  </a:lnTo>
                  <a:lnTo>
                    <a:pt x="1" y="21"/>
                  </a:lnTo>
                  <a:lnTo>
                    <a:pt x="0" y="0"/>
                  </a:lnTo>
                  <a:lnTo>
                    <a:pt x="21" y="6"/>
                  </a:lnTo>
                  <a:lnTo>
                    <a:pt x="19" y="9"/>
                  </a:lnTo>
                  <a:lnTo>
                    <a:pt x="19" y="9"/>
                  </a:lnTo>
                  <a:lnTo>
                    <a:pt x="20" y="25"/>
                  </a:lnTo>
                  <a:lnTo>
                    <a:pt x="21" y="38"/>
                  </a:lnTo>
                  <a:lnTo>
                    <a:pt x="23" y="51"/>
                  </a:lnTo>
                  <a:lnTo>
                    <a:pt x="25" y="60"/>
                  </a:lnTo>
                  <a:lnTo>
                    <a:pt x="29" y="70"/>
                  </a:lnTo>
                  <a:lnTo>
                    <a:pt x="32" y="77"/>
                  </a:lnTo>
                  <a:lnTo>
                    <a:pt x="36" y="85"/>
                  </a:lnTo>
                  <a:lnTo>
                    <a:pt x="40" y="90"/>
                  </a:lnTo>
                  <a:lnTo>
                    <a:pt x="40" y="90"/>
                  </a:lnTo>
                  <a:lnTo>
                    <a:pt x="44" y="88"/>
                  </a:lnTo>
                  <a:lnTo>
                    <a:pt x="46" y="84"/>
                  </a:lnTo>
                  <a:lnTo>
                    <a:pt x="51" y="73"/>
                  </a:lnTo>
                  <a:lnTo>
                    <a:pt x="51" y="73"/>
                  </a:lnTo>
                  <a:lnTo>
                    <a:pt x="51" y="90"/>
                  </a:lnTo>
                  <a:lnTo>
                    <a:pt x="51" y="97"/>
                  </a:lnTo>
                  <a:lnTo>
                    <a:pt x="52" y="102"/>
                  </a:lnTo>
                  <a:lnTo>
                    <a:pt x="52" y="10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7"/>
            <p:cNvSpPr/>
            <p:nvPr/>
          </p:nvSpPr>
          <p:spPr>
            <a:xfrm>
              <a:off x="4518025" y="4581525"/>
              <a:ext cx="139700" cy="176213"/>
            </a:xfrm>
            <a:custGeom>
              <a:rect b="b" l="l" r="r" t="t"/>
              <a:pathLst>
                <a:path extrusionOk="0" h="111" w="88">
                  <a:moveTo>
                    <a:pt x="88" y="10"/>
                  </a:moveTo>
                  <a:lnTo>
                    <a:pt x="72" y="0"/>
                  </a:lnTo>
                  <a:lnTo>
                    <a:pt x="72" y="0"/>
                  </a:lnTo>
                  <a:lnTo>
                    <a:pt x="63" y="14"/>
                  </a:lnTo>
                  <a:lnTo>
                    <a:pt x="55" y="25"/>
                  </a:lnTo>
                  <a:lnTo>
                    <a:pt x="62" y="25"/>
                  </a:lnTo>
                  <a:lnTo>
                    <a:pt x="62" y="25"/>
                  </a:lnTo>
                  <a:lnTo>
                    <a:pt x="81" y="12"/>
                  </a:lnTo>
                  <a:lnTo>
                    <a:pt x="88" y="10"/>
                  </a:lnTo>
                  <a:close/>
                  <a:moveTo>
                    <a:pt x="46" y="67"/>
                  </a:moveTo>
                  <a:lnTo>
                    <a:pt x="59" y="67"/>
                  </a:lnTo>
                  <a:lnTo>
                    <a:pt x="64" y="62"/>
                  </a:lnTo>
                  <a:lnTo>
                    <a:pt x="75" y="72"/>
                  </a:lnTo>
                  <a:lnTo>
                    <a:pt x="72" y="96"/>
                  </a:lnTo>
                  <a:lnTo>
                    <a:pt x="72" y="96"/>
                  </a:lnTo>
                  <a:lnTo>
                    <a:pt x="69" y="101"/>
                  </a:lnTo>
                  <a:lnTo>
                    <a:pt x="65" y="105"/>
                  </a:lnTo>
                  <a:lnTo>
                    <a:pt x="61" y="110"/>
                  </a:lnTo>
                  <a:lnTo>
                    <a:pt x="58" y="110"/>
                  </a:lnTo>
                  <a:lnTo>
                    <a:pt x="55" y="111"/>
                  </a:lnTo>
                  <a:lnTo>
                    <a:pt x="50" y="111"/>
                  </a:lnTo>
                  <a:lnTo>
                    <a:pt x="50" y="109"/>
                  </a:lnTo>
                  <a:lnTo>
                    <a:pt x="50" y="109"/>
                  </a:lnTo>
                  <a:lnTo>
                    <a:pt x="49" y="105"/>
                  </a:lnTo>
                  <a:lnTo>
                    <a:pt x="48" y="102"/>
                  </a:lnTo>
                  <a:lnTo>
                    <a:pt x="48" y="101"/>
                  </a:lnTo>
                  <a:lnTo>
                    <a:pt x="48" y="101"/>
                  </a:lnTo>
                  <a:lnTo>
                    <a:pt x="48" y="101"/>
                  </a:lnTo>
                  <a:lnTo>
                    <a:pt x="44" y="95"/>
                  </a:lnTo>
                  <a:lnTo>
                    <a:pt x="52" y="95"/>
                  </a:lnTo>
                  <a:lnTo>
                    <a:pt x="52" y="95"/>
                  </a:lnTo>
                  <a:lnTo>
                    <a:pt x="55" y="94"/>
                  </a:lnTo>
                  <a:lnTo>
                    <a:pt x="56" y="92"/>
                  </a:lnTo>
                  <a:lnTo>
                    <a:pt x="57" y="91"/>
                  </a:lnTo>
                  <a:lnTo>
                    <a:pt x="58" y="89"/>
                  </a:lnTo>
                  <a:lnTo>
                    <a:pt x="60" y="76"/>
                  </a:lnTo>
                  <a:lnTo>
                    <a:pt x="60" y="75"/>
                  </a:lnTo>
                  <a:lnTo>
                    <a:pt x="59" y="75"/>
                  </a:lnTo>
                  <a:lnTo>
                    <a:pt x="42" y="75"/>
                  </a:lnTo>
                  <a:lnTo>
                    <a:pt x="41" y="75"/>
                  </a:lnTo>
                  <a:lnTo>
                    <a:pt x="41" y="76"/>
                  </a:lnTo>
                  <a:lnTo>
                    <a:pt x="41" y="76"/>
                  </a:lnTo>
                  <a:lnTo>
                    <a:pt x="39" y="83"/>
                  </a:lnTo>
                  <a:lnTo>
                    <a:pt x="34" y="89"/>
                  </a:lnTo>
                  <a:lnTo>
                    <a:pt x="30" y="96"/>
                  </a:lnTo>
                  <a:lnTo>
                    <a:pt x="25" y="101"/>
                  </a:lnTo>
                  <a:lnTo>
                    <a:pt x="25" y="101"/>
                  </a:lnTo>
                  <a:lnTo>
                    <a:pt x="19" y="104"/>
                  </a:lnTo>
                  <a:lnTo>
                    <a:pt x="13" y="106"/>
                  </a:lnTo>
                  <a:lnTo>
                    <a:pt x="7" y="109"/>
                  </a:lnTo>
                  <a:lnTo>
                    <a:pt x="0" y="110"/>
                  </a:lnTo>
                  <a:lnTo>
                    <a:pt x="0" y="110"/>
                  </a:lnTo>
                  <a:lnTo>
                    <a:pt x="8" y="104"/>
                  </a:lnTo>
                  <a:lnTo>
                    <a:pt x="13" y="99"/>
                  </a:lnTo>
                  <a:lnTo>
                    <a:pt x="13" y="99"/>
                  </a:lnTo>
                  <a:lnTo>
                    <a:pt x="17" y="95"/>
                  </a:lnTo>
                  <a:lnTo>
                    <a:pt x="20" y="89"/>
                  </a:lnTo>
                  <a:lnTo>
                    <a:pt x="24" y="83"/>
                  </a:lnTo>
                  <a:lnTo>
                    <a:pt x="26" y="76"/>
                  </a:lnTo>
                  <a:lnTo>
                    <a:pt x="26" y="75"/>
                  </a:lnTo>
                  <a:lnTo>
                    <a:pt x="25" y="75"/>
                  </a:lnTo>
                  <a:lnTo>
                    <a:pt x="17" y="75"/>
                  </a:lnTo>
                  <a:lnTo>
                    <a:pt x="14" y="67"/>
                  </a:lnTo>
                  <a:lnTo>
                    <a:pt x="46" y="6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7"/>
            <p:cNvSpPr/>
            <p:nvPr/>
          </p:nvSpPr>
          <p:spPr>
            <a:xfrm>
              <a:off x="3979863" y="4578350"/>
              <a:ext cx="90487" cy="115888"/>
            </a:xfrm>
            <a:custGeom>
              <a:rect b="b" l="l" r="r" t="t"/>
              <a:pathLst>
                <a:path extrusionOk="0" h="73" w="57">
                  <a:moveTo>
                    <a:pt x="24" y="29"/>
                  </a:moveTo>
                  <a:lnTo>
                    <a:pt x="24" y="29"/>
                  </a:lnTo>
                  <a:lnTo>
                    <a:pt x="38" y="21"/>
                  </a:lnTo>
                  <a:lnTo>
                    <a:pt x="53" y="10"/>
                  </a:lnTo>
                  <a:lnTo>
                    <a:pt x="40" y="0"/>
                  </a:lnTo>
                  <a:lnTo>
                    <a:pt x="34" y="5"/>
                  </a:lnTo>
                  <a:lnTo>
                    <a:pt x="0" y="5"/>
                  </a:lnTo>
                  <a:lnTo>
                    <a:pt x="2" y="13"/>
                  </a:lnTo>
                  <a:lnTo>
                    <a:pt x="32" y="13"/>
                  </a:lnTo>
                  <a:lnTo>
                    <a:pt x="32" y="13"/>
                  </a:lnTo>
                  <a:lnTo>
                    <a:pt x="27" y="20"/>
                  </a:lnTo>
                  <a:lnTo>
                    <a:pt x="21" y="26"/>
                  </a:lnTo>
                  <a:lnTo>
                    <a:pt x="24" y="29"/>
                  </a:lnTo>
                  <a:close/>
                  <a:moveTo>
                    <a:pt x="30" y="73"/>
                  </a:moveTo>
                  <a:lnTo>
                    <a:pt x="30" y="73"/>
                  </a:lnTo>
                  <a:lnTo>
                    <a:pt x="36" y="70"/>
                  </a:lnTo>
                  <a:lnTo>
                    <a:pt x="44" y="64"/>
                  </a:lnTo>
                  <a:lnTo>
                    <a:pt x="57" y="53"/>
                  </a:lnTo>
                  <a:lnTo>
                    <a:pt x="44" y="43"/>
                  </a:lnTo>
                  <a:lnTo>
                    <a:pt x="39" y="47"/>
                  </a:lnTo>
                  <a:lnTo>
                    <a:pt x="2" y="47"/>
                  </a:lnTo>
                  <a:lnTo>
                    <a:pt x="3" y="55"/>
                  </a:lnTo>
                  <a:lnTo>
                    <a:pt x="38" y="55"/>
                  </a:lnTo>
                  <a:lnTo>
                    <a:pt x="38" y="55"/>
                  </a:lnTo>
                  <a:lnTo>
                    <a:pt x="35" y="62"/>
                  </a:lnTo>
                  <a:lnTo>
                    <a:pt x="30" y="69"/>
                  </a:lnTo>
                  <a:lnTo>
                    <a:pt x="30"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7"/>
            <p:cNvSpPr/>
            <p:nvPr/>
          </p:nvSpPr>
          <p:spPr>
            <a:xfrm>
              <a:off x="4178300" y="4648200"/>
              <a:ext cx="30162" cy="50800"/>
            </a:xfrm>
            <a:custGeom>
              <a:rect b="b" l="l" r="r" t="t"/>
              <a:pathLst>
                <a:path extrusionOk="0" h="32" w="19">
                  <a:moveTo>
                    <a:pt x="3" y="19"/>
                  </a:moveTo>
                  <a:lnTo>
                    <a:pt x="3" y="19"/>
                  </a:lnTo>
                  <a:lnTo>
                    <a:pt x="4" y="26"/>
                  </a:lnTo>
                  <a:lnTo>
                    <a:pt x="6" y="30"/>
                  </a:lnTo>
                  <a:lnTo>
                    <a:pt x="6" y="30"/>
                  </a:lnTo>
                  <a:lnTo>
                    <a:pt x="8" y="31"/>
                  </a:lnTo>
                  <a:lnTo>
                    <a:pt x="11" y="32"/>
                  </a:lnTo>
                  <a:lnTo>
                    <a:pt x="11" y="32"/>
                  </a:lnTo>
                  <a:lnTo>
                    <a:pt x="15" y="31"/>
                  </a:lnTo>
                  <a:lnTo>
                    <a:pt x="17" y="29"/>
                  </a:lnTo>
                  <a:lnTo>
                    <a:pt x="18" y="26"/>
                  </a:lnTo>
                  <a:lnTo>
                    <a:pt x="19" y="22"/>
                  </a:lnTo>
                  <a:lnTo>
                    <a:pt x="19" y="22"/>
                  </a:lnTo>
                  <a:lnTo>
                    <a:pt x="18" y="18"/>
                  </a:lnTo>
                  <a:lnTo>
                    <a:pt x="17" y="15"/>
                  </a:lnTo>
                  <a:lnTo>
                    <a:pt x="13" y="9"/>
                  </a:lnTo>
                  <a:lnTo>
                    <a:pt x="7" y="3"/>
                  </a:lnTo>
                  <a:lnTo>
                    <a:pt x="0" y="0"/>
                  </a:lnTo>
                  <a:lnTo>
                    <a:pt x="0" y="0"/>
                  </a:lnTo>
                  <a:lnTo>
                    <a:pt x="2" y="6"/>
                  </a:lnTo>
                  <a:lnTo>
                    <a:pt x="3" y="11"/>
                  </a:lnTo>
                  <a:lnTo>
                    <a:pt x="3" y="19"/>
                  </a:lnTo>
                  <a:lnTo>
                    <a:pt x="3" y="1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 name="Google Shape;155;p7"/>
            <p:cNvSpPr/>
            <p:nvPr/>
          </p:nvSpPr>
          <p:spPr>
            <a:xfrm>
              <a:off x="4424363" y="4586288"/>
              <a:ext cx="36512" cy="20638"/>
            </a:xfrm>
            <a:custGeom>
              <a:rect b="b" l="l" r="r" t="t"/>
              <a:pathLst>
                <a:path extrusionOk="0" h="13" w="23">
                  <a:moveTo>
                    <a:pt x="4" y="13"/>
                  </a:moveTo>
                  <a:lnTo>
                    <a:pt x="4" y="13"/>
                  </a:lnTo>
                  <a:lnTo>
                    <a:pt x="13" y="11"/>
                  </a:lnTo>
                  <a:lnTo>
                    <a:pt x="23" y="8"/>
                  </a:lnTo>
                  <a:lnTo>
                    <a:pt x="16" y="0"/>
                  </a:lnTo>
                  <a:lnTo>
                    <a:pt x="16" y="0"/>
                  </a:lnTo>
                  <a:lnTo>
                    <a:pt x="10" y="6"/>
                  </a:lnTo>
                  <a:lnTo>
                    <a:pt x="0" y="12"/>
                  </a:lnTo>
                  <a:lnTo>
                    <a:pt x="4"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 name="Google Shape;156;p7"/>
            <p:cNvSpPr/>
            <p:nvPr/>
          </p:nvSpPr>
          <p:spPr>
            <a:xfrm>
              <a:off x="4440238" y="4598988"/>
              <a:ext cx="34925" cy="19050"/>
            </a:xfrm>
            <a:custGeom>
              <a:rect b="b" l="l" r="r" t="t"/>
              <a:pathLst>
                <a:path extrusionOk="0" h="12" w="22">
                  <a:moveTo>
                    <a:pt x="5" y="12"/>
                  </a:moveTo>
                  <a:lnTo>
                    <a:pt x="5" y="12"/>
                  </a:lnTo>
                  <a:lnTo>
                    <a:pt x="22" y="8"/>
                  </a:lnTo>
                  <a:lnTo>
                    <a:pt x="15" y="0"/>
                  </a:lnTo>
                  <a:lnTo>
                    <a:pt x="15" y="0"/>
                  </a:lnTo>
                  <a:lnTo>
                    <a:pt x="12" y="3"/>
                  </a:lnTo>
                  <a:lnTo>
                    <a:pt x="8" y="7"/>
                  </a:lnTo>
                  <a:lnTo>
                    <a:pt x="0" y="12"/>
                  </a:lnTo>
                  <a:lnTo>
                    <a:pt x="5"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 name="Google Shape;157;p7"/>
            <p:cNvSpPr/>
            <p:nvPr/>
          </p:nvSpPr>
          <p:spPr>
            <a:xfrm>
              <a:off x="4765675" y="4668838"/>
              <a:ext cx="119062" cy="76200"/>
            </a:xfrm>
            <a:custGeom>
              <a:rect b="b" l="l" r="r" t="t"/>
              <a:pathLst>
                <a:path extrusionOk="0" h="48" w="75">
                  <a:moveTo>
                    <a:pt x="45" y="20"/>
                  </a:moveTo>
                  <a:lnTo>
                    <a:pt x="45" y="20"/>
                  </a:lnTo>
                  <a:lnTo>
                    <a:pt x="54" y="34"/>
                  </a:lnTo>
                  <a:lnTo>
                    <a:pt x="61" y="42"/>
                  </a:lnTo>
                  <a:lnTo>
                    <a:pt x="68" y="48"/>
                  </a:lnTo>
                  <a:lnTo>
                    <a:pt x="75" y="31"/>
                  </a:lnTo>
                  <a:lnTo>
                    <a:pt x="75" y="31"/>
                  </a:lnTo>
                  <a:lnTo>
                    <a:pt x="67" y="25"/>
                  </a:lnTo>
                  <a:lnTo>
                    <a:pt x="59" y="18"/>
                  </a:lnTo>
                  <a:lnTo>
                    <a:pt x="51" y="10"/>
                  </a:lnTo>
                  <a:lnTo>
                    <a:pt x="45" y="0"/>
                  </a:lnTo>
                  <a:lnTo>
                    <a:pt x="45" y="20"/>
                  </a:lnTo>
                  <a:close/>
                  <a:moveTo>
                    <a:pt x="30" y="0"/>
                  </a:moveTo>
                  <a:lnTo>
                    <a:pt x="27" y="0"/>
                  </a:lnTo>
                  <a:lnTo>
                    <a:pt x="27" y="0"/>
                  </a:lnTo>
                  <a:lnTo>
                    <a:pt x="14" y="24"/>
                  </a:lnTo>
                  <a:lnTo>
                    <a:pt x="0" y="44"/>
                  </a:lnTo>
                  <a:lnTo>
                    <a:pt x="0" y="44"/>
                  </a:lnTo>
                  <a:lnTo>
                    <a:pt x="16" y="33"/>
                  </a:lnTo>
                  <a:lnTo>
                    <a:pt x="30" y="22"/>
                  </a:lnTo>
                  <a:lnTo>
                    <a:pt x="3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 name="Google Shape;158;p7"/>
            <p:cNvSpPr/>
            <p:nvPr/>
          </p:nvSpPr>
          <p:spPr>
            <a:xfrm>
              <a:off x="5402263" y="4578350"/>
              <a:ext cx="30162" cy="168275"/>
            </a:xfrm>
            <a:custGeom>
              <a:rect b="b" l="l" r="r" t="t"/>
              <a:pathLst>
                <a:path extrusionOk="0" h="106" w="19">
                  <a:moveTo>
                    <a:pt x="17" y="106"/>
                  </a:moveTo>
                  <a:lnTo>
                    <a:pt x="17" y="10"/>
                  </a:lnTo>
                  <a:lnTo>
                    <a:pt x="17" y="9"/>
                  </a:lnTo>
                  <a:lnTo>
                    <a:pt x="17" y="9"/>
                  </a:lnTo>
                  <a:lnTo>
                    <a:pt x="19" y="6"/>
                  </a:lnTo>
                  <a:lnTo>
                    <a:pt x="0" y="0"/>
                  </a:lnTo>
                  <a:lnTo>
                    <a:pt x="0" y="106"/>
                  </a:lnTo>
                  <a:lnTo>
                    <a:pt x="17" y="10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7"/>
            <p:cNvSpPr/>
            <p:nvPr/>
          </p:nvSpPr>
          <p:spPr>
            <a:xfrm>
              <a:off x="5376863" y="4633913"/>
              <a:ext cx="84137" cy="15875"/>
            </a:xfrm>
            <a:custGeom>
              <a:rect b="b" l="l" r="r" t="t"/>
              <a:pathLst>
                <a:path extrusionOk="0" h="10" w="53">
                  <a:moveTo>
                    <a:pt x="41" y="3"/>
                  </a:moveTo>
                  <a:lnTo>
                    <a:pt x="44" y="0"/>
                  </a:lnTo>
                  <a:lnTo>
                    <a:pt x="53" y="7"/>
                  </a:lnTo>
                  <a:lnTo>
                    <a:pt x="49" y="10"/>
                  </a:lnTo>
                  <a:lnTo>
                    <a:pt x="2" y="10"/>
                  </a:lnTo>
                  <a:lnTo>
                    <a:pt x="0" y="3"/>
                  </a:lnTo>
                  <a:lnTo>
                    <a:pt x="41"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 name="Google Shape;160;p7"/>
            <p:cNvSpPr/>
            <p:nvPr/>
          </p:nvSpPr>
          <p:spPr>
            <a:xfrm>
              <a:off x="5360988" y="4740275"/>
              <a:ext cx="112712" cy="17463"/>
            </a:xfrm>
            <a:custGeom>
              <a:rect b="b" l="l" r="r" t="t"/>
              <a:pathLst>
                <a:path extrusionOk="0" h="11" w="71">
                  <a:moveTo>
                    <a:pt x="58" y="2"/>
                  </a:moveTo>
                  <a:lnTo>
                    <a:pt x="61" y="0"/>
                  </a:lnTo>
                  <a:lnTo>
                    <a:pt x="71" y="6"/>
                  </a:lnTo>
                  <a:lnTo>
                    <a:pt x="67" y="11"/>
                  </a:lnTo>
                  <a:lnTo>
                    <a:pt x="3" y="11"/>
                  </a:lnTo>
                  <a:lnTo>
                    <a:pt x="0" y="2"/>
                  </a:lnTo>
                  <a:lnTo>
                    <a:pt x="58" y="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7"/>
            <p:cNvSpPr/>
            <p:nvPr/>
          </p:nvSpPr>
          <p:spPr>
            <a:xfrm>
              <a:off x="5322888" y="4659313"/>
              <a:ext cx="25400" cy="98425"/>
            </a:xfrm>
            <a:custGeom>
              <a:rect b="b" l="l" r="r" t="t"/>
              <a:pathLst>
                <a:path extrusionOk="0" h="62" w="16">
                  <a:moveTo>
                    <a:pt x="16" y="0"/>
                  </a:moveTo>
                  <a:lnTo>
                    <a:pt x="16" y="62"/>
                  </a:lnTo>
                  <a:lnTo>
                    <a:pt x="0" y="62"/>
                  </a:lnTo>
                  <a:lnTo>
                    <a:pt x="0" y="15"/>
                  </a:lnTo>
                  <a:lnTo>
                    <a:pt x="1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7"/>
            <p:cNvSpPr/>
            <p:nvPr/>
          </p:nvSpPr>
          <p:spPr>
            <a:xfrm>
              <a:off x="5284788" y="4578350"/>
              <a:ext cx="92075" cy="138113"/>
            </a:xfrm>
            <a:custGeom>
              <a:rect b="b" l="l" r="r" t="t"/>
              <a:pathLst>
                <a:path extrusionOk="0" h="87" w="58">
                  <a:moveTo>
                    <a:pt x="43" y="26"/>
                  </a:moveTo>
                  <a:lnTo>
                    <a:pt x="40" y="26"/>
                  </a:lnTo>
                  <a:lnTo>
                    <a:pt x="40" y="9"/>
                  </a:lnTo>
                  <a:lnTo>
                    <a:pt x="42" y="6"/>
                  </a:lnTo>
                  <a:lnTo>
                    <a:pt x="24" y="0"/>
                  </a:lnTo>
                  <a:lnTo>
                    <a:pt x="24" y="26"/>
                  </a:lnTo>
                  <a:lnTo>
                    <a:pt x="6" y="26"/>
                  </a:lnTo>
                  <a:lnTo>
                    <a:pt x="8" y="35"/>
                  </a:lnTo>
                  <a:lnTo>
                    <a:pt x="35" y="35"/>
                  </a:lnTo>
                  <a:lnTo>
                    <a:pt x="35" y="35"/>
                  </a:lnTo>
                  <a:lnTo>
                    <a:pt x="28" y="47"/>
                  </a:lnTo>
                  <a:lnTo>
                    <a:pt x="21" y="60"/>
                  </a:lnTo>
                  <a:lnTo>
                    <a:pt x="11" y="74"/>
                  </a:lnTo>
                  <a:lnTo>
                    <a:pt x="0" y="87"/>
                  </a:lnTo>
                  <a:lnTo>
                    <a:pt x="0" y="87"/>
                  </a:lnTo>
                  <a:lnTo>
                    <a:pt x="12" y="81"/>
                  </a:lnTo>
                  <a:lnTo>
                    <a:pt x="23" y="73"/>
                  </a:lnTo>
                  <a:lnTo>
                    <a:pt x="32" y="63"/>
                  </a:lnTo>
                  <a:lnTo>
                    <a:pt x="41" y="54"/>
                  </a:lnTo>
                  <a:lnTo>
                    <a:pt x="41" y="54"/>
                  </a:lnTo>
                  <a:lnTo>
                    <a:pt x="47" y="44"/>
                  </a:lnTo>
                  <a:lnTo>
                    <a:pt x="54" y="35"/>
                  </a:lnTo>
                  <a:lnTo>
                    <a:pt x="54" y="35"/>
                  </a:lnTo>
                  <a:lnTo>
                    <a:pt x="54" y="35"/>
                  </a:lnTo>
                  <a:lnTo>
                    <a:pt x="58" y="29"/>
                  </a:lnTo>
                  <a:lnTo>
                    <a:pt x="48" y="22"/>
                  </a:lnTo>
                  <a:lnTo>
                    <a:pt x="43" y="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7"/>
            <p:cNvSpPr/>
            <p:nvPr/>
          </p:nvSpPr>
          <p:spPr>
            <a:xfrm>
              <a:off x="5343525" y="4665663"/>
              <a:ext cx="36512" cy="38100"/>
            </a:xfrm>
            <a:custGeom>
              <a:rect b="b" l="l" r="r" t="t"/>
              <a:pathLst>
                <a:path extrusionOk="0" h="24" w="23">
                  <a:moveTo>
                    <a:pt x="0" y="0"/>
                  </a:moveTo>
                  <a:lnTo>
                    <a:pt x="0" y="0"/>
                  </a:lnTo>
                  <a:lnTo>
                    <a:pt x="6" y="0"/>
                  </a:lnTo>
                  <a:lnTo>
                    <a:pt x="13" y="2"/>
                  </a:lnTo>
                  <a:lnTo>
                    <a:pt x="17" y="5"/>
                  </a:lnTo>
                  <a:lnTo>
                    <a:pt x="21" y="9"/>
                  </a:lnTo>
                  <a:lnTo>
                    <a:pt x="21" y="9"/>
                  </a:lnTo>
                  <a:lnTo>
                    <a:pt x="22" y="13"/>
                  </a:lnTo>
                  <a:lnTo>
                    <a:pt x="23" y="16"/>
                  </a:lnTo>
                  <a:lnTo>
                    <a:pt x="22" y="18"/>
                  </a:lnTo>
                  <a:lnTo>
                    <a:pt x="21" y="20"/>
                  </a:lnTo>
                  <a:lnTo>
                    <a:pt x="21" y="20"/>
                  </a:lnTo>
                  <a:lnTo>
                    <a:pt x="18" y="23"/>
                  </a:lnTo>
                  <a:lnTo>
                    <a:pt x="15" y="24"/>
                  </a:lnTo>
                  <a:lnTo>
                    <a:pt x="13" y="22"/>
                  </a:lnTo>
                  <a:lnTo>
                    <a:pt x="9" y="19"/>
                  </a:lnTo>
                  <a:lnTo>
                    <a:pt x="9" y="19"/>
                  </a:lnTo>
                  <a:lnTo>
                    <a:pt x="5" y="9"/>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7"/>
            <p:cNvSpPr/>
            <p:nvPr/>
          </p:nvSpPr>
          <p:spPr>
            <a:xfrm>
              <a:off x="4749800" y="4640263"/>
              <a:ext cx="34925" cy="39688"/>
            </a:xfrm>
            <a:custGeom>
              <a:rect b="b" l="l" r="r" t="t"/>
              <a:pathLst>
                <a:path extrusionOk="0" h="25" w="22">
                  <a:moveTo>
                    <a:pt x="0" y="0"/>
                  </a:moveTo>
                  <a:lnTo>
                    <a:pt x="0" y="0"/>
                  </a:lnTo>
                  <a:lnTo>
                    <a:pt x="7" y="1"/>
                  </a:lnTo>
                  <a:lnTo>
                    <a:pt x="12" y="3"/>
                  </a:lnTo>
                  <a:lnTo>
                    <a:pt x="16" y="6"/>
                  </a:lnTo>
                  <a:lnTo>
                    <a:pt x="21" y="11"/>
                  </a:lnTo>
                  <a:lnTo>
                    <a:pt x="21" y="11"/>
                  </a:lnTo>
                  <a:lnTo>
                    <a:pt x="22" y="15"/>
                  </a:lnTo>
                  <a:lnTo>
                    <a:pt x="22" y="17"/>
                  </a:lnTo>
                  <a:lnTo>
                    <a:pt x="21" y="20"/>
                  </a:lnTo>
                  <a:lnTo>
                    <a:pt x="20" y="22"/>
                  </a:lnTo>
                  <a:lnTo>
                    <a:pt x="20" y="22"/>
                  </a:lnTo>
                  <a:lnTo>
                    <a:pt x="16" y="25"/>
                  </a:lnTo>
                  <a:lnTo>
                    <a:pt x="13" y="25"/>
                  </a:lnTo>
                  <a:lnTo>
                    <a:pt x="10" y="23"/>
                  </a:lnTo>
                  <a:lnTo>
                    <a:pt x="8" y="19"/>
                  </a:lnTo>
                  <a:lnTo>
                    <a:pt x="8" y="19"/>
                  </a:lnTo>
                  <a:lnTo>
                    <a:pt x="5" y="9"/>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7"/>
            <p:cNvSpPr/>
            <p:nvPr/>
          </p:nvSpPr>
          <p:spPr>
            <a:xfrm>
              <a:off x="5024438" y="4575175"/>
              <a:ext cx="39687" cy="34925"/>
            </a:xfrm>
            <a:custGeom>
              <a:rect b="b" l="l" r="r" t="t"/>
              <a:pathLst>
                <a:path extrusionOk="0" h="22" w="25">
                  <a:moveTo>
                    <a:pt x="0" y="0"/>
                  </a:moveTo>
                  <a:lnTo>
                    <a:pt x="0" y="0"/>
                  </a:lnTo>
                  <a:lnTo>
                    <a:pt x="9" y="0"/>
                  </a:lnTo>
                  <a:lnTo>
                    <a:pt x="15" y="1"/>
                  </a:lnTo>
                  <a:lnTo>
                    <a:pt x="19" y="3"/>
                  </a:lnTo>
                  <a:lnTo>
                    <a:pt x="24" y="8"/>
                  </a:lnTo>
                  <a:lnTo>
                    <a:pt x="24" y="8"/>
                  </a:lnTo>
                  <a:lnTo>
                    <a:pt x="25" y="11"/>
                  </a:lnTo>
                  <a:lnTo>
                    <a:pt x="25" y="14"/>
                  </a:lnTo>
                  <a:lnTo>
                    <a:pt x="25" y="16"/>
                  </a:lnTo>
                  <a:lnTo>
                    <a:pt x="23" y="18"/>
                  </a:lnTo>
                  <a:lnTo>
                    <a:pt x="23" y="18"/>
                  </a:lnTo>
                  <a:lnTo>
                    <a:pt x="18" y="20"/>
                  </a:lnTo>
                  <a:lnTo>
                    <a:pt x="15" y="22"/>
                  </a:lnTo>
                  <a:lnTo>
                    <a:pt x="12" y="19"/>
                  </a:lnTo>
                  <a:lnTo>
                    <a:pt x="10" y="16"/>
                  </a:lnTo>
                  <a:lnTo>
                    <a:pt x="10" y="16"/>
                  </a:lnTo>
                  <a:lnTo>
                    <a:pt x="5" y="8"/>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7"/>
            <p:cNvSpPr/>
            <p:nvPr/>
          </p:nvSpPr>
          <p:spPr>
            <a:xfrm>
              <a:off x="5094288" y="4576763"/>
              <a:ext cx="100012" cy="84138"/>
            </a:xfrm>
            <a:custGeom>
              <a:rect b="b" l="l" r="r" t="t"/>
              <a:pathLst>
                <a:path extrusionOk="0" h="53" w="63">
                  <a:moveTo>
                    <a:pt x="63" y="4"/>
                  </a:moveTo>
                  <a:lnTo>
                    <a:pt x="63" y="4"/>
                  </a:lnTo>
                  <a:lnTo>
                    <a:pt x="47" y="23"/>
                  </a:lnTo>
                  <a:lnTo>
                    <a:pt x="33" y="37"/>
                  </a:lnTo>
                  <a:lnTo>
                    <a:pt x="33" y="37"/>
                  </a:lnTo>
                  <a:lnTo>
                    <a:pt x="24" y="42"/>
                  </a:lnTo>
                  <a:lnTo>
                    <a:pt x="16" y="47"/>
                  </a:lnTo>
                  <a:lnTo>
                    <a:pt x="8" y="51"/>
                  </a:lnTo>
                  <a:lnTo>
                    <a:pt x="0" y="53"/>
                  </a:lnTo>
                  <a:lnTo>
                    <a:pt x="0" y="53"/>
                  </a:lnTo>
                  <a:lnTo>
                    <a:pt x="15" y="38"/>
                  </a:lnTo>
                  <a:lnTo>
                    <a:pt x="27" y="25"/>
                  </a:lnTo>
                  <a:lnTo>
                    <a:pt x="27" y="25"/>
                  </a:lnTo>
                  <a:lnTo>
                    <a:pt x="35" y="13"/>
                  </a:lnTo>
                  <a:lnTo>
                    <a:pt x="43" y="0"/>
                  </a:lnTo>
                  <a:lnTo>
                    <a:pt x="63" y="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7"/>
            <p:cNvSpPr/>
            <p:nvPr/>
          </p:nvSpPr>
          <p:spPr>
            <a:xfrm>
              <a:off x="5181600" y="4586288"/>
              <a:ext cx="96837" cy="77788"/>
            </a:xfrm>
            <a:custGeom>
              <a:rect b="b" l="l" r="r" t="t"/>
              <a:pathLst>
                <a:path extrusionOk="0" h="49" w="61">
                  <a:moveTo>
                    <a:pt x="4" y="0"/>
                  </a:moveTo>
                  <a:lnTo>
                    <a:pt x="4" y="0"/>
                  </a:lnTo>
                  <a:lnTo>
                    <a:pt x="17" y="10"/>
                  </a:lnTo>
                  <a:lnTo>
                    <a:pt x="32" y="19"/>
                  </a:lnTo>
                  <a:lnTo>
                    <a:pt x="46" y="27"/>
                  </a:lnTo>
                  <a:lnTo>
                    <a:pt x="61" y="34"/>
                  </a:lnTo>
                  <a:lnTo>
                    <a:pt x="61" y="34"/>
                  </a:lnTo>
                  <a:lnTo>
                    <a:pt x="56" y="41"/>
                  </a:lnTo>
                  <a:lnTo>
                    <a:pt x="52" y="49"/>
                  </a:lnTo>
                  <a:lnTo>
                    <a:pt x="52" y="49"/>
                  </a:lnTo>
                  <a:lnTo>
                    <a:pt x="35" y="38"/>
                  </a:lnTo>
                  <a:lnTo>
                    <a:pt x="21" y="27"/>
                  </a:lnTo>
                  <a:lnTo>
                    <a:pt x="9" y="16"/>
                  </a:lnTo>
                  <a:lnTo>
                    <a:pt x="5" y="9"/>
                  </a:lnTo>
                  <a:lnTo>
                    <a:pt x="0" y="3"/>
                  </a:lnTo>
                  <a:lnTo>
                    <a:pt x="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7"/>
            <p:cNvSpPr/>
            <p:nvPr/>
          </p:nvSpPr>
          <p:spPr>
            <a:xfrm>
              <a:off x="4905375" y="4652963"/>
              <a:ext cx="90487" cy="20638"/>
            </a:xfrm>
            <a:custGeom>
              <a:rect b="b" l="l" r="r" t="t"/>
              <a:pathLst>
                <a:path extrusionOk="0" h="13" w="57">
                  <a:moveTo>
                    <a:pt x="3" y="13"/>
                  </a:moveTo>
                  <a:lnTo>
                    <a:pt x="53" y="13"/>
                  </a:lnTo>
                  <a:lnTo>
                    <a:pt x="57" y="9"/>
                  </a:lnTo>
                  <a:lnTo>
                    <a:pt x="47" y="0"/>
                  </a:lnTo>
                  <a:lnTo>
                    <a:pt x="42" y="5"/>
                  </a:lnTo>
                  <a:lnTo>
                    <a:pt x="0" y="5"/>
                  </a:lnTo>
                  <a:lnTo>
                    <a:pt x="3"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7"/>
            <p:cNvSpPr/>
            <p:nvPr/>
          </p:nvSpPr>
          <p:spPr>
            <a:xfrm>
              <a:off x="4787900" y="4616450"/>
              <a:ext cx="85725" cy="17463"/>
            </a:xfrm>
            <a:custGeom>
              <a:rect b="b" l="l" r="r" t="t"/>
              <a:pathLst>
                <a:path extrusionOk="0" h="11" w="54">
                  <a:moveTo>
                    <a:pt x="0" y="11"/>
                  </a:moveTo>
                  <a:lnTo>
                    <a:pt x="50" y="11"/>
                  </a:lnTo>
                  <a:lnTo>
                    <a:pt x="54" y="6"/>
                  </a:lnTo>
                  <a:lnTo>
                    <a:pt x="45" y="0"/>
                  </a:lnTo>
                  <a:lnTo>
                    <a:pt x="41" y="2"/>
                  </a:lnTo>
                  <a:lnTo>
                    <a:pt x="1" y="2"/>
                  </a:lnTo>
                  <a:lnTo>
                    <a:pt x="0"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7"/>
            <p:cNvSpPr/>
            <p:nvPr/>
          </p:nvSpPr>
          <p:spPr>
            <a:xfrm>
              <a:off x="4699000" y="4616450"/>
              <a:ext cx="82550" cy="17463"/>
            </a:xfrm>
            <a:custGeom>
              <a:rect b="b" l="l" r="r" t="t"/>
              <a:pathLst>
                <a:path extrusionOk="0" h="11" w="52">
                  <a:moveTo>
                    <a:pt x="2" y="11"/>
                  </a:moveTo>
                  <a:lnTo>
                    <a:pt x="47" y="11"/>
                  </a:lnTo>
                  <a:lnTo>
                    <a:pt x="52" y="6"/>
                  </a:lnTo>
                  <a:lnTo>
                    <a:pt x="42" y="0"/>
                  </a:lnTo>
                  <a:lnTo>
                    <a:pt x="39" y="2"/>
                  </a:lnTo>
                  <a:lnTo>
                    <a:pt x="0" y="2"/>
                  </a:lnTo>
                  <a:lnTo>
                    <a:pt x="2"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7"/>
            <p:cNvSpPr/>
            <p:nvPr/>
          </p:nvSpPr>
          <p:spPr>
            <a:xfrm>
              <a:off x="4510088" y="4614863"/>
              <a:ext cx="155575" cy="19050"/>
            </a:xfrm>
            <a:custGeom>
              <a:rect b="b" l="l" r="r" t="t"/>
              <a:pathLst>
                <a:path extrusionOk="0" h="12" w="98">
                  <a:moveTo>
                    <a:pt x="2" y="12"/>
                  </a:moveTo>
                  <a:lnTo>
                    <a:pt x="94" y="12"/>
                  </a:lnTo>
                  <a:lnTo>
                    <a:pt x="98" y="7"/>
                  </a:lnTo>
                  <a:lnTo>
                    <a:pt x="88" y="0"/>
                  </a:lnTo>
                  <a:lnTo>
                    <a:pt x="83" y="3"/>
                  </a:lnTo>
                  <a:lnTo>
                    <a:pt x="0" y="3"/>
                  </a:lnTo>
                  <a:lnTo>
                    <a:pt x="2"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7"/>
            <p:cNvSpPr/>
            <p:nvPr/>
          </p:nvSpPr>
          <p:spPr>
            <a:xfrm>
              <a:off x="4498975" y="4648200"/>
              <a:ext cx="180975" cy="20638"/>
            </a:xfrm>
            <a:custGeom>
              <a:rect b="b" l="l" r="r" t="t"/>
              <a:pathLst>
                <a:path extrusionOk="0" h="13" w="114">
                  <a:moveTo>
                    <a:pt x="3" y="13"/>
                  </a:moveTo>
                  <a:lnTo>
                    <a:pt x="109" y="13"/>
                  </a:lnTo>
                  <a:lnTo>
                    <a:pt x="114" y="9"/>
                  </a:lnTo>
                  <a:lnTo>
                    <a:pt x="104" y="0"/>
                  </a:lnTo>
                  <a:lnTo>
                    <a:pt x="99" y="4"/>
                  </a:lnTo>
                  <a:lnTo>
                    <a:pt x="0" y="4"/>
                  </a:lnTo>
                  <a:lnTo>
                    <a:pt x="3"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7"/>
            <p:cNvSpPr/>
            <p:nvPr/>
          </p:nvSpPr>
          <p:spPr>
            <a:xfrm>
              <a:off x="4510088" y="4614863"/>
              <a:ext cx="155575" cy="19050"/>
            </a:xfrm>
            <a:custGeom>
              <a:rect b="b" l="l" r="r" t="t"/>
              <a:pathLst>
                <a:path extrusionOk="0" h="12" w="98">
                  <a:moveTo>
                    <a:pt x="2" y="12"/>
                  </a:moveTo>
                  <a:lnTo>
                    <a:pt x="94" y="12"/>
                  </a:lnTo>
                  <a:lnTo>
                    <a:pt x="98" y="7"/>
                  </a:lnTo>
                  <a:lnTo>
                    <a:pt x="88" y="0"/>
                  </a:lnTo>
                  <a:lnTo>
                    <a:pt x="83" y="3"/>
                  </a:lnTo>
                  <a:lnTo>
                    <a:pt x="0" y="3"/>
                  </a:lnTo>
                  <a:lnTo>
                    <a:pt x="2"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7"/>
            <p:cNvSpPr/>
            <p:nvPr/>
          </p:nvSpPr>
          <p:spPr>
            <a:xfrm>
              <a:off x="4295775" y="4586288"/>
              <a:ext cx="65087" cy="15875"/>
            </a:xfrm>
            <a:custGeom>
              <a:rect b="b" l="l" r="r" t="t"/>
              <a:pathLst>
                <a:path extrusionOk="0" h="10" w="41">
                  <a:moveTo>
                    <a:pt x="4" y="10"/>
                  </a:moveTo>
                  <a:lnTo>
                    <a:pt x="38" y="10"/>
                  </a:lnTo>
                  <a:lnTo>
                    <a:pt x="41" y="6"/>
                  </a:lnTo>
                  <a:lnTo>
                    <a:pt x="32" y="0"/>
                  </a:lnTo>
                  <a:lnTo>
                    <a:pt x="29" y="2"/>
                  </a:lnTo>
                  <a:lnTo>
                    <a:pt x="0" y="2"/>
                  </a:lnTo>
                  <a:lnTo>
                    <a:pt x="4"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7"/>
            <p:cNvSpPr/>
            <p:nvPr/>
          </p:nvSpPr>
          <p:spPr>
            <a:xfrm>
              <a:off x="4386263" y="4637088"/>
              <a:ext cx="63500" cy="15875"/>
            </a:xfrm>
            <a:custGeom>
              <a:rect b="b" l="l" r="r" t="t"/>
              <a:pathLst>
                <a:path extrusionOk="0" h="10" w="40">
                  <a:moveTo>
                    <a:pt x="2" y="10"/>
                  </a:moveTo>
                  <a:lnTo>
                    <a:pt x="36" y="10"/>
                  </a:lnTo>
                  <a:lnTo>
                    <a:pt x="40" y="6"/>
                  </a:lnTo>
                  <a:lnTo>
                    <a:pt x="31" y="0"/>
                  </a:lnTo>
                  <a:lnTo>
                    <a:pt x="28" y="2"/>
                  </a:lnTo>
                  <a:lnTo>
                    <a:pt x="0" y="2"/>
                  </a:lnTo>
                  <a:lnTo>
                    <a:pt x="2"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7"/>
            <p:cNvSpPr/>
            <p:nvPr/>
          </p:nvSpPr>
          <p:spPr>
            <a:xfrm>
              <a:off x="4370388" y="4583113"/>
              <a:ext cx="49212" cy="14288"/>
            </a:xfrm>
            <a:custGeom>
              <a:rect b="b" l="l" r="r" t="t"/>
              <a:pathLst>
                <a:path extrusionOk="0" h="9" w="31">
                  <a:moveTo>
                    <a:pt x="28" y="0"/>
                  </a:moveTo>
                  <a:lnTo>
                    <a:pt x="0" y="0"/>
                  </a:lnTo>
                  <a:lnTo>
                    <a:pt x="2" y="9"/>
                  </a:lnTo>
                  <a:lnTo>
                    <a:pt x="31" y="9"/>
                  </a:lnTo>
                  <a:lnTo>
                    <a:pt x="2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7" name="Google Shape;177;p7"/>
            <p:cNvSpPr/>
            <p:nvPr/>
          </p:nvSpPr>
          <p:spPr>
            <a:xfrm>
              <a:off x="4370388" y="4583113"/>
              <a:ext cx="49212" cy="14288"/>
            </a:xfrm>
            <a:custGeom>
              <a:rect b="b" l="l" r="r" t="t"/>
              <a:pathLst>
                <a:path extrusionOk="0" h="9" w="31">
                  <a:moveTo>
                    <a:pt x="28" y="0"/>
                  </a:moveTo>
                  <a:lnTo>
                    <a:pt x="0" y="0"/>
                  </a:lnTo>
                  <a:lnTo>
                    <a:pt x="2" y="9"/>
                  </a:lnTo>
                  <a:lnTo>
                    <a:pt x="31" y="9"/>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7"/>
            <p:cNvSpPr/>
            <p:nvPr/>
          </p:nvSpPr>
          <p:spPr>
            <a:xfrm>
              <a:off x="4295775" y="4641850"/>
              <a:ext cx="69850" cy="17463"/>
            </a:xfrm>
            <a:custGeom>
              <a:rect b="b" l="l" r="r" t="t"/>
              <a:pathLst>
                <a:path extrusionOk="0" h="11" w="44">
                  <a:moveTo>
                    <a:pt x="4" y="11"/>
                  </a:moveTo>
                  <a:lnTo>
                    <a:pt x="40" y="11"/>
                  </a:lnTo>
                  <a:lnTo>
                    <a:pt x="44" y="7"/>
                  </a:lnTo>
                  <a:lnTo>
                    <a:pt x="35" y="0"/>
                  </a:lnTo>
                  <a:lnTo>
                    <a:pt x="31" y="3"/>
                  </a:lnTo>
                  <a:lnTo>
                    <a:pt x="0" y="3"/>
                  </a:lnTo>
                  <a:lnTo>
                    <a:pt x="4"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7"/>
            <p:cNvSpPr/>
            <p:nvPr/>
          </p:nvSpPr>
          <p:spPr>
            <a:xfrm>
              <a:off x="4295775" y="4668838"/>
              <a:ext cx="69850" cy="17463"/>
            </a:xfrm>
            <a:custGeom>
              <a:rect b="b" l="l" r="r" t="t"/>
              <a:pathLst>
                <a:path extrusionOk="0" h="11" w="44">
                  <a:moveTo>
                    <a:pt x="4" y="11"/>
                  </a:moveTo>
                  <a:lnTo>
                    <a:pt x="40" y="11"/>
                  </a:lnTo>
                  <a:lnTo>
                    <a:pt x="44" y="7"/>
                  </a:lnTo>
                  <a:lnTo>
                    <a:pt x="35" y="0"/>
                  </a:lnTo>
                  <a:lnTo>
                    <a:pt x="31" y="3"/>
                  </a:lnTo>
                  <a:lnTo>
                    <a:pt x="0" y="3"/>
                  </a:lnTo>
                  <a:lnTo>
                    <a:pt x="4"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7"/>
            <p:cNvSpPr/>
            <p:nvPr/>
          </p:nvSpPr>
          <p:spPr>
            <a:xfrm>
              <a:off x="4370388" y="4737100"/>
              <a:ext cx="104775" cy="19050"/>
            </a:xfrm>
            <a:custGeom>
              <a:rect b="b" l="l" r="r" t="t"/>
              <a:pathLst>
                <a:path extrusionOk="0" h="12" w="66">
                  <a:moveTo>
                    <a:pt x="4" y="12"/>
                  </a:moveTo>
                  <a:lnTo>
                    <a:pt x="64" y="12"/>
                  </a:lnTo>
                  <a:lnTo>
                    <a:pt x="66" y="9"/>
                  </a:lnTo>
                  <a:lnTo>
                    <a:pt x="55" y="0"/>
                  </a:lnTo>
                  <a:lnTo>
                    <a:pt x="50" y="4"/>
                  </a:lnTo>
                  <a:lnTo>
                    <a:pt x="0" y="4"/>
                  </a:lnTo>
                  <a:lnTo>
                    <a:pt x="4"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7"/>
            <p:cNvSpPr/>
            <p:nvPr/>
          </p:nvSpPr>
          <p:spPr>
            <a:xfrm>
              <a:off x="4291013" y="4611688"/>
              <a:ext cx="77787" cy="19050"/>
            </a:xfrm>
            <a:custGeom>
              <a:rect b="b" l="l" r="r" t="t"/>
              <a:pathLst>
                <a:path extrusionOk="0" h="12" w="49">
                  <a:moveTo>
                    <a:pt x="2" y="12"/>
                  </a:moveTo>
                  <a:lnTo>
                    <a:pt x="45" y="12"/>
                  </a:lnTo>
                  <a:lnTo>
                    <a:pt x="49" y="8"/>
                  </a:lnTo>
                  <a:lnTo>
                    <a:pt x="39" y="0"/>
                  </a:lnTo>
                  <a:lnTo>
                    <a:pt x="33" y="4"/>
                  </a:lnTo>
                  <a:lnTo>
                    <a:pt x="0" y="4"/>
                  </a:lnTo>
                  <a:lnTo>
                    <a:pt x="2"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7"/>
            <p:cNvSpPr/>
            <p:nvPr/>
          </p:nvSpPr>
          <p:spPr>
            <a:xfrm>
              <a:off x="4775200" y="4654550"/>
              <a:ext cx="104775" cy="19050"/>
            </a:xfrm>
            <a:custGeom>
              <a:rect b="b" l="l" r="r" t="t"/>
              <a:pathLst>
                <a:path extrusionOk="0" h="12" w="66">
                  <a:moveTo>
                    <a:pt x="0" y="12"/>
                  </a:moveTo>
                  <a:lnTo>
                    <a:pt x="62" y="12"/>
                  </a:lnTo>
                  <a:lnTo>
                    <a:pt x="66" y="8"/>
                  </a:lnTo>
                  <a:lnTo>
                    <a:pt x="57" y="0"/>
                  </a:lnTo>
                  <a:lnTo>
                    <a:pt x="54" y="4"/>
                  </a:lnTo>
                  <a:lnTo>
                    <a:pt x="1" y="4"/>
                  </a:lnTo>
                  <a:lnTo>
                    <a:pt x="0"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7"/>
            <p:cNvSpPr/>
            <p:nvPr/>
          </p:nvSpPr>
          <p:spPr>
            <a:xfrm>
              <a:off x="4902200" y="4611688"/>
              <a:ext cx="169862" cy="22225"/>
            </a:xfrm>
            <a:custGeom>
              <a:rect b="b" l="l" r="r" t="t"/>
              <a:pathLst>
                <a:path extrusionOk="0" h="14" w="107">
                  <a:moveTo>
                    <a:pt x="2" y="14"/>
                  </a:moveTo>
                  <a:lnTo>
                    <a:pt x="102" y="14"/>
                  </a:lnTo>
                  <a:lnTo>
                    <a:pt x="107" y="8"/>
                  </a:lnTo>
                  <a:lnTo>
                    <a:pt x="92" y="0"/>
                  </a:lnTo>
                  <a:lnTo>
                    <a:pt x="86" y="5"/>
                  </a:lnTo>
                  <a:lnTo>
                    <a:pt x="0" y="5"/>
                  </a:lnTo>
                  <a:lnTo>
                    <a:pt x="2"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7"/>
            <p:cNvSpPr/>
            <p:nvPr/>
          </p:nvSpPr>
          <p:spPr>
            <a:xfrm>
              <a:off x="5113338" y="4667250"/>
              <a:ext cx="144462" cy="19050"/>
            </a:xfrm>
            <a:custGeom>
              <a:rect b="b" l="l" r="r" t="t"/>
              <a:pathLst>
                <a:path extrusionOk="0" h="12" w="91">
                  <a:moveTo>
                    <a:pt x="2" y="12"/>
                  </a:moveTo>
                  <a:lnTo>
                    <a:pt x="87" y="12"/>
                  </a:lnTo>
                  <a:lnTo>
                    <a:pt x="91" y="7"/>
                  </a:lnTo>
                  <a:lnTo>
                    <a:pt x="81" y="0"/>
                  </a:lnTo>
                  <a:lnTo>
                    <a:pt x="76" y="4"/>
                  </a:lnTo>
                  <a:lnTo>
                    <a:pt x="0" y="4"/>
                  </a:lnTo>
                  <a:lnTo>
                    <a:pt x="2"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7"/>
            <p:cNvSpPr/>
            <p:nvPr/>
          </p:nvSpPr>
          <p:spPr>
            <a:xfrm>
              <a:off x="5133975" y="4635500"/>
              <a:ext cx="104775" cy="17463"/>
            </a:xfrm>
            <a:custGeom>
              <a:rect b="b" l="l" r="r" t="t"/>
              <a:pathLst>
                <a:path extrusionOk="0" h="11" w="66">
                  <a:moveTo>
                    <a:pt x="3" y="11"/>
                  </a:moveTo>
                  <a:lnTo>
                    <a:pt x="61" y="11"/>
                  </a:lnTo>
                  <a:lnTo>
                    <a:pt x="66" y="6"/>
                  </a:lnTo>
                  <a:lnTo>
                    <a:pt x="56" y="0"/>
                  </a:lnTo>
                  <a:lnTo>
                    <a:pt x="52" y="3"/>
                  </a:lnTo>
                  <a:lnTo>
                    <a:pt x="0" y="3"/>
                  </a:lnTo>
                  <a:lnTo>
                    <a:pt x="3"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7"/>
            <p:cNvSpPr/>
            <p:nvPr/>
          </p:nvSpPr>
          <p:spPr>
            <a:xfrm>
              <a:off x="5127625" y="4679950"/>
              <a:ext cx="52387" cy="57150"/>
            </a:xfrm>
            <a:custGeom>
              <a:rect b="b" l="l" r="r" t="t"/>
              <a:pathLst>
                <a:path extrusionOk="0" h="36" w="33">
                  <a:moveTo>
                    <a:pt x="12" y="3"/>
                  </a:moveTo>
                  <a:lnTo>
                    <a:pt x="12" y="3"/>
                  </a:lnTo>
                  <a:lnTo>
                    <a:pt x="8" y="18"/>
                  </a:lnTo>
                  <a:lnTo>
                    <a:pt x="4" y="26"/>
                  </a:lnTo>
                  <a:lnTo>
                    <a:pt x="0" y="34"/>
                  </a:lnTo>
                  <a:lnTo>
                    <a:pt x="13" y="36"/>
                  </a:lnTo>
                  <a:lnTo>
                    <a:pt x="13" y="36"/>
                  </a:lnTo>
                  <a:lnTo>
                    <a:pt x="25" y="18"/>
                  </a:lnTo>
                  <a:lnTo>
                    <a:pt x="33" y="0"/>
                  </a:lnTo>
                  <a:lnTo>
                    <a:pt x="12" y="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 name="Google Shape;187;p7"/>
            <p:cNvSpPr/>
            <p:nvPr/>
          </p:nvSpPr>
          <p:spPr>
            <a:xfrm>
              <a:off x="5106988" y="4727575"/>
              <a:ext cx="134937" cy="30163"/>
            </a:xfrm>
            <a:custGeom>
              <a:rect b="b" l="l" r="r" t="t"/>
              <a:pathLst>
                <a:path extrusionOk="0" h="19" w="85">
                  <a:moveTo>
                    <a:pt x="6" y="19"/>
                  </a:moveTo>
                  <a:lnTo>
                    <a:pt x="0" y="3"/>
                  </a:lnTo>
                  <a:lnTo>
                    <a:pt x="0" y="3"/>
                  </a:lnTo>
                  <a:lnTo>
                    <a:pt x="41" y="3"/>
                  </a:lnTo>
                  <a:lnTo>
                    <a:pt x="80" y="0"/>
                  </a:lnTo>
                  <a:lnTo>
                    <a:pt x="85" y="7"/>
                  </a:lnTo>
                  <a:lnTo>
                    <a:pt x="85" y="7"/>
                  </a:lnTo>
                  <a:lnTo>
                    <a:pt x="45" y="13"/>
                  </a:lnTo>
                  <a:lnTo>
                    <a:pt x="6" y="19"/>
                  </a:lnTo>
                  <a:lnTo>
                    <a:pt x="6" y="1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7"/>
            <p:cNvSpPr/>
            <p:nvPr/>
          </p:nvSpPr>
          <p:spPr>
            <a:xfrm>
              <a:off x="5211763" y="4697413"/>
              <a:ext cx="58737" cy="60325"/>
            </a:xfrm>
            <a:custGeom>
              <a:rect b="b" l="l" r="r" t="t"/>
              <a:pathLst>
                <a:path extrusionOk="0" h="38" w="37">
                  <a:moveTo>
                    <a:pt x="0" y="0"/>
                  </a:moveTo>
                  <a:lnTo>
                    <a:pt x="0" y="0"/>
                  </a:lnTo>
                  <a:lnTo>
                    <a:pt x="6" y="9"/>
                  </a:lnTo>
                  <a:lnTo>
                    <a:pt x="11" y="18"/>
                  </a:lnTo>
                  <a:lnTo>
                    <a:pt x="17" y="29"/>
                  </a:lnTo>
                  <a:lnTo>
                    <a:pt x="21" y="38"/>
                  </a:lnTo>
                  <a:lnTo>
                    <a:pt x="21" y="38"/>
                  </a:lnTo>
                  <a:lnTo>
                    <a:pt x="29" y="31"/>
                  </a:lnTo>
                  <a:lnTo>
                    <a:pt x="37" y="26"/>
                  </a:lnTo>
                  <a:lnTo>
                    <a:pt x="37" y="26"/>
                  </a:lnTo>
                  <a:lnTo>
                    <a:pt x="30" y="17"/>
                  </a:lnTo>
                  <a:lnTo>
                    <a:pt x="22" y="10"/>
                  </a:lnTo>
                  <a:lnTo>
                    <a:pt x="11" y="4"/>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 name="Google Shape;189;p7"/>
            <p:cNvSpPr/>
            <p:nvPr/>
          </p:nvSpPr>
          <p:spPr>
            <a:xfrm>
              <a:off x="4900613" y="4716463"/>
              <a:ext cx="104775" cy="39688"/>
            </a:xfrm>
            <a:custGeom>
              <a:rect b="b" l="l" r="r" t="t"/>
              <a:pathLst>
                <a:path extrusionOk="0" h="25" w="66">
                  <a:moveTo>
                    <a:pt x="8" y="25"/>
                  </a:moveTo>
                  <a:lnTo>
                    <a:pt x="0" y="9"/>
                  </a:lnTo>
                  <a:lnTo>
                    <a:pt x="0" y="9"/>
                  </a:lnTo>
                  <a:lnTo>
                    <a:pt x="17" y="7"/>
                  </a:lnTo>
                  <a:lnTo>
                    <a:pt x="34" y="5"/>
                  </a:lnTo>
                  <a:lnTo>
                    <a:pt x="66" y="0"/>
                  </a:lnTo>
                  <a:lnTo>
                    <a:pt x="66" y="0"/>
                  </a:lnTo>
                  <a:lnTo>
                    <a:pt x="54" y="7"/>
                  </a:lnTo>
                  <a:lnTo>
                    <a:pt x="39" y="15"/>
                  </a:lnTo>
                  <a:lnTo>
                    <a:pt x="24" y="20"/>
                  </a:lnTo>
                  <a:lnTo>
                    <a:pt x="8" y="25"/>
                  </a:lnTo>
                  <a:lnTo>
                    <a:pt x="8" y="2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7"/>
            <p:cNvSpPr/>
            <p:nvPr/>
          </p:nvSpPr>
          <p:spPr>
            <a:xfrm>
              <a:off x="4938713" y="4672013"/>
              <a:ext cx="25400" cy="58738"/>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7"/>
            <p:cNvSpPr/>
            <p:nvPr/>
          </p:nvSpPr>
          <p:spPr>
            <a:xfrm>
              <a:off x="4811713" y="4578350"/>
              <a:ext cx="30162" cy="179388"/>
            </a:xfrm>
            <a:custGeom>
              <a:rect b="b" l="l" r="r" t="t"/>
              <a:pathLst>
                <a:path extrusionOk="0" h="113" w="19">
                  <a:moveTo>
                    <a:pt x="0" y="113"/>
                  </a:moveTo>
                  <a:lnTo>
                    <a:pt x="0" y="0"/>
                  </a:lnTo>
                  <a:lnTo>
                    <a:pt x="19" y="6"/>
                  </a:lnTo>
                  <a:lnTo>
                    <a:pt x="17" y="9"/>
                  </a:lnTo>
                  <a:lnTo>
                    <a:pt x="17" y="113"/>
                  </a:lnTo>
                  <a:lnTo>
                    <a:pt x="0" y="1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7"/>
            <p:cNvSpPr/>
            <p:nvPr/>
          </p:nvSpPr>
          <p:spPr>
            <a:xfrm>
              <a:off x="4727575" y="4578350"/>
              <a:ext cx="30162" cy="179388"/>
            </a:xfrm>
            <a:custGeom>
              <a:rect b="b" l="l" r="r" t="t"/>
              <a:pathLst>
                <a:path extrusionOk="0" h="113" w="19">
                  <a:moveTo>
                    <a:pt x="0" y="113"/>
                  </a:moveTo>
                  <a:lnTo>
                    <a:pt x="0" y="0"/>
                  </a:lnTo>
                  <a:lnTo>
                    <a:pt x="19" y="6"/>
                  </a:lnTo>
                  <a:lnTo>
                    <a:pt x="16" y="9"/>
                  </a:lnTo>
                  <a:lnTo>
                    <a:pt x="16" y="113"/>
                  </a:lnTo>
                  <a:lnTo>
                    <a:pt x="0" y="1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7"/>
            <p:cNvSpPr/>
            <p:nvPr/>
          </p:nvSpPr>
          <p:spPr>
            <a:xfrm>
              <a:off x="4699000" y="4630738"/>
              <a:ext cx="34925" cy="80963"/>
            </a:xfrm>
            <a:custGeom>
              <a:rect b="b" l="l" r="r" t="t"/>
              <a:pathLst>
                <a:path extrusionOk="0" h="51" w="22">
                  <a:moveTo>
                    <a:pt x="0" y="51"/>
                  </a:moveTo>
                  <a:lnTo>
                    <a:pt x="0" y="51"/>
                  </a:lnTo>
                  <a:lnTo>
                    <a:pt x="5" y="41"/>
                  </a:lnTo>
                  <a:lnTo>
                    <a:pt x="10" y="29"/>
                  </a:lnTo>
                  <a:lnTo>
                    <a:pt x="14" y="17"/>
                  </a:lnTo>
                  <a:lnTo>
                    <a:pt x="17" y="0"/>
                  </a:lnTo>
                  <a:lnTo>
                    <a:pt x="22" y="0"/>
                  </a:lnTo>
                  <a:lnTo>
                    <a:pt x="22" y="34"/>
                  </a:lnTo>
                  <a:lnTo>
                    <a:pt x="22" y="34"/>
                  </a:lnTo>
                  <a:lnTo>
                    <a:pt x="11" y="43"/>
                  </a:lnTo>
                  <a:lnTo>
                    <a:pt x="6" y="48"/>
                  </a:lnTo>
                  <a:lnTo>
                    <a:pt x="0" y="51"/>
                  </a:lnTo>
                  <a:lnTo>
                    <a:pt x="0" y="5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7"/>
            <p:cNvSpPr/>
            <p:nvPr/>
          </p:nvSpPr>
          <p:spPr>
            <a:xfrm>
              <a:off x="4138613" y="4638675"/>
              <a:ext cx="34925" cy="41275"/>
            </a:xfrm>
            <a:custGeom>
              <a:rect b="b" l="l" r="r" t="t"/>
              <a:pathLst>
                <a:path extrusionOk="0" h="26" w="22">
                  <a:moveTo>
                    <a:pt x="0" y="0"/>
                  </a:moveTo>
                  <a:lnTo>
                    <a:pt x="0" y="0"/>
                  </a:lnTo>
                  <a:lnTo>
                    <a:pt x="8" y="2"/>
                  </a:lnTo>
                  <a:lnTo>
                    <a:pt x="14" y="5"/>
                  </a:lnTo>
                  <a:lnTo>
                    <a:pt x="18" y="8"/>
                  </a:lnTo>
                  <a:lnTo>
                    <a:pt x="20" y="14"/>
                  </a:lnTo>
                  <a:lnTo>
                    <a:pt x="20" y="14"/>
                  </a:lnTo>
                  <a:lnTo>
                    <a:pt x="22" y="17"/>
                  </a:lnTo>
                  <a:lnTo>
                    <a:pt x="22" y="20"/>
                  </a:lnTo>
                  <a:lnTo>
                    <a:pt x="20" y="23"/>
                  </a:lnTo>
                  <a:lnTo>
                    <a:pt x="18" y="25"/>
                  </a:lnTo>
                  <a:lnTo>
                    <a:pt x="18" y="25"/>
                  </a:lnTo>
                  <a:lnTo>
                    <a:pt x="15" y="26"/>
                  </a:lnTo>
                  <a:lnTo>
                    <a:pt x="11" y="26"/>
                  </a:lnTo>
                  <a:lnTo>
                    <a:pt x="9" y="24"/>
                  </a:lnTo>
                  <a:lnTo>
                    <a:pt x="7" y="20"/>
                  </a:lnTo>
                  <a:lnTo>
                    <a:pt x="7" y="20"/>
                  </a:lnTo>
                  <a:lnTo>
                    <a:pt x="4" y="10"/>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7"/>
            <p:cNvSpPr/>
            <p:nvPr/>
          </p:nvSpPr>
          <p:spPr>
            <a:xfrm>
              <a:off x="4087813" y="4616450"/>
              <a:ext cx="85725" cy="17463"/>
            </a:xfrm>
            <a:custGeom>
              <a:rect b="b" l="l" r="r" t="t"/>
              <a:pathLst>
                <a:path extrusionOk="0" h="11" w="54">
                  <a:moveTo>
                    <a:pt x="2" y="11"/>
                  </a:moveTo>
                  <a:lnTo>
                    <a:pt x="49" y="11"/>
                  </a:lnTo>
                  <a:lnTo>
                    <a:pt x="54" y="6"/>
                  </a:lnTo>
                  <a:lnTo>
                    <a:pt x="44" y="0"/>
                  </a:lnTo>
                  <a:lnTo>
                    <a:pt x="41" y="2"/>
                  </a:lnTo>
                  <a:lnTo>
                    <a:pt x="0" y="2"/>
                  </a:lnTo>
                  <a:lnTo>
                    <a:pt x="2"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 name="Google Shape;196;p7"/>
            <p:cNvSpPr/>
            <p:nvPr/>
          </p:nvSpPr>
          <p:spPr>
            <a:xfrm>
              <a:off x="3884613" y="4683125"/>
              <a:ext cx="98425" cy="17463"/>
            </a:xfrm>
            <a:custGeom>
              <a:rect b="b" l="l" r="r" t="t"/>
              <a:pathLst>
                <a:path extrusionOk="0" h="11" w="62">
                  <a:moveTo>
                    <a:pt x="2" y="11"/>
                  </a:moveTo>
                  <a:lnTo>
                    <a:pt x="58" y="11"/>
                  </a:lnTo>
                  <a:lnTo>
                    <a:pt x="62" y="8"/>
                  </a:lnTo>
                  <a:lnTo>
                    <a:pt x="51" y="0"/>
                  </a:lnTo>
                  <a:lnTo>
                    <a:pt x="47" y="4"/>
                  </a:lnTo>
                  <a:lnTo>
                    <a:pt x="0" y="4"/>
                  </a:lnTo>
                  <a:lnTo>
                    <a:pt x="2"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 name="Google Shape;197;p7"/>
            <p:cNvSpPr/>
            <p:nvPr/>
          </p:nvSpPr>
          <p:spPr>
            <a:xfrm>
              <a:off x="4175125" y="4616450"/>
              <a:ext cx="92075" cy="17463"/>
            </a:xfrm>
            <a:custGeom>
              <a:rect b="b" l="l" r="r" t="t"/>
              <a:pathLst>
                <a:path extrusionOk="0" h="11" w="58">
                  <a:moveTo>
                    <a:pt x="2" y="11"/>
                  </a:moveTo>
                  <a:lnTo>
                    <a:pt x="55" y="11"/>
                  </a:lnTo>
                  <a:lnTo>
                    <a:pt x="58" y="6"/>
                  </a:lnTo>
                  <a:lnTo>
                    <a:pt x="50" y="0"/>
                  </a:lnTo>
                  <a:lnTo>
                    <a:pt x="47" y="2"/>
                  </a:lnTo>
                  <a:lnTo>
                    <a:pt x="0" y="2"/>
                  </a:lnTo>
                  <a:lnTo>
                    <a:pt x="2"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7"/>
            <p:cNvSpPr/>
            <p:nvPr/>
          </p:nvSpPr>
          <p:spPr>
            <a:xfrm>
              <a:off x="4116388" y="4578350"/>
              <a:ext cx="28575" cy="179388"/>
            </a:xfrm>
            <a:custGeom>
              <a:rect b="b" l="l" r="r" t="t"/>
              <a:pathLst>
                <a:path extrusionOk="0" h="113" w="18">
                  <a:moveTo>
                    <a:pt x="0" y="113"/>
                  </a:moveTo>
                  <a:lnTo>
                    <a:pt x="0" y="0"/>
                  </a:lnTo>
                  <a:lnTo>
                    <a:pt x="18" y="6"/>
                  </a:lnTo>
                  <a:lnTo>
                    <a:pt x="16" y="9"/>
                  </a:lnTo>
                  <a:lnTo>
                    <a:pt x="16" y="113"/>
                  </a:lnTo>
                  <a:lnTo>
                    <a:pt x="0" y="1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7"/>
            <p:cNvSpPr/>
            <p:nvPr/>
          </p:nvSpPr>
          <p:spPr>
            <a:xfrm>
              <a:off x="4086225" y="4630738"/>
              <a:ext cx="33337" cy="80963"/>
            </a:xfrm>
            <a:custGeom>
              <a:rect b="b" l="l" r="r" t="t"/>
              <a:pathLst>
                <a:path extrusionOk="0" h="51" w="21">
                  <a:moveTo>
                    <a:pt x="0" y="51"/>
                  </a:moveTo>
                  <a:lnTo>
                    <a:pt x="0" y="51"/>
                  </a:lnTo>
                  <a:lnTo>
                    <a:pt x="5" y="41"/>
                  </a:lnTo>
                  <a:lnTo>
                    <a:pt x="11" y="29"/>
                  </a:lnTo>
                  <a:lnTo>
                    <a:pt x="15" y="17"/>
                  </a:lnTo>
                  <a:lnTo>
                    <a:pt x="18" y="0"/>
                  </a:lnTo>
                  <a:lnTo>
                    <a:pt x="21" y="0"/>
                  </a:lnTo>
                  <a:lnTo>
                    <a:pt x="21" y="34"/>
                  </a:lnTo>
                  <a:lnTo>
                    <a:pt x="21" y="34"/>
                  </a:lnTo>
                  <a:lnTo>
                    <a:pt x="12" y="43"/>
                  </a:lnTo>
                  <a:lnTo>
                    <a:pt x="6" y="48"/>
                  </a:lnTo>
                  <a:lnTo>
                    <a:pt x="0" y="51"/>
                  </a:lnTo>
                  <a:lnTo>
                    <a:pt x="0" y="5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 name="Google Shape;200;p7"/>
            <p:cNvSpPr/>
            <p:nvPr/>
          </p:nvSpPr>
          <p:spPr>
            <a:xfrm>
              <a:off x="4775200" y="4586288"/>
              <a:ext cx="31750" cy="60325"/>
            </a:xfrm>
            <a:custGeom>
              <a:rect b="b" l="l" r="r" t="t"/>
              <a:pathLst>
                <a:path extrusionOk="0" h="38" w="20">
                  <a:moveTo>
                    <a:pt x="18" y="7"/>
                  </a:moveTo>
                  <a:lnTo>
                    <a:pt x="18" y="7"/>
                  </a:lnTo>
                  <a:lnTo>
                    <a:pt x="16" y="17"/>
                  </a:lnTo>
                  <a:lnTo>
                    <a:pt x="13" y="25"/>
                  </a:lnTo>
                  <a:lnTo>
                    <a:pt x="8" y="32"/>
                  </a:lnTo>
                  <a:lnTo>
                    <a:pt x="0" y="38"/>
                  </a:lnTo>
                  <a:lnTo>
                    <a:pt x="0" y="38"/>
                  </a:lnTo>
                  <a:lnTo>
                    <a:pt x="2" y="30"/>
                  </a:lnTo>
                  <a:lnTo>
                    <a:pt x="2" y="20"/>
                  </a:lnTo>
                  <a:lnTo>
                    <a:pt x="4" y="0"/>
                  </a:lnTo>
                  <a:lnTo>
                    <a:pt x="20" y="5"/>
                  </a:lnTo>
                  <a:lnTo>
                    <a:pt x="18" y="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7"/>
            <p:cNvSpPr/>
            <p:nvPr/>
          </p:nvSpPr>
          <p:spPr>
            <a:xfrm>
              <a:off x="4503738" y="4578350"/>
              <a:ext cx="104775" cy="134938"/>
            </a:xfrm>
            <a:custGeom>
              <a:rect b="b" l="l" r="r" t="t"/>
              <a:pathLst>
                <a:path extrusionOk="0" h="85" w="66">
                  <a:moveTo>
                    <a:pt x="62" y="10"/>
                  </a:moveTo>
                  <a:lnTo>
                    <a:pt x="62" y="10"/>
                  </a:lnTo>
                  <a:lnTo>
                    <a:pt x="57" y="27"/>
                  </a:lnTo>
                  <a:lnTo>
                    <a:pt x="52" y="41"/>
                  </a:lnTo>
                  <a:lnTo>
                    <a:pt x="44" y="54"/>
                  </a:lnTo>
                  <a:lnTo>
                    <a:pt x="37" y="63"/>
                  </a:lnTo>
                  <a:lnTo>
                    <a:pt x="29" y="72"/>
                  </a:lnTo>
                  <a:lnTo>
                    <a:pt x="20" y="77"/>
                  </a:lnTo>
                  <a:lnTo>
                    <a:pt x="10" y="82"/>
                  </a:lnTo>
                  <a:lnTo>
                    <a:pt x="0" y="85"/>
                  </a:lnTo>
                  <a:lnTo>
                    <a:pt x="0" y="85"/>
                  </a:lnTo>
                  <a:lnTo>
                    <a:pt x="11" y="74"/>
                  </a:lnTo>
                  <a:lnTo>
                    <a:pt x="20" y="64"/>
                  </a:lnTo>
                  <a:lnTo>
                    <a:pt x="27" y="55"/>
                  </a:lnTo>
                  <a:lnTo>
                    <a:pt x="33" y="45"/>
                  </a:lnTo>
                  <a:lnTo>
                    <a:pt x="36" y="36"/>
                  </a:lnTo>
                  <a:lnTo>
                    <a:pt x="39" y="24"/>
                  </a:lnTo>
                  <a:lnTo>
                    <a:pt x="44" y="0"/>
                  </a:lnTo>
                  <a:lnTo>
                    <a:pt x="66" y="6"/>
                  </a:lnTo>
                  <a:lnTo>
                    <a:pt x="62" y="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7"/>
            <p:cNvSpPr/>
            <p:nvPr/>
          </p:nvSpPr>
          <p:spPr>
            <a:xfrm>
              <a:off x="4584700" y="4630738"/>
              <a:ext cx="98425" cy="90488"/>
            </a:xfrm>
            <a:custGeom>
              <a:rect b="b" l="l" r="r" t="t"/>
              <a:pathLst>
                <a:path extrusionOk="0" h="57" w="62">
                  <a:moveTo>
                    <a:pt x="5" y="0"/>
                  </a:moveTo>
                  <a:lnTo>
                    <a:pt x="5" y="0"/>
                  </a:lnTo>
                  <a:lnTo>
                    <a:pt x="18" y="14"/>
                  </a:lnTo>
                  <a:lnTo>
                    <a:pt x="32" y="26"/>
                  </a:lnTo>
                  <a:lnTo>
                    <a:pt x="46" y="35"/>
                  </a:lnTo>
                  <a:lnTo>
                    <a:pt x="62" y="42"/>
                  </a:lnTo>
                  <a:lnTo>
                    <a:pt x="52" y="57"/>
                  </a:lnTo>
                  <a:lnTo>
                    <a:pt x="52" y="57"/>
                  </a:lnTo>
                  <a:lnTo>
                    <a:pt x="36" y="48"/>
                  </a:lnTo>
                  <a:lnTo>
                    <a:pt x="30" y="42"/>
                  </a:lnTo>
                  <a:lnTo>
                    <a:pt x="23" y="37"/>
                  </a:lnTo>
                  <a:lnTo>
                    <a:pt x="17" y="29"/>
                  </a:lnTo>
                  <a:lnTo>
                    <a:pt x="11" y="22"/>
                  </a:lnTo>
                  <a:lnTo>
                    <a:pt x="5" y="13"/>
                  </a:lnTo>
                  <a:lnTo>
                    <a:pt x="0" y="3"/>
                  </a:lnTo>
                  <a:lnTo>
                    <a:pt x="1" y="0"/>
                  </a:lnTo>
                  <a:lnTo>
                    <a:pt x="5"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7"/>
            <p:cNvSpPr/>
            <p:nvPr/>
          </p:nvSpPr>
          <p:spPr>
            <a:xfrm>
              <a:off x="4519613" y="4586288"/>
              <a:ext cx="38100" cy="36513"/>
            </a:xfrm>
            <a:custGeom>
              <a:rect b="b" l="l" r="r" t="t"/>
              <a:pathLst>
                <a:path extrusionOk="0" h="23" w="24">
                  <a:moveTo>
                    <a:pt x="0" y="0"/>
                  </a:moveTo>
                  <a:lnTo>
                    <a:pt x="0" y="0"/>
                  </a:lnTo>
                  <a:lnTo>
                    <a:pt x="8" y="2"/>
                  </a:lnTo>
                  <a:lnTo>
                    <a:pt x="14" y="4"/>
                  </a:lnTo>
                  <a:lnTo>
                    <a:pt x="19" y="8"/>
                  </a:lnTo>
                  <a:lnTo>
                    <a:pt x="22" y="12"/>
                  </a:lnTo>
                  <a:lnTo>
                    <a:pt x="22" y="12"/>
                  </a:lnTo>
                  <a:lnTo>
                    <a:pt x="24" y="18"/>
                  </a:lnTo>
                  <a:lnTo>
                    <a:pt x="23" y="23"/>
                  </a:lnTo>
                  <a:lnTo>
                    <a:pt x="11" y="23"/>
                  </a:lnTo>
                  <a:lnTo>
                    <a:pt x="11" y="23"/>
                  </a:lnTo>
                  <a:lnTo>
                    <a:pt x="9" y="19"/>
                  </a:lnTo>
                  <a:lnTo>
                    <a:pt x="8" y="13"/>
                  </a:lnTo>
                  <a:lnTo>
                    <a:pt x="8" y="13"/>
                  </a:lnTo>
                  <a:lnTo>
                    <a:pt x="6" y="7"/>
                  </a:lnTo>
                  <a:lnTo>
                    <a:pt x="3" y="4"/>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7"/>
            <p:cNvSpPr/>
            <p:nvPr/>
          </p:nvSpPr>
          <p:spPr>
            <a:xfrm>
              <a:off x="4300538" y="4695825"/>
              <a:ext cx="66675" cy="61913"/>
            </a:xfrm>
            <a:custGeom>
              <a:rect b="b" l="l" r="r" t="t"/>
              <a:pathLst>
                <a:path extrusionOk="0" h="39" w="42">
                  <a:moveTo>
                    <a:pt x="34" y="0"/>
                  </a:moveTo>
                  <a:lnTo>
                    <a:pt x="26" y="5"/>
                  </a:lnTo>
                  <a:lnTo>
                    <a:pt x="13" y="5"/>
                  </a:lnTo>
                  <a:lnTo>
                    <a:pt x="0" y="2"/>
                  </a:lnTo>
                  <a:lnTo>
                    <a:pt x="0" y="39"/>
                  </a:lnTo>
                  <a:lnTo>
                    <a:pt x="13" y="39"/>
                  </a:lnTo>
                  <a:lnTo>
                    <a:pt x="13" y="35"/>
                  </a:lnTo>
                  <a:lnTo>
                    <a:pt x="27" y="35"/>
                  </a:lnTo>
                  <a:lnTo>
                    <a:pt x="27" y="39"/>
                  </a:lnTo>
                  <a:lnTo>
                    <a:pt x="40" y="39"/>
                  </a:lnTo>
                  <a:lnTo>
                    <a:pt x="40" y="10"/>
                  </a:lnTo>
                  <a:lnTo>
                    <a:pt x="42" y="7"/>
                  </a:lnTo>
                  <a:lnTo>
                    <a:pt x="34" y="0"/>
                  </a:lnTo>
                  <a:close/>
                  <a:moveTo>
                    <a:pt x="27" y="27"/>
                  </a:moveTo>
                  <a:lnTo>
                    <a:pt x="13" y="27"/>
                  </a:lnTo>
                  <a:lnTo>
                    <a:pt x="13" y="14"/>
                  </a:lnTo>
                  <a:lnTo>
                    <a:pt x="27" y="14"/>
                  </a:lnTo>
                  <a:lnTo>
                    <a:pt x="27" y="2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7"/>
            <p:cNvSpPr/>
            <p:nvPr/>
          </p:nvSpPr>
          <p:spPr>
            <a:xfrm>
              <a:off x="4365625" y="4575175"/>
              <a:ext cx="74612" cy="73025"/>
            </a:xfrm>
            <a:custGeom>
              <a:rect b="b" l="l" r="r" t="t"/>
              <a:pathLst>
                <a:path extrusionOk="0" h="46" w="47">
                  <a:moveTo>
                    <a:pt x="42" y="11"/>
                  </a:moveTo>
                  <a:lnTo>
                    <a:pt x="42" y="11"/>
                  </a:lnTo>
                  <a:lnTo>
                    <a:pt x="31" y="24"/>
                  </a:lnTo>
                  <a:lnTo>
                    <a:pt x="21" y="33"/>
                  </a:lnTo>
                  <a:lnTo>
                    <a:pt x="11" y="41"/>
                  </a:lnTo>
                  <a:lnTo>
                    <a:pt x="0" y="46"/>
                  </a:lnTo>
                  <a:lnTo>
                    <a:pt x="0" y="46"/>
                  </a:lnTo>
                  <a:lnTo>
                    <a:pt x="10" y="37"/>
                  </a:lnTo>
                  <a:lnTo>
                    <a:pt x="17" y="25"/>
                  </a:lnTo>
                  <a:lnTo>
                    <a:pt x="24" y="13"/>
                  </a:lnTo>
                  <a:lnTo>
                    <a:pt x="29" y="0"/>
                  </a:lnTo>
                  <a:lnTo>
                    <a:pt x="47" y="7"/>
                  </a:lnTo>
                  <a:lnTo>
                    <a:pt x="42"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7"/>
            <p:cNvSpPr/>
            <p:nvPr/>
          </p:nvSpPr>
          <p:spPr>
            <a:xfrm>
              <a:off x="4416425" y="4598988"/>
              <a:ext cx="63500" cy="50800"/>
            </a:xfrm>
            <a:custGeom>
              <a:rect b="b" l="l" r="r" t="t"/>
              <a:pathLst>
                <a:path extrusionOk="0" h="32" w="40">
                  <a:moveTo>
                    <a:pt x="4" y="0"/>
                  </a:moveTo>
                  <a:lnTo>
                    <a:pt x="4" y="0"/>
                  </a:lnTo>
                  <a:lnTo>
                    <a:pt x="13" y="8"/>
                  </a:lnTo>
                  <a:lnTo>
                    <a:pt x="21" y="13"/>
                  </a:lnTo>
                  <a:lnTo>
                    <a:pt x="31" y="16"/>
                  </a:lnTo>
                  <a:lnTo>
                    <a:pt x="40" y="18"/>
                  </a:lnTo>
                  <a:lnTo>
                    <a:pt x="32" y="32"/>
                  </a:lnTo>
                  <a:lnTo>
                    <a:pt x="32" y="32"/>
                  </a:lnTo>
                  <a:lnTo>
                    <a:pt x="23" y="27"/>
                  </a:lnTo>
                  <a:lnTo>
                    <a:pt x="14" y="20"/>
                  </a:lnTo>
                  <a:lnTo>
                    <a:pt x="7" y="13"/>
                  </a:lnTo>
                  <a:lnTo>
                    <a:pt x="0" y="5"/>
                  </a:lnTo>
                  <a:lnTo>
                    <a:pt x="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7"/>
            <p:cNvSpPr/>
            <p:nvPr/>
          </p:nvSpPr>
          <p:spPr>
            <a:xfrm>
              <a:off x="4367213" y="4605338"/>
              <a:ext cx="25400" cy="23813"/>
            </a:xfrm>
            <a:custGeom>
              <a:rect b="b" l="l" r="r" t="t"/>
              <a:pathLst>
                <a:path extrusionOk="0" h="15" w="16">
                  <a:moveTo>
                    <a:pt x="0" y="0"/>
                  </a:moveTo>
                  <a:lnTo>
                    <a:pt x="0" y="0"/>
                  </a:lnTo>
                  <a:lnTo>
                    <a:pt x="4" y="0"/>
                  </a:lnTo>
                  <a:lnTo>
                    <a:pt x="9" y="1"/>
                  </a:lnTo>
                  <a:lnTo>
                    <a:pt x="13" y="4"/>
                  </a:lnTo>
                  <a:lnTo>
                    <a:pt x="16" y="6"/>
                  </a:lnTo>
                  <a:lnTo>
                    <a:pt x="10" y="15"/>
                  </a:lnTo>
                  <a:lnTo>
                    <a:pt x="10" y="15"/>
                  </a:lnTo>
                  <a:lnTo>
                    <a:pt x="8" y="12"/>
                  </a:lnTo>
                  <a:lnTo>
                    <a:pt x="6" y="8"/>
                  </a:lnTo>
                  <a:lnTo>
                    <a:pt x="6" y="8"/>
                  </a:lnTo>
                  <a:lnTo>
                    <a:pt x="3" y="4"/>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7"/>
            <p:cNvSpPr/>
            <p:nvPr/>
          </p:nvSpPr>
          <p:spPr>
            <a:xfrm>
              <a:off x="4378325" y="4659313"/>
              <a:ext cx="88900" cy="50800"/>
            </a:xfrm>
            <a:custGeom>
              <a:rect b="b" l="l" r="r" t="t"/>
              <a:pathLst>
                <a:path extrusionOk="0" h="32" w="56">
                  <a:moveTo>
                    <a:pt x="45" y="0"/>
                  </a:moveTo>
                  <a:lnTo>
                    <a:pt x="38" y="6"/>
                  </a:lnTo>
                  <a:lnTo>
                    <a:pt x="17" y="6"/>
                  </a:lnTo>
                  <a:lnTo>
                    <a:pt x="0" y="3"/>
                  </a:lnTo>
                  <a:lnTo>
                    <a:pt x="0" y="32"/>
                  </a:lnTo>
                  <a:lnTo>
                    <a:pt x="16" y="32"/>
                  </a:lnTo>
                  <a:lnTo>
                    <a:pt x="16" y="28"/>
                  </a:lnTo>
                  <a:lnTo>
                    <a:pt x="38" y="28"/>
                  </a:lnTo>
                  <a:lnTo>
                    <a:pt x="38" y="32"/>
                  </a:lnTo>
                  <a:lnTo>
                    <a:pt x="54" y="32"/>
                  </a:lnTo>
                  <a:lnTo>
                    <a:pt x="54" y="10"/>
                  </a:lnTo>
                  <a:lnTo>
                    <a:pt x="56" y="6"/>
                  </a:lnTo>
                  <a:lnTo>
                    <a:pt x="45" y="0"/>
                  </a:lnTo>
                  <a:close/>
                  <a:moveTo>
                    <a:pt x="38" y="22"/>
                  </a:moveTo>
                  <a:lnTo>
                    <a:pt x="16" y="22"/>
                  </a:lnTo>
                  <a:lnTo>
                    <a:pt x="16" y="12"/>
                  </a:lnTo>
                  <a:lnTo>
                    <a:pt x="38" y="12"/>
                  </a:lnTo>
                  <a:lnTo>
                    <a:pt x="38" y="2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7"/>
            <p:cNvSpPr/>
            <p:nvPr/>
          </p:nvSpPr>
          <p:spPr>
            <a:xfrm>
              <a:off x="4421188" y="4703763"/>
              <a:ext cx="41275" cy="41275"/>
            </a:xfrm>
            <a:custGeom>
              <a:rect b="b" l="l" r="r" t="t"/>
              <a:pathLst>
                <a:path extrusionOk="0" h="26" w="26">
                  <a:moveTo>
                    <a:pt x="26" y="11"/>
                  </a:moveTo>
                  <a:lnTo>
                    <a:pt x="11" y="0"/>
                  </a:lnTo>
                  <a:lnTo>
                    <a:pt x="11" y="0"/>
                  </a:lnTo>
                  <a:lnTo>
                    <a:pt x="7" y="14"/>
                  </a:lnTo>
                  <a:lnTo>
                    <a:pt x="4" y="20"/>
                  </a:lnTo>
                  <a:lnTo>
                    <a:pt x="0" y="25"/>
                  </a:lnTo>
                  <a:lnTo>
                    <a:pt x="6" y="26"/>
                  </a:lnTo>
                  <a:lnTo>
                    <a:pt x="6" y="26"/>
                  </a:lnTo>
                  <a:lnTo>
                    <a:pt x="15" y="20"/>
                  </a:lnTo>
                  <a:lnTo>
                    <a:pt x="26" y="11"/>
                  </a:lnTo>
                  <a:lnTo>
                    <a:pt x="26"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7"/>
            <p:cNvSpPr/>
            <p:nvPr/>
          </p:nvSpPr>
          <p:spPr>
            <a:xfrm>
              <a:off x="4376738" y="4710113"/>
              <a:ext cx="34925" cy="38100"/>
            </a:xfrm>
            <a:custGeom>
              <a:rect b="b" l="l" r="r" t="t"/>
              <a:pathLst>
                <a:path extrusionOk="0" h="24" w="22">
                  <a:moveTo>
                    <a:pt x="0" y="0"/>
                  </a:moveTo>
                  <a:lnTo>
                    <a:pt x="0" y="0"/>
                  </a:lnTo>
                  <a:lnTo>
                    <a:pt x="8" y="1"/>
                  </a:lnTo>
                  <a:lnTo>
                    <a:pt x="13" y="4"/>
                  </a:lnTo>
                  <a:lnTo>
                    <a:pt x="19" y="8"/>
                  </a:lnTo>
                  <a:lnTo>
                    <a:pt x="21" y="14"/>
                  </a:lnTo>
                  <a:lnTo>
                    <a:pt x="21" y="14"/>
                  </a:lnTo>
                  <a:lnTo>
                    <a:pt x="22" y="18"/>
                  </a:lnTo>
                  <a:lnTo>
                    <a:pt x="21" y="21"/>
                  </a:lnTo>
                  <a:lnTo>
                    <a:pt x="19" y="23"/>
                  </a:lnTo>
                  <a:lnTo>
                    <a:pt x="14" y="24"/>
                  </a:lnTo>
                  <a:lnTo>
                    <a:pt x="14" y="24"/>
                  </a:lnTo>
                  <a:lnTo>
                    <a:pt x="12" y="23"/>
                  </a:lnTo>
                  <a:lnTo>
                    <a:pt x="11" y="21"/>
                  </a:lnTo>
                  <a:lnTo>
                    <a:pt x="7" y="13"/>
                  </a:lnTo>
                  <a:lnTo>
                    <a:pt x="7" y="13"/>
                  </a:lnTo>
                  <a:lnTo>
                    <a:pt x="5" y="6"/>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7"/>
            <p:cNvSpPr/>
            <p:nvPr/>
          </p:nvSpPr>
          <p:spPr>
            <a:xfrm>
              <a:off x="4195763" y="4578350"/>
              <a:ext cx="53975" cy="179388"/>
            </a:xfrm>
            <a:custGeom>
              <a:rect b="b" l="l" r="r" t="t"/>
              <a:pathLst>
                <a:path extrusionOk="0" h="113" w="34">
                  <a:moveTo>
                    <a:pt x="14" y="91"/>
                  </a:moveTo>
                  <a:lnTo>
                    <a:pt x="14" y="0"/>
                  </a:lnTo>
                  <a:lnTo>
                    <a:pt x="34" y="6"/>
                  </a:lnTo>
                  <a:lnTo>
                    <a:pt x="31" y="10"/>
                  </a:lnTo>
                  <a:lnTo>
                    <a:pt x="31" y="98"/>
                  </a:lnTo>
                  <a:lnTo>
                    <a:pt x="31" y="98"/>
                  </a:lnTo>
                  <a:lnTo>
                    <a:pt x="30" y="101"/>
                  </a:lnTo>
                  <a:lnTo>
                    <a:pt x="30" y="103"/>
                  </a:lnTo>
                  <a:lnTo>
                    <a:pt x="26" y="108"/>
                  </a:lnTo>
                  <a:lnTo>
                    <a:pt x="22" y="112"/>
                  </a:lnTo>
                  <a:lnTo>
                    <a:pt x="15" y="113"/>
                  </a:lnTo>
                  <a:lnTo>
                    <a:pt x="8" y="113"/>
                  </a:lnTo>
                  <a:lnTo>
                    <a:pt x="8" y="113"/>
                  </a:lnTo>
                  <a:lnTo>
                    <a:pt x="7" y="108"/>
                  </a:lnTo>
                  <a:lnTo>
                    <a:pt x="7" y="108"/>
                  </a:lnTo>
                  <a:lnTo>
                    <a:pt x="5" y="103"/>
                  </a:lnTo>
                  <a:lnTo>
                    <a:pt x="0" y="97"/>
                  </a:lnTo>
                  <a:lnTo>
                    <a:pt x="10" y="97"/>
                  </a:lnTo>
                  <a:lnTo>
                    <a:pt x="10" y="97"/>
                  </a:lnTo>
                  <a:lnTo>
                    <a:pt x="12" y="96"/>
                  </a:lnTo>
                  <a:lnTo>
                    <a:pt x="13" y="96"/>
                  </a:lnTo>
                  <a:lnTo>
                    <a:pt x="14" y="93"/>
                  </a:lnTo>
                  <a:lnTo>
                    <a:pt x="14" y="91"/>
                  </a:lnTo>
                  <a:lnTo>
                    <a:pt x="14" y="9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7"/>
            <p:cNvSpPr/>
            <p:nvPr/>
          </p:nvSpPr>
          <p:spPr>
            <a:xfrm>
              <a:off x="3984625" y="4672013"/>
              <a:ext cx="44450" cy="85725"/>
            </a:xfrm>
            <a:custGeom>
              <a:rect b="b" l="l" r="r" t="t"/>
              <a:pathLst>
                <a:path extrusionOk="0" h="54" w="28">
                  <a:moveTo>
                    <a:pt x="28" y="4"/>
                  </a:moveTo>
                  <a:lnTo>
                    <a:pt x="28" y="39"/>
                  </a:lnTo>
                  <a:lnTo>
                    <a:pt x="28" y="39"/>
                  </a:lnTo>
                  <a:lnTo>
                    <a:pt x="27" y="45"/>
                  </a:lnTo>
                  <a:lnTo>
                    <a:pt x="25" y="49"/>
                  </a:lnTo>
                  <a:lnTo>
                    <a:pt x="20" y="53"/>
                  </a:lnTo>
                  <a:lnTo>
                    <a:pt x="15" y="54"/>
                  </a:lnTo>
                  <a:lnTo>
                    <a:pt x="6" y="54"/>
                  </a:lnTo>
                  <a:lnTo>
                    <a:pt x="6" y="54"/>
                  </a:lnTo>
                  <a:lnTo>
                    <a:pt x="6" y="49"/>
                  </a:lnTo>
                  <a:lnTo>
                    <a:pt x="6" y="49"/>
                  </a:lnTo>
                  <a:lnTo>
                    <a:pt x="3" y="44"/>
                  </a:lnTo>
                  <a:lnTo>
                    <a:pt x="0" y="38"/>
                  </a:lnTo>
                  <a:lnTo>
                    <a:pt x="9" y="38"/>
                  </a:lnTo>
                  <a:lnTo>
                    <a:pt x="9" y="38"/>
                  </a:lnTo>
                  <a:lnTo>
                    <a:pt x="11" y="37"/>
                  </a:lnTo>
                  <a:lnTo>
                    <a:pt x="12" y="37"/>
                  </a:lnTo>
                  <a:lnTo>
                    <a:pt x="13" y="34"/>
                  </a:lnTo>
                  <a:lnTo>
                    <a:pt x="13" y="32"/>
                  </a:lnTo>
                  <a:lnTo>
                    <a:pt x="13" y="0"/>
                  </a:lnTo>
                  <a:lnTo>
                    <a:pt x="28" y="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7"/>
            <p:cNvSpPr/>
            <p:nvPr/>
          </p:nvSpPr>
          <p:spPr>
            <a:xfrm>
              <a:off x="3990975" y="4605338"/>
              <a:ext cx="39687" cy="49213"/>
            </a:xfrm>
            <a:custGeom>
              <a:rect b="b" l="l" r="r" t="t"/>
              <a:pathLst>
                <a:path extrusionOk="0" h="31" w="25">
                  <a:moveTo>
                    <a:pt x="0" y="0"/>
                  </a:moveTo>
                  <a:lnTo>
                    <a:pt x="0" y="0"/>
                  </a:lnTo>
                  <a:lnTo>
                    <a:pt x="7" y="3"/>
                  </a:lnTo>
                  <a:lnTo>
                    <a:pt x="13" y="6"/>
                  </a:lnTo>
                  <a:lnTo>
                    <a:pt x="18" y="11"/>
                  </a:lnTo>
                  <a:lnTo>
                    <a:pt x="22" y="15"/>
                  </a:lnTo>
                  <a:lnTo>
                    <a:pt x="22" y="15"/>
                  </a:lnTo>
                  <a:lnTo>
                    <a:pt x="24" y="21"/>
                  </a:lnTo>
                  <a:lnTo>
                    <a:pt x="25" y="25"/>
                  </a:lnTo>
                  <a:lnTo>
                    <a:pt x="24" y="28"/>
                  </a:lnTo>
                  <a:lnTo>
                    <a:pt x="22" y="31"/>
                  </a:lnTo>
                  <a:lnTo>
                    <a:pt x="13" y="31"/>
                  </a:lnTo>
                  <a:lnTo>
                    <a:pt x="13" y="31"/>
                  </a:lnTo>
                  <a:lnTo>
                    <a:pt x="11" y="27"/>
                  </a:lnTo>
                  <a:lnTo>
                    <a:pt x="9" y="24"/>
                  </a:lnTo>
                  <a:lnTo>
                    <a:pt x="8" y="15"/>
                  </a:lnTo>
                  <a:lnTo>
                    <a:pt x="8" y="15"/>
                  </a:lnTo>
                  <a:lnTo>
                    <a:pt x="7" y="11"/>
                  </a:lnTo>
                  <a:lnTo>
                    <a:pt x="5" y="7"/>
                  </a:lnTo>
                  <a:lnTo>
                    <a:pt x="0" y="0"/>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7"/>
            <p:cNvSpPr/>
            <p:nvPr/>
          </p:nvSpPr>
          <p:spPr>
            <a:xfrm>
              <a:off x="3886200" y="4713288"/>
              <a:ext cx="103187" cy="42863"/>
            </a:xfrm>
            <a:custGeom>
              <a:rect b="b" l="l" r="r" t="t"/>
              <a:pathLst>
                <a:path extrusionOk="0" h="27" w="65">
                  <a:moveTo>
                    <a:pt x="0" y="11"/>
                  </a:moveTo>
                  <a:lnTo>
                    <a:pt x="7" y="27"/>
                  </a:lnTo>
                  <a:lnTo>
                    <a:pt x="7" y="27"/>
                  </a:lnTo>
                  <a:lnTo>
                    <a:pt x="23" y="22"/>
                  </a:lnTo>
                  <a:lnTo>
                    <a:pt x="38" y="16"/>
                  </a:lnTo>
                  <a:lnTo>
                    <a:pt x="51" y="8"/>
                  </a:lnTo>
                  <a:lnTo>
                    <a:pt x="65" y="0"/>
                  </a:lnTo>
                  <a:lnTo>
                    <a:pt x="65" y="0"/>
                  </a:lnTo>
                  <a:lnTo>
                    <a:pt x="32" y="6"/>
                  </a:lnTo>
                  <a:lnTo>
                    <a:pt x="0" y="11"/>
                  </a:lnTo>
                  <a:lnTo>
                    <a:pt x="0" y="1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 name="Google Shape;215;p7"/>
            <p:cNvSpPr/>
            <p:nvPr/>
          </p:nvSpPr>
          <p:spPr>
            <a:xfrm>
              <a:off x="3890963" y="4576763"/>
              <a:ext cx="92075" cy="155575"/>
            </a:xfrm>
            <a:custGeom>
              <a:rect b="b" l="l" r="r" t="t"/>
              <a:pathLst>
                <a:path extrusionOk="0" h="98" w="58">
                  <a:moveTo>
                    <a:pt x="47" y="0"/>
                  </a:moveTo>
                  <a:lnTo>
                    <a:pt x="41" y="6"/>
                  </a:lnTo>
                  <a:lnTo>
                    <a:pt x="15" y="6"/>
                  </a:lnTo>
                  <a:lnTo>
                    <a:pt x="0" y="2"/>
                  </a:lnTo>
                  <a:lnTo>
                    <a:pt x="0" y="58"/>
                  </a:lnTo>
                  <a:lnTo>
                    <a:pt x="14" y="58"/>
                  </a:lnTo>
                  <a:lnTo>
                    <a:pt x="14" y="56"/>
                  </a:lnTo>
                  <a:lnTo>
                    <a:pt x="21" y="56"/>
                  </a:lnTo>
                  <a:lnTo>
                    <a:pt x="21" y="71"/>
                  </a:lnTo>
                  <a:lnTo>
                    <a:pt x="21" y="98"/>
                  </a:lnTo>
                  <a:lnTo>
                    <a:pt x="35" y="93"/>
                  </a:lnTo>
                  <a:lnTo>
                    <a:pt x="35" y="56"/>
                  </a:lnTo>
                  <a:lnTo>
                    <a:pt x="41" y="56"/>
                  </a:lnTo>
                  <a:lnTo>
                    <a:pt x="41" y="58"/>
                  </a:lnTo>
                  <a:lnTo>
                    <a:pt x="55" y="58"/>
                  </a:lnTo>
                  <a:lnTo>
                    <a:pt x="55" y="12"/>
                  </a:lnTo>
                  <a:lnTo>
                    <a:pt x="58" y="7"/>
                  </a:lnTo>
                  <a:lnTo>
                    <a:pt x="47" y="0"/>
                  </a:lnTo>
                  <a:close/>
                  <a:moveTo>
                    <a:pt x="21" y="47"/>
                  </a:moveTo>
                  <a:lnTo>
                    <a:pt x="14" y="47"/>
                  </a:lnTo>
                  <a:lnTo>
                    <a:pt x="14" y="34"/>
                  </a:lnTo>
                  <a:lnTo>
                    <a:pt x="21" y="34"/>
                  </a:lnTo>
                  <a:lnTo>
                    <a:pt x="21" y="47"/>
                  </a:lnTo>
                  <a:close/>
                  <a:moveTo>
                    <a:pt x="21" y="27"/>
                  </a:moveTo>
                  <a:lnTo>
                    <a:pt x="14" y="27"/>
                  </a:lnTo>
                  <a:lnTo>
                    <a:pt x="14" y="14"/>
                  </a:lnTo>
                  <a:lnTo>
                    <a:pt x="21" y="14"/>
                  </a:lnTo>
                  <a:lnTo>
                    <a:pt x="21" y="27"/>
                  </a:lnTo>
                  <a:close/>
                  <a:moveTo>
                    <a:pt x="41" y="47"/>
                  </a:moveTo>
                  <a:lnTo>
                    <a:pt x="35" y="47"/>
                  </a:lnTo>
                  <a:lnTo>
                    <a:pt x="35" y="34"/>
                  </a:lnTo>
                  <a:lnTo>
                    <a:pt x="41" y="34"/>
                  </a:lnTo>
                  <a:lnTo>
                    <a:pt x="41" y="47"/>
                  </a:lnTo>
                  <a:close/>
                  <a:moveTo>
                    <a:pt x="41" y="27"/>
                  </a:moveTo>
                  <a:lnTo>
                    <a:pt x="35" y="27"/>
                  </a:lnTo>
                  <a:lnTo>
                    <a:pt x="35" y="14"/>
                  </a:lnTo>
                  <a:lnTo>
                    <a:pt x="41" y="14"/>
                  </a:lnTo>
                  <a:lnTo>
                    <a:pt x="41" y="2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mura Standard Part Image Cover" showMasterSp="0">
  <p:cSld name="Nomura Standard Part Image Cover">
    <p:spTree>
      <p:nvGrpSpPr>
        <p:cNvPr id="216" name="Shape 216"/>
        <p:cNvGrpSpPr/>
        <p:nvPr/>
      </p:nvGrpSpPr>
      <p:grpSpPr>
        <a:xfrm>
          <a:off x="0" y="0"/>
          <a:ext cx="0" cy="0"/>
          <a:chOff x="0" y="0"/>
          <a:chExt cx="0" cy="0"/>
        </a:xfrm>
      </p:grpSpPr>
      <p:pic>
        <p:nvPicPr>
          <p:cNvPr descr="\\Europe\Data\Creative_Media\02001-03000\02154 Landor Project\PowerPoint Template\Assets\200339868_PPT.jpg" id="217" name="Google Shape;217;p8"/>
          <p:cNvPicPr preferRelativeResize="0"/>
          <p:nvPr/>
        </p:nvPicPr>
        <p:blipFill rotWithShape="1">
          <a:blip r:embed="rId2">
            <a:alphaModFix/>
          </a:blip>
          <a:srcRect b="7581" l="0" r="0" t="0"/>
          <a:stretch/>
        </p:blipFill>
        <p:spPr>
          <a:xfrm>
            <a:off x="1" y="0"/>
            <a:ext cx="3919070" cy="2514246"/>
          </a:xfrm>
          <a:prstGeom prst="rect">
            <a:avLst/>
          </a:prstGeom>
          <a:noFill/>
          <a:ln>
            <a:noFill/>
          </a:ln>
        </p:spPr>
      </p:pic>
      <p:sp>
        <p:nvSpPr>
          <p:cNvPr id="218" name="Google Shape;218;p8"/>
          <p:cNvSpPr txBox="1"/>
          <p:nvPr>
            <p:ph idx="1" type="body"/>
          </p:nvPr>
        </p:nvSpPr>
        <p:spPr>
          <a:xfrm>
            <a:off x="266400" y="3888000"/>
            <a:ext cx="7200000" cy="507600"/>
          </a:xfrm>
          <a:prstGeom prst="rect">
            <a:avLst/>
          </a:prstGeom>
          <a:noFill/>
          <a:ln>
            <a:noFill/>
          </a:ln>
        </p:spPr>
        <p:txBody>
          <a:bodyPr anchorCtr="0" anchor="t" bIns="0" lIns="0" spcFirstLastPara="1" rIns="0" wrap="square" tIns="72000">
            <a:noAutofit/>
          </a:bodyPr>
          <a:lstStyle>
            <a:lvl1pPr indent="-228600" lvl="0" marL="457200" marR="0" rtl="0" algn="l">
              <a:lnSpc>
                <a:spcPct val="120000"/>
              </a:lnSpc>
              <a:spcBef>
                <a:spcPts val="0"/>
              </a:spcBef>
              <a:spcAft>
                <a:spcPts val="0"/>
              </a:spcAft>
              <a:buSzPts val="1400"/>
              <a:buNone/>
              <a:defRPr b="1" i="0" sz="18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19" name="Google Shape;219;p8"/>
          <p:cNvSpPr txBox="1"/>
          <p:nvPr>
            <p:ph type="title"/>
          </p:nvPr>
        </p:nvSpPr>
        <p:spPr>
          <a:xfrm>
            <a:off x="266400" y="2880000"/>
            <a:ext cx="7200000" cy="858952"/>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24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220" name="Google Shape;220;p8"/>
          <p:cNvSpPr txBox="1"/>
          <p:nvPr>
            <p:ph idx="2" type="body"/>
          </p:nvPr>
        </p:nvSpPr>
        <p:spPr>
          <a:xfrm>
            <a:off x="266400" y="6453336"/>
            <a:ext cx="3960440" cy="239907"/>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21" name="Google Shape;221;p8"/>
          <p:cNvSpPr txBox="1"/>
          <p:nvPr>
            <p:ph idx="3" type="body"/>
          </p:nvPr>
        </p:nvSpPr>
        <p:spPr>
          <a:xfrm>
            <a:off x="7164466" y="4869160"/>
            <a:ext cx="2448272" cy="1223417"/>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540"/>
              </a:spcBef>
              <a:spcAft>
                <a:spcPts val="0"/>
              </a:spcAft>
              <a:buSzPts val="1400"/>
              <a:buNone/>
              <a:defRPr b="0" i="0" sz="1200" u="none" cap="none" strike="noStrike">
                <a:solidFill>
                  <a:schemeClr val="dk1"/>
                </a:solidFill>
                <a:latin typeface="Arial"/>
                <a:ea typeface="Arial"/>
                <a:cs typeface="Arial"/>
                <a:sym typeface="Arial"/>
              </a:defRPr>
            </a:lvl1pPr>
            <a:lvl2pPr indent="-281940" lvl="1" marL="914400" marR="0" rtl="0" algn="l">
              <a:spcBef>
                <a:spcPts val="54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22" name="Google Shape;222;p8"/>
          <p:cNvSpPr txBox="1"/>
          <p:nvPr/>
        </p:nvSpPr>
        <p:spPr>
          <a:xfrm>
            <a:off x="7374363" y="6315223"/>
            <a:ext cx="2238375" cy="138113"/>
          </a:xfrm>
          <a:prstGeom prst="rect">
            <a:avLst/>
          </a:prstGeom>
          <a:noFill/>
          <a:ln>
            <a:noFill/>
          </a:ln>
        </p:spPr>
        <p:txBody>
          <a:bodyPr anchorCtr="0" anchor="b" bIns="0" lIns="0" spcFirstLastPara="1" rIns="0" wrap="square" tIns="0">
            <a:spAutoFit/>
          </a:bodyPr>
          <a:lstStyle/>
          <a:p>
            <a:pPr indent="0" lvl="0" marL="0" marR="0" rtl="0" algn="r">
              <a:spcBef>
                <a:spcPts val="0"/>
              </a:spcBef>
              <a:spcAft>
                <a:spcPts val="0"/>
              </a:spcAft>
              <a:buNone/>
            </a:pPr>
            <a:r>
              <a:rPr lang="ja-JP" sz="900">
                <a:solidFill>
                  <a:schemeClr val="dk1"/>
                </a:solidFill>
                <a:latin typeface="Arial"/>
                <a:ea typeface="Arial"/>
                <a:cs typeface="Arial"/>
                <a:sym typeface="Arial"/>
              </a:rPr>
              <a:t>STRICTLY PRIVATE AND CONFIDENTIAL</a:t>
            </a:r>
            <a:endParaRPr/>
          </a:p>
        </p:txBody>
      </p:sp>
      <p:sp>
        <p:nvSpPr>
          <p:cNvPr id="223" name="Google Shape;223;p8"/>
          <p:cNvSpPr txBox="1"/>
          <p:nvPr>
            <p:ph idx="4" type="body"/>
          </p:nvPr>
        </p:nvSpPr>
        <p:spPr>
          <a:xfrm>
            <a:off x="266400" y="4869160"/>
            <a:ext cx="3960440" cy="79208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24" name="Google Shape;224;p8"/>
          <p:cNvSpPr txBox="1"/>
          <p:nvPr>
            <p:ph idx="5" type="body"/>
          </p:nvPr>
        </p:nvSpPr>
        <p:spPr>
          <a:xfrm>
            <a:off x="266400" y="5821288"/>
            <a:ext cx="3960440" cy="47200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25" name="Google Shape;225;p8"/>
          <p:cNvSpPr txBox="1"/>
          <p:nvPr/>
        </p:nvSpPr>
        <p:spPr>
          <a:xfrm>
            <a:off x="9085350" y="6577299"/>
            <a:ext cx="527388" cy="138499"/>
          </a:xfrm>
          <a:prstGeom prst="rect">
            <a:avLst/>
          </a:prstGeom>
          <a:noFill/>
          <a:ln>
            <a:noFill/>
          </a:ln>
        </p:spPr>
        <p:txBody>
          <a:bodyPr anchorCtr="0" anchor="b" bIns="0" lIns="0" spcFirstLastPara="1" rIns="0" wrap="square" tIns="0">
            <a:spAutoFit/>
          </a:bodyPr>
          <a:lstStyle/>
          <a:p>
            <a:pPr indent="0" lvl="0" marL="0" marR="0" rtl="0" algn="r">
              <a:spcBef>
                <a:spcPts val="0"/>
              </a:spcBef>
              <a:spcAft>
                <a:spcPts val="0"/>
              </a:spcAft>
              <a:buNone/>
            </a:pPr>
            <a:r>
              <a:rPr lang="ja-JP" sz="900">
                <a:solidFill>
                  <a:schemeClr val="dk1"/>
                </a:solidFill>
                <a:latin typeface="Arial"/>
                <a:ea typeface="Arial"/>
                <a:cs typeface="Arial"/>
                <a:sym typeface="Arial"/>
              </a:rPr>
              <a:t>© Nomura</a:t>
            </a:r>
            <a:endParaRPr/>
          </a:p>
        </p:txBody>
      </p:sp>
      <p:grpSp>
        <p:nvGrpSpPr>
          <p:cNvPr id="226" name="Google Shape;226;p8"/>
          <p:cNvGrpSpPr/>
          <p:nvPr/>
        </p:nvGrpSpPr>
        <p:grpSpPr>
          <a:xfrm>
            <a:off x="2606208" y="-10800"/>
            <a:ext cx="7299545" cy="2525713"/>
            <a:chOff x="2606208" y="-12700"/>
            <a:chExt cx="7299545" cy="2525713"/>
          </a:xfrm>
        </p:grpSpPr>
        <p:sp>
          <p:nvSpPr>
            <p:cNvPr id="227" name="Google Shape;227;p8"/>
            <p:cNvSpPr/>
            <p:nvPr/>
          </p:nvSpPr>
          <p:spPr>
            <a:xfrm>
              <a:off x="2628433" y="-12700"/>
              <a:ext cx="2370138" cy="2509838"/>
            </a:xfrm>
            <a:custGeom>
              <a:rect b="b" l="l" r="r" t="t"/>
              <a:pathLst>
                <a:path extrusionOk="0" h="1581" w="1493">
                  <a:moveTo>
                    <a:pt x="1493" y="0"/>
                  </a:moveTo>
                  <a:lnTo>
                    <a:pt x="663" y="0"/>
                  </a:lnTo>
                  <a:lnTo>
                    <a:pt x="0" y="1581"/>
                  </a:lnTo>
                  <a:lnTo>
                    <a:pt x="832" y="1581"/>
                  </a:lnTo>
                  <a:lnTo>
                    <a:pt x="149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8"/>
            <p:cNvSpPr/>
            <p:nvPr/>
          </p:nvSpPr>
          <p:spPr>
            <a:xfrm>
              <a:off x="6330482" y="-3175"/>
              <a:ext cx="3575271" cy="2516188"/>
            </a:xfrm>
            <a:custGeom>
              <a:rect b="b" l="l" r="r" t="t"/>
              <a:pathLst>
                <a:path extrusionOk="0" h="10000" w="10000">
                  <a:moveTo>
                    <a:pt x="0" y="3129"/>
                  </a:moveTo>
                  <a:lnTo>
                    <a:pt x="2144" y="10000"/>
                  </a:lnTo>
                  <a:lnTo>
                    <a:pt x="10000" y="10000"/>
                  </a:lnTo>
                  <a:lnTo>
                    <a:pt x="10000" y="0"/>
                  </a:lnTo>
                  <a:lnTo>
                    <a:pt x="951" y="0"/>
                  </a:lnTo>
                  <a:lnTo>
                    <a:pt x="0" y="3129"/>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8"/>
            <p:cNvSpPr/>
            <p:nvPr/>
          </p:nvSpPr>
          <p:spPr>
            <a:xfrm>
              <a:off x="5824071" y="1169988"/>
              <a:ext cx="963613" cy="1343025"/>
            </a:xfrm>
            <a:custGeom>
              <a:rect b="b" l="l" r="r" t="t"/>
              <a:pathLst>
                <a:path extrusionOk="0" h="846" w="607">
                  <a:moveTo>
                    <a:pt x="135" y="846"/>
                  </a:moveTo>
                  <a:lnTo>
                    <a:pt x="607" y="846"/>
                  </a:lnTo>
                  <a:lnTo>
                    <a:pt x="230" y="0"/>
                  </a:lnTo>
                  <a:lnTo>
                    <a:pt x="0" y="532"/>
                  </a:lnTo>
                  <a:lnTo>
                    <a:pt x="135" y="846"/>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8"/>
            <p:cNvSpPr/>
            <p:nvPr/>
          </p:nvSpPr>
          <p:spPr>
            <a:xfrm>
              <a:off x="4595346" y="827088"/>
              <a:ext cx="1241425" cy="1685925"/>
            </a:xfrm>
            <a:custGeom>
              <a:rect b="b" l="l" r="r" t="t"/>
              <a:pathLst>
                <a:path extrusionOk="0" h="1062" w="782">
                  <a:moveTo>
                    <a:pt x="0" y="1062"/>
                  </a:moveTo>
                  <a:lnTo>
                    <a:pt x="647" y="1062"/>
                  </a:lnTo>
                  <a:lnTo>
                    <a:pt x="782" y="748"/>
                  </a:lnTo>
                  <a:lnTo>
                    <a:pt x="459" y="0"/>
                  </a:lnTo>
                  <a:lnTo>
                    <a:pt x="0" y="1062"/>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1" name="Google Shape;231;p8"/>
            <p:cNvSpPr/>
            <p:nvPr/>
          </p:nvSpPr>
          <p:spPr>
            <a:xfrm>
              <a:off x="5663733" y="-3175"/>
              <a:ext cx="685800" cy="1173163"/>
            </a:xfrm>
            <a:custGeom>
              <a:rect b="b" l="l" r="r" t="t"/>
              <a:pathLst>
                <a:path extrusionOk="0" h="739" w="432">
                  <a:moveTo>
                    <a:pt x="0" y="0"/>
                  </a:moveTo>
                  <a:lnTo>
                    <a:pt x="0" y="0"/>
                  </a:lnTo>
                  <a:lnTo>
                    <a:pt x="327" y="739"/>
                  </a:lnTo>
                  <a:lnTo>
                    <a:pt x="432" y="496"/>
                  </a:lnTo>
                  <a:lnTo>
                    <a:pt x="210" y="0"/>
                  </a:lnTo>
                  <a:lnTo>
                    <a:pt x="0"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2" name="Google Shape;232;p8"/>
            <p:cNvSpPr/>
            <p:nvPr/>
          </p:nvSpPr>
          <p:spPr>
            <a:xfrm>
              <a:off x="5987583" y="-3175"/>
              <a:ext cx="692150" cy="787400"/>
            </a:xfrm>
            <a:custGeom>
              <a:rect b="b" l="l" r="r" t="t"/>
              <a:pathLst>
                <a:path extrusionOk="0" h="496" w="436">
                  <a:moveTo>
                    <a:pt x="0" y="0"/>
                  </a:moveTo>
                  <a:lnTo>
                    <a:pt x="222" y="496"/>
                  </a:lnTo>
                  <a:lnTo>
                    <a:pt x="436" y="0"/>
                  </a:lnTo>
                  <a:lnTo>
                    <a:pt x="0" y="0"/>
                  </a:lnTo>
                  <a:close/>
                </a:path>
              </a:pathLst>
            </a:custGeom>
            <a:solidFill>
              <a:srgbClr val="A618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8"/>
            <p:cNvSpPr/>
            <p:nvPr/>
          </p:nvSpPr>
          <p:spPr>
            <a:xfrm>
              <a:off x="5314483" y="-3175"/>
              <a:ext cx="877888" cy="2017713"/>
            </a:xfrm>
            <a:custGeom>
              <a:rect b="b" l="l" r="r" t="t"/>
              <a:pathLst>
                <a:path extrusionOk="0" h="1271" w="553">
                  <a:moveTo>
                    <a:pt x="0" y="523"/>
                  </a:moveTo>
                  <a:lnTo>
                    <a:pt x="323" y="1271"/>
                  </a:lnTo>
                  <a:lnTo>
                    <a:pt x="553" y="739"/>
                  </a:lnTo>
                  <a:lnTo>
                    <a:pt x="226" y="0"/>
                  </a:lnTo>
                  <a:lnTo>
                    <a:pt x="0" y="523"/>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 name="Google Shape;234;p8"/>
            <p:cNvSpPr/>
            <p:nvPr/>
          </p:nvSpPr>
          <p:spPr>
            <a:xfrm>
              <a:off x="4965233" y="-3175"/>
              <a:ext cx="717550" cy="830263"/>
            </a:xfrm>
            <a:custGeom>
              <a:rect b="b" l="l" r="r" t="t"/>
              <a:pathLst>
                <a:path extrusionOk="0" h="523" w="452">
                  <a:moveTo>
                    <a:pt x="452" y="0"/>
                  </a:moveTo>
                  <a:lnTo>
                    <a:pt x="452" y="0"/>
                  </a:lnTo>
                  <a:lnTo>
                    <a:pt x="0" y="0"/>
                  </a:lnTo>
                  <a:lnTo>
                    <a:pt x="226" y="523"/>
                  </a:lnTo>
                  <a:lnTo>
                    <a:pt x="447" y="7"/>
                  </a:lnTo>
                  <a:lnTo>
                    <a:pt x="452" y="0"/>
                  </a:lnTo>
                  <a:close/>
                </a:path>
              </a:pathLst>
            </a:custGeom>
            <a:solidFill>
              <a:srgbClr val="A2171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8"/>
            <p:cNvSpPr/>
            <p:nvPr/>
          </p:nvSpPr>
          <p:spPr>
            <a:xfrm>
              <a:off x="3919071" y="-3175"/>
              <a:ext cx="1414463" cy="2516188"/>
            </a:xfrm>
            <a:custGeom>
              <a:rect b="b" l="l" r="r" t="t"/>
              <a:pathLst>
                <a:path extrusionOk="0" h="1585" w="891">
                  <a:moveTo>
                    <a:pt x="667" y="7"/>
                  </a:moveTo>
                  <a:lnTo>
                    <a:pt x="665" y="0"/>
                  </a:lnTo>
                  <a:lnTo>
                    <a:pt x="0" y="1585"/>
                  </a:lnTo>
                  <a:lnTo>
                    <a:pt x="432" y="1585"/>
                  </a:lnTo>
                  <a:lnTo>
                    <a:pt x="891" y="523"/>
                  </a:lnTo>
                  <a:lnTo>
                    <a:pt x="667" y="7"/>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8"/>
            <p:cNvSpPr/>
            <p:nvPr/>
          </p:nvSpPr>
          <p:spPr>
            <a:xfrm>
              <a:off x="2606208" y="-3175"/>
              <a:ext cx="2381250" cy="2516188"/>
            </a:xfrm>
            <a:custGeom>
              <a:rect b="b" l="l" r="r" t="t"/>
              <a:pathLst>
                <a:path extrusionOk="0" h="1585" w="1500">
                  <a:moveTo>
                    <a:pt x="667" y="0"/>
                  </a:moveTo>
                  <a:lnTo>
                    <a:pt x="0" y="1585"/>
                  </a:lnTo>
                  <a:lnTo>
                    <a:pt x="833" y="1585"/>
                  </a:lnTo>
                  <a:lnTo>
                    <a:pt x="1500" y="0"/>
                  </a:lnTo>
                  <a:lnTo>
                    <a:pt x="667"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37" name="Google Shape;237;p8"/>
          <p:cNvGrpSpPr/>
          <p:nvPr/>
        </p:nvGrpSpPr>
        <p:grpSpPr>
          <a:xfrm>
            <a:off x="7786024" y="310690"/>
            <a:ext cx="1839368" cy="386336"/>
            <a:chOff x="7740649" y="378000"/>
            <a:chExt cx="1839368" cy="386336"/>
          </a:xfrm>
        </p:grpSpPr>
        <p:pic>
          <p:nvPicPr>
            <p:cNvPr descr="O:\Logo_Library\N\NOMURA\A4\NOMURA_A4_CMYK_WHITE.emf" id="238" name="Google Shape;238;p8"/>
            <p:cNvPicPr preferRelativeResize="0"/>
            <p:nvPr/>
          </p:nvPicPr>
          <p:blipFill rotWithShape="1">
            <a:blip r:embed="rId3">
              <a:alphaModFix/>
            </a:blip>
            <a:srcRect b="0" l="0" r="0" t="0"/>
            <a:stretch/>
          </p:blipFill>
          <p:spPr>
            <a:xfrm>
              <a:off x="8319877" y="378000"/>
              <a:ext cx="1260140" cy="216024"/>
            </a:xfrm>
            <a:prstGeom prst="rect">
              <a:avLst/>
            </a:prstGeom>
            <a:noFill/>
            <a:ln>
              <a:noFill/>
            </a:ln>
          </p:spPr>
        </p:pic>
        <p:sp>
          <p:nvSpPr>
            <p:cNvPr id="239" name="Google Shape;239;p8"/>
            <p:cNvSpPr txBox="1"/>
            <p:nvPr/>
          </p:nvSpPr>
          <p:spPr>
            <a:xfrm>
              <a:off x="7740649" y="625837"/>
              <a:ext cx="1809115" cy="138499"/>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1" lang="ja-JP" sz="900">
                  <a:solidFill>
                    <a:schemeClr val="lt1"/>
                  </a:solidFill>
                  <a:latin typeface="Arial"/>
                  <a:ea typeface="Arial"/>
                  <a:cs typeface="Arial"/>
                  <a:sym typeface="Arial"/>
                </a:rPr>
                <a:t>Connecting</a:t>
              </a:r>
              <a:r>
                <a:rPr i="1" lang="ja-JP" sz="900">
                  <a:solidFill>
                    <a:schemeClr val="lt1"/>
                  </a:solidFill>
                  <a:latin typeface="Arial"/>
                  <a:ea typeface="Arial"/>
                  <a:cs typeface="Arial"/>
                  <a:sym typeface="Arial"/>
                </a:rPr>
                <a:t> Markets East &amp; West</a:t>
              </a:r>
              <a:endParaRPr i="1" sz="900">
                <a:solidFill>
                  <a:schemeClr val="lt1"/>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mura Standard Full Image Cover" showMasterSp="0">
  <p:cSld name="Nomura Standard Full Image Cover">
    <p:spTree>
      <p:nvGrpSpPr>
        <p:cNvPr id="240" name="Shape 240"/>
        <p:cNvGrpSpPr/>
        <p:nvPr/>
      </p:nvGrpSpPr>
      <p:grpSpPr>
        <a:xfrm>
          <a:off x="0" y="0"/>
          <a:ext cx="0" cy="0"/>
          <a:chOff x="0" y="0"/>
          <a:chExt cx="0" cy="0"/>
        </a:xfrm>
      </p:grpSpPr>
      <p:pic>
        <p:nvPicPr>
          <p:cNvPr descr="\\Europe\Data\Creative_Media\02001-03000\02154 Landor Project\PowerPoint Template\Assets\200339868_PPT.jpg" id="241" name="Google Shape;241;p9"/>
          <p:cNvPicPr preferRelativeResize="0"/>
          <p:nvPr/>
        </p:nvPicPr>
        <p:blipFill rotWithShape="1">
          <a:blip r:embed="rId2">
            <a:alphaModFix/>
          </a:blip>
          <a:srcRect b="0" l="0" r="0" t="0"/>
          <a:stretch/>
        </p:blipFill>
        <p:spPr>
          <a:xfrm>
            <a:off x="0" y="0"/>
            <a:ext cx="9905752" cy="6858000"/>
          </a:xfrm>
          <a:prstGeom prst="rect">
            <a:avLst/>
          </a:prstGeom>
          <a:noFill/>
          <a:ln>
            <a:noFill/>
          </a:ln>
        </p:spPr>
      </p:pic>
      <p:sp>
        <p:nvSpPr>
          <p:cNvPr id="242" name="Google Shape;242;p9"/>
          <p:cNvSpPr txBox="1"/>
          <p:nvPr>
            <p:ph idx="1" type="body"/>
          </p:nvPr>
        </p:nvSpPr>
        <p:spPr>
          <a:xfrm>
            <a:off x="266400" y="3888000"/>
            <a:ext cx="7200000" cy="507600"/>
          </a:xfrm>
          <a:prstGeom prst="rect">
            <a:avLst/>
          </a:prstGeom>
          <a:noFill/>
          <a:ln>
            <a:noFill/>
          </a:ln>
        </p:spPr>
        <p:txBody>
          <a:bodyPr anchorCtr="0" anchor="t" bIns="0" lIns="0" spcFirstLastPara="1" rIns="0" wrap="square" tIns="72000">
            <a:noAutofit/>
          </a:bodyPr>
          <a:lstStyle>
            <a:lvl1pPr indent="-228600" lvl="0" marL="457200" marR="0" rtl="0" algn="l">
              <a:lnSpc>
                <a:spcPct val="120000"/>
              </a:lnSpc>
              <a:spcBef>
                <a:spcPts val="0"/>
              </a:spcBef>
              <a:spcAft>
                <a:spcPts val="0"/>
              </a:spcAft>
              <a:buSzPts val="1400"/>
              <a:buNone/>
              <a:defRPr b="1" i="0" sz="18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43" name="Google Shape;243;p9"/>
          <p:cNvSpPr txBox="1"/>
          <p:nvPr>
            <p:ph type="title"/>
          </p:nvPr>
        </p:nvSpPr>
        <p:spPr>
          <a:xfrm>
            <a:off x="266400" y="2880000"/>
            <a:ext cx="7200000" cy="858952"/>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24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244" name="Google Shape;244;p9"/>
          <p:cNvSpPr txBox="1"/>
          <p:nvPr>
            <p:ph idx="2" type="body"/>
          </p:nvPr>
        </p:nvSpPr>
        <p:spPr>
          <a:xfrm>
            <a:off x="266400" y="6453336"/>
            <a:ext cx="3960440" cy="239907"/>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45" name="Google Shape;245;p9"/>
          <p:cNvSpPr txBox="1"/>
          <p:nvPr>
            <p:ph idx="3" type="body"/>
          </p:nvPr>
        </p:nvSpPr>
        <p:spPr>
          <a:xfrm>
            <a:off x="7164466" y="4869160"/>
            <a:ext cx="2448272" cy="1223417"/>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540"/>
              </a:spcBef>
              <a:spcAft>
                <a:spcPts val="0"/>
              </a:spcAft>
              <a:buSzPts val="1400"/>
              <a:buNone/>
              <a:defRPr b="0" i="0" sz="1200" u="none" cap="none" strike="noStrike">
                <a:solidFill>
                  <a:schemeClr val="dk1"/>
                </a:solidFill>
                <a:latin typeface="Arial"/>
                <a:ea typeface="Arial"/>
                <a:cs typeface="Arial"/>
                <a:sym typeface="Arial"/>
              </a:defRPr>
            </a:lvl1pPr>
            <a:lvl2pPr indent="-281940" lvl="1" marL="914400" marR="0" rtl="0" algn="l">
              <a:spcBef>
                <a:spcPts val="54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46" name="Google Shape;246;p9"/>
          <p:cNvSpPr txBox="1"/>
          <p:nvPr/>
        </p:nvSpPr>
        <p:spPr>
          <a:xfrm>
            <a:off x="7374363" y="6315223"/>
            <a:ext cx="2238375" cy="138113"/>
          </a:xfrm>
          <a:prstGeom prst="rect">
            <a:avLst/>
          </a:prstGeom>
          <a:noFill/>
          <a:ln>
            <a:noFill/>
          </a:ln>
        </p:spPr>
        <p:txBody>
          <a:bodyPr anchorCtr="0" anchor="b" bIns="0" lIns="0" spcFirstLastPara="1" rIns="0" wrap="square" tIns="0">
            <a:spAutoFit/>
          </a:bodyPr>
          <a:lstStyle/>
          <a:p>
            <a:pPr indent="0" lvl="0" marL="0" marR="0" rtl="0" algn="r">
              <a:spcBef>
                <a:spcPts val="0"/>
              </a:spcBef>
              <a:spcAft>
                <a:spcPts val="0"/>
              </a:spcAft>
              <a:buNone/>
            </a:pPr>
            <a:r>
              <a:rPr lang="ja-JP" sz="900">
                <a:solidFill>
                  <a:schemeClr val="dk1"/>
                </a:solidFill>
                <a:latin typeface="Arial"/>
                <a:ea typeface="Arial"/>
                <a:cs typeface="Arial"/>
                <a:sym typeface="Arial"/>
              </a:rPr>
              <a:t>STRICTLY PRIVATE AND CONFIDENTIAL</a:t>
            </a:r>
            <a:endParaRPr/>
          </a:p>
        </p:txBody>
      </p:sp>
      <p:sp>
        <p:nvSpPr>
          <p:cNvPr id="247" name="Google Shape;247;p9"/>
          <p:cNvSpPr txBox="1"/>
          <p:nvPr>
            <p:ph idx="4" type="body"/>
          </p:nvPr>
        </p:nvSpPr>
        <p:spPr>
          <a:xfrm>
            <a:off x="266400" y="4869160"/>
            <a:ext cx="3960440" cy="79208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48" name="Google Shape;248;p9"/>
          <p:cNvSpPr txBox="1"/>
          <p:nvPr>
            <p:ph idx="5" type="body"/>
          </p:nvPr>
        </p:nvSpPr>
        <p:spPr>
          <a:xfrm>
            <a:off x="266400" y="5821288"/>
            <a:ext cx="3960440" cy="472008"/>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indent="-290830" lvl="1" marL="914400" marR="0" rtl="0" algn="l">
              <a:spcBef>
                <a:spcPts val="210"/>
              </a:spcBef>
              <a:spcAft>
                <a:spcPts val="0"/>
              </a:spcAft>
              <a:buClr>
                <a:schemeClr val="accent1"/>
              </a:buClr>
              <a:buSzPts val="980"/>
              <a:buFont typeface="Noto Sans Symbols"/>
              <a:buChar char="■"/>
              <a:defRPr b="0" i="0" sz="1400" u="none" cap="none" strike="noStrike">
                <a:solidFill>
                  <a:schemeClr val="dk1"/>
                </a:solidFill>
                <a:latin typeface="Arial"/>
                <a:ea typeface="Arial"/>
                <a:cs typeface="Arial"/>
                <a:sym typeface="Arial"/>
              </a:defRPr>
            </a:lvl2pPr>
            <a:lvl3pPr indent="-317500" lvl="2" marL="1371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5pPr>
            <a:lvl6pPr indent="-304800" lvl="5" marL="2743200" marR="0" rtl="0" algn="l">
              <a:spcBef>
                <a:spcPts val="21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49" name="Google Shape;249;p9"/>
          <p:cNvSpPr txBox="1"/>
          <p:nvPr/>
        </p:nvSpPr>
        <p:spPr>
          <a:xfrm>
            <a:off x="9085350" y="6577299"/>
            <a:ext cx="527388" cy="138499"/>
          </a:xfrm>
          <a:prstGeom prst="rect">
            <a:avLst/>
          </a:prstGeom>
          <a:noFill/>
          <a:ln>
            <a:noFill/>
          </a:ln>
        </p:spPr>
        <p:txBody>
          <a:bodyPr anchorCtr="0" anchor="b" bIns="0" lIns="0" spcFirstLastPara="1" rIns="0" wrap="square" tIns="0">
            <a:spAutoFit/>
          </a:bodyPr>
          <a:lstStyle/>
          <a:p>
            <a:pPr indent="0" lvl="0" marL="0" marR="0" rtl="0" algn="r">
              <a:spcBef>
                <a:spcPts val="0"/>
              </a:spcBef>
              <a:spcAft>
                <a:spcPts val="0"/>
              </a:spcAft>
              <a:buNone/>
            </a:pPr>
            <a:r>
              <a:rPr lang="ja-JP" sz="900">
                <a:solidFill>
                  <a:schemeClr val="dk1"/>
                </a:solidFill>
                <a:latin typeface="Arial"/>
                <a:ea typeface="Arial"/>
                <a:cs typeface="Arial"/>
                <a:sym typeface="Arial"/>
              </a:rPr>
              <a:t>© Nomura</a:t>
            </a:r>
            <a:endParaRPr/>
          </a:p>
        </p:txBody>
      </p:sp>
      <p:grpSp>
        <p:nvGrpSpPr>
          <p:cNvPr id="250" name="Google Shape;250;p9"/>
          <p:cNvGrpSpPr/>
          <p:nvPr/>
        </p:nvGrpSpPr>
        <p:grpSpPr>
          <a:xfrm>
            <a:off x="2606208" y="-7200"/>
            <a:ext cx="7299545" cy="2525713"/>
            <a:chOff x="2606208" y="0"/>
            <a:chExt cx="7299545" cy="2525713"/>
          </a:xfrm>
        </p:grpSpPr>
        <p:sp>
          <p:nvSpPr>
            <p:cNvPr id="251" name="Google Shape;251;p9"/>
            <p:cNvSpPr/>
            <p:nvPr/>
          </p:nvSpPr>
          <p:spPr>
            <a:xfrm>
              <a:off x="2628433" y="0"/>
              <a:ext cx="2370138" cy="2509838"/>
            </a:xfrm>
            <a:custGeom>
              <a:rect b="b" l="l" r="r" t="t"/>
              <a:pathLst>
                <a:path extrusionOk="0" h="1581" w="1493">
                  <a:moveTo>
                    <a:pt x="1493" y="0"/>
                  </a:moveTo>
                  <a:lnTo>
                    <a:pt x="663" y="0"/>
                  </a:lnTo>
                  <a:lnTo>
                    <a:pt x="0" y="1581"/>
                  </a:lnTo>
                  <a:lnTo>
                    <a:pt x="832" y="1581"/>
                  </a:lnTo>
                  <a:lnTo>
                    <a:pt x="149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 name="Google Shape;252;p9"/>
            <p:cNvSpPr/>
            <p:nvPr/>
          </p:nvSpPr>
          <p:spPr>
            <a:xfrm>
              <a:off x="6330482" y="9525"/>
              <a:ext cx="3575271" cy="2516188"/>
            </a:xfrm>
            <a:custGeom>
              <a:rect b="b" l="l" r="r" t="t"/>
              <a:pathLst>
                <a:path extrusionOk="0" h="10000" w="10000">
                  <a:moveTo>
                    <a:pt x="0" y="3129"/>
                  </a:moveTo>
                  <a:lnTo>
                    <a:pt x="2144" y="10000"/>
                  </a:lnTo>
                  <a:lnTo>
                    <a:pt x="10000" y="10000"/>
                  </a:lnTo>
                  <a:lnTo>
                    <a:pt x="10000" y="0"/>
                  </a:lnTo>
                  <a:lnTo>
                    <a:pt x="951" y="0"/>
                  </a:lnTo>
                  <a:lnTo>
                    <a:pt x="0" y="3129"/>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3" name="Google Shape;253;p9"/>
            <p:cNvSpPr/>
            <p:nvPr/>
          </p:nvSpPr>
          <p:spPr>
            <a:xfrm>
              <a:off x="5824071" y="1182688"/>
              <a:ext cx="963613" cy="1343025"/>
            </a:xfrm>
            <a:custGeom>
              <a:rect b="b" l="l" r="r" t="t"/>
              <a:pathLst>
                <a:path extrusionOk="0" h="846" w="607">
                  <a:moveTo>
                    <a:pt x="135" y="846"/>
                  </a:moveTo>
                  <a:lnTo>
                    <a:pt x="607" y="846"/>
                  </a:lnTo>
                  <a:lnTo>
                    <a:pt x="230" y="0"/>
                  </a:lnTo>
                  <a:lnTo>
                    <a:pt x="0" y="532"/>
                  </a:lnTo>
                  <a:lnTo>
                    <a:pt x="135" y="846"/>
                  </a:lnTo>
                  <a:close/>
                </a:path>
              </a:pathLst>
            </a:custGeom>
            <a:solidFill>
              <a:srgbClr val="CA24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 name="Google Shape;254;p9"/>
            <p:cNvSpPr/>
            <p:nvPr/>
          </p:nvSpPr>
          <p:spPr>
            <a:xfrm>
              <a:off x="4595346" y="839788"/>
              <a:ext cx="1241425" cy="1685925"/>
            </a:xfrm>
            <a:custGeom>
              <a:rect b="b" l="l" r="r" t="t"/>
              <a:pathLst>
                <a:path extrusionOk="0" h="1062" w="782">
                  <a:moveTo>
                    <a:pt x="0" y="1062"/>
                  </a:moveTo>
                  <a:lnTo>
                    <a:pt x="647" y="1062"/>
                  </a:lnTo>
                  <a:lnTo>
                    <a:pt x="782" y="748"/>
                  </a:lnTo>
                  <a:lnTo>
                    <a:pt x="459" y="0"/>
                  </a:lnTo>
                  <a:lnTo>
                    <a:pt x="0" y="1062"/>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 name="Google Shape;255;p9"/>
            <p:cNvSpPr/>
            <p:nvPr/>
          </p:nvSpPr>
          <p:spPr>
            <a:xfrm>
              <a:off x="5663733" y="9525"/>
              <a:ext cx="685800" cy="1173163"/>
            </a:xfrm>
            <a:custGeom>
              <a:rect b="b" l="l" r="r" t="t"/>
              <a:pathLst>
                <a:path extrusionOk="0" h="739" w="432">
                  <a:moveTo>
                    <a:pt x="0" y="0"/>
                  </a:moveTo>
                  <a:lnTo>
                    <a:pt x="0" y="0"/>
                  </a:lnTo>
                  <a:lnTo>
                    <a:pt x="327" y="739"/>
                  </a:lnTo>
                  <a:lnTo>
                    <a:pt x="432" y="496"/>
                  </a:lnTo>
                  <a:lnTo>
                    <a:pt x="210" y="0"/>
                  </a:lnTo>
                  <a:lnTo>
                    <a:pt x="0"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 name="Google Shape;256;p9"/>
            <p:cNvSpPr/>
            <p:nvPr/>
          </p:nvSpPr>
          <p:spPr>
            <a:xfrm>
              <a:off x="5987583" y="9525"/>
              <a:ext cx="692150" cy="787400"/>
            </a:xfrm>
            <a:custGeom>
              <a:rect b="b" l="l" r="r" t="t"/>
              <a:pathLst>
                <a:path extrusionOk="0" h="496" w="436">
                  <a:moveTo>
                    <a:pt x="0" y="0"/>
                  </a:moveTo>
                  <a:lnTo>
                    <a:pt x="222" y="496"/>
                  </a:lnTo>
                  <a:lnTo>
                    <a:pt x="436" y="0"/>
                  </a:lnTo>
                  <a:lnTo>
                    <a:pt x="0" y="0"/>
                  </a:lnTo>
                  <a:close/>
                </a:path>
              </a:pathLst>
            </a:custGeom>
            <a:solidFill>
              <a:srgbClr val="A618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 name="Google Shape;257;p9"/>
            <p:cNvSpPr/>
            <p:nvPr/>
          </p:nvSpPr>
          <p:spPr>
            <a:xfrm>
              <a:off x="5314483" y="9525"/>
              <a:ext cx="877888" cy="2017713"/>
            </a:xfrm>
            <a:custGeom>
              <a:rect b="b" l="l" r="r" t="t"/>
              <a:pathLst>
                <a:path extrusionOk="0" h="1271" w="553">
                  <a:moveTo>
                    <a:pt x="0" y="523"/>
                  </a:moveTo>
                  <a:lnTo>
                    <a:pt x="323" y="1271"/>
                  </a:lnTo>
                  <a:lnTo>
                    <a:pt x="553" y="739"/>
                  </a:lnTo>
                  <a:lnTo>
                    <a:pt x="226" y="0"/>
                  </a:lnTo>
                  <a:lnTo>
                    <a:pt x="0" y="523"/>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8" name="Google Shape;258;p9"/>
            <p:cNvSpPr/>
            <p:nvPr/>
          </p:nvSpPr>
          <p:spPr>
            <a:xfrm>
              <a:off x="4965233" y="9525"/>
              <a:ext cx="717550" cy="830263"/>
            </a:xfrm>
            <a:custGeom>
              <a:rect b="b" l="l" r="r" t="t"/>
              <a:pathLst>
                <a:path extrusionOk="0" h="523" w="452">
                  <a:moveTo>
                    <a:pt x="452" y="0"/>
                  </a:moveTo>
                  <a:lnTo>
                    <a:pt x="452" y="0"/>
                  </a:lnTo>
                  <a:lnTo>
                    <a:pt x="0" y="0"/>
                  </a:lnTo>
                  <a:lnTo>
                    <a:pt x="226" y="523"/>
                  </a:lnTo>
                  <a:lnTo>
                    <a:pt x="447" y="7"/>
                  </a:lnTo>
                  <a:lnTo>
                    <a:pt x="452" y="0"/>
                  </a:lnTo>
                  <a:close/>
                </a:path>
              </a:pathLst>
            </a:custGeom>
            <a:solidFill>
              <a:srgbClr val="A2171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9"/>
            <p:cNvSpPr/>
            <p:nvPr/>
          </p:nvSpPr>
          <p:spPr>
            <a:xfrm>
              <a:off x="3919071" y="9525"/>
              <a:ext cx="1414463" cy="2516188"/>
            </a:xfrm>
            <a:custGeom>
              <a:rect b="b" l="l" r="r" t="t"/>
              <a:pathLst>
                <a:path extrusionOk="0" h="1585" w="891">
                  <a:moveTo>
                    <a:pt x="667" y="7"/>
                  </a:moveTo>
                  <a:lnTo>
                    <a:pt x="665" y="0"/>
                  </a:lnTo>
                  <a:lnTo>
                    <a:pt x="0" y="1585"/>
                  </a:lnTo>
                  <a:lnTo>
                    <a:pt x="432" y="1585"/>
                  </a:lnTo>
                  <a:lnTo>
                    <a:pt x="891" y="523"/>
                  </a:lnTo>
                  <a:lnTo>
                    <a:pt x="667" y="7"/>
                  </a:lnTo>
                  <a:close/>
                </a:path>
              </a:pathLst>
            </a:custGeom>
            <a:solidFill>
              <a:srgbClr val="AF1B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 name="Google Shape;260;p9"/>
            <p:cNvSpPr/>
            <p:nvPr/>
          </p:nvSpPr>
          <p:spPr>
            <a:xfrm>
              <a:off x="2606208" y="9525"/>
              <a:ext cx="2381250" cy="2516188"/>
            </a:xfrm>
            <a:custGeom>
              <a:rect b="b" l="l" r="r" t="t"/>
              <a:pathLst>
                <a:path extrusionOk="0" h="1585" w="1500">
                  <a:moveTo>
                    <a:pt x="667" y="0"/>
                  </a:moveTo>
                  <a:lnTo>
                    <a:pt x="0" y="1585"/>
                  </a:lnTo>
                  <a:lnTo>
                    <a:pt x="833" y="1585"/>
                  </a:lnTo>
                  <a:lnTo>
                    <a:pt x="1500" y="0"/>
                  </a:lnTo>
                  <a:lnTo>
                    <a:pt x="667" y="0"/>
                  </a:lnTo>
                  <a:close/>
                </a:path>
              </a:pathLst>
            </a:custGeom>
            <a:solidFill>
              <a:srgbClr val="CF393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61" name="Google Shape;261;p9"/>
          <p:cNvGrpSpPr/>
          <p:nvPr/>
        </p:nvGrpSpPr>
        <p:grpSpPr>
          <a:xfrm>
            <a:off x="7786024" y="310690"/>
            <a:ext cx="1839368" cy="386336"/>
            <a:chOff x="7740649" y="378000"/>
            <a:chExt cx="1839368" cy="386336"/>
          </a:xfrm>
        </p:grpSpPr>
        <p:pic>
          <p:nvPicPr>
            <p:cNvPr descr="O:\Logo_Library\N\NOMURA\A4\NOMURA_A4_CMYK_WHITE.emf" id="262" name="Google Shape;262;p9"/>
            <p:cNvPicPr preferRelativeResize="0"/>
            <p:nvPr/>
          </p:nvPicPr>
          <p:blipFill rotWithShape="1">
            <a:blip r:embed="rId3">
              <a:alphaModFix/>
            </a:blip>
            <a:srcRect b="0" l="0" r="0" t="0"/>
            <a:stretch/>
          </p:blipFill>
          <p:spPr>
            <a:xfrm>
              <a:off x="8319877" y="378000"/>
              <a:ext cx="1260140" cy="216024"/>
            </a:xfrm>
            <a:prstGeom prst="rect">
              <a:avLst/>
            </a:prstGeom>
            <a:noFill/>
            <a:ln>
              <a:noFill/>
            </a:ln>
          </p:spPr>
        </p:pic>
        <p:sp>
          <p:nvSpPr>
            <p:cNvPr id="263" name="Google Shape;263;p9"/>
            <p:cNvSpPr txBox="1"/>
            <p:nvPr/>
          </p:nvSpPr>
          <p:spPr>
            <a:xfrm>
              <a:off x="7740649" y="625837"/>
              <a:ext cx="1809115" cy="138499"/>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1" lang="ja-JP" sz="900">
                  <a:solidFill>
                    <a:schemeClr val="lt1"/>
                  </a:solidFill>
                  <a:latin typeface="Arial"/>
                  <a:ea typeface="Arial"/>
                  <a:cs typeface="Arial"/>
                  <a:sym typeface="Arial"/>
                </a:rPr>
                <a:t>Connecting</a:t>
              </a:r>
              <a:r>
                <a:rPr i="1" lang="ja-JP" sz="900">
                  <a:solidFill>
                    <a:schemeClr val="lt1"/>
                  </a:solidFill>
                  <a:latin typeface="Arial"/>
                  <a:ea typeface="Arial"/>
                  <a:cs typeface="Arial"/>
                  <a:sym typeface="Arial"/>
                </a:rPr>
                <a:t> Markets East &amp; West</a:t>
              </a:r>
              <a:endParaRPr i="1" sz="900">
                <a:solidFill>
                  <a:schemeClr val="lt1"/>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264" name="Shape 264"/>
        <p:cNvGrpSpPr/>
        <p:nvPr/>
      </p:nvGrpSpPr>
      <p:grpSpPr>
        <a:xfrm>
          <a:off x="0" y="0"/>
          <a:ext cx="0" cy="0"/>
          <a:chOff x="0" y="0"/>
          <a:chExt cx="0" cy="0"/>
        </a:xfrm>
      </p:grpSpPr>
      <p:sp>
        <p:nvSpPr>
          <p:cNvPr id="265" name="Google Shape;265;p10"/>
          <p:cNvSpPr txBox="1"/>
          <p:nvPr/>
        </p:nvSpPr>
        <p:spPr>
          <a:xfrm>
            <a:off x="1897200" y="57600"/>
            <a:ext cx="6336000" cy="720000"/>
          </a:xfrm>
          <a:prstGeom prst="rect">
            <a:avLst/>
          </a:prstGeom>
          <a:noFill/>
          <a:ln>
            <a:noFill/>
          </a:ln>
        </p:spPr>
        <p:txBody>
          <a:bodyPr anchorCtr="0" anchor="b" bIns="0" lIns="0" spcFirstLastPara="1" rIns="0" wrap="square" tIns="0">
            <a:noAutofit/>
          </a:bodyPr>
          <a:lstStyle/>
          <a:p>
            <a:pPr indent="0" lvl="0" marL="0" marR="0" rtl="0" algn="l">
              <a:lnSpc>
                <a:spcPct val="120000"/>
              </a:lnSpc>
              <a:spcBef>
                <a:spcPts val="0"/>
              </a:spcBef>
              <a:spcAft>
                <a:spcPts val="0"/>
              </a:spcAft>
              <a:buNone/>
            </a:pPr>
            <a:r>
              <a:rPr b="1" lang="ja-JP" sz="1800">
                <a:solidFill>
                  <a:schemeClr val="dk1"/>
                </a:solidFill>
                <a:latin typeface="Arial"/>
                <a:ea typeface="Arial"/>
                <a:cs typeface="Arial"/>
                <a:sym typeface="Arial"/>
              </a:rPr>
              <a:t>Table of contents</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266" name="Shape 266"/>
        <p:cNvGrpSpPr/>
        <p:nvPr/>
      </p:nvGrpSpPr>
      <p:grpSpPr>
        <a:xfrm>
          <a:off x="0" y="0"/>
          <a:ext cx="0" cy="0"/>
          <a:chOff x="0" y="0"/>
          <a:chExt cx="0" cy="0"/>
        </a:xfrm>
      </p:grpSpPr>
      <p:sp>
        <p:nvSpPr>
          <p:cNvPr id="267" name="Google Shape;267;p11"/>
          <p:cNvSpPr txBox="1"/>
          <p:nvPr>
            <p:ph idx="1" type="body"/>
          </p:nvPr>
        </p:nvSpPr>
        <p:spPr>
          <a:xfrm>
            <a:off x="266400" y="1900799"/>
            <a:ext cx="9360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800"/>
              <a:buFont typeface="Arial"/>
              <a:buNone/>
              <a:defRPr b="0" i="0" sz="1200" u="none" cap="none" strike="noStrike">
                <a:solidFill>
                  <a:schemeClr val="dk1"/>
                </a:solidFill>
                <a:latin typeface="Arial"/>
                <a:ea typeface="Arial"/>
                <a:cs typeface="Arial"/>
                <a:sym typeface="Arial"/>
              </a:defRPr>
            </a:lvl1pPr>
            <a:lvl2pPr indent="-281940" lvl="1" marL="914400" marR="0" rtl="0" algn="l">
              <a:lnSpc>
                <a:spcPct val="120000"/>
              </a:lnSpc>
              <a:spcBef>
                <a:spcPts val="20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lnSpc>
                <a:spcPct val="120000"/>
              </a:lnSpc>
              <a:spcBef>
                <a:spcPts val="200"/>
              </a:spcBef>
              <a:spcAft>
                <a:spcPts val="0"/>
              </a:spcAft>
              <a:buClr>
                <a:schemeClr val="accent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120000"/>
              </a:lnSpc>
              <a:spcBef>
                <a:spcPts val="20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lnSpc>
                <a:spcPct val="120000"/>
              </a:lnSpc>
              <a:spcBef>
                <a:spcPts val="20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68" name="Google Shape;268;p11"/>
          <p:cNvSpPr txBox="1"/>
          <p:nvPr>
            <p:ph idx="2"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269" name="Google Shape;269;p11"/>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270" name="Google Shape;270;p11"/>
          <p:cNvSpPr txBox="1"/>
          <p:nvPr>
            <p:ph idx="3"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71" name="Google Shape;271;p11"/>
          <p:cNvSpPr txBox="1"/>
          <p:nvPr>
            <p:ph idx="4"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72" name="Google Shape;272;p11"/>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273" name="Shape 273"/>
        <p:cNvGrpSpPr/>
        <p:nvPr/>
      </p:nvGrpSpPr>
      <p:grpSpPr>
        <a:xfrm>
          <a:off x="0" y="0"/>
          <a:ext cx="0" cy="0"/>
          <a:chOff x="0" y="0"/>
          <a:chExt cx="0" cy="0"/>
        </a:xfrm>
      </p:grpSpPr>
      <p:sp>
        <p:nvSpPr>
          <p:cNvPr id="274" name="Google Shape;274;p12"/>
          <p:cNvSpPr txBox="1"/>
          <p:nvPr>
            <p:ph idx="1" type="body"/>
          </p:nvPr>
        </p:nvSpPr>
        <p:spPr>
          <a:xfrm>
            <a:off x="266400" y="1900801"/>
            <a:ext cx="4608000" cy="45381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75" name="Google Shape;275;p12"/>
          <p:cNvSpPr txBox="1"/>
          <p:nvPr>
            <p:ph idx="2" type="body"/>
          </p:nvPr>
        </p:nvSpPr>
        <p:spPr>
          <a:xfrm>
            <a:off x="5022000" y="1900801"/>
            <a:ext cx="4608160" cy="45381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76" name="Google Shape;276;p12"/>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277" name="Google Shape;277;p12"/>
          <p:cNvSpPr txBox="1"/>
          <p:nvPr>
            <p:ph idx="3"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78" name="Google Shape;278;p12"/>
          <p:cNvSpPr txBox="1"/>
          <p:nvPr>
            <p:ph idx="4"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79" name="Google Shape;279;p12"/>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12"/>
          <p:cNvSpPr txBox="1"/>
          <p:nvPr>
            <p:ph idx="5"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281" name="Google Shape;281;p12"/>
          <p:cNvSpPr txBox="1"/>
          <p:nvPr>
            <p:ph idx="6" type="body"/>
          </p:nvPr>
        </p:nvSpPr>
        <p:spPr>
          <a:xfrm>
            <a:off x="5022024" y="1684068"/>
            <a:ext cx="4608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ontent 4">
    <p:spTree>
      <p:nvGrpSpPr>
        <p:cNvPr id="282" name="Shape 282"/>
        <p:cNvGrpSpPr/>
        <p:nvPr/>
      </p:nvGrpSpPr>
      <p:grpSpPr>
        <a:xfrm>
          <a:off x="0" y="0"/>
          <a:ext cx="0" cy="0"/>
          <a:chOff x="0" y="0"/>
          <a:chExt cx="0" cy="0"/>
        </a:xfrm>
      </p:grpSpPr>
      <p:sp>
        <p:nvSpPr>
          <p:cNvPr id="283" name="Google Shape;283;p13"/>
          <p:cNvSpPr txBox="1"/>
          <p:nvPr>
            <p:ph idx="1" type="body"/>
          </p:nvPr>
        </p:nvSpPr>
        <p:spPr>
          <a:xfrm>
            <a:off x="266400" y="1900800"/>
            <a:ext cx="9360000" cy="212593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84" name="Google Shape;284;p13"/>
          <p:cNvSpPr txBox="1"/>
          <p:nvPr>
            <p:ph idx="2" type="body"/>
          </p:nvPr>
        </p:nvSpPr>
        <p:spPr>
          <a:xfrm>
            <a:off x="266400" y="4305599"/>
            <a:ext cx="9360000" cy="21333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85" name="Google Shape;285;p13"/>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286" name="Google Shape;286;p13"/>
          <p:cNvSpPr txBox="1"/>
          <p:nvPr>
            <p:ph idx="3"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87" name="Google Shape;287;p13"/>
          <p:cNvSpPr txBox="1"/>
          <p:nvPr>
            <p:ph idx="4"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88" name="Google Shape;288;p13"/>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13"/>
          <p:cNvSpPr txBox="1"/>
          <p:nvPr>
            <p:ph idx="5"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290" name="Google Shape;290;p13"/>
          <p:cNvSpPr txBox="1"/>
          <p:nvPr>
            <p:ph idx="6" type="body"/>
          </p:nvPr>
        </p:nvSpPr>
        <p:spPr>
          <a:xfrm>
            <a:off x="266400" y="4091964"/>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p:cSld name="Content 5">
    <p:spTree>
      <p:nvGrpSpPr>
        <p:cNvPr id="291" name="Shape 291"/>
        <p:cNvGrpSpPr/>
        <p:nvPr/>
      </p:nvGrpSpPr>
      <p:grpSpPr>
        <a:xfrm>
          <a:off x="0" y="0"/>
          <a:ext cx="0" cy="0"/>
          <a:chOff x="0" y="0"/>
          <a:chExt cx="0" cy="0"/>
        </a:xfrm>
      </p:grpSpPr>
      <p:sp>
        <p:nvSpPr>
          <p:cNvPr id="292" name="Google Shape;292;p14"/>
          <p:cNvSpPr txBox="1"/>
          <p:nvPr>
            <p:ph idx="1" type="body"/>
          </p:nvPr>
        </p:nvSpPr>
        <p:spPr>
          <a:xfrm>
            <a:off x="266400" y="3511116"/>
            <a:ext cx="9360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93" name="Google Shape;293;p14"/>
          <p:cNvSpPr txBox="1"/>
          <p:nvPr>
            <p:ph idx="2" type="body"/>
          </p:nvPr>
        </p:nvSpPr>
        <p:spPr>
          <a:xfrm>
            <a:off x="266400" y="5111751"/>
            <a:ext cx="9360000" cy="1327149"/>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94" name="Google Shape;294;p14"/>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295" name="Google Shape;295;p14"/>
          <p:cNvSpPr txBox="1"/>
          <p:nvPr>
            <p:ph idx="3"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96" name="Google Shape;296;p14"/>
          <p:cNvSpPr txBox="1"/>
          <p:nvPr>
            <p:ph idx="4" type="body"/>
          </p:nvPr>
        </p:nvSpPr>
        <p:spPr>
          <a:xfrm>
            <a:off x="266400" y="1900800"/>
            <a:ext cx="9360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297" name="Google Shape;297;p14"/>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298" name="Google Shape;298;p14"/>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9" name="Google Shape;299;p14"/>
          <p:cNvSpPr txBox="1"/>
          <p:nvPr>
            <p:ph idx="6"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00" name="Google Shape;300;p14"/>
          <p:cNvSpPr txBox="1"/>
          <p:nvPr>
            <p:ph idx="7" type="body"/>
          </p:nvPr>
        </p:nvSpPr>
        <p:spPr>
          <a:xfrm>
            <a:off x="266400" y="3296436"/>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01" name="Google Shape;301;p14"/>
          <p:cNvSpPr txBox="1"/>
          <p:nvPr>
            <p:ph idx="8" type="body"/>
          </p:nvPr>
        </p:nvSpPr>
        <p:spPr>
          <a:xfrm>
            <a:off x="266400" y="490082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6">
  <p:cSld name="Content 6">
    <p:spTree>
      <p:nvGrpSpPr>
        <p:cNvPr id="302" name="Shape 302"/>
        <p:cNvGrpSpPr/>
        <p:nvPr/>
      </p:nvGrpSpPr>
      <p:grpSpPr>
        <a:xfrm>
          <a:off x="0" y="0"/>
          <a:ext cx="0" cy="0"/>
          <a:chOff x="0" y="0"/>
          <a:chExt cx="0" cy="0"/>
        </a:xfrm>
      </p:grpSpPr>
      <p:sp>
        <p:nvSpPr>
          <p:cNvPr id="303" name="Google Shape;303;p15"/>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04" name="Google Shape;304;p15"/>
          <p:cNvSpPr txBox="1"/>
          <p:nvPr>
            <p:ph idx="1" type="body"/>
          </p:nvPr>
        </p:nvSpPr>
        <p:spPr>
          <a:xfrm>
            <a:off x="266400" y="6525344"/>
            <a:ext cx="8568000" cy="230400"/>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05" name="Google Shape;305;p15"/>
          <p:cNvSpPr txBox="1"/>
          <p:nvPr>
            <p:ph idx="2" type="body"/>
          </p:nvPr>
        </p:nvSpPr>
        <p:spPr>
          <a:xfrm>
            <a:off x="266400" y="1900800"/>
            <a:ext cx="4608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06" name="Google Shape;306;p15"/>
          <p:cNvSpPr txBox="1"/>
          <p:nvPr>
            <p:ph idx="3" type="body"/>
          </p:nvPr>
        </p:nvSpPr>
        <p:spPr>
          <a:xfrm>
            <a:off x="5025600" y="1900800"/>
            <a:ext cx="4608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07" name="Google Shape;307;p15"/>
          <p:cNvSpPr txBox="1"/>
          <p:nvPr>
            <p:ph idx="4" type="body"/>
          </p:nvPr>
        </p:nvSpPr>
        <p:spPr>
          <a:xfrm>
            <a:off x="266400" y="3510477"/>
            <a:ext cx="4608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08" name="Google Shape;308;p15"/>
          <p:cNvSpPr txBox="1"/>
          <p:nvPr>
            <p:ph idx="5" type="body"/>
          </p:nvPr>
        </p:nvSpPr>
        <p:spPr>
          <a:xfrm>
            <a:off x="5025600" y="3510477"/>
            <a:ext cx="4608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09" name="Google Shape;309;p15"/>
          <p:cNvSpPr txBox="1"/>
          <p:nvPr>
            <p:ph idx="6" type="body"/>
          </p:nvPr>
        </p:nvSpPr>
        <p:spPr>
          <a:xfrm>
            <a:off x="266400" y="5108240"/>
            <a:ext cx="4608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10" name="Google Shape;310;p15"/>
          <p:cNvSpPr txBox="1"/>
          <p:nvPr>
            <p:ph idx="7" type="body"/>
          </p:nvPr>
        </p:nvSpPr>
        <p:spPr>
          <a:xfrm>
            <a:off x="5025600" y="5108240"/>
            <a:ext cx="4608000" cy="1332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11" name="Google Shape;311;p15"/>
          <p:cNvSpPr txBox="1"/>
          <p:nvPr>
            <p:ph idx="8"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12" name="Google Shape;312;p15"/>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3" name="Google Shape;313;p15"/>
          <p:cNvSpPr txBox="1"/>
          <p:nvPr>
            <p:ph idx="9"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14" name="Google Shape;314;p15"/>
          <p:cNvSpPr txBox="1"/>
          <p:nvPr>
            <p:ph idx="13" type="body"/>
          </p:nvPr>
        </p:nvSpPr>
        <p:spPr>
          <a:xfrm>
            <a:off x="266400" y="3296436"/>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15" name="Google Shape;315;p15"/>
          <p:cNvSpPr txBox="1"/>
          <p:nvPr>
            <p:ph idx="14" type="body"/>
          </p:nvPr>
        </p:nvSpPr>
        <p:spPr>
          <a:xfrm>
            <a:off x="266400" y="4897780"/>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16" name="Google Shape;316;p15"/>
          <p:cNvSpPr txBox="1"/>
          <p:nvPr>
            <p:ph idx="15" type="body"/>
          </p:nvPr>
        </p:nvSpPr>
        <p:spPr>
          <a:xfrm>
            <a:off x="5026176"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17" name="Google Shape;317;p15"/>
          <p:cNvSpPr txBox="1"/>
          <p:nvPr>
            <p:ph idx="16" type="body"/>
          </p:nvPr>
        </p:nvSpPr>
        <p:spPr>
          <a:xfrm>
            <a:off x="5026176" y="3296436"/>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18" name="Google Shape;318;p15"/>
          <p:cNvSpPr txBox="1"/>
          <p:nvPr>
            <p:ph idx="17" type="body"/>
          </p:nvPr>
        </p:nvSpPr>
        <p:spPr>
          <a:xfrm>
            <a:off x="5026176" y="4897780"/>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7">
  <p:cSld name="Content 7">
    <p:spTree>
      <p:nvGrpSpPr>
        <p:cNvPr id="319" name="Shape 319"/>
        <p:cNvGrpSpPr/>
        <p:nvPr/>
      </p:nvGrpSpPr>
      <p:grpSpPr>
        <a:xfrm>
          <a:off x="0" y="0"/>
          <a:ext cx="0" cy="0"/>
          <a:chOff x="0" y="0"/>
          <a:chExt cx="0" cy="0"/>
        </a:xfrm>
      </p:grpSpPr>
      <p:sp>
        <p:nvSpPr>
          <p:cNvPr id="320" name="Google Shape;320;p16"/>
          <p:cNvSpPr txBox="1"/>
          <p:nvPr>
            <p:ph idx="1" type="body"/>
          </p:nvPr>
        </p:nvSpPr>
        <p:spPr>
          <a:xfrm>
            <a:off x="266400" y="1900799"/>
            <a:ext cx="3024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21" name="Google Shape;321;p16"/>
          <p:cNvSpPr txBox="1"/>
          <p:nvPr>
            <p:ph idx="2" type="body"/>
          </p:nvPr>
        </p:nvSpPr>
        <p:spPr>
          <a:xfrm>
            <a:off x="6606000" y="1900800"/>
            <a:ext cx="3024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22" name="Google Shape;322;p16"/>
          <p:cNvSpPr txBox="1"/>
          <p:nvPr>
            <p:ph idx="3" type="body"/>
          </p:nvPr>
        </p:nvSpPr>
        <p:spPr>
          <a:xfrm>
            <a:off x="3439800" y="1900799"/>
            <a:ext cx="3024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23" name="Google Shape;323;p16"/>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24" name="Google Shape;324;p16"/>
          <p:cNvSpPr txBox="1"/>
          <p:nvPr>
            <p:ph idx="4"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25" name="Google Shape;325;p16"/>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26" name="Google Shape;326;p16"/>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7" name="Google Shape;327;p16"/>
          <p:cNvSpPr txBox="1"/>
          <p:nvPr>
            <p:ph idx="6" type="body"/>
          </p:nvPr>
        </p:nvSpPr>
        <p:spPr>
          <a:xfrm>
            <a:off x="266400"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28" name="Google Shape;328;p16"/>
          <p:cNvSpPr txBox="1"/>
          <p:nvPr>
            <p:ph idx="7" type="body"/>
          </p:nvPr>
        </p:nvSpPr>
        <p:spPr>
          <a:xfrm>
            <a:off x="3440856"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29" name="Google Shape;329;p16"/>
          <p:cNvSpPr txBox="1"/>
          <p:nvPr>
            <p:ph idx="8" type="body"/>
          </p:nvPr>
        </p:nvSpPr>
        <p:spPr>
          <a:xfrm>
            <a:off x="6605440"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8">
  <p:cSld name="Content 8">
    <p:spTree>
      <p:nvGrpSpPr>
        <p:cNvPr id="330" name="Shape 330"/>
        <p:cNvGrpSpPr/>
        <p:nvPr/>
      </p:nvGrpSpPr>
      <p:grpSpPr>
        <a:xfrm>
          <a:off x="0" y="0"/>
          <a:ext cx="0" cy="0"/>
          <a:chOff x="0" y="0"/>
          <a:chExt cx="0" cy="0"/>
        </a:xfrm>
      </p:grpSpPr>
      <p:sp>
        <p:nvSpPr>
          <p:cNvPr id="331" name="Google Shape;331;p17"/>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32" name="Google Shape;332;p17"/>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33" name="Google Shape;333;p17"/>
          <p:cNvSpPr txBox="1"/>
          <p:nvPr>
            <p:ph idx="2" type="body"/>
          </p:nvPr>
        </p:nvSpPr>
        <p:spPr>
          <a:xfrm>
            <a:off x="266400" y="1900799"/>
            <a:ext cx="302416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34" name="Google Shape;334;p17"/>
          <p:cNvSpPr txBox="1"/>
          <p:nvPr>
            <p:ph idx="3" type="body"/>
          </p:nvPr>
        </p:nvSpPr>
        <p:spPr>
          <a:xfrm>
            <a:off x="6606000" y="1900799"/>
            <a:ext cx="302416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35" name="Google Shape;335;p17"/>
          <p:cNvSpPr txBox="1"/>
          <p:nvPr>
            <p:ph idx="4" type="body"/>
          </p:nvPr>
        </p:nvSpPr>
        <p:spPr>
          <a:xfrm>
            <a:off x="3439800" y="1900799"/>
            <a:ext cx="302416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36" name="Google Shape;336;p17"/>
          <p:cNvSpPr txBox="1"/>
          <p:nvPr>
            <p:ph idx="5" type="body"/>
          </p:nvPr>
        </p:nvSpPr>
        <p:spPr>
          <a:xfrm>
            <a:off x="266400" y="4324854"/>
            <a:ext cx="3024160" cy="211404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37" name="Google Shape;337;p17"/>
          <p:cNvSpPr txBox="1"/>
          <p:nvPr>
            <p:ph idx="6" type="body"/>
          </p:nvPr>
        </p:nvSpPr>
        <p:spPr>
          <a:xfrm>
            <a:off x="6606000" y="4324854"/>
            <a:ext cx="3024160" cy="211404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38" name="Google Shape;338;p17"/>
          <p:cNvSpPr txBox="1"/>
          <p:nvPr>
            <p:ph idx="7" type="body"/>
          </p:nvPr>
        </p:nvSpPr>
        <p:spPr>
          <a:xfrm>
            <a:off x="3439800" y="4324854"/>
            <a:ext cx="3024160" cy="211404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39" name="Google Shape;339;p17"/>
          <p:cNvSpPr txBox="1"/>
          <p:nvPr>
            <p:ph idx="8"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40" name="Google Shape;340;p17"/>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1" name="Google Shape;341;p17"/>
          <p:cNvSpPr txBox="1"/>
          <p:nvPr>
            <p:ph idx="9" type="body"/>
          </p:nvPr>
        </p:nvSpPr>
        <p:spPr>
          <a:xfrm>
            <a:off x="266400" y="1684068"/>
            <a:ext cx="3024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42" name="Google Shape;342;p17"/>
          <p:cNvSpPr txBox="1"/>
          <p:nvPr>
            <p:ph idx="13" type="body"/>
          </p:nvPr>
        </p:nvSpPr>
        <p:spPr>
          <a:xfrm>
            <a:off x="3440856" y="1684068"/>
            <a:ext cx="3024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43" name="Google Shape;343;p17"/>
          <p:cNvSpPr txBox="1"/>
          <p:nvPr>
            <p:ph idx="14" type="body"/>
          </p:nvPr>
        </p:nvSpPr>
        <p:spPr>
          <a:xfrm>
            <a:off x="6605440" y="1684068"/>
            <a:ext cx="3024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44" name="Google Shape;344;p17"/>
          <p:cNvSpPr txBox="1"/>
          <p:nvPr>
            <p:ph idx="15" type="body"/>
          </p:nvPr>
        </p:nvSpPr>
        <p:spPr>
          <a:xfrm>
            <a:off x="266400" y="4116348"/>
            <a:ext cx="3024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45" name="Google Shape;345;p17"/>
          <p:cNvSpPr txBox="1"/>
          <p:nvPr>
            <p:ph idx="16" type="body"/>
          </p:nvPr>
        </p:nvSpPr>
        <p:spPr>
          <a:xfrm>
            <a:off x="3440856" y="4116348"/>
            <a:ext cx="3024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46" name="Google Shape;346;p17"/>
          <p:cNvSpPr txBox="1"/>
          <p:nvPr>
            <p:ph idx="17" type="body"/>
          </p:nvPr>
        </p:nvSpPr>
        <p:spPr>
          <a:xfrm>
            <a:off x="6605440" y="4116348"/>
            <a:ext cx="302416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9">
  <p:cSld name="Content 9">
    <p:spTree>
      <p:nvGrpSpPr>
        <p:cNvPr id="347" name="Shape 347"/>
        <p:cNvGrpSpPr/>
        <p:nvPr/>
      </p:nvGrpSpPr>
      <p:grpSpPr>
        <a:xfrm>
          <a:off x="0" y="0"/>
          <a:ext cx="0" cy="0"/>
          <a:chOff x="0" y="0"/>
          <a:chExt cx="0" cy="0"/>
        </a:xfrm>
      </p:grpSpPr>
      <p:sp>
        <p:nvSpPr>
          <p:cNvPr id="348" name="Google Shape;348;p18"/>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49" name="Google Shape;349;p18"/>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50" name="Google Shape;350;p18"/>
          <p:cNvSpPr txBox="1"/>
          <p:nvPr>
            <p:ph idx="2" type="body"/>
          </p:nvPr>
        </p:nvSpPr>
        <p:spPr>
          <a:xfrm>
            <a:off x="266400" y="1900800"/>
            <a:ext cx="4608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51" name="Google Shape;351;p18"/>
          <p:cNvSpPr txBox="1"/>
          <p:nvPr>
            <p:ph idx="3" type="body"/>
          </p:nvPr>
        </p:nvSpPr>
        <p:spPr>
          <a:xfrm>
            <a:off x="5018400" y="1900800"/>
            <a:ext cx="4608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52" name="Google Shape;352;p18"/>
          <p:cNvSpPr txBox="1"/>
          <p:nvPr>
            <p:ph idx="4" type="body"/>
          </p:nvPr>
        </p:nvSpPr>
        <p:spPr>
          <a:xfrm>
            <a:off x="266400" y="4322070"/>
            <a:ext cx="4608000" cy="211683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53" name="Google Shape;353;p18"/>
          <p:cNvSpPr txBox="1"/>
          <p:nvPr>
            <p:ph idx="5" type="body"/>
          </p:nvPr>
        </p:nvSpPr>
        <p:spPr>
          <a:xfrm>
            <a:off x="5018400" y="4322070"/>
            <a:ext cx="4608000" cy="211683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54" name="Google Shape;354;p18"/>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55" name="Google Shape;355;p18"/>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18"/>
          <p:cNvSpPr txBox="1"/>
          <p:nvPr>
            <p:ph idx="7"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57" name="Google Shape;357;p18"/>
          <p:cNvSpPr txBox="1"/>
          <p:nvPr>
            <p:ph idx="8" type="body"/>
          </p:nvPr>
        </p:nvSpPr>
        <p:spPr>
          <a:xfrm>
            <a:off x="5017088"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58" name="Google Shape;358;p18"/>
          <p:cNvSpPr txBox="1"/>
          <p:nvPr>
            <p:ph idx="9" type="body"/>
          </p:nvPr>
        </p:nvSpPr>
        <p:spPr>
          <a:xfrm>
            <a:off x="266400" y="4111214"/>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59" name="Google Shape;359;p18"/>
          <p:cNvSpPr txBox="1"/>
          <p:nvPr>
            <p:ph idx="13" type="body"/>
          </p:nvPr>
        </p:nvSpPr>
        <p:spPr>
          <a:xfrm>
            <a:off x="5017088" y="4111214"/>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0">
  <p:cSld name="Content 10">
    <p:spTree>
      <p:nvGrpSpPr>
        <p:cNvPr id="360" name="Shape 360"/>
        <p:cNvGrpSpPr/>
        <p:nvPr/>
      </p:nvGrpSpPr>
      <p:grpSpPr>
        <a:xfrm>
          <a:off x="0" y="0"/>
          <a:ext cx="0" cy="0"/>
          <a:chOff x="0" y="0"/>
          <a:chExt cx="0" cy="0"/>
        </a:xfrm>
      </p:grpSpPr>
      <p:sp>
        <p:nvSpPr>
          <p:cNvPr id="361" name="Google Shape;361;p19"/>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62" name="Google Shape;362;p19"/>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63" name="Google Shape;363;p19"/>
          <p:cNvSpPr txBox="1"/>
          <p:nvPr>
            <p:ph idx="2" type="body"/>
          </p:nvPr>
        </p:nvSpPr>
        <p:spPr>
          <a:xfrm>
            <a:off x="266400" y="1900799"/>
            <a:ext cx="6192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64" name="Google Shape;364;p19"/>
          <p:cNvSpPr txBox="1"/>
          <p:nvPr>
            <p:ph idx="3" type="body"/>
          </p:nvPr>
        </p:nvSpPr>
        <p:spPr>
          <a:xfrm>
            <a:off x="6609600" y="1900799"/>
            <a:ext cx="3024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65" name="Google Shape;365;p19"/>
          <p:cNvSpPr txBox="1"/>
          <p:nvPr>
            <p:ph idx="4"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66" name="Google Shape;366;p19"/>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19"/>
          <p:cNvSpPr txBox="1"/>
          <p:nvPr>
            <p:ph idx="5" type="body"/>
          </p:nvPr>
        </p:nvSpPr>
        <p:spPr>
          <a:xfrm>
            <a:off x="266400" y="1684068"/>
            <a:ext cx="619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68" name="Google Shape;368;p19"/>
          <p:cNvSpPr txBox="1"/>
          <p:nvPr>
            <p:ph idx="6" type="body"/>
          </p:nvPr>
        </p:nvSpPr>
        <p:spPr>
          <a:xfrm>
            <a:off x="6609184"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1">
  <p:cSld name="Content 11">
    <p:spTree>
      <p:nvGrpSpPr>
        <p:cNvPr id="369" name="Shape 369"/>
        <p:cNvGrpSpPr/>
        <p:nvPr/>
      </p:nvGrpSpPr>
      <p:grpSpPr>
        <a:xfrm>
          <a:off x="0" y="0"/>
          <a:ext cx="0" cy="0"/>
          <a:chOff x="0" y="0"/>
          <a:chExt cx="0" cy="0"/>
        </a:xfrm>
      </p:grpSpPr>
      <p:sp>
        <p:nvSpPr>
          <p:cNvPr id="370" name="Google Shape;370;p20"/>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71" name="Google Shape;371;p20"/>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72" name="Google Shape;372;p20"/>
          <p:cNvSpPr txBox="1"/>
          <p:nvPr>
            <p:ph idx="2" type="body"/>
          </p:nvPr>
        </p:nvSpPr>
        <p:spPr>
          <a:xfrm>
            <a:off x="3441600" y="1900799"/>
            <a:ext cx="6192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73" name="Google Shape;373;p20"/>
          <p:cNvSpPr txBox="1"/>
          <p:nvPr>
            <p:ph idx="3" type="body"/>
          </p:nvPr>
        </p:nvSpPr>
        <p:spPr>
          <a:xfrm>
            <a:off x="266400" y="1900799"/>
            <a:ext cx="3024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74" name="Google Shape;374;p20"/>
          <p:cNvSpPr txBox="1"/>
          <p:nvPr>
            <p:ph idx="4"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75" name="Google Shape;375;p20"/>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20"/>
          <p:cNvSpPr txBox="1"/>
          <p:nvPr>
            <p:ph idx="5" type="body"/>
          </p:nvPr>
        </p:nvSpPr>
        <p:spPr>
          <a:xfrm>
            <a:off x="266400"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77" name="Google Shape;377;p20"/>
          <p:cNvSpPr txBox="1"/>
          <p:nvPr>
            <p:ph idx="6" type="body"/>
          </p:nvPr>
        </p:nvSpPr>
        <p:spPr>
          <a:xfrm>
            <a:off x="3440831" y="1684068"/>
            <a:ext cx="619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2">
  <p:cSld name="Content 12">
    <p:spTree>
      <p:nvGrpSpPr>
        <p:cNvPr id="378" name="Shape 378"/>
        <p:cNvGrpSpPr/>
        <p:nvPr/>
      </p:nvGrpSpPr>
      <p:grpSpPr>
        <a:xfrm>
          <a:off x="0" y="0"/>
          <a:ext cx="0" cy="0"/>
          <a:chOff x="0" y="0"/>
          <a:chExt cx="0" cy="0"/>
        </a:xfrm>
      </p:grpSpPr>
      <p:sp>
        <p:nvSpPr>
          <p:cNvPr id="379" name="Google Shape;379;p21"/>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80" name="Google Shape;380;p21"/>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81" name="Google Shape;381;p21"/>
          <p:cNvSpPr txBox="1"/>
          <p:nvPr>
            <p:ph idx="2" type="body"/>
          </p:nvPr>
        </p:nvSpPr>
        <p:spPr>
          <a:xfrm>
            <a:off x="3441600" y="1900799"/>
            <a:ext cx="6192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82" name="Google Shape;382;p21"/>
          <p:cNvSpPr txBox="1"/>
          <p:nvPr>
            <p:ph idx="3" type="body"/>
          </p:nvPr>
        </p:nvSpPr>
        <p:spPr>
          <a:xfrm>
            <a:off x="266400" y="1900799"/>
            <a:ext cx="3024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83" name="Google Shape;383;p21"/>
          <p:cNvSpPr txBox="1"/>
          <p:nvPr>
            <p:ph idx="4" type="body"/>
          </p:nvPr>
        </p:nvSpPr>
        <p:spPr>
          <a:xfrm>
            <a:off x="3441600" y="4310016"/>
            <a:ext cx="619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84" name="Google Shape;384;p21"/>
          <p:cNvSpPr txBox="1"/>
          <p:nvPr>
            <p:ph idx="5" type="body"/>
          </p:nvPr>
        </p:nvSpPr>
        <p:spPr>
          <a:xfrm>
            <a:off x="266400" y="4310016"/>
            <a:ext cx="3024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85" name="Google Shape;385;p21"/>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86" name="Google Shape;386;p21"/>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21"/>
          <p:cNvSpPr txBox="1"/>
          <p:nvPr>
            <p:ph idx="7" type="body"/>
          </p:nvPr>
        </p:nvSpPr>
        <p:spPr>
          <a:xfrm>
            <a:off x="266400"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88" name="Google Shape;388;p21"/>
          <p:cNvSpPr txBox="1"/>
          <p:nvPr>
            <p:ph idx="8" type="body"/>
          </p:nvPr>
        </p:nvSpPr>
        <p:spPr>
          <a:xfrm>
            <a:off x="3440831" y="1684068"/>
            <a:ext cx="619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89" name="Google Shape;389;p21"/>
          <p:cNvSpPr txBox="1"/>
          <p:nvPr>
            <p:ph idx="9" type="body"/>
          </p:nvPr>
        </p:nvSpPr>
        <p:spPr>
          <a:xfrm>
            <a:off x="266400" y="4117492"/>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390" name="Google Shape;390;p21"/>
          <p:cNvSpPr txBox="1"/>
          <p:nvPr>
            <p:ph idx="13" type="body"/>
          </p:nvPr>
        </p:nvSpPr>
        <p:spPr>
          <a:xfrm>
            <a:off x="3440831" y="4117492"/>
            <a:ext cx="619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3">
  <p:cSld name="Content 13">
    <p:spTree>
      <p:nvGrpSpPr>
        <p:cNvPr id="391" name="Shape 391"/>
        <p:cNvGrpSpPr/>
        <p:nvPr/>
      </p:nvGrpSpPr>
      <p:grpSpPr>
        <a:xfrm>
          <a:off x="0" y="0"/>
          <a:ext cx="0" cy="0"/>
          <a:chOff x="0" y="0"/>
          <a:chExt cx="0" cy="0"/>
        </a:xfrm>
      </p:grpSpPr>
      <p:sp>
        <p:nvSpPr>
          <p:cNvPr id="392" name="Google Shape;392;p22"/>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393" name="Google Shape;393;p22"/>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94" name="Google Shape;394;p22"/>
          <p:cNvSpPr txBox="1"/>
          <p:nvPr>
            <p:ph idx="2" type="body"/>
          </p:nvPr>
        </p:nvSpPr>
        <p:spPr>
          <a:xfrm>
            <a:off x="266400" y="1900799"/>
            <a:ext cx="6192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95" name="Google Shape;395;p22"/>
          <p:cNvSpPr txBox="1"/>
          <p:nvPr>
            <p:ph idx="3" type="body"/>
          </p:nvPr>
        </p:nvSpPr>
        <p:spPr>
          <a:xfrm>
            <a:off x="6609600" y="1900799"/>
            <a:ext cx="3024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96" name="Google Shape;396;p22"/>
          <p:cNvSpPr txBox="1"/>
          <p:nvPr>
            <p:ph idx="4" type="body"/>
          </p:nvPr>
        </p:nvSpPr>
        <p:spPr>
          <a:xfrm>
            <a:off x="266400" y="4338891"/>
            <a:ext cx="6192000" cy="2100009"/>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97" name="Google Shape;397;p22"/>
          <p:cNvSpPr txBox="1"/>
          <p:nvPr>
            <p:ph idx="5" type="body"/>
          </p:nvPr>
        </p:nvSpPr>
        <p:spPr>
          <a:xfrm>
            <a:off x="6609600" y="4338891"/>
            <a:ext cx="3024000" cy="2100009"/>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398" name="Google Shape;398;p22"/>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399" name="Google Shape;399;p22"/>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0" name="Google Shape;400;p22"/>
          <p:cNvSpPr txBox="1"/>
          <p:nvPr>
            <p:ph idx="7" type="body"/>
          </p:nvPr>
        </p:nvSpPr>
        <p:spPr>
          <a:xfrm>
            <a:off x="266400" y="1684068"/>
            <a:ext cx="619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01" name="Google Shape;401;p22"/>
          <p:cNvSpPr txBox="1"/>
          <p:nvPr>
            <p:ph idx="8" type="body"/>
          </p:nvPr>
        </p:nvSpPr>
        <p:spPr>
          <a:xfrm>
            <a:off x="6609184" y="168406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02" name="Google Shape;402;p22"/>
          <p:cNvSpPr txBox="1"/>
          <p:nvPr>
            <p:ph idx="9" type="body"/>
          </p:nvPr>
        </p:nvSpPr>
        <p:spPr>
          <a:xfrm>
            <a:off x="266400" y="4112498"/>
            <a:ext cx="619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03" name="Google Shape;403;p22"/>
          <p:cNvSpPr txBox="1"/>
          <p:nvPr>
            <p:ph idx="13" type="body"/>
          </p:nvPr>
        </p:nvSpPr>
        <p:spPr>
          <a:xfrm>
            <a:off x="6609184" y="4112498"/>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4">
  <p:cSld name="Content 14">
    <p:spTree>
      <p:nvGrpSpPr>
        <p:cNvPr id="404" name="Shape 404"/>
        <p:cNvGrpSpPr/>
        <p:nvPr/>
      </p:nvGrpSpPr>
      <p:grpSpPr>
        <a:xfrm>
          <a:off x="0" y="0"/>
          <a:ext cx="0" cy="0"/>
          <a:chOff x="0" y="0"/>
          <a:chExt cx="0" cy="0"/>
        </a:xfrm>
      </p:grpSpPr>
      <p:sp>
        <p:nvSpPr>
          <p:cNvPr id="405" name="Google Shape;405;p23"/>
          <p:cNvSpPr txBox="1"/>
          <p:nvPr>
            <p:ph idx="1" type="body"/>
          </p:nvPr>
        </p:nvSpPr>
        <p:spPr>
          <a:xfrm>
            <a:off x="266400" y="1900799"/>
            <a:ext cx="2232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06" name="Google Shape;406;p23"/>
          <p:cNvSpPr txBox="1"/>
          <p:nvPr>
            <p:ph idx="2" type="body"/>
          </p:nvPr>
        </p:nvSpPr>
        <p:spPr>
          <a:xfrm>
            <a:off x="2642400" y="1900799"/>
            <a:ext cx="2232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07" name="Google Shape;407;p23"/>
          <p:cNvSpPr txBox="1"/>
          <p:nvPr>
            <p:ph idx="3" type="body"/>
          </p:nvPr>
        </p:nvSpPr>
        <p:spPr>
          <a:xfrm>
            <a:off x="5025600" y="1900799"/>
            <a:ext cx="2232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08" name="Google Shape;408;p23"/>
          <p:cNvSpPr txBox="1"/>
          <p:nvPr>
            <p:ph idx="4" type="body"/>
          </p:nvPr>
        </p:nvSpPr>
        <p:spPr>
          <a:xfrm>
            <a:off x="7401600" y="1900799"/>
            <a:ext cx="2232000" cy="4538101"/>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09" name="Google Shape;409;p23"/>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10" name="Google Shape;410;p23"/>
          <p:cNvSpPr txBox="1"/>
          <p:nvPr>
            <p:ph idx="5"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11" name="Google Shape;411;p23"/>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12" name="Google Shape;412;p23"/>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3" name="Google Shape;413;p23"/>
          <p:cNvSpPr txBox="1"/>
          <p:nvPr>
            <p:ph idx="7" type="body"/>
          </p:nvPr>
        </p:nvSpPr>
        <p:spPr>
          <a:xfrm>
            <a:off x="266400"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14" name="Google Shape;414;p23"/>
          <p:cNvSpPr txBox="1"/>
          <p:nvPr>
            <p:ph idx="8" type="body"/>
          </p:nvPr>
        </p:nvSpPr>
        <p:spPr>
          <a:xfrm>
            <a:off x="2641512"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15" name="Google Shape;415;p23"/>
          <p:cNvSpPr txBox="1"/>
          <p:nvPr>
            <p:ph idx="9" type="body"/>
          </p:nvPr>
        </p:nvSpPr>
        <p:spPr>
          <a:xfrm>
            <a:off x="5025600"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16" name="Google Shape;416;p23"/>
          <p:cNvSpPr txBox="1"/>
          <p:nvPr>
            <p:ph idx="13" type="body"/>
          </p:nvPr>
        </p:nvSpPr>
        <p:spPr>
          <a:xfrm>
            <a:off x="7401600"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5">
  <p:cSld name="Content 15">
    <p:spTree>
      <p:nvGrpSpPr>
        <p:cNvPr id="417" name="Shape 417"/>
        <p:cNvGrpSpPr/>
        <p:nvPr/>
      </p:nvGrpSpPr>
      <p:grpSpPr>
        <a:xfrm>
          <a:off x="0" y="0"/>
          <a:ext cx="0" cy="0"/>
          <a:chOff x="0" y="0"/>
          <a:chExt cx="0" cy="0"/>
        </a:xfrm>
      </p:grpSpPr>
      <p:sp>
        <p:nvSpPr>
          <p:cNvPr id="418" name="Google Shape;418;p24"/>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19" name="Google Shape;419;p24"/>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20" name="Google Shape;420;p24"/>
          <p:cNvSpPr txBox="1"/>
          <p:nvPr>
            <p:ph idx="2" type="body"/>
          </p:nvPr>
        </p:nvSpPr>
        <p:spPr>
          <a:xfrm>
            <a:off x="266400" y="1900799"/>
            <a:ext cx="2232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1" name="Google Shape;421;p24"/>
          <p:cNvSpPr txBox="1"/>
          <p:nvPr>
            <p:ph idx="3" type="body"/>
          </p:nvPr>
        </p:nvSpPr>
        <p:spPr>
          <a:xfrm>
            <a:off x="2642400" y="1900799"/>
            <a:ext cx="2232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2" name="Google Shape;422;p24"/>
          <p:cNvSpPr txBox="1"/>
          <p:nvPr>
            <p:ph idx="4" type="body"/>
          </p:nvPr>
        </p:nvSpPr>
        <p:spPr>
          <a:xfrm>
            <a:off x="5025600" y="1900799"/>
            <a:ext cx="2232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3" name="Google Shape;423;p24"/>
          <p:cNvSpPr txBox="1"/>
          <p:nvPr>
            <p:ph idx="5" type="body"/>
          </p:nvPr>
        </p:nvSpPr>
        <p:spPr>
          <a:xfrm>
            <a:off x="7401600" y="1900799"/>
            <a:ext cx="2232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4" name="Google Shape;424;p24"/>
          <p:cNvSpPr txBox="1"/>
          <p:nvPr>
            <p:ph idx="6" type="body"/>
          </p:nvPr>
        </p:nvSpPr>
        <p:spPr>
          <a:xfrm>
            <a:off x="2664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5" name="Google Shape;425;p24"/>
          <p:cNvSpPr txBox="1"/>
          <p:nvPr>
            <p:ph idx="7" type="body"/>
          </p:nvPr>
        </p:nvSpPr>
        <p:spPr>
          <a:xfrm>
            <a:off x="26424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6" name="Google Shape;426;p24"/>
          <p:cNvSpPr txBox="1"/>
          <p:nvPr>
            <p:ph idx="8" type="body"/>
          </p:nvPr>
        </p:nvSpPr>
        <p:spPr>
          <a:xfrm>
            <a:off x="50256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7" name="Google Shape;427;p24"/>
          <p:cNvSpPr txBox="1"/>
          <p:nvPr>
            <p:ph idx="9" type="body"/>
          </p:nvPr>
        </p:nvSpPr>
        <p:spPr>
          <a:xfrm>
            <a:off x="74016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28" name="Google Shape;428;p24"/>
          <p:cNvSpPr txBox="1"/>
          <p:nvPr>
            <p:ph idx="13"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29" name="Google Shape;429;p24"/>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24"/>
          <p:cNvSpPr txBox="1"/>
          <p:nvPr>
            <p:ph idx="14" type="body"/>
          </p:nvPr>
        </p:nvSpPr>
        <p:spPr>
          <a:xfrm>
            <a:off x="266400"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1" name="Google Shape;431;p24"/>
          <p:cNvSpPr txBox="1"/>
          <p:nvPr>
            <p:ph idx="15" type="body"/>
          </p:nvPr>
        </p:nvSpPr>
        <p:spPr>
          <a:xfrm>
            <a:off x="2641512"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2" name="Google Shape;432;p24"/>
          <p:cNvSpPr txBox="1"/>
          <p:nvPr>
            <p:ph idx="16" type="body"/>
          </p:nvPr>
        </p:nvSpPr>
        <p:spPr>
          <a:xfrm>
            <a:off x="5025600"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3" name="Google Shape;433;p24"/>
          <p:cNvSpPr txBox="1"/>
          <p:nvPr>
            <p:ph idx="17" type="body"/>
          </p:nvPr>
        </p:nvSpPr>
        <p:spPr>
          <a:xfrm>
            <a:off x="7401600" y="1684068"/>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4" name="Google Shape;434;p24"/>
          <p:cNvSpPr txBox="1"/>
          <p:nvPr>
            <p:ph idx="18" type="body"/>
          </p:nvPr>
        </p:nvSpPr>
        <p:spPr>
          <a:xfrm>
            <a:off x="266400"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5" name="Google Shape;435;p24"/>
          <p:cNvSpPr txBox="1"/>
          <p:nvPr>
            <p:ph idx="19" type="body"/>
          </p:nvPr>
        </p:nvSpPr>
        <p:spPr>
          <a:xfrm>
            <a:off x="2641512"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6" name="Google Shape;436;p24"/>
          <p:cNvSpPr txBox="1"/>
          <p:nvPr>
            <p:ph idx="20" type="body"/>
          </p:nvPr>
        </p:nvSpPr>
        <p:spPr>
          <a:xfrm>
            <a:off x="5025600"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37" name="Google Shape;437;p24"/>
          <p:cNvSpPr txBox="1"/>
          <p:nvPr>
            <p:ph idx="21" type="body"/>
          </p:nvPr>
        </p:nvSpPr>
        <p:spPr>
          <a:xfrm>
            <a:off x="7401600"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6">
  <p:cSld name="Content 16">
    <p:spTree>
      <p:nvGrpSpPr>
        <p:cNvPr id="438" name="Shape 438"/>
        <p:cNvGrpSpPr/>
        <p:nvPr/>
      </p:nvGrpSpPr>
      <p:grpSpPr>
        <a:xfrm>
          <a:off x="0" y="0"/>
          <a:ext cx="0" cy="0"/>
          <a:chOff x="0" y="0"/>
          <a:chExt cx="0" cy="0"/>
        </a:xfrm>
      </p:grpSpPr>
      <p:sp>
        <p:nvSpPr>
          <p:cNvPr id="439" name="Google Shape;439;p25"/>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40" name="Google Shape;440;p25"/>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41" name="Google Shape;441;p25"/>
          <p:cNvSpPr txBox="1"/>
          <p:nvPr>
            <p:ph idx="2" type="body"/>
          </p:nvPr>
        </p:nvSpPr>
        <p:spPr>
          <a:xfrm>
            <a:off x="5025600" y="1900800"/>
            <a:ext cx="4608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42" name="Google Shape;442;p25"/>
          <p:cNvSpPr txBox="1"/>
          <p:nvPr>
            <p:ph idx="3" type="body"/>
          </p:nvPr>
        </p:nvSpPr>
        <p:spPr>
          <a:xfrm>
            <a:off x="5025600" y="4302820"/>
            <a:ext cx="4608000" cy="213608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43" name="Google Shape;443;p25"/>
          <p:cNvSpPr txBox="1"/>
          <p:nvPr>
            <p:ph idx="4" type="body"/>
          </p:nvPr>
        </p:nvSpPr>
        <p:spPr>
          <a:xfrm>
            <a:off x="266400" y="1900801"/>
            <a:ext cx="4608000" cy="45381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44" name="Google Shape;444;p25"/>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45" name="Google Shape;445;p25"/>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6" name="Google Shape;446;p25"/>
          <p:cNvSpPr txBox="1"/>
          <p:nvPr>
            <p:ph idx="6"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47" name="Google Shape;447;p25"/>
          <p:cNvSpPr txBox="1"/>
          <p:nvPr>
            <p:ph idx="7" type="body"/>
          </p:nvPr>
        </p:nvSpPr>
        <p:spPr>
          <a:xfrm>
            <a:off x="50256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48" name="Google Shape;448;p25"/>
          <p:cNvSpPr txBox="1"/>
          <p:nvPr>
            <p:ph idx="8" type="body"/>
          </p:nvPr>
        </p:nvSpPr>
        <p:spPr>
          <a:xfrm>
            <a:off x="5025600" y="4091964"/>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7">
  <p:cSld name="Content 17">
    <p:spTree>
      <p:nvGrpSpPr>
        <p:cNvPr id="449" name="Shape 449"/>
        <p:cNvGrpSpPr/>
        <p:nvPr/>
      </p:nvGrpSpPr>
      <p:grpSpPr>
        <a:xfrm>
          <a:off x="0" y="0"/>
          <a:ext cx="0" cy="0"/>
          <a:chOff x="0" y="0"/>
          <a:chExt cx="0" cy="0"/>
        </a:xfrm>
      </p:grpSpPr>
      <p:sp>
        <p:nvSpPr>
          <p:cNvPr id="450" name="Google Shape;450;p26"/>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51" name="Google Shape;451;p26"/>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52" name="Google Shape;452;p26"/>
          <p:cNvSpPr txBox="1"/>
          <p:nvPr>
            <p:ph idx="2" type="body"/>
          </p:nvPr>
        </p:nvSpPr>
        <p:spPr>
          <a:xfrm>
            <a:off x="266400" y="1900800"/>
            <a:ext cx="4608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53" name="Google Shape;453;p26"/>
          <p:cNvSpPr txBox="1"/>
          <p:nvPr>
            <p:ph idx="3" type="body"/>
          </p:nvPr>
        </p:nvSpPr>
        <p:spPr>
          <a:xfrm>
            <a:off x="266400" y="4302820"/>
            <a:ext cx="4608000" cy="213608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54" name="Google Shape;454;p26"/>
          <p:cNvSpPr txBox="1"/>
          <p:nvPr>
            <p:ph idx="4" type="body"/>
          </p:nvPr>
        </p:nvSpPr>
        <p:spPr>
          <a:xfrm>
            <a:off x="5025600" y="1900801"/>
            <a:ext cx="4608000" cy="45381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55" name="Google Shape;455;p26"/>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56" name="Google Shape;456;p26"/>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7" name="Google Shape;457;p26"/>
          <p:cNvSpPr txBox="1"/>
          <p:nvPr>
            <p:ph idx="6"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58" name="Google Shape;458;p26"/>
          <p:cNvSpPr txBox="1"/>
          <p:nvPr>
            <p:ph idx="7" type="body"/>
          </p:nvPr>
        </p:nvSpPr>
        <p:spPr>
          <a:xfrm>
            <a:off x="5017088"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59" name="Google Shape;459;p26"/>
          <p:cNvSpPr txBox="1"/>
          <p:nvPr>
            <p:ph idx="8" type="body"/>
          </p:nvPr>
        </p:nvSpPr>
        <p:spPr>
          <a:xfrm>
            <a:off x="266400" y="409310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8">
  <p:cSld name="Content 18">
    <p:spTree>
      <p:nvGrpSpPr>
        <p:cNvPr id="460" name="Shape 460"/>
        <p:cNvGrpSpPr/>
        <p:nvPr/>
      </p:nvGrpSpPr>
      <p:grpSpPr>
        <a:xfrm>
          <a:off x="0" y="0"/>
          <a:ext cx="0" cy="0"/>
          <a:chOff x="0" y="0"/>
          <a:chExt cx="0" cy="0"/>
        </a:xfrm>
      </p:grpSpPr>
      <p:sp>
        <p:nvSpPr>
          <p:cNvPr id="461" name="Google Shape;461;p27"/>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62" name="Google Shape;462;p27"/>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lnSpc>
                <a:spcPct val="120000"/>
              </a:lnSpc>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63" name="Google Shape;463;p27"/>
          <p:cNvSpPr txBox="1"/>
          <p:nvPr>
            <p:ph idx="2" type="body"/>
          </p:nvPr>
        </p:nvSpPr>
        <p:spPr>
          <a:xfrm>
            <a:off x="266400" y="4302820"/>
            <a:ext cx="4608000" cy="213608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64" name="Google Shape;464;p27"/>
          <p:cNvSpPr txBox="1"/>
          <p:nvPr>
            <p:ph idx="3" type="body"/>
          </p:nvPr>
        </p:nvSpPr>
        <p:spPr>
          <a:xfrm>
            <a:off x="5018400" y="4302820"/>
            <a:ext cx="4608000" cy="213608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65" name="Google Shape;465;p27"/>
          <p:cNvSpPr txBox="1"/>
          <p:nvPr>
            <p:ph idx="4" type="body"/>
          </p:nvPr>
        </p:nvSpPr>
        <p:spPr>
          <a:xfrm>
            <a:off x="266400" y="1900800"/>
            <a:ext cx="9360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66" name="Google Shape;466;p27"/>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67" name="Google Shape;467;p27"/>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27"/>
          <p:cNvSpPr txBox="1"/>
          <p:nvPr>
            <p:ph idx="6"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69" name="Google Shape;469;p27"/>
          <p:cNvSpPr txBox="1"/>
          <p:nvPr>
            <p:ph idx="7" type="body"/>
          </p:nvPr>
        </p:nvSpPr>
        <p:spPr>
          <a:xfrm>
            <a:off x="266400" y="4091964"/>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70" name="Google Shape;470;p27"/>
          <p:cNvSpPr txBox="1"/>
          <p:nvPr>
            <p:ph idx="8" type="body"/>
          </p:nvPr>
        </p:nvSpPr>
        <p:spPr>
          <a:xfrm>
            <a:off x="5017088" y="4091964"/>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9">
  <p:cSld name="Content 19">
    <p:spTree>
      <p:nvGrpSpPr>
        <p:cNvPr id="471" name="Shape 471"/>
        <p:cNvGrpSpPr/>
        <p:nvPr/>
      </p:nvGrpSpPr>
      <p:grpSpPr>
        <a:xfrm>
          <a:off x="0" y="0"/>
          <a:ext cx="0" cy="0"/>
          <a:chOff x="0" y="0"/>
          <a:chExt cx="0" cy="0"/>
        </a:xfrm>
      </p:grpSpPr>
      <p:sp>
        <p:nvSpPr>
          <p:cNvPr id="472" name="Google Shape;472;p28"/>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73" name="Google Shape;473;p28"/>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74" name="Google Shape;474;p28"/>
          <p:cNvSpPr txBox="1"/>
          <p:nvPr>
            <p:ph idx="2" type="body"/>
          </p:nvPr>
        </p:nvSpPr>
        <p:spPr>
          <a:xfrm>
            <a:off x="266400" y="1900800"/>
            <a:ext cx="4608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75" name="Google Shape;475;p28"/>
          <p:cNvSpPr txBox="1"/>
          <p:nvPr>
            <p:ph idx="3" type="body"/>
          </p:nvPr>
        </p:nvSpPr>
        <p:spPr>
          <a:xfrm>
            <a:off x="5025600" y="1900800"/>
            <a:ext cx="4608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76" name="Google Shape;476;p28"/>
          <p:cNvSpPr txBox="1"/>
          <p:nvPr>
            <p:ph idx="4" type="body"/>
          </p:nvPr>
        </p:nvSpPr>
        <p:spPr>
          <a:xfrm>
            <a:off x="266400" y="4317475"/>
            <a:ext cx="9360000" cy="212142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77" name="Google Shape;477;p28"/>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78" name="Google Shape;478;p28"/>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9" name="Google Shape;479;p28"/>
          <p:cNvSpPr txBox="1"/>
          <p:nvPr>
            <p:ph idx="6"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80" name="Google Shape;480;p28"/>
          <p:cNvSpPr txBox="1"/>
          <p:nvPr>
            <p:ph idx="7" type="body"/>
          </p:nvPr>
        </p:nvSpPr>
        <p:spPr>
          <a:xfrm>
            <a:off x="266400" y="4104156"/>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81" name="Google Shape;481;p28"/>
          <p:cNvSpPr txBox="1"/>
          <p:nvPr>
            <p:ph idx="8" type="body"/>
          </p:nvPr>
        </p:nvSpPr>
        <p:spPr>
          <a:xfrm>
            <a:off x="5024312"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0">
  <p:cSld name="Content 20">
    <p:spTree>
      <p:nvGrpSpPr>
        <p:cNvPr id="482" name="Shape 482"/>
        <p:cNvGrpSpPr/>
        <p:nvPr/>
      </p:nvGrpSpPr>
      <p:grpSpPr>
        <a:xfrm>
          <a:off x="0" y="0"/>
          <a:ext cx="0" cy="0"/>
          <a:chOff x="0" y="0"/>
          <a:chExt cx="0" cy="0"/>
        </a:xfrm>
      </p:grpSpPr>
      <p:sp>
        <p:nvSpPr>
          <p:cNvPr id="483" name="Google Shape;483;p29"/>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84" name="Google Shape;484;p29"/>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85" name="Google Shape;485;p29"/>
          <p:cNvSpPr txBox="1"/>
          <p:nvPr>
            <p:ph idx="2" type="body"/>
          </p:nvPr>
        </p:nvSpPr>
        <p:spPr>
          <a:xfrm>
            <a:off x="266400" y="1900800"/>
            <a:ext cx="9360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86" name="Google Shape;486;p29"/>
          <p:cNvSpPr txBox="1"/>
          <p:nvPr>
            <p:ph idx="3" type="body"/>
          </p:nvPr>
        </p:nvSpPr>
        <p:spPr>
          <a:xfrm>
            <a:off x="266400" y="4313837"/>
            <a:ext cx="3024000" cy="2125063"/>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87" name="Google Shape;487;p29"/>
          <p:cNvSpPr txBox="1"/>
          <p:nvPr>
            <p:ph idx="4" type="body"/>
          </p:nvPr>
        </p:nvSpPr>
        <p:spPr>
          <a:xfrm>
            <a:off x="6609600" y="4313837"/>
            <a:ext cx="3024000" cy="2125063"/>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88" name="Google Shape;488;p29"/>
          <p:cNvSpPr txBox="1"/>
          <p:nvPr>
            <p:ph idx="5" type="body"/>
          </p:nvPr>
        </p:nvSpPr>
        <p:spPr>
          <a:xfrm>
            <a:off x="3439800" y="4313837"/>
            <a:ext cx="3024000" cy="2125063"/>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89" name="Google Shape;489;p29"/>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90" name="Google Shape;490;p29"/>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1" name="Google Shape;491;p29"/>
          <p:cNvSpPr txBox="1"/>
          <p:nvPr>
            <p:ph idx="7"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92" name="Google Shape;492;p29"/>
          <p:cNvSpPr txBox="1"/>
          <p:nvPr>
            <p:ph idx="8" type="body"/>
          </p:nvPr>
        </p:nvSpPr>
        <p:spPr>
          <a:xfrm>
            <a:off x="266400" y="4104156"/>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93" name="Google Shape;493;p29"/>
          <p:cNvSpPr txBox="1"/>
          <p:nvPr>
            <p:ph idx="9" type="body"/>
          </p:nvPr>
        </p:nvSpPr>
        <p:spPr>
          <a:xfrm>
            <a:off x="3441600" y="4104156"/>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494" name="Google Shape;494;p29"/>
          <p:cNvSpPr txBox="1"/>
          <p:nvPr>
            <p:ph idx="13" type="body"/>
          </p:nvPr>
        </p:nvSpPr>
        <p:spPr>
          <a:xfrm>
            <a:off x="6610048" y="4104156"/>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1">
  <p:cSld name="Content 21">
    <p:spTree>
      <p:nvGrpSpPr>
        <p:cNvPr id="495" name="Shape 495"/>
        <p:cNvGrpSpPr/>
        <p:nvPr/>
      </p:nvGrpSpPr>
      <p:grpSpPr>
        <a:xfrm>
          <a:off x="0" y="0"/>
          <a:ext cx="0" cy="0"/>
          <a:chOff x="0" y="0"/>
          <a:chExt cx="0" cy="0"/>
        </a:xfrm>
      </p:grpSpPr>
      <p:sp>
        <p:nvSpPr>
          <p:cNvPr id="496" name="Google Shape;496;p30"/>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497" name="Google Shape;497;p30"/>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498" name="Google Shape;498;p30"/>
          <p:cNvSpPr txBox="1"/>
          <p:nvPr>
            <p:ph idx="2" type="body"/>
          </p:nvPr>
        </p:nvSpPr>
        <p:spPr>
          <a:xfrm>
            <a:off x="266400" y="1900800"/>
            <a:ext cx="9360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499" name="Google Shape;499;p30"/>
          <p:cNvSpPr txBox="1"/>
          <p:nvPr>
            <p:ph idx="3" type="body"/>
          </p:nvPr>
        </p:nvSpPr>
        <p:spPr>
          <a:xfrm>
            <a:off x="2664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00" name="Google Shape;500;p30"/>
          <p:cNvSpPr txBox="1"/>
          <p:nvPr>
            <p:ph idx="4" type="body"/>
          </p:nvPr>
        </p:nvSpPr>
        <p:spPr>
          <a:xfrm>
            <a:off x="26496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01" name="Google Shape;501;p30"/>
          <p:cNvSpPr txBox="1"/>
          <p:nvPr>
            <p:ph idx="5" type="body"/>
          </p:nvPr>
        </p:nvSpPr>
        <p:spPr>
          <a:xfrm>
            <a:off x="50256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02" name="Google Shape;502;p30"/>
          <p:cNvSpPr txBox="1"/>
          <p:nvPr>
            <p:ph idx="6" type="body"/>
          </p:nvPr>
        </p:nvSpPr>
        <p:spPr>
          <a:xfrm>
            <a:off x="7401600" y="4310016"/>
            <a:ext cx="2232000" cy="212888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03" name="Google Shape;503;p30"/>
          <p:cNvSpPr txBox="1"/>
          <p:nvPr>
            <p:ph idx="7"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04" name="Google Shape;504;p30"/>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5" name="Google Shape;505;p30"/>
          <p:cNvSpPr txBox="1"/>
          <p:nvPr>
            <p:ph idx="8"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06" name="Google Shape;506;p30"/>
          <p:cNvSpPr txBox="1"/>
          <p:nvPr>
            <p:ph idx="9" type="body"/>
          </p:nvPr>
        </p:nvSpPr>
        <p:spPr>
          <a:xfrm>
            <a:off x="266400"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07" name="Google Shape;507;p30"/>
          <p:cNvSpPr txBox="1"/>
          <p:nvPr>
            <p:ph idx="13" type="body"/>
          </p:nvPr>
        </p:nvSpPr>
        <p:spPr>
          <a:xfrm>
            <a:off x="2649600"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08" name="Google Shape;508;p30"/>
          <p:cNvSpPr txBox="1"/>
          <p:nvPr>
            <p:ph idx="14" type="body"/>
          </p:nvPr>
        </p:nvSpPr>
        <p:spPr>
          <a:xfrm>
            <a:off x="5023912"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09" name="Google Shape;509;p30"/>
          <p:cNvSpPr txBox="1"/>
          <p:nvPr>
            <p:ph idx="15" type="body"/>
          </p:nvPr>
        </p:nvSpPr>
        <p:spPr>
          <a:xfrm>
            <a:off x="7401600" y="4104156"/>
            <a:ext cx="2232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2">
  <p:cSld name="Content 22">
    <p:spTree>
      <p:nvGrpSpPr>
        <p:cNvPr id="510" name="Shape 510"/>
        <p:cNvGrpSpPr/>
        <p:nvPr/>
      </p:nvGrpSpPr>
      <p:grpSpPr>
        <a:xfrm>
          <a:off x="0" y="0"/>
          <a:ext cx="0" cy="0"/>
          <a:chOff x="0" y="0"/>
          <a:chExt cx="0" cy="0"/>
        </a:xfrm>
      </p:grpSpPr>
      <p:sp>
        <p:nvSpPr>
          <p:cNvPr id="511" name="Google Shape;511;p31"/>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12" name="Google Shape;512;p31"/>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13" name="Google Shape;513;p31"/>
          <p:cNvSpPr txBox="1"/>
          <p:nvPr>
            <p:ph idx="2" type="body"/>
          </p:nvPr>
        </p:nvSpPr>
        <p:spPr>
          <a:xfrm>
            <a:off x="266400" y="1900800"/>
            <a:ext cx="4608000" cy="45381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14" name="Google Shape;514;p31"/>
          <p:cNvSpPr txBox="1"/>
          <p:nvPr>
            <p:ph idx="3"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15" name="Google Shape;515;p31"/>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6" name="Google Shape;516;p31"/>
          <p:cNvSpPr txBox="1"/>
          <p:nvPr>
            <p:ph idx="4"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17" name="Google Shape;517;p31"/>
          <p:cNvSpPr txBox="1"/>
          <p:nvPr>
            <p:ph idx="5" type="body"/>
          </p:nvPr>
        </p:nvSpPr>
        <p:spPr>
          <a:xfrm>
            <a:off x="5020296" y="1900800"/>
            <a:ext cx="4608000" cy="131217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18" name="Google Shape;518;p31"/>
          <p:cNvSpPr txBox="1"/>
          <p:nvPr>
            <p:ph idx="6" type="body"/>
          </p:nvPr>
        </p:nvSpPr>
        <p:spPr>
          <a:xfrm>
            <a:off x="5020296"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19" name="Google Shape;519;p31"/>
          <p:cNvSpPr txBox="1"/>
          <p:nvPr>
            <p:ph idx="7" type="body"/>
          </p:nvPr>
        </p:nvSpPr>
        <p:spPr>
          <a:xfrm>
            <a:off x="5020296" y="3556984"/>
            <a:ext cx="4608000" cy="131217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20" name="Google Shape;520;p31"/>
          <p:cNvSpPr txBox="1"/>
          <p:nvPr>
            <p:ph idx="8" type="body"/>
          </p:nvPr>
        </p:nvSpPr>
        <p:spPr>
          <a:xfrm>
            <a:off x="5020296" y="3340252"/>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21" name="Google Shape;521;p31"/>
          <p:cNvSpPr txBox="1"/>
          <p:nvPr>
            <p:ph idx="9" type="body"/>
          </p:nvPr>
        </p:nvSpPr>
        <p:spPr>
          <a:xfrm>
            <a:off x="5020296" y="5213168"/>
            <a:ext cx="4608000" cy="1225732"/>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22" name="Google Shape;522;p31"/>
          <p:cNvSpPr txBox="1"/>
          <p:nvPr>
            <p:ph idx="13" type="body"/>
          </p:nvPr>
        </p:nvSpPr>
        <p:spPr>
          <a:xfrm>
            <a:off x="5020296" y="4996436"/>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3">
  <p:cSld name="Content 23">
    <p:spTree>
      <p:nvGrpSpPr>
        <p:cNvPr id="523" name="Shape 523"/>
        <p:cNvGrpSpPr/>
        <p:nvPr/>
      </p:nvGrpSpPr>
      <p:grpSpPr>
        <a:xfrm>
          <a:off x="0" y="0"/>
          <a:ext cx="0" cy="0"/>
          <a:chOff x="0" y="0"/>
          <a:chExt cx="0" cy="0"/>
        </a:xfrm>
      </p:grpSpPr>
      <p:sp>
        <p:nvSpPr>
          <p:cNvPr id="524" name="Google Shape;524;p32"/>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25" name="Google Shape;525;p32"/>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26" name="Google Shape;526;p32"/>
          <p:cNvSpPr txBox="1"/>
          <p:nvPr>
            <p:ph idx="2"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27" name="Google Shape;527;p32"/>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8" name="Google Shape;528;p32"/>
          <p:cNvSpPr txBox="1"/>
          <p:nvPr>
            <p:ph idx="3" type="body"/>
          </p:nvPr>
        </p:nvSpPr>
        <p:spPr>
          <a:xfrm>
            <a:off x="266400" y="1900800"/>
            <a:ext cx="4608000" cy="131217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29" name="Google Shape;529;p32"/>
          <p:cNvSpPr txBox="1"/>
          <p:nvPr>
            <p:ph idx="4" type="body"/>
          </p:nvPr>
        </p:nvSpPr>
        <p:spPr>
          <a:xfrm>
            <a:off x="266400"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30" name="Google Shape;530;p32"/>
          <p:cNvSpPr txBox="1"/>
          <p:nvPr>
            <p:ph idx="5" type="body"/>
          </p:nvPr>
        </p:nvSpPr>
        <p:spPr>
          <a:xfrm>
            <a:off x="266400" y="3556984"/>
            <a:ext cx="4608000" cy="131217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31" name="Google Shape;531;p32"/>
          <p:cNvSpPr txBox="1"/>
          <p:nvPr>
            <p:ph idx="6" type="body"/>
          </p:nvPr>
        </p:nvSpPr>
        <p:spPr>
          <a:xfrm>
            <a:off x="266400" y="3340252"/>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32" name="Google Shape;532;p32"/>
          <p:cNvSpPr txBox="1"/>
          <p:nvPr>
            <p:ph idx="7" type="body"/>
          </p:nvPr>
        </p:nvSpPr>
        <p:spPr>
          <a:xfrm>
            <a:off x="266400" y="5213168"/>
            <a:ext cx="4608000" cy="1225732"/>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33" name="Google Shape;533;p32"/>
          <p:cNvSpPr txBox="1"/>
          <p:nvPr>
            <p:ph idx="8" type="body"/>
          </p:nvPr>
        </p:nvSpPr>
        <p:spPr>
          <a:xfrm>
            <a:off x="266400" y="4996436"/>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34" name="Google Shape;534;p32"/>
          <p:cNvSpPr txBox="1"/>
          <p:nvPr>
            <p:ph idx="9" type="body"/>
          </p:nvPr>
        </p:nvSpPr>
        <p:spPr>
          <a:xfrm>
            <a:off x="5025008" y="1900800"/>
            <a:ext cx="4608000" cy="45381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35" name="Google Shape;535;p32"/>
          <p:cNvSpPr txBox="1"/>
          <p:nvPr>
            <p:ph idx="13" type="body"/>
          </p:nvPr>
        </p:nvSpPr>
        <p:spPr>
          <a:xfrm>
            <a:off x="5025008" y="1684068"/>
            <a:ext cx="4608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4">
  <p:cSld name="Content 24">
    <p:spTree>
      <p:nvGrpSpPr>
        <p:cNvPr id="536" name="Shape 536"/>
        <p:cNvGrpSpPr/>
        <p:nvPr/>
      </p:nvGrpSpPr>
      <p:grpSpPr>
        <a:xfrm>
          <a:off x="0" y="0"/>
          <a:ext cx="0" cy="0"/>
          <a:chOff x="0" y="0"/>
          <a:chExt cx="0" cy="0"/>
        </a:xfrm>
      </p:grpSpPr>
      <p:sp>
        <p:nvSpPr>
          <p:cNvPr id="537" name="Google Shape;537;p33"/>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38" name="Google Shape;538;p33"/>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39" name="Google Shape;539;p33"/>
          <p:cNvSpPr txBox="1"/>
          <p:nvPr>
            <p:ph idx="2" type="body"/>
          </p:nvPr>
        </p:nvSpPr>
        <p:spPr>
          <a:xfrm>
            <a:off x="266400" y="1900799"/>
            <a:ext cx="9360000" cy="21708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40" name="Google Shape;540;p33"/>
          <p:cNvSpPr txBox="1"/>
          <p:nvPr>
            <p:ph idx="3" type="body"/>
          </p:nvPr>
        </p:nvSpPr>
        <p:spPr>
          <a:xfrm>
            <a:off x="266400" y="4324854"/>
            <a:ext cx="3023057" cy="211404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41" name="Google Shape;541;p33"/>
          <p:cNvSpPr txBox="1"/>
          <p:nvPr>
            <p:ph idx="4" type="body"/>
          </p:nvPr>
        </p:nvSpPr>
        <p:spPr>
          <a:xfrm>
            <a:off x="6609600" y="4324854"/>
            <a:ext cx="3023057" cy="211404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42" name="Google Shape;542;p33"/>
          <p:cNvSpPr txBox="1"/>
          <p:nvPr>
            <p:ph idx="5" type="body"/>
          </p:nvPr>
        </p:nvSpPr>
        <p:spPr>
          <a:xfrm>
            <a:off x="3439800" y="4324854"/>
            <a:ext cx="3023057" cy="2114046"/>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43" name="Google Shape;543;p33"/>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44" name="Google Shape;544;p33"/>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5" name="Google Shape;545;p33"/>
          <p:cNvSpPr txBox="1"/>
          <p:nvPr>
            <p:ph idx="7"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46" name="Google Shape;546;p33"/>
          <p:cNvSpPr txBox="1"/>
          <p:nvPr>
            <p:ph idx="8" type="body"/>
          </p:nvPr>
        </p:nvSpPr>
        <p:spPr>
          <a:xfrm>
            <a:off x="266400" y="4116348"/>
            <a:ext cx="3023057"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47" name="Google Shape;547;p33"/>
          <p:cNvSpPr txBox="1"/>
          <p:nvPr>
            <p:ph idx="9" type="body"/>
          </p:nvPr>
        </p:nvSpPr>
        <p:spPr>
          <a:xfrm>
            <a:off x="3440856" y="4116348"/>
            <a:ext cx="3023057"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48" name="Google Shape;548;p33"/>
          <p:cNvSpPr txBox="1"/>
          <p:nvPr>
            <p:ph idx="13" type="body"/>
          </p:nvPr>
        </p:nvSpPr>
        <p:spPr>
          <a:xfrm>
            <a:off x="6609600" y="4116348"/>
            <a:ext cx="3023057"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5">
  <p:cSld name="Content 25">
    <p:spTree>
      <p:nvGrpSpPr>
        <p:cNvPr id="549" name="Shape 549"/>
        <p:cNvGrpSpPr/>
        <p:nvPr/>
      </p:nvGrpSpPr>
      <p:grpSpPr>
        <a:xfrm>
          <a:off x="0" y="0"/>
          <a:ext cx="0" cy="0"/>
          <a:chOff x="0" y="0"/>
          <a:chExt cx="0" cy="0"/>
        </a:xfrm>
      </p:grpSpPr>
      <p:sp>
        <p:nvSpPr>
          <p:cNvPr id="550" name="Google Shape;550;p34"/>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51" name="Google Shape;551;p34"/>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52" name="Google Shape;552;p34"/>
          <p:cNvSpPr txBox="1"/>
          <p:nvPr>
            <p:ph idx="2" type="body"/>
          </p:nvPr>
        </p:nvSpPr>
        <p:spPr>
          <a:xfrm>
            <a:off x="266400" y="1899072"/>
            <a:ext cx="3024000" cy="2178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53" name="Google Shape;553;p34"/>
          <p:cNvSpPr txBox="1"/>
          <p:nvPr>
            <p:ph idx="3" type="body"/>
          </p:nvPr>
        </p:nvSpPr>
        <p:spPr>
          <a:xfrm>
            <a:off x="6609600" y="1899072"/>
            <a:ext cx="3024000" cy="2178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54" name="Google Shape;554;p34"/>
          <p:cNvSpPr txBox="1"/>
          <p:nvPr>
            <p:ph idx="4" type="body"/>
          </p:nvPr>
        </p:nvSpPr>
        <p:spPr>
          <a:xfrm>
            <a:off x="3439800" y="1899072"/>
            <a:ext cx="3024000" cy="2178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55" name="Google Shape;555;p34"/>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56" name="Google Shape;556;p34"/>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7" name="Google Shape;557;p34"/>
          <p:cNvSpPr txBox="1"/>
          <p:nvPr>
            <p:ph idx="6" type="body"/>
          </p:nvPr>
        </p:nvSpPr>
        <p:spPr>
          <a:xfrm>
            <a:off x="266400" y="1684800"/>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58" name="Google Shape;558;p34"/>
          <p:cNvSpPr txBox="1"/>
          <p:nvPr>
            <p:ph idx="7" type="body"/>
          </p:nvPr>
        </p:nvSpPr>
        <p:spPr>
          <a:xfrm>
            <a:off x="3440856" y="1684800"/>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59" name="Google Shape;559;p34"/>
          <p:cNvSpPr txBox="1"/>
          <p:nvPr>
            <p:ph idx="8" type="body"/>
          </p:nvPr>
        </p:nvSpPr>
        <p:spPr>
          <a:xfrm>
            <a:off x="6609600" y="1684800"/>
            <a:ext cx="3024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60" name="Google Shape;560;p34"/>
          <p:cNvSpPr txBox="1"/>
          <p:nvPr>
            <p:ph idx="9" type="body"/>
          </p:nvPr>
        </p:nvSpPr>
        <p:spPr>
          <a:xfrm>
            <a:off x="266400" y="4351553"/>
            <a:ext cx="9360000" cy="2087347"/>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61" name="Google Shape;561;p34"/>
          <p:cNvSpPr txBox="1"/>
          <p:nvPr>
            <p:ph idx="13" type="body"/>
          </p:nvPr>
        </p:nvSpPr>
        <p:spPr>
          <a:xfrm>
            <a:off x="266400" y="4134822"/>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6">
  <p:cSld name="Content 26">
    <p:spTree>
      <p:nvGrpSpPr>
        <p:cNvPr id="562" name="Shape 562"/>
        <p:cNvGrpSpPr/>
        <p:nvPr/>
      </p:nvGrpSpPr>
      <p:grpSpPr>
        <a:xfrm>
          <a:off x="0" y="0"/>
          <a:ext cx="0" cy="0"/>
          <a:chOff x="0" y="0"/>
          <a:chExt cx="0" cy="0"/>
        </a:xfrm>
      </p:grpSpPr>
      <p:sp>
        <p:nvSpPr>
          <p:cNvPr id="563" name="Google Shape;563;p35"/>
          <p:cNvSpPr txBox="1"/>
          <p:nvPr>
            <p:ph idx="1" type="body"/>
          </p:nvPr>
        </p:nvSpPr>
        <p:spPr>
          <a:xfrm>
            <a:off x="266400" y="4624482"/>
            <a:ext cx="4608000" cy="1814418"/>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64" name="Google Shape;564;p35"/>
          <p:cNvSpPr txBox="1"/>
          <p:nvPr>
            <p:ph idx="2" type="body"/>
          </p:nvPr>
        </p:nvSpPr>
        <p:spPr>
          <a:xfrm>
            <a:off x="5016751" y="4624482"/>
            <a:ext cx="4608000" cy="1814418"/>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65" name="Google Shape;565;p35"/>
          <p:cNvSpPr txBox="1"/>
          <p:nvPr>
            <p:ph idx="3" type="body"/>
          </p:nvPr>
        </p:nvSpPr>
        <p:spPr>
          <a:xfrm>
            <a:off x="266400" y="2204864"/>
            <a:ext cx="4608000" cy="174422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66" name="Google Shape;566;p35"/>
          <p:cNvSpPr txBox="1"/>
          <p:nvPr>
            <p:ph idx="4" type="body"/>
          </p:nvPr>
        </p:nvSpPr>
        <p:spPr>
          <a:xfrm>
            <a:off x="5016751" y="2204864"/>
            <a:ext cx="4608000" cy="174422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67" name="Google Shape;567;p35"/>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68" name="Google Shape;568;p35"/>
          <p:cNvSpPr txBox="1"/>
          <p:nvPr>
            <p:ph idx="5"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69" name="Google Shape;569;p35"/>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70" name="Google Shape;570;p35"/>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1" name="Google Shape;571;p35"/>
          <p:cNvSpPr txBox="1"/>
          <p:nvPr>
            <p:ph idx="7"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72" name="Google Shape;572;p35"/>
          <p:cNvSpPr txBox="1"/>
          <p:nvPr>
            <p:ph idx="8" type="body"/>
          </p:nvPr>
        </p:nvSpPr>
        <p:spPr>
          <a:xfrm>
            <a:off x="266400" y="4091964"/>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0"/>
              </a:spcBef>
              <a:spcAft>
                <a:spcPts val="0"/>
              </a:spcAft>
              <a:buClr>
                <a:srgbClr val="CC3300"/>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73" name="Google Shape;573;p35"/>
          <p:cNvSpPr txBox="1"/>
          <p:nvPr>
            <p:ph idx="9" type="body"/>
          </p:nvPr>
        </p:nvSpPr>
        <p:spPr>
          <a:xfrm>
            <a:off x="266400" y="1988864"/>
            <a:ext cx="4608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0"/>
              </a:spcBef>
              <a:spcAft>
                <a:spcPts val="0"/>
              </a:spcAft>
              <a:buClr>
                <a:srgbClr val="CC3300"/>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74" name="Google Shape;574;p35"/>
          <p:cNvSpPr txBox="1"/>
          <p:nvPr>
            <p:ph idx="13" type="body"/>
          </p:nvPr>
        </p:nvSpPr>
        <p:spPr>
          <a:xfrm>
            <a:off x="5018400" y="1988864"/>
            <a:ext cx="4608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0"/>
              </a:spcBef>
              <a:spcAft>
                <a:spcPts val="0"/>
              </a:spcAft>
              <a:buClr>
                <a:srgbClr val="CC3300"/>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75" name="Google Shape;575;p35"/>
          <p:cNvSpPr txBox="1"/>
          <p:nvPr>
            <p:ph idx="14" type="body"/>
          </p:nvPr>
        </p:nvSpPr>
        <p:spPr>
          <a:xfrm>
            <a:off x="266400" y="4406522"/>
            <a:ext cx="4608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0"/>
              </a:spcBef>
              <a:spcAft>
                <a:spcPts val="0"/>
              </a:spcAft>
              <a:buClr>
                <a:srgbClr val="CC3300"/>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76" name="Google Shape;576;p35"/>
          <p:cNvSpPr txBox="1"/>
          <p:nvPr>
            <p:ph idx="15" type="body"/>
          </p:nvPr>
        </p:nvSpPr>
        <p:spPr>
          <a:xfrm>
            <a:off x="5018400" y="4406522"/>
            <a:ext cx="4608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0"/>
              </a:spcBef>
              <a:spcAft>
                <a:spcPts val="0"/>
              </a:spcAft>
              <a:buClr>
                <a:srgbClr val="CC3300"/>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7">
  <p:cSld name="Content 27">
    <p:spTree>
      <p:nvGrpSpPr>
        <p:cNvPr id="577" name="Shape 577"/>
        <p:cNvGrpSpPr/>
        <p:nvPr/>
      </p:nvGrpSpPr>
      <p:grpSpPr>
        <a:xfrm>
          <a:off x="0" y="0"/>
          <a:ext cx="0" cy="0"/>
          <a:chOff x="0" y="0"/>
          <a:chExt cx="0" cy="0"/>
        </a:xfrm>
      </p:grpSpPr>
      <p:sp>
        <p:nvSpPr>
          <p:cNvPr id="578" name="Google Shape;578;p36"/>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79" name="Google Shape;579;p36"/>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80" name="Google Shape;580;p36"/>
          <p:cNvSpPr txBox="1"/>
          <p:nvPr>
            <p:ph idx="2" type="body"/>
          </p:nvPr>
        </p:nvSpPr>
        <p:spPr>
          <a:xfrm>
            <a:off x="266400" y="2187104"/>
            <a:ext cx="3024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81" name="Google Shape;581;p36"/>
          <p:cNvSpPr txBox="1"/>
          <p:nvPr>
            <p:ph idx="3" type="body"/>
          </p:nvPr>
        </p:nvSpPr>
        <p:spPr>
          <a:xfrm>
            <a:off x="6609600" y="2187104"/>
            <a:ext cx="3024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82" name="Google Shape;582;p36"/>
          <p:cNvSpPr txBox="1"/>
          <p:nvPr>
            <p:ph idx="4" type="body"/>
          </p:nvPr>
        </p:nvSpPr>
        <p:spPr>
          <a:xfrm>
            <a:off x="3439800" y="2187104"/>
            <a:ext cx="3024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83" name="Google Shape;583;p36"/>
          <p:cNvSpPr txBox="1"/>
          <p:nvPr>
            <p:ph idx="5"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84" name="Google Shape;584;p36"/>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5" name="Google Shape;585;p36"/>
          <p:cNvSpPr txBox="1"/>
          <p:nvPr>
            <p:ph idx="6"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86" name="Google Shape;586;p36"/>
          <p:cNvSpPr txBox="1"/>
          <p:nvPr>
            <p:ph idx="7" type="body"/>
          </p:nvPr>
        </p:nvSpPr>
        <p:spPr>
          <a:xfrm>
            <a:off x="266400" y="1978598"/>
            <a:ext cx="3024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87" name="Google Shape;587;p36"/>
          <p:cNvSpPr txBox="1"/>
          <p:nvPr>
            <p:ph idx="8" type="body"/>
          </p:nvPr>
        </p:nvSpPr>
        <p:spPr>
          <a:xfrm>
            <a:off x="3440856" y="1978598"/>
            <a:ext cx="3024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88" name="Google Shape;588;p36"/>
          <p:cNvSpPr txBox="1"/>
          <p:nvPr>
            <p:ph idx="9" type="body"/>
          </p:nvPr>
        </p:nvSpPr>
        <p:spPr>
          <a:xfrm>
            <a:off x="6609600" y="1978598"/>
            <a:ext cx="3024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89" name="Google Shape;589;p36"/>
          <p:cNvSpPr txBox="1"/>
          <p:nvPr>
            <p:ph idx="13" type="body"/>
          </p:nvPr>
        </p:nvSpPr>
        <p:spPr>
          <a:xfrm>
            <a:off x="266400" y="4653336"/>
            <a:ext cx="3024000" cy="178556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90" name="Google Shape;590;p36"/>
          <p:cNvSpPr txBox="1"/>
          <p:nvPr>
            <p:ph idx="14" type="body"/>
          </p:nvPr>
        </p:nvSpPr>
        <p:spPr>
          <a:xfrm>
            <a:off x="6609600" y="4653336"/>
            <a:ext cx="3024000" cy="178556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91" name="Google Shape;591;p36"/>
          <p:cNvSpPr txBox="1"/>
          <p:nvPr>
            <p:ph idx="15" type="body"/>
          </p:nvPr>
        </p:nvSpPr>
        <p:spPr>
          <a:xfrm>
            <a:off x="3439800" y="4653336"/>
            <a:ext cx="3024000" cy="1785564"/>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592" name="Google Shape;592;p36"/>
          <p:cNvSpPr txBox="1"/>
          <p:nvPr>
            <p:ph idx="16" type="body"/>
          </p:nvPr>
        </p:nvSpPr>
        <p:spPr>
          <a:xfrm>
            <a:off x="266400" y="4150300"/>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93" name="Google Shape;593;p36"/>
          <p:cNvSpPr txBox="1"/>
          <p:nvPr>
            <p:ph idx="17" type="body"/>
          </p:nvPr>
        </p:nvSpPr>
        <p:spPr>
          <a:xfrm>
            <a:off x="266400" y="4444830"/>
            <a:ext cx="3024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94" name="Google Shape;594;p36"/>
          <p:cNvSpPr txBox="1"/>
          <p:nvPr>
            <p:ph idx="18" type="body"/>
          </p:nvPr>
        </p:nvSpPr>
        <p:spPr>
          <a:xfrm>
            <a:off x="3440856" y="4444830"/>
            <a:ext cx="3024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595" name="Google Shape;595;p36"/>
          <p:cNvSpPr txBox="1"/>
          <p:nvPr>
            <p:ph idx="19" type="body"/>
          </p:nvPr>
        </p:nvSpPr>
        <p:spPr>
          <a:xfrm>
            <a:off x="6609600" y="4444830"/>
            <a:ext cx="3024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chemeClr val="dk1"/>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8">
  <p:cSld name="Content 28">
    <p:spTree>
      <p:nvGrpSpPr>
        <p:cNvPr id="596" name="Shape 596"/>
        <p:cNvGrpSpPr/>
        <p:nvPr/>
      </p:nvGrpSpPr>
      <p:grpSpPr>
        <a:xfrm>
          <a:off x="0" y="0"/>
          <a:ext cx="0" cy="0"/>
          <a:chOff x="0" y="0"/>
          <a:chExt cx="0" cy="0"/>
        </a:xfrm>
      </p:grpSpPr>
      <p:sp>
        <p:nvSpPr>
          <p:cNvPr id="597" name="Google Shape;597;p37"/>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598" name="Google Shape;598;p37"/>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599" name="Google Shape;599;p37"/>
          <p:cNvSpPr txBox="1"/>
          <p:nvPr>
            <p:ph idx="2" type="body"/>
          </p:nvPr>
        </p:nvSpPr>
        <p:spPr>
          <a:xfrm>
            <a:off x="266400" y="2185814"/>
            <a:ext cx="2232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00" name="Google Shape;600;p37"/>
          <p:cNvSpPr txBox="1"/>
          <p:nvPr>
            <p:ph idx="3" type="body"/>
          </p:nvPr>
        </p:nvSpPr>
        <p:spPr>
          <a:xfrm>
            <a:off x="2655300" y="2185814"/>
            <a:ext cx="2232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01" name="Google Shape;601;p37"/>
          <p:cNvSpPr txBox="1"/>
          <p:nvPr>
            <p:ph idx="4" type="body"/>
          </p:nvPr>
        </p:nvSpPr>
        <p:spPr>
          <a:xfrm>
            <a:off x="5031300" y="2185814"/>
            <a:ext cx="2232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02" name="Google Shape;602;p37"/>
          <p:cNvSpPr txBox="1"/>
          <p:nvPr>
            <p:ph idx="5" type="body"/>
          </p:nvPr>
        </p:nvSpPr>
        <p:spPr>
          <a:xfrm>
            <a:off x="7407300" y="2185814"/>
            <a:ext cx="2232000" cy="1800000"/>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03" name="Google Shape;603;p37"/>
          <p:cNvSpPr txBox="1"/>
          <p:nvPr>
            <p:ph idx="6"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604" name="Google Shape;604;p37"/>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5" name="Google Shape;605;p37"/>
          <p:cNvSpPr txBox="1"/>
          <p:nvPr>
            <p:ph idx="7" type="body"/>
          </p:nvPr>
        </p:nvSpPr>
        <p:spPr>
          <a:xfrm>
            <a:off x="266400" y="1684068"/>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06" name="Google Shape;606;p37"/>
          <p:cNvSpPr txBox="1"/>
          <p:nvPr>
            <p:ph idx="8" type="body"/>
          </p:nvPr>
        </p:nvSpPr>
        <p:spPr>
          <a:xfrm>
            <a:off x="266400" y="1979954"/>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07" name="Google Shape;607;p37"/>
          <p:cNvSpPr txBox="1"/>
          <p:nvPr>
            <p:ph idx="9" type="body"/>
          </p:nvPr>
        </p:nvSpPr>
        <p:spPr>
          <a:xfrm>
            <a:off x="2655300" y="1979954"/>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08" name="Google Shape;608;p37"/>
          <p:cNvSpPr txBox="1"/>
          <p:nvPr>
            <p:ph idx="13" type="body"/>
          </p:nvPr>
        </p:nvSpPr>
        <p:spPr>
          <a:xfrm>
            <a:off x="5029612" y="1979954"/>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09" name="Google Shape;609;p37"/>
          <p:cNvSpPr txBox="1"/>
          <p:nvPr>
            <p:ph idx="14" type="body"/>
          </p:nvPr>
        </p:nvSpPr>
        <p:spPr>
          <a:xfrm>
            <a:off x="7401600" y="1979954"/>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10" name="Google Shape;610;p37"/>
          <p:cNvSpPr txBox="1"/>
          <p:nvPr>
            <p:ph idx="15" type="body"/>
          </p:nvPr>
        </p:nvSpPr>
        <p:spPr>
          <a:xfrm>
            <a:off x="266400" y="4578818"/>
            <a:ext cx="2232000" cy="1860082"/>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11" name="Google Shape;611;p37"/>
          <p:cNvSpPr txBox="1"/>
          <p:nvPr>
            <p:ph idx="16" type="body"/>
          </p:nvPr>
        </p:nvSpPr>
        <p:spPr>
          <a:xfrm>
            <a:off x="2655300" y="4578818"/>
            <a:ext cx="2232000" cy="1860082"/>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12" name="Google Shape;612;p37"/>
          <p:cNvSpPr txBox="1"/>
          <p:nvPr>
            <p:ph idx="17" type="body"/>
          </p:nvPr>
        </p:nvSpPr>
        <p:spPr>
          <a:xfrm>
            <a:off x="5031300" y="4578818"/>
            <a:ext cx="2232000" cy="1860082"/>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13" name="Google Shape;613;p37"/>
          <p:cNvSpPr txBox="1"/>
          <p:nvPr>
            <p:ph idx="18" type="body"/>
          </p:nvPr>
        </p:nvSpPr>
        <p:spPr>
          <a:xfrm>
            <a:off x="7401600" y="4578818"/>
            <a:ext cx="2232000" cy="1860082"/>
          </a:xfrm>
          <a:prstGeom prst="rect">
            <a:avLst/>
          </a:prstGeom>
          <a:noFill/>
          <a:ln>
            <a:noFill/>
          </a:ln>
        </p:spPr>
        <p:txBody>
          <a:bodyPr anchorCtr="0" anchor="t" bIns="64800" lIns="0" spcFirstLastPara="1" rIns="46800" wrap="square" tIns="108000">
            <a:noAutofit/>
          </a:bodyPr>
          <a:lstStyle>
            <a:lvl1pPr indent="-228600" lvl="0" marL="457200" marR="0" rtl="0" algn="l">
              <a:lnSpc>
                <a:spcPct val="120000"/>
              </a:lnSpc>
              <a:spcBef>
                <a:spcPts val="200"/>
              </a:spcBef>
              <a:spcAft>
                <a:spcPts val="0"/>
              </a:spcAft>
              <a:buClr>
                <a:srgbClr val="CC3300"/>
              </a:buClr>
              <a:buSzPts val="1000"/>
              <a:buFont typeface="Arial"/>
              <a:buNone/>
              <a:defRPr b="0" i="0" sz="1000" u="none" cap="none" strike="noStrike">
                <a:solidFill>
                  <a:schemeClr val="dk1"/>
                </a:solidFill>
                <a:latin typeface="Arial"/>
                <a:ea typeface="Arial"/>
                <a:cs typeface="Arial"/>
                <a:sym typeface="Arial"/>
              </a:defRPr>
            </a:lvl1pPr>
            <a:lvl2pPr indent="-273050" lvl="1" marL="914400" marR="0" rtl="0" algn="l">
              <a:lnSpc>
                <a:spcPct val="120000"/>
              </a:lnSpc>
              <a:spcBef>
                <a:spcPts val="200"/>
              </a:spcBef>
              <a:spcAft>
                <a:spcPts val="0"/>
              </a:spcAft>
              <a:buClr>
                <a:schemeClr val="accent1"/>
              </a:buClr>
              <a:buSzPts val="700"/>
              <a:buFont typeface="Noto Sans Symbols"/>
              <a:buChar char="■"/>
              <a:defRPr b="0" i="0" sz="1000" u="none" cap="none" strike="noStrike">
                <a:solidFill>
                  <a:schemeClr val="dk1"/>
                </a:solidFill>
                <a:latin typeface="Arial"/>
                <a:ea typeface="Arial"/>
                <a:cs typeface="Arial"/>
                <a:sym typeface="Arial"/>
              </a:defRPr>
            </a:lvl2pPr>
            <a:lvl3pPr indent="-292100" lvl="2" marL="13716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92100" lvl="3" marL="18288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4pPr>
            <a:lvl5pPr indent="-292100" lvl="4" marL="2286000" marR="0" rtl="0" algn="l">
              <a:lnSpc>
                <a:spcPct val="120000"/>
              </a:lnSpc>
              <a:spcBef>
                <a:spcPts val="2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5pPr>
            <a:lvl6pPr indent="-317500" lvl="5" marL="27432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spcBef>
                <a:spcPts val="210"/>
              </a:spcBef>
              <a:spcAft>
                <a:spcPts val="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spcBef>
                <a:spcPts val="210"/>
              </a:spcBef>
              <a:spcAft>
                <a:spcPts val="210"/>
              </a:spcAft>
              <a:buClr>
                <a:schemeClr val="accent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614" name="Google Shape;614;p37"/>
          <p:cNvSpPr txBox="1"/>
          <p:nvPr>
            <p:ph idx="19" type="body"/>
          </p:nvPr>
        </p:nvSpPr>
        <p:spPr>
          <a:xfrm>
            <a:off x="266400" y="4077072"/>
            <a:ext cx="9360000" cy="216000"/>
          </a:xfrm>
          <a:prstGeom prst="rect">
            <a:avLst/>
          </a:prstGeom>
          <a:noFill/>
          <a:ln cap="flat" cmpd="sng" w="19050">
            <a:solidFill>
              <a:schemeClr val="accent2"/>
            </a:solidFill>
            <a:prstDash val="solid"/>
            <a:round/>
            <a:headEnd len="sm" w="sm" type="none"/>
            <a:tailEnd len="sm" w="sm" type="none"/>
          </a:ln>
        </p:spPr>
        <p:txBody>
          <a:bodyPr anchorCtr="0" anchor="b" bIns="36000" lIns="0" spcFirstLastPara="1" rIns="0" wrap="square" tIns="0">
            <a:noAutofit/>
          </a:bodyPr>
          <a:lstStyle>
            <a:lvl1pPr indent="-228600" lvl="0" marL="457200" marR="0" rtl="0" algn="l">
              <a:lnSpc>
                <a:spcPct val="120000"/>
              </a:lnSpc>
              <a:spcBef>
                <a:spcPts val="200"/>
              </a:spcBef>
              <a:spcAft>
                <a:spcPts val="0"/>
              </a:spcAft>
              <a:buClr>
                <a:schemeClr val="accent1"/>
              </a:buClr>
              <a:buSzPts val="1200"/>
              <a:buFont typeface="Arial"/>
              <a:buNone/>
              <a:defRPr b="1" i="0" sz="1200" u="none" cap="none" strike="noStrike">
                <a:solidFill>
                  <a:schemeClr val="accent2"/>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15" name="Google Shape;615;p37"/>
          <p:cNvSpPr txBox="1"/>
          <p:nvPr>
            <p:ph idx="20" type="body"/>
          </p:nvPr>
        </p:nvSpPr>
        <p:spPr>
          <a:xfrm>
            <a:off x="266400" y="4372958"/>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16" name="Google Shape;616;p37"/>
          <p:cNvSpPr txBox="1"/>
          <p:nvPr>
            <p:ph idx="21" type="body"/>
          </p:nvPr>
        </p:nvSpPr>
        <p:spPr>
          <a:xfrm>
            <a:off x="2655300" y="4372958"/>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17" name="Google Shape;617;p37"/>
          <p:cNvSpPr txBox="1"/>
          <p:nvPr>
            <p:ph idx="22" type="body"/>
          </p:nvPr>
        </p:nvSpPr>
        <p:spPr>
          <a:xfrm>
            <a:off x="5029612" y="4372958"/>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
        <p:nvSpPr>
          <p:cNvPr id="618" name="Google Shape;618;p37"/>
          <p:cNvSpPr txBox="1"/>
          <p:nvPr>
            <p:ph idx="23" type="body"/>
          </p:nvPr>
        </p:nvSpPr>
        <p:spPr>
          <a:xfrm>
            <a:off x="7401600" y="4372958"/>
            <a:ext cx="2232000" cy="216000"/>
          </a:xfrm>
          <a:prstGeom prst="rect">
            <a:avLst/>
          </a:prstGeom>
          <a:noFill/>
          <a:ln cap="flat" cmpd="sng" w="12700">
            <a:solidFill>
              <a:schemeClr val="accent2"/>
            </a:solidFill>
            <a:prstDash val="solid"/>
            <a:round/>
            <a:headEnd len="sm" w="sm" type="none"/>
            <a:tailEnd len="sm" w="sm" type="none"/>
          </a:ln>
        </p:spPr>
        <p:txBody>
          <a:bodyPr anchorCtr="1" anchor="b" bIns="0" lIns="0" spcFirstLastPara="1" rIns="0" wrap="square" tIns="0">
            <a:noAutofit/>
          </a:bodyPr>
          <a:lstStyle>
            <a:lvl1pPr indent="-228600" lvl="0" marL="457200" marR="0" rtl="0" algn="ctr">
              <a:lnSpc>
                <a:spcPct val="120000"/>
              </a:lnSpc>
              <a:spcBef>
                <a:spcPts val="200"/>
              </a:spcBef>
              <a:spcAft>
                <a:spcPts val="0"/>
              </a:spcAft>
              <a:buClr>
                <a:schemeClr val="accent1"/>
              </a:buClr>
              <a:buSzPts val="1000"/>
              <a:buFont typeface="Arial"/>
              <a:buNone/>
              <a:defRPr b="1" i="0" sz="1000" u="none" cap="none" strike="noStrike">
                <a:solidFill>
                  <a:srgbClr val="000000"/>
                </a:solidFill>
                <a:latin typeface="Arial"/>
                <a:ea typeface="Arial"/>
                <a:cs typeface="Arial"/>
                <a:sym typeface="Arial"/>
              </a:defRPr>
            </a:lvl1pPr>
            <a:lvl2pPr indent="-228600" lvl="1" marL="914400" marR="0" rtl="0" algn="l">
              <a:spcBef>
                <a:spcPts val="255"/>
              </a:spcBef>
              <a:spcAft>
                <a:spcPts val="0"/>
              </a:spcAft>
              <a:buClr>
                <a:schemeClr val="accent1"/>
              </a:buClr>
              <a:buSzPts val="1190"/>
              <a:buFont typeface="Noto Sans Symbols"/>
              <a:buNone/>
              <a:defRPr b="1" i="0" sz="1700" u="none" cap="none" strike="noStrike">
                <a:solidFill>
                  <a:schemeClr val="dk1"/>
                </a:solidFill>
                <a:latin typeface="Arial"/>
                <a:ea typeface="Arial"/>
                <a:cs typeface="Arial"/>
                <a:sym typeface="Arial"/>
              </a:defRPr>
            </a:lvl2pPr>
            <a:lvl3pPr indent="-228600" lvl="2" marL="1371600" marR="0" rtl="0" algn="l">
              <a:spcBef>
                <a:spcPts val="255"/>
              </a:spcBef>
              <a:spcAft>
                <a:spcPts val="0"/>
              </a:spcAft>
              <a:buClr>
                <a:schemeClr val="accent1"/>
              </a:buClr>
              <a:buSzPts val="1500"/>
              <a:buFont typeface="Noto Sans Symbols"/>
              <a:buNone/>
              <a:defRPr b="1" i="0" sz="1500" u="none" cap="none" strike="noStrike">
                <a:solidFill>
                  <a:schemeClr val="dk1"/>
                </a:solidFill>
                <a:latin typeface="Arial"/>
                <a:ea typeface="Arial"/>
                <a:cs typeface="Arial"/>
                <a:sym typeface="Arial"/>
              </a:defRPr>
            </a:lvl3pPr>
            <a:lvl4pPr indent="-228600" lvl="3" marL="1828800" marR="0" rtl="0" algn="l">
              <a:spcBef>
                <a:spcPts val="225"/>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4pPr>
            <a:lvl5pPr indent="-228600" lvl="4" marL="22860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5pPr>
            <a:lvl6pPr indent="-228600" lvl="5" marL="27432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6pPr>
            <a:lvl7pPr indent="-228600" lvl="6" marL="32004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7pPr>
            <a:lvl8pPr indent="-228600" lvl="7" marL="3657600" marR="0" rtl="0" algn="l">
              <a:spcBef>
                <a:spcPts val="210"/>
              </a:spcBef>
              <a:spcAft>
                <a:spcPts val="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8pPr>
            <a:lvl9pPr indent="-228600" lvl="8" marL="4114800" marR="0" rtl="0" algn="l">
              <a:spcBef>
                <a:spcPts val="210"/>
              </a:spcBef>
              <a:spcAft>
                <a:spcPts val="210"/>
              </a:spcAft>
              <a:buClr>
                <a:schemeClr val="accent1"/>
              </a:buClr>
              <a:buSzPts val="1400"/>
              <a:buFont typeface="Noto Sans Symbols"/>
              <a:buNone/>
              <a:defRPr b="1"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9">
  <p:cSld name="Content 29">
    <p:spTree>
      <p:nvGrpSpPr>
        <p:cNvPr id="619" name="Shape 619"/>
        <p:cNvGrpSpPr/>
        <p:nvPr/>
      </p:nvGrpSpPr>
      <p:grpSpPr>
        <a:xfrm>
          <a:off x="0" y="0"/>
          <a:ext cx="0" cy="0"/>
          <a:chOff x="0" y="0"/>
          <a:chExt cx="0" cy="0"/>
        </a:xfrm>
      </p:grpSpPr>
      <p:sp>
        <p:nvSpPr>
          <p:cNvPr id="620" name="Google Shape;620;p38"/>
          <p:cNvSpPr txBox="1"/>
          <p:nvPr>
            <p:ph type="title"/>
          </p:nvPr>
        </p:nvSpPr>
        <p:spPr>
          <a:xfrm>
            <a:off x="1897200" y="57600"/>
            <a:ext cx="6336000" cy="720000"/>
          </a:xfrm>
          <a:prstGeom prst="rect">
            <a:avLst/>
          </a:prstGeom>
          <a:noFill/>
          <a:ln>
            <a:noFill/>
          </a:ln>
        </p:spPr>
        <p:txBody>
          <a:bodyPr anchorCtr="0" anchor="b" bIns="0" lIns="0" spcFirstLastPara="1" rIns="0" wrap="square" tIns="0">
            <a:noAutofit/>
          </a:bodyPr>
          <a:lstStyle>
            <a:lvl1pPr lvl="0" marR="0" rtl="0" algn="l">
              <a:lnSpc>
                <a:spcPct val="120000"/>
              </a:lnSpc>
              <a:spcBef>
                <a:spcPts val="0"/>
              </a:spcBef>
              <a:spcAft>
                <a:spcPts val="0"/>
              </a:spcAft>
              <a:buSzPts val="1400"/>
              <a:buNone/>
              <a:defRPr b="1" sz="1800">
                <a:solidFill>
                  <a:schemeClr val="dk1"/>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chemeClr val="dk1"/>
                </a:solidFill>
                <a:latin typeface="Arial"/>
                <a:ea typeface="Arial"/>
                <a:cs typeface="Arial"/>
                <a:sym typeface="Arial"/>
              </a:defRPr>
            </a:lvl9pPr>
          </a:lstStyle>
          <a:p/>
        </p:txBody>
      </p:sp>
      <p:sp>
        <p:nvSpPr>
          <p:cNvPr id="621" name="Google Shape;621;p38"/>
          <p:cNvSpPr txBox="1"/>
          <p:nvPr>
            <p:ph idx="1" type="body"/>
          </p:nvPr>
        </p:nvSpPr>
        <p:spPr>
          <a:xfrm>
            <a:off x="266400" y="6525344"/>
            <a:ext cx="8568000" cy="231856"/>
          </a:xfrm>
          <a:prstGeom prst="rect">
            <a:avLst/>
          </a:prstGeom>
          <a:noFill/>
          <a:ln>
            <a:noFill/>
          </a:ln>
        </p:spPr>
        <p:txBody>
          <a:bodyPr anchorCtr="0" anchor="b" bIns="0" lIns="0" spcFirstLastPara="1" rIns="0" wrap="square" tIns="0">
            <a:noAutofit/>
          </a:bodyPr>
          <a:lstStyle>
            <a:lvl1pPr indent="-228600" lvl="0" marL="457200" marR="0" rtl="0" algn="l">
              <a:spcBef>
                <a:spcPts val="0"/>
              </a:spcBef>
              <a:spcAft>
                <a:spcPts val="0"/>
              </a:spcAft>
              <a:buClr>
                <a:schemeClr val="dk1"/>
              </a:buClr>
              <a:buSzPts val="700"/>
              <a:buFont typeface="Arial"/>
              <a:buNone/>
              <a:defRPr b="0" i="1" sz="7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622" name="Google Shape;622;p38"/>
          <p:cNvSpPr txBox="1"/>
          <p:nvPr>
            <p:ph idx="2" type="body"/>
          </p:nvPr>
        </p:nvSpPr>
        <p:spPr>
          <a:xfrm>
            <a:off x="266400" y="1051200"/>
            <a:ext cx="9360000" cy="576000"/>
          </a:xfrm>
          <a:prstGeom prst="rect">
            <a:avLst/>
          </a:prstGeom>
          <a:noFill/>
          <a:ln>
            <a:noFill/>
          </a:ln>
        </p:spPr>
        <p:txBody>
          <a:bodyPr anchorCtr="0" anchor="t" bIns="0" lIns="0" spcFirstLastPara="1" rIns="0" wrap="square" tIns="0">
            <a:noAutofit/>
          </a:bodyPr>
          <a:lstStyle>
            <a:lvl1pPr indent="-228600" lvl="0" marL="457200" marR="0" rtl="0" algn="l">
              <a:lnSpc>
                <a:spcPct val="113000"/>
              </a:lnSpc>
              <a:spcBef>
                <a:spcPts val="0"/>
              </a:spcBef>
              <a:spcAft>
                <a:spcPts val="0"/>
              </a:spcAft>
              <a:buSzPts val="1400"/>
              <a:buNone/>
              <a:defRPr b="1" i="0" sz="1400" u="none" cap="none" strike="noStrike">
                <a:solidFill>
                  <a:schemeClr val="dk1"/>
                </a:solidFill>
                <a:latin typeface="Arial"/>
                <a:ea typeface="Arial"/>
                <a:cs typeface="Arial"/>
                <a:sym typeface="Arial"/>
              </a:defRPr>
            </a:lvl1pPr>
            <a:lvl2pPr indent="-281940" lvl="1" marL="914400" marR="0" rtl="0" algn="l">
              <a:spcBef>
                <a:spcPts val="180"/>
              </a:spcBef>
              <a:spcAft>
                <a:spcPts val="0"/>
              </a:spcAft>
              <a:buClr>
                <a:schemeClr val="accent1"/>
              </a:buClr>
              <a:buSzPts val="840"/>
              <a:buFont typeface="Noto Sans Symbols"/>
              <a:buChar char="■"/>
              <a:defRPr b="0" i="0" sz="1200" u="none" cap="none" strike="noStrike">
                <a:solidFill>
                  <a:schemeClr val="dk1"/>
                </a:solidFill>
                <a:latin typeface="Arial"/>
                <a:ea typeface="Arial"/>
                <a:cs typeface="Arial"/>
                <a:sym typeface="Arial"/>
              </a:defRPr>
            </a:lvl2pPr>
            <a:lvl3pPr indent="-304800" lvl="2" marL="1371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3pPr>
            <a:lvl4pPr indent="-304800" lvl="3" marL="18288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4pPr>
            <a:lvl5pPr indent="-304800" lvl="4" marL="22860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5pPr>
            <a:lvl6pPr indent="-304800" lvl="5" marL="27432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6pPr>
            <a:lvl7pPr indent="-304800" lvl="6" marL="32004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7pPr>
            <a:lvl8pPr indent="-304800" lvl="7" marL="3657600" marR="0" rtl="0" algn="l">
              <a:spcBef>
                <a:spcPts val="18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8pPr>
            <a:lvl9pPr indent="-304800" lvl="8" marL="4114800" marR="0" rtl="0" algn="l">
              <a:spcBef>
                <a:spcPts val="180"/>
              </a:spcBef>
              <a:spcAft>
                <a:spcPts val="18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9pPr>
          </a:lstStyle>
          <a:p/>
        </p:txBody>
      </p:sp>
      <p:sp>
        <p:nvSpPr>
          <p:cNvPr id="623" name="Google Shape;623;p38"/>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0_Blank">
  <p:cSld name="Content 30_Blank">
    <p:spTree>
      <p:nvGrpSpPr>
        <p:cNvPr id="624" name="Shape 624"/>
        <p:cNvGrpSpPr/>
        <p:nvPr/>
      </p:nvGrpSpPr>
      <p:grpSpPr>
        <a:xfrm>
          <a:off x="0" y="0"/>
          <a:ext cx="0" cy="0"/>
          <a:chOff x="0" y="0"/>
          <a:chExt cx="0" cy="0"/>
        </a:xfrm>
      </p:grpSpPr>
      <p:sp>
        <p:nvSpPr>
          <p:cNvPr id="625" name="Google Shape;625;p39"/>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1_Complete Blank" showMasterSp="0">
  <p:cSld name="Content 31_Complete Blank">
    <p:spTree>
      <p:nvGrpSpPr>
        <p:cNvPr id="626" name="Shape 626"/>
        <p:cNvGrpSpPr/>
        <p:nvPr/>
      </p:nvGrpSpPr>
      <p:grpSpPr>
        <a:xfrm>
          <a:off x="0" y="0"/>
          <a:ext cx="0" cy="0"/>
          <a:chOff x="0" y="0"/>
          <a:chExt cx="0" cy="0"/>
        </a:xfrm>
      </p:grpSpPr>
      <p:sp>
        <p:nvSpPr>
          <p:cNvPr id="627" name="Google Shape;627;p40"/>
          <p:cNvSpPr txBox="1"/>
          <p:nvPr>
            <p:ph idx="11" type="ftr"/>
          </p:nvPr>
        </p:nvSpPr>
        <p:spPr>
          <a:xfrm>
            <a:off x="8834400" y="6525344"/>
            <a:ext cx="795760" cy="230400"/>
          </a:xfrm>
          <a:prstGeom prst="rect">
            <a:avLst/>
          </a:prstGeom>
          <a:noFill/>
          <a:ln>
            <a:noFill/>
          </a:ln>
        </p:spPr>
        <p:txBody>
          <a:bodyPr anchorCtr="0" anchor="ctr" bIns="18000" lIns="0" spcFirstLastPara="1" rIns="18000" wrap="square" tIns="0">
            <a:noAutofit/>
          </a:bodyPr>
          <a:lstStyle>
            <a:lvl1pPr lvl="0" algn="ctr">
              <a:spcBef>
                <a:spcPts val="0"/>
              </a:spcBef>
              <a:spcAft>
                <a:spcPts val="0"/>
              </a:spcAft>
              <a:buSzPts val="1400"/>
              <a:buNone/>
              <a:defRPr sz="1000">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20" Type="http://schemas.openxmlformats.org/officeDocument/2006/relationships/slideLayout" Target="../slideLayouts/slideLayout19.xml"/><Relationship Id="rId41"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slideLayout" Target="../slideLayouts/slideLayout38.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1522729" y="0"/>
            <a:ext cx="8383423" cy="842963"/>
          </a:xfrm>
          <a:custGeom>
            <a:rect b="b" l="l" r="r" t="t"/>
            <a:pathLst>
              <a:path extrusionOk="0" h="10000" w="9982">
                <a:moveTo>
                  <a:pt x="0" y="3202"/>
                </a:moveTo>
                <a:cubicBezTo>
                  <a:pt x="102" y="5468"/>
                  <a:pt x="206" y="7734"/>
                  <a:pt x="308" y="10000"/>
                </a:cubicBezTo>
                <a:lnTo>
                  <a:pt x="9982" y="10000"/>
                </a:lnTo>
                <a:lnTo>
                  <a:pt x="9982" y="0"/>
                </a:lnTo>
                <a:lnTo>
                  <a:pt x="139" y="0"/>
                </a:lnTo>
                <a:cubicBezTo>
                  <a:pt x="93" y="1067"/>
                  <a:pt x="46" y="2135"/>
                  <a:pt x="0" y="3202"/>
                </a:cubicBezTo>
                <a:close/>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 name="Google Shape;11;p1"/>
          <p:cNvSpPr txBox="1"/>
          <p:nvPr>
            <p:ph idx="11" type="ftr"/>
          </p:nvPr>
        </p:nvSpPr>
        <p:spPr>
          <a:xfrm>
            <a:off x="8834400" y="6580800"/>
            <a:ext cx="795760" cy="230400"/>
          </a:xfrm>
          <a:prstGeom prst="rect">
            <a:avLst/>
          </a:prstGeom>
          <a:noFill/>
          <a:ln>
            <a:noFill/>
          </a:ln>
        </p:spPr>
        <p:txBody>
          <a:bodyPr anchorCtr="0" anchor="ctr" bIns="18000" lIns="0" spcFirstLastPara="1" rIns="18000" wrap="square" tIns="0">
            <a:noAutofit/>
          </a:bodyPr>
          <a:lstStyle>
            <a:lvl1pPr lvl="0" marR="0" rtl="0" algn="ctr">
              <a:spcBef>
                <a:spcPts val="0"/>
              </a:spcBef>
              <a:spcAft>
                <a:spcPts val="0"/>
              </a:spcAft>
              <a:buSzPts val="1400"/>
              <a:buNone/>
              <a:defRPr sz="1000">
                <a:solidFill>
                  <a:schemeClr val="accent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NOMURA_A4_PMS_1797.emf" id="12" name="Google Shape;12;p1"/>
          <p:cNvPicPr preferRelativeResize="0"/>
          <p:nvPr/>
        </p:nvPicPr>
        <p:blipFill rotWithShape="1">
          <a:blip r:embed="rId1">
            <a:alphaModFix/>
          </a:blip>
          <a:srcRect b="0" l="0" r="0" t="0"/>
          <a:stretch/>
        </p:blipFill>
        <p:spPr>
          <a:xfrm>
            <a:off x="8355804" y="306904"/>
            <a:ext cx="1260000" cy="222805"/>
          </a:xfrm>
          <a:prstGeom prst="rect">
            <a:avLst/>
          </a:prstGeom>
          <a:noFill/>
          <a:ln>
            <a:noFill/>
          </a:ln>
        </p:spPr>
      </p:pic>
      <p:sp>
        <p:nvSpPr>
          <p:cNvPr id="13" name="Google Shape;13;p1"/>
          <p:cNvSpPr/>
          <p:nvPr/>
        </p:nvSpPr>
        <p:spPr>
          <a:xfrm>
            <a:off x="1522730" y="0"/>
            <a:ext cx="8428038" cy="842963"/>
          </a:xfrm>
          <a:custGeom>
            <a:rect b="b" l="l" r="r" t="t"/>
            <a:pathLst>
              <a:path extrusionOk="0" h="531" w="5309">
                <a:moveTo>
                  <a:pt x="0" y="170"/>
                </a:moveTo>
                <a:lnTo>
                  <a:pt x="163" y="531"/>
                </a:lnTo>
                <a:lnTo>
                  <a:pt x="5309" y="531"/>
                </a:lnTo>
                <a:lnTo>
                  <a:pt x="5309" y="0"/>
                </a:lnTo>
                <a:lnTo>
                  <a:pt x="74" y="0"/>
                </a:lnTo>
                <a:lnTo>
                  <a:pt x="0" y="17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 name="Google Shape;14;p1"/>
          <p:cNvSpPr/>
          <p:nvPr/>
        </p:nvSpPr>
        <p:spPr>
          <a:xfrm>
            <a:off x="1349692" y="396875"/>
            <a:ext cx="325438" cy="446088"/>
          </a:xfrm>
          <a:custGeom>
            <a:rect b="b" l="l" r="r" t="t"/>
            <a:pathLst>
              <a:path extrusionOk="0" h="281" w="205">
                <a:moveTo>
                  <a:pt x="77" y="0"/>
                </a:moveTo>
                <a:lnTo>
                  <a:pt x="0" y="179"/>
                </a:lnTo>
                <a:lnTo>
                  <a:pt x="48" y="281"/>
                </a:lnTo>
                <a:lnTo>
                  <a:pt x="205" y="281"/>
                </a:lnTo>
                <a:lnTo>
                  <a:pt x="77" y="0"/>
                </a:lnTo>
                <a:close/>
              </a:path>
            </a:pathLst>
          </a:custGeom>
          <a:solidFill>
            <a:srgbClr val="D5D5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1"/>
          <p:cNvSpPr/>
          <p:nvPr/>
        </p:nvSpPr>
        <p:spPr>
          <a:xfrm>
            <a:off x="1344930" y="396875"/>
            <a:ext cx="325438" cy="446088"/>
          </a:xfrm>
          <a:custGeom>
            <a:rect b="b" l="l" r="r" t="t"/>
            <a:pathLst>
              <a:path extrusionOk="0" h="281" w="205">
                <a:moveTo>
                  <a:pt x="77" y="0"/>
                </a:moveTo>
                <a:lnTo>
                  <a:pt x="0" y="179"/>
                </a:lnTo>
                <a:lnTo>
                  <a:pt x="48" y="281"/>
                </a:lnTo>
                <a:lnTo>
                  <a:pt x="205" y="281"/>
                </a:lnTo>
                <a:lnTo>
                  <a:pt x="7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1"/>
          <p:cNvSpPr/>
          <p:nvPr/>
        </p:nvSpPr>
        <p:spPr>
          <a:xfrm>
            <a:off x="1305242" y="0"/>
            <a:ext cx="222250" cy="396875"/>
          </a:xfrm>
          <a:custGeom>
            <a:rect b="b" l="l" r="r" t="t"/>
            <a:pathLst>
              <a:path extrusionOk="0" h="250" w="140">
                <a:moveTo>
                  <a:pt x="67" y="0"/>
                </a:moveTo>
                <a:lnTo>
                  <a:pt x="0" y="0"/>
                </a:lnTo>
                <a:lnTo>
                  <a:pt x="0" y="6"/>
                </a:lnTo>
                <a:lnTo>
                  <a:pt x="105" y="250"/>
                </a:lnTo>
                <a:lnTo>
                  <a:pt x="140" y="170"/>
                </a:lnTo>
                <a:lnTo>
                  <a:pt x="67"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1"/>
          <p:cNvSpPr/>
          <p:nvPr/>
        </p:nvSpPr>
        <p:spPr>
          <a:xfrm>
            <a:off x="1300480" y="0"/>
            <a:ext cx="222250" cy="396875"/>
          </a:xfrm>
          <a:custGeom>
            <a:rect b="b" l="l" r="r" t="t"/>
            <a:pathLst>
              <a:path extrusionOk="0" h="250" w="140">
                <a:moveTo>
                  <a:pt x="67" y="0"/>
                </a:moveTo>
                <a:lnTo>
                  <a:pt x="0" y="0"/>
                </a:lnTo>
                <a:lnTo>
                  <a:pt x="0" y="6"/>
                </a:lnTo>
                <a:lnTo>
                  <a:pt x="105" y="250"/>
                </a:lnTo>
                <a:lnTo>
                  <a:pt x="140" y="170"/>
                </a:lnTo>
                <a:lnTo>
                  <a:pt x="6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1"/>
          <p:cNvSpPr/>
          <p:nvPr/>
        </p:nvSpPr>
        <p:spPr>
          <a:xfrm>
            <a:off x="943292" y="284163"/>
            <a:ext cx="411163" cy="558800"/>
          </a:xfrm>
          <a:custGeom>
            <a:rect b="b" l="l" r="r" t="t"/>
            <a:pathLst>
              <a:path extrusionOk="0" h="352" w="259">
                <a:moveTo>
                  <a:pt x="154" y="0"/>
                </a:moveTo>
                <a:lnTo>
                  <a:pt x="0" y="352"/>
                </a:lnTo>
                <a:lnTo>
                  <a:pt x="215" y="352"/>
                </a:lnTo>
                <a:lnTo>
                  <a:pt x="259" y="250"/>
                </a:lnTo>
                <a:lnTo>
                  <a:pt x="154"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1"/>
          <p:cNvSpPr/>
          <p:nvPr/>
        </p:nvSpPr>
        <p:spPr>
          <a:xfrm>
            <a:off x="933768" y="284163"/>
            <a:ext cx="411163" cy="558800"/>
          </a:xfrm>
          <a:custGeom>
            <a:rect b="b" l="l" r="r" t="t"/>
            <a:pathLst>
              <a:path extrusionOk="0" h="352" w="259">
                <a:moveTo>
                  <a:pt x="154" y="0"/>
                </a:moveTo>
                <a:lnTo>
                  <a:pt x="0" y="352"/>
                </a:lnTo>
                <a:lnTo>
                  <a:pt x="215" y="352"/>
                </a:lnTo>
                <a:lnTo>
                  <a:pt x="259" y="250"/>
                </a:lnTo>
                <a:lnTo>
                  <a:pt x="15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1"/>
          <p:cNvSpPr/>
          <p:nvPr/>
        </p:nvSpPr>
        <p:spPr>
          <a:xfrm>
            <a:off x="273366" y="0"/>
            <a:ext cx="796925" cy="842963"/>
          </a:xfrm>
          <a:custGeom>
            <a:rect b="b" l="l" r="r" t="t"/>
            <a:pathLst>
              <a:path extrusionOk="0" h="531" w="502">
                <a:moveTo>
                  <a:pt x="502" y="0"/>
                </a:moveTo>
                <a:lnTo>
                  <a:pt x="224" y="0"/>
                </a:lnTo>
                <a:lnTo>
                  <a:pt x="0" y="531"/>
                </a:lnTo>
                <a:lnTo>
                  <a:pt x="275" y="531"/>
                </a:lnTo>
                <a:lnTo>
                  <a:pt x="502" y="0"/>
                </a:lnTo>
                <a:close/>
              </a:path>
            </a:pathLst>
          </a:custGeom>
          <a:solidFill>
            <a:srgbClr val="CECEC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1"/>
          <p:cNvSpPr/>
          <p:nvPr/>
        </p:nvSpPr>
        <p:spPr>
          <a:xfrm>
            <a:off x="259080" y="0"/>
            <a:ext cx="796925" cy="842963"/>
          </a:xfrm>
          <a:custGeom>
            <a:rect b="b" l="l" r="r" t="t"/>
            <a:pathLst>
              <a:path extrusionOk="0" h="531" w="502">
                <a:moveTo>
                  <a:pt x="502" y="0"/>
                </a:moveTo>
                <a:lnTo>
                  <a:pt x="224" y="0"/>
                </a:lnTo>
                <a:lnTo>
                  <a:pt x="0" y="531"/>
                </a:lnTo>
                <a:lnTo>
                  <a:pt x="275" y="531"/>
                </a:lnTo>
                <a:lnTo>
                  <a:pt x="502"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1"/>
          <p:cNvSpPr/>
          <p:nvPr/>
        </p:nvSpPr>
        <p:spPr>
          <a:xfrm>
            <a:off x="1406843" y="0"/>
            <a:ext cx="233363" cy="269875"/>
          </a:xfrm>
          <a:custGeom>
            <a:rect b="b" l="l" r="r" t="t"/>
            <a:pathLst>
              <a:path extrusionOk="0" h="170" w="147">
                <a:moveTo>
                  <a:pt x="0" y="0"/>
                </a:moveTo>
                <a:lnTo>
                  <a:pt x="73" y="170"/>
                </a:lnTo>
                <a:lnTo>
                  <a:pt x="147" y="0"/>
                </a:lnTo>
                <a:lnTo>
                  <a:pt x="0" y="0"/>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1"/>
          <p:cNvSpPr/>
          <p:nvPr/>
        </p:nvSpPr>
        <p:spPr>
          <a:xfrm>
            <a:off x="1406843" y="0"/>
            <a:ext cx="233363" cy="269875"/>
          </a:xfrm>
          <a:custGeom>
            <a:rect b="b" l="l" r="r" t="t"/>
            <a:pathLst>
              <a:path extrusionOk="0" h="170" w="147">
                <a:moveTo>
                  <a:pt x="0" y="0"/>
                </a:moveTo>
                <a:lnTo>
                  <a:pt x="73" y="170"/>
                </a:lnTo>
                <a:lnTo>
                  <a:pt x="147" y="0"/>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1"/>
          <p:cNvSpPr/>
          <p:nvPr/>
        </p:nvSpPr>
        <p:spPr>
          <a:xfrm>
            <a:off x="1409224" y="0"/>
            <a:ext cx="233363" cy="269875"/>
          </a:xfrm>
          <a:custGeom>
            <a:rect b="b" l="l" r="r" t="t"/>
            <a:pathLst>
              <a:path extrusionOk="0" h="170" w="147">
                <a:moveTo>
                  <a:pt x="147" y="0"/>
                </a:moveTo>
                <a:lnTo>
                  <a:pt x="0" y="0"/>
                </a:lnTo>
                <a:lnTo>
                  <a:pt x="73" y="170"/>
                </a:lnTo>
                <a:lnTo>
                  <a:pt x="147" y="0"/>
                </a:lnTo>
                <a:close/>
              </a:path>
            </a:pathLst>
          </a:custGeom>
          <a:solidFill>
            <a:srgbClr val="9B9B9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1"/>
          <p:cNvSpPr/>
          <p:nvPr/>
        </p:nvSpPr>
        <p:spPr>
          <a:xfrm>
            <a:off x="1406843" y="0"/>
            <a:ext cx="233363" cy="269875"/>
          </a:xfrm>
          <a:custGeom>
            <a:rect b="b" l="l" r="r" t="t"/>
            <a:pathLst>
              <a:path extrusionOk="0" h="170" w="147">
                <a:moveTo>
                  <a:pt x="147" y="0"/>
                </a:moveTo>
                <a:lnTo>
                  <a:pt x="0" y="0"/>
                </a:lnTo>
                <a:lnTo>
                  <a:pt x="73" y="170"/>
                </a:lnTo>
                <a:lnTo>
                  <a:pt x="14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1"/>
          <p:cNvSpPr/>
          <p:nvPr/>
        </p:nvSpPr>
        <p:spPr>
          <a:xfrm>
            <a:off x="1185386" y="9525"/>
            <a:ext cx="288925" cy="671513"/>
          </a:xfrm>
          <a:custGeom>
            <a:rect b="b" l="l" r="r" t="t"/>
            <a:pathLst>
              <a:path extrusionOk="0" h="423" w="182">
                <a:moveTo>
                  <a:pt x="77" y="0"/>
                </a:moveTo>
                <a:lnTo>
                  <a:pt x="0" y="173"/>
                </a:lnTo>
                <a:lnTo>
                  <a:pt x="105" y="423"/>
                </a:lnTo>
                <a:lnTo>
                  <a:pt x="182" y="244"/>
                </a:lnTo>
                <a:lnTo>
                  <a:pt x="77"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1"/>
          <p:cNvSpPr/>
          <p:nvPr/>
        </p:nvSpPr>
        <p:spPr>
          <a:xfrm>
            <a:off x="1178243" y="9525"/>
            <a:ext cx="288925" cy="671513"/>
          </a:xfrm>
          <a:custGeom>
            <a:rect b="b" l="l" r="r" t="t"/>
            <a:pathLst>
              <a:path extrusionOk="0" h="423" w="182">
                <a:moveTo>
                  <a:pt x="77" y="0"/>
                </a:moveTo>
                <a:lnTo>
                  <a:pt x="0" y="173"/>
                </a:lnTo>
                <a:lnTo>
                  <a:pt x="105" y="423"/>
                </a:lnTo>
                <a:lnTo>
                  <a:pt x="182" y="244"/>
                </a:lnTo>
                <a:lnTo>
                  <a:pt x="7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1"/>
          <p:cNvSpPr/>
          <p:nvPr/>
        </p:nvSpPr>
        <p:spPr>
          <a:xfrm>
            <a:off x="1294130" y="0"/>
            <a:ext cx="6350" cy="9525"/>
          </a:xfrm>
          <a:custGeom>
            <a:rect b="b" l="l" r="r" t="t"/>
            <a:pathLst>
              <a:path extrusionOk="0" h="6" w="4">
                <a:moveTo>
                  <a:pt x="4" y="0"/>
                </a:moveTo>
                <a:lnTo>
                  <a:pt x="0" y="0"/>
                </a:lnTo>
                <a:lnTo>
                  <a:pt x="4" y="6"/>
                </a:lnTo>
                <a:lnTo>
                  <a:pt x="4"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1"/>
          <p:cNvSpPr/>
          <p:nvPr/>
        </p:nvSpPr>
        <p:spPr>
          <a:xfrm>
            <a:off x="1294130" y="0"/>
            <a:ext cx="6350" cy="9525"/>
          </a:xfrm>
          <a:custGeom>
            <a:rect b="b" l="l" r="r" t="t"/>
            <a:pathLst>
              <a:path extrusionOk="0" h="6" w="4">
                <a:moveTo>
                  <a:pt x="4" y="0"/>
                </a:moveTo>
                <a:lnTo>
                  <a:pt x="0" y="0"/>
                </a:lnTo>
                <a:lnTo>
                  <a:pt x="4" y="6"/>
                </a:lnTo>
                <a:lnTo>
                  <a:pt x="4"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1"/>
          <p:cNvSpPr/>
          <p:nvPr/>
        </p:nvSpPr>
        <p:spPr>
          <a:xfrm>
            <a:off x="707548" y="0"/>
            <a:ext cx="482600" cy="842963"/>
          </a:xfrm>
          <a:custGeom>
            <a:rect b="b" l="l" r="r" t="t"/>
            <a:pathLst>
              <a:path extrusionOk="0" h="531" w="304">
                <a:moveTo>
                  <a:pt x="227" y="0"/>
                </a:moveTo>
                <a:lnTo>
                  <a:pt x="227" y="0"/>
                </a:lnTo>
                <a:lnTo>
                  <a:pt x="0" y="531"/>
                </a:lnTo>
                <a:lnTo>
                  <a:pt x="150" y="531"/>
                </a:lnTo>
                <a:lnTo>
                  <a:pt x="304" y="179"/>
                </a:lnTo>
                <a:lnTo>
                  <a:pt x="227" y="0"/>
                </a:lnTo>
                <a:close/>
              </a:path>
            </a:pathLst>
          </a:cu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1"/>
          <p:cNvSpPr/>
          <p:nvPr/>
        </p:nvSpPr>
        <p:spPr>
          <a:xfrm>
            <a:off x="695643" y="0"/>
            <a:ext cx="482600" cy="842963"/>
          </a:xfrm>
          <a:custGeom>
            <a:rect b="b" l="l" r="r" t="t"/>
            <a:pathLst>
              <a:path extrusionOk="0" h="531" w="304">
                <a:moveTo>
                  <a:pt x="227" y="0"/>
                </a:moveTo>
                <a:lnTo>
                  <a:pt x="227" y="0"/>
                </a:lnTo>
                <a:lnTo>
                  <a:pt x="0" y="531"/>
                </a:lnTo>
                <a:lnTo>
                  <a:pt x="150" y="531"/>
                </a:lnTo>
                <a:lnTo>
                  <a:pt x="304" y="179"/>
                </a:lnTo>
                <a:lnTo>
                  <a:pt x="227"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1"/>
          <p:cNvSpPr/>
          <p:nvPr/>
        </p:nvSpPr>
        <p:spPr>
          <a:xfrm>
            <a:off x="1065529" y="0"/>
            <a:ext cx="244475" cy="284163"/>
          </a:xfrm>
          <a:custGeom>
            <a:rect b="b" l="l" r="r" t="t"/>
            <a:pathLst>
              <a:path extrusionOk="0" h="179" w="154">
                <a:moveTo>
                  <a:pt x="150" y="0"/>
                </a:moveTo>
                <a:lnTo>
                  <a:pt x="0" y="0"/>
                </a:lnTo>
                <a:lnTo>
                  <a:pt x="77" y="179"/>
                </a:lnTo>
                <a:lnTo>
                  <a:pt x="154" y="6"/>
                </a:lnTo>
                <a:lnTo>
                  <a:pt x="150" y="0"/>
                </a:lnTo>
                <a:close/>
              </a:path>
            </a:pathLst>
          </a:custGeom>
          <a:solidFill>
            <a:srgbClr val="909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1"/>
          <p:cNvSpPr/>
          <p:nvPr/>
        </p:nvSpPr>
        <p:spPr>
          <a:xfrm>
            <a:off x="1056005" y="0"/>
            <a:ext cx="244475" cy="284163"/>
          </a:xfrm>
          <a:custGeom>
            <a:rect b="b" l="l" r="r" t="t"/>
            <a:pathLst>
              <a:path extrusionOk="0" h="179" w="154">
                <a:moveTo>
                  <a:pt x="150" y="0"/>
                </a:moveTo>
                <a:lnTo>
                  <a:pt x="0" y="0"/>
                </a:lnTo>
                <a:lnTo>
                  <a:pt x="77" y="179"/>
                </a:lnTo>
                <a:lnTo>
                  <a:pt x="154" y="6"/>
                </a:lnTo>
                <a:lnTo>
                  <a:pt x="15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1"/>
          <p:cNvSpPr/>
          <p:nvPr/>
        </p:nvSpPr>
        <p:spPr>
          <a:xfrm>
            <a:off x="1056005" y="0"/>
            <a:ext cx="1588" cy="1588"/>
          </a:xfrm>
          <a:prstGeom prst="rect">
            <a:avLst/>
          </a:prstGeom>
          <a:solidFill>
            <a:srgbClr val="ACACA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1"/>
          <p:cNvSpPr/>
          <p:nvPr/>
        </p:nvSpPr>
        <p:spPr>
          <a:xfrm>
            <a:off x="1056005" y="0"/>
            <a:ext cx="1588" cy="1588"/>
          </a:xfrm>
          <a:custGeom>
            <a:rect b="b" l="l" r="r" t="t"/>
            <a:pathLst>
              <a:path extrusionOk="0" h="120000" w="120000">
                <a:moveTo>
                  <a:pt x="0" y="0"/>
                </a:moveTo>
                <a:lnTo>
                  <a:pt x="0" y="0"/>
                </a:lnTo>
                <a:lnTo>
                  <a:pt x="0" y="0"/>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type="title"/>
          </p:nvPr>
        </p:nvSpPr>
        <p:spPr>
          <a:xfrm>
            <a:off x="265176" y="2880360"/>
            <a:ext cx="7196328" cy="859536"/>
          </a:xfrm>
          <a:prstGeom prst="rect">
            <a:avLst/>
          </a:prstGeom>
          <a:noFill/>
          <a:ln/>
        </p:spPr>
        <p:txBody>
          <a:bodyPr wrap="square" rtlCol="0"/>
          <a:lstStyle/>
          <a:p>
            <a:pPr indent="0" marL="0">
              <a:buNone/>
            </a:pPr>
            <a:r>
              <a:rPr lang="ja-JP" altLang="en-US" sz="2400" b="1" dirty="0">
                <a:solidFill>
                  <a:srgbClr val="000000"/>
                </a:solidFill>
              </a:rPr>
              <a:t>インド株アクティブ戦略</a:t>
            </a:r>
            <a:endParaRPr lang="ja-JP" sz="2400" dirty="0"/>
          </a:p>
        </p:txBody>
      </p:sp>
      <p:sp>
        <p:nvSpPr>
          <p:cNvPr id="3" name="Text 0"/>
          <p:cNvSpPr/>
          <p:nvPr>
            <p:ph type="body" idx="1"/>
          </p:nvPr>
        </p:nvSpPr>
        <p:spPr>
          <a:xfrm>
            <a:off x="265176" y="3886200"/>
            <a:ext cx="7196328" cy="512064"/>
          </a:xfrm>
          <a:prstGeom prst="rect">
            <a:avLst/>
          </a:prstGeom>
          <a:noFill/>
          <a:ln/>
        </p:spPr>
        <p:txBody>
          <a:bodyPr wrap="square" rtlCol="0"/>
          <a:lstStyle/>
          <a:p>
            <a:pPr indent="0" marL="0">
              <a:buNone/>
            </a:pPr>
            <a:r>
              <a:rPr lang="ja-JP" altLang="en-US" sz="1800" b="1" dirty="0">
                <a:solidFill>
                  <a:srgbClr val="000000"/>
                </a:solidFill>
              </a:rPr>
              <a:t>新しいアルファ素材の検証（10/30）</a:t>
            </a:r>
            <a:endParaRPr lang="ja-JP" sz="1800" dirty="0"/>
          </a:p>
        </p:txBody>
      </p:sp>
      <p:sp>
        <p:nvSpPr>
          <p:cNvPr id="4" name="Text 0"/>
          <p:cNvSpPr/>
          <p:nvPr>
            <p:ph type="body" idx="4"/>
          </p:nvPr>
        </p:nvSpPr>
        <p:spPr>
          <a:xfrm>
            <a:off x="265176" y="4864608"/>
            <a:ext cx="3959352" cy="795528"/>
          </a:xfrm>
          <a:prstGeom prst="rect">
            <a:avLst/>
          </a:prstGeom>
          <a:noFill/>
          <a:ln/>
        </p:spPr>
        <p:txBody>
          <a:bodyPr wrap="square" rtlCol="0"/>
          <a:lstStyle/>
          <a:p>
            <a:pPr indent="0" marL="0">
              <a:buNone/>
            </a:pPr>
            <a:r>
              <a:rPr lang="ja-JP" altLang="en-US" sz="1400" dirty="0">
                <a:solidFill>
                  <a:srgbClr val="000000"/>
                </a:solidFill>
              </a:rPr>
              <a:t>異常回転率（abn_to）/ Agnostic</a:t>
            </a:r>
            <a:endParaRPr lang="ja-JP" sz="1400" dirty="0"/>
          </a:p>
          <a:p>
            <a:pPr indent="0" marL="0">
              <a:buNone/>
            </a:pPr>
            <a:r>
              <a:rPr lang="ja-JP" altLang="en-US" sz="1400" dirty="0">
                <a:solidFill>
                  <a:srgbClr val="000000"/>
                </a:solidFill>
              </a:rPr>
              <a:t>Appendix: スタイル類似局面（DTW）</a:t>
            </a:r>
            <a:endParaRPr lang="ja-JP"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要旨</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独立した情報は見つかったが、税引後の上乗せには届かない</a:t>
            </a:r>
            <a:endParaRPr lang="ja-JP" sz="1500" dirty="0"/>
          </a:p>
        </p:txBody>
      </p:sp>
      <p:sp>
        <p:nvSpPr>
          <p:cNvPr id="5" name="card"/>
          <p:cNvSpPr/>
          <p:nvPr/>
        </p:nvSpPr>
        <p:spPr>
          <a:xfrm>
            <a:off x="411480" y="1508760"/>
            <a:ext cx="9082735" cy="777240"/>
          </a:xfrm>
          <a:prstGeom prst="roundRect">
            <a:avLst>
              <a:gd name="adj" fmla="val 7059"/>
            </a:avLst>
          </a:prstGeom>
          <a:solidFill>
            <a:srgbClr val="F2F2F2"/>
          </a:solidFill>
          <a:ln/>
        </p:spPr>
      </p:sp>
      <p:sp>
        <p:nvSpPr>
          <p:cNvPr id="6" name="Text 3"/>
          <p:cNvSpPr txBox="1"/>
          <p:nvPr/>
        </p:nvSpPr>
        <p:spPr>
          <a:xfrm>
            <a:off x="598629" y="1508760"/>
            <a:ext cx="8708436" cy="777240"/>
          </a:xfrm>
          <a:prstGeom prst="rect">
            <a:avLst/>
          </a:prstGeom>
          <a:noFill/>
          <a:ln/>
        </p:spPr>
        <p:txBody>
          <a:bodyPr wrap="square" lIns="0" tIns="0" rIns="0" bIns="0" rtlCol="0" anchor="ctr"/>
          <a:lstStyle/>
          <a:p>
            <a:pPr indent="0" marL="0">
              <a:buNone/>
            </a:pPr>
            <a:r>
              <a:rPr lang="ja-JP" altLang="en-US" sz="1300" b="1" dirty="0">
                <a:solidFill>
                  <a:srgbClr val="CB2420"/>
                </a:solidFill>
              </a:rPr>
              <a:t>出発点: </a:t>
            </a:r>
            <a:pPr indent="0" marL="0">
              <a:buNone/>
            </a:pPr>
            <a:r>
              <a:rPr lang="ja-JP" altLang="en-US" sz="1300" dirty="0">
                <a:solidFill>
                  <a:srgbClr val="000000"/>
                </a:solidFill>
              </a:rPr>
              <a:t>comp_ew は強い（Q5 等ウェイト超過 13.0%、税引後 8.5%、IC 0.065）。足す素材は ① comp_ew と独立で、② ロングオンリー・税引後でも残る必要がある</a:t>
            </a:r>
            <a:endParaRPr lang="ja-JP" sz="1300" dirty="0"/>
          </a:p>
        </p:txBody>
      </p:sp>
      <p:sp>
        <p:nvSpPr>
          <p:cNvPr id="7" name="result-card"/>
          <p:cNvSpPr/>
          <p:nvPr/>
        </p:nvSpPr>
        <p:spPr>
          <a:xfrm>
            <a:off x="411480" y="2468880"/>
            <a:ext cx="4417849" cy="2514600"/>
          </a:xfrm>
          <a:prstGeom prst="roundRect">
            <a:avLst>
              <a:gd name="adj" fmla="val 2182"/>
            </a:avLst>
          </a:prstGeom>
          <a:ln w="12700">
            <a:solidFill>
              <a:srgbClr val="BFBFBF"/>
            </a:solidFill>
            <a:prstDash val="solid"/>
          </a:ln>
        </p:spPr>
      </p:sp>
      <p:sp>
        <p:nvSpPr>
          <p:cNvPr id="8" name="Text 5"/>
          <p:cNvSpPr txBox="1"/>
          <p:nvPr/>
        </p:nvSpPr>
        <p:spPr>
          <a:xfrm>
            <a:off x="598629" y="2651760"/>
            <a:ext cx="2995513" cy="411480"/>
          </a:xfrm>
          <a:prstGeom prst="rect">
            <a:avLst/>
          </a:prstGeom>
          <a:noFill/>
          <a:ln/>
        </p:spPr>
        <p:txBody>
          <a:bodyPr wrap="square" lIns="0" tIns="0" rIns="0" bIns="0" rtlCol="0" anchor="t"/>
          <a:lstStyle/>
          <a:p>
            <a:pPr indent="0" marL="0">
              <a:buNone/>
            </a:pPr>
            <a:r>
              <a:rPr lang="ja-JP" altLang="en-US" sz="1550" b="1" dirty="0">
                <a:solidFill>
                  <a:srgbClr val="000000"/>
                </a:solidFill>
              </a:rPr>
              <a:t>異常回転率（abn_to）</a:t>
            </a:r>
            <a:endParaRPr lang="ja-JP" sz="1550" dirty="0"/>
          </a:p>
        </p:txBody>
      </p:sp>
      <p:sp>
        <p:nvSpPr>
          <p:cNvPr id="9" name="verdict"/>
          <p:cNvSpPr/>
          <p:nvPr/>
        </p:nvSpPr>
        <p:spPr>
          <a:xfrm>
            <a:off x="3743862" y="2670048"/>
            <a:ext cx="898317" cy="365760"/>
          </a:xfrm>
          <a:prstGeom prst="roundRect">
            <a:avLst>
              <a:gd name="adj" fmla="val 50000"/>
            </a:avLst>
          </a:prstGeom>
          <a:solidFill>
            <a:srgbClr val="595959"/>
          </a:solidFill>
          <a:ln/>
        </p:spPr>
      </p:sp>
      <p:sp>
        <p:nvSpPr>
          <p:cNvPr id="10" name="Text 7"/>
          <p:cNvSpPr txBox="1"/>
          <p:nvPr/>
        </p:nvSpPr>
        <p:spPr>
          <a:xfrm>
            <a:off x="3743862" y="2670048"/>
            <a:ext cx="898317" cy="365760"/>
          </a:xfrm>
          <a:prstGeom prst="rect">
            <a:avLst/>
          </a:prstGeom>
          <a:noFill/>
          <a:ln/>
        </p:spPr>
        <p:txBody>
          <a:bodyPr wrap="square" lIns="0" tIns="0" rIns="0" bIns="0" rtlCol="0" anchor="ctr"/>
          <a:lstStyle/>
          <a:p>
            <a:pPr algn="ctr" indent="0" marL="0">
              <a:buNone/>
            </a:pPr>
            <a:r>
              <a:rPr lang="ja-JP" altLang="en-US" sz="1200" b="1" dirty="0">
                <a:solidFill>
                  <a:srgbClr val="FFFFFF"/>
                </a:solidFill>
              </a:rPr>
              <a:t>見送り</a:t>
            </a:r>
            <a:endParaRPr lang="ja-JP" sz="1200" dirty="0"/>
          </a:p>
        </p:txBody>
      </p:sp>
      <p:sp>
        <p:nvSpPr>
          <p:cNvPr id="11" name="Text 8"/>
          <p:cNvSpPr txBox="1"/>
          <p:nvPr/>
        </p:nvSpPr>
        <p:spPr>
          <a:xfrm>
            <a:off x="598629" y="3200400"/>
            <a:ext cx="4043550" cy="164592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出来高が平常より増えた銘柄は翌月上がる（IC 0.016、t 2.5）</a:t>
            </a:r>
            <a:endParaRPr lang="ja-JP" sz="1300" dirty="0"/>
          </a:p>
          <a:p>
            <a:pPr marL="152400" indent="-152400">
              <a:spcAft>
                <a:spcPts val="500"/>
              </a:spcAft>
              <a:buSzPct val="100000"/>
              <a:buChar char="•"/>
            </a:pPr>
            <a:r>
              <a:rPr lang="ja-JP" altLang="en-US" sz="1300" dirty="0">
                <a:solidFill>
                  <a:srgbClr val="000000"/>
                </a:solidFill>
              </a:rPr>
              <a:t>comp_ew と独立（順位相関 −0.02）</a:t>
            </a:r>
            <a:endParaRPr lang="ja-JP" sz="1300" dirty="0"/>
          </a:p>
          <a:p>
            <a:pPr marL="152400" indent="-152400">
              <a:spcAft>
                <a:spcPts val="500"/>
              </a:spcAft>
              <a:buSzPct val="100000"/>
              <a:buChar char="•"/>
            </a:pPr>
            <a:r>
              <a:rPr lang="ja-JP" altLang="en-US" sz="1300" dirty="0">
                <a:solidFill>
                  <a:srgbClr val="000000"/>
                </a:solidFill>
              </a:rPr>
              <a:t>ただし効きは 1〜2 か月、回転率は年 7.5 倍</a:t>
            </a:r>
            <a:endParaRPr lang="ja-JP" sz="1300" dirty="0"/>
          </a:p>
          <a:p>
            <a:pPr marL="152400" indent="-152400">
              <a:spcAft>
                <a:spcPts val="500"/>
              </a:spcAft>
              <a:buSzPct val="100000"/>
              <a:buChar char="•"/>
            </a:pPr>
            <a:r>
              <a:rPr lang="ja-JP" altLang="en-US" sz="1300" dirty="0">
                <a:solidFill>
                  <a:srgbClr val="000000"/>
                </a:solidFill>
              </a:rPr>
              <a:t>comp_ew と 80:20 で混ぜると税引後 8.5% → 8.2%</a:t>
            </a:r>
            <a:endParaRPr lang="ja-JP" sz="1300" dirty="0"/>
          </a:p>
        </p:txBody>
      </p:sp>
      <p:sp>
        <p:nvSpPr>
          <p:cNvPr id="12" name="result-card"/>
          <p:cNvSpPr/>
          <p:nvPr/>
        </p:nvSpPr>
        <p:spPr>
          <a:xfrm>
            <a:off x="5076366" y="2468880"/>
            <a:ext cx="4417849" cy="2514600"/>
          </a:xfrm>
          <a:prstGeom prst="roundRect">
            <a:avLst>
              <a:gd name="adj" fmla="val 2182"/>
            </a:avLst>
          </a:prstGeom>
          <a:ln w="12700">
            <a:solidFill>
              <a:srgbClr val="BFBFBF"/>
            </a:solidFill>
            <a:prstDash val="solid"/>
          </a:ln>
        </p:spPr>
      </p:sp>
      <p:sp>
        <p:nvSpPr>
          <p:cNvPr id="13" name="Text 10"/>
          <p:cNvSpPr txBox="1"/>
          <p:nvPr/>
        </p:nvSpPr>
        <p:spPr>
          <a:xfrm>
            <a:off x="5263516" y="2651760"/>
            <a:ext cx="2995513" cy="411480"/>
          </a:xfrm>
          <a:prstGeom prst="rect">
            <a:avLst/>
          </a:prstGeom>
          <a:noFill/>
          <a:ln/>
        </p:spPr>
        <p:txBody>
          <a:bodyPr wrap="square" lIns="0" tIns="0" rIns="0" bIns="0" rtlCol="0" anchor="t"/>
          <a:lstStyle/>
          <a:p>
            <a:pPr indent="0" marL="0">
              <a:buNone/>
            </a:pPr>
            <a:r>
              <a:rPr lang="ja-JP" altLang="en-US" sz="1550" b="1" dirty="0">
                <a:solidFill>
                  <a:srgbClr val="000000"/>
                </a:solidFill>
              </a:rPr>
              <a:t>Agnostic（公正価値との乖離）</a:t>
            </a:r>
            <a:endParaRPr lang="ja-JP" sz="1550" dirty="0"/>
          </a:p>
        </p:txBody>
      </p:sp>
      <p:sp>
        <p:nvSpPr>
          <p:cNvPr id="14" name="verdict"/>
          <p:cNvSpPr/>
          <p:nvPr/>
        </p:nvSpPr>
        <p:spPr>
          <a:xfrm>
            <a:off x="8408749" y="2670048"/>
            <a:ext cx="898317" cy="365760"/>
          </a:xfrm>
          <a:prstGeom prst="roundRect">
            <a:avLst>
              <a:gd name="adj" fmla="val 50000"/>
            </a:avLst>
          </a:prstGeom>
          <a:solidFill>
            <a:srgbClr val="CB2420"/>
          </a:solidFill>
          <a:ln/>
        </p:spPr>
      </p:sp>
      <p:sp>
        <p:nvSpPr>
          <p:cNvPr id="15" name="Text 12"/>
          <p:cNvSpPr txBox="1"/>
          <p:nvPr/>
        </p:nvSpPr>
        <p:spPr>
          <a:xfrm>
            <a:off x="8408749" y="2670048"/>
            <a:ext cx="898317" cy="365760"/>
          </a:xfrm>
          <a:prstGeom prst="rect">
            <a:avLst/>
          </a:prstGeom>
          <a:noFill/>
          <a:ln/>
        </p:spPr>
        <p:txBody>
          <a:bodyPr wrap="square" lIns="0" tIns="0" rIns="0" bIns="0" rtlCol="0" anchor="ctr"/>
          <a:lstStyle/>
          <a:p>
            <a:pPr algn="ctr" indent="0" marL="0">
              <a:buNone/>
            </a:pPr>
            <a:r>
              <a:rPr lang="ja-JP" altLang="en-US" sz="1200" b="1" dirty="0">
                <a:solidFill>
                  <a:srgbClr val="FFFFFF"/>
                </a:solidFill>
              </a:rPr>
              <a:t>保留</a:t>
            </a:r>
            <a:endParaRPr lang="ja-JP" sz="1200" dirty="0"/>
          </a:p>
        </p:txBody>
      </p:sp>
      <p:sp>
        <p:nvSpPr>
          <p:cNvPr id="16" name="Text 13"/>
          <p:cNvSpPr txBox="1"/>
          <p:nvPr/>
        </p:nvSpPr>
        <p:spPr>
          <a:xfrm>
            <a:off x="5263516" y="3200400"/>
            <a:ext cx="4043550" cy="164592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財務から推定した公正価値との乖離。中立化すると 24 か月先まで効く</a:t>
            </a:r>
            <a:endParaRPr lang="ja-JP" sz="1300" dirty="0"/>
          </a:p>
          <a:p>
            <a:pPr marL="152400" indent="-152400">
              <a:spcAft>
                <a:spcPts val="500"/>
              </a:spcAft>
              <a:buSzPct val="100000"/>
              <a:buChar char="•"/>
            </a:pPr>
            <a:r>
              <a:rPr lang="ja-JP" altLang="en-US" sz="1300" dirty="0">
                <a:solidFill>
                  <a:srgbClr val="000000"/>
                </a:solidFill>
              </a:rPr>
              <a:t>comp_ew と独立（順位相関 −0.04）</a:t>
            </a:r>
            <a:endParaRPr lang="ja-JP" sz="1300" dirty="0"/>
          </a:p>
          <a:p>
            <a:pPr marL="152400" indent="-152400">
              <a:spcAft>
                <a:spcPts val="500"/>
              </a:spcAft>
              <a:buSzPct val="100000"/>
              <a:buChar char="•"/>
            </a:pPr>
            <a:r>
              <a:rPr lang="ja-JP" altLang="en-US" sz="1300" dirty="0">
                <a:solidFill>
                  <a:srgbClr val="000000"/>
                </a:solidFill>
              </a:rPr>
              <a:t>ただし単体は弱い（IC 0.014、t 2.3）</a:t>
            </a:r>
            <a:endParaRPr lang="ja-JP" sz="1300" dirty="0"/>
          </a:p>
          <a:p>
            <a:pPr marL="152400" indent="-152400">
              <a:spcAft>
                <a:spcPts val="500"/>
              </a:spcAft>
              <a:buSzPct val="100000"/>
              <a:buChar char="•"/>
            </a:pPr>
            <a:r>
              <a:rPr lang="ja-JP" altLang="en-US" sz="1300" dirty="0">
                <a:solidFill>
                  <a:srgbClr val="000000"/>
                </a:solidFill>
              </a:rPr>
              <a:t>comp_ew と 80:20 で混ぜると税引後 8.5% → 8.6%</a:t>
            </a:r>
            <a:endParaRPr lang="ja-JP" sz="1300" dirty="0"/>
          </a:p>
        </p:txBody>
      </p:sp>
      <p:sp>
        <p:nvSpPr>
          <p:cNvPr id="17" name="Text 14"/>
          <p:cNvSpPr txBox="1"/>
          <p:nvPr/>
        </p:nvSpPr>
        <p:spPr>
          <a:xfrm>
            <a:off x="411480" y="5074920"/>
            <a:ext cx="9082735" cy="365760"/>
          </a:xfrm>
          <a:prstGeom prst="rect">
            <a:avLst/>
          </a:prstGeom>
          <a:noFill/>
          <a:ln/>
        </p:spPr>
        <p:txBody>
          <a:bodyPr wrap="square" lIns="0" tIns="0" rIns="0" bIns="0" rtlCol="0" anchor="ctr"/>
          <a:lstStyle/>
          <a:p>
            <a:pPr indent="0" marL="0">
              <a:buNone/>
            </a:pPr>
            <a:r>
              <a:rPr lang="ja-JP" altLang="en-US" sz="1100" b="1" dirty="0">
                <a:solidFill>
                  <a:srgbClr val="737374"/>
                </a:solidFill>
              </a:rPr>
              <a:t>Appendix: </a:t>
            </a:r>
            <a:pPr indent="0" marL="0">
              <a:buNone/>
            </a:pPr>
            <a:r>
              <a:rPr lang="ja-JP" altLang="en-US" sz="1100" dirty="0">
                <a:solidFill>
                  <a:srgbClr val="737374"/>
                </a:solidFill>
              </a:rPr>
              <a:t>スタイル類似局面（DTW）でスタイルの配分を変える案も試したが、静的な等ウェイトに上乗せがなく見送り</a:t>
            </a:r>
            <a:endParaRPr lang="ja-JP" sz="1100" dirty="0"/>
          </a:p>
        </p:txBody>
      </p:sp>
      <p:sp>
        <p:nvSpPr>
          <p:cNvPr id="18" name="takeaway"/>
          <p:cNvSpPr/>
          <p:nvPr/>
        </p:nvSpPr>
        <p:spPr>
          <a:xfrm>
            <a:off x="411480" y="5532120"/>
            <a:ext cx="9082735" cy="822960"/>
          </a:xfrm>
          <a:prstGeom prst="roundRect">
            <a:avLst>
              <a:gd name="adj" fmla="val 6667"/>
            </a:avLst>
          </a:prstGeom>
          <a:solidFill>
            <a:srgbClr val="FBE9E8"/>
          </a:solidFill>
          <a:ln w="12700">
            <a:solidFill>
              <a:srgbClr val="CB2420"/>
            </a:solidFill>
            <a:prstDash val="solid"/>
          </a:ln>
        </p:spPr>
      </p:sp>
      <p:sp>
        <p:nvSpPr>
          <p:cNvPr id="19" name="Text 16"/>
          <p:cNvSpPr txBox="1"/>
          <p:nvPr/>
        </p:nvSpPr>
        <p:spPr>
          <a:xfrm>
            <a:off x="598629" y="5532120"/>
            <a:ext cx="8708436" cy="822960"/>
          </a:xfrm>
          <a:prstGeom prst="rect">
            <a:avLst/>
          </a:prstGeom>
          <a:noFill/>
          <a:ln/>
        </p:spPr>
        <p:txBody>
          <a:bodyPr wrap="square" lIns="0" tIns="0" rIns="0" bIns="0" rtlCol="0" anchor="ctr"/>
          <a:lstStyle/>
          <a:p>
            <a:pPr indent="0" marL="0">
              <a:buNone/>
            </a:pPr>
            <a:r>
              <a:rPr lang="ja-JP" altLang="en-US" sz="1300" b="1" dirty="0">
                <a:solidFill>
                  <a:srgbClr val="CB2420"/>
                </a:solidFill>
              </a:rPr>
              <a:t>学び: </a:t>
            </a:r>
            <a:pPr indent="0" marL="0">
              <a:buNone/>
            </a:pPr>
            <a:r>
              <a:rPr lang="ja-JP" altLang="en-US" sz="1300" dirty="0">
                <a:solidFill>
                  <a:srgbClr val="000000"/>
                </a:solidFill>
              </a:rPr>
              <a:t>速い情報は売買コストと短期譲渡益課税に食われ、遅い情報はスコアに混ぜると低回転の利点が消える。次はポートフォリオ側で「売買の速さ」を設計する</a:t>
            </a:r>
            <a:endParaRPr lang="ja-JP" sz="13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評価の枠組み</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どの素材も comp_ew を基準に、同じ 4 段階で確かめる</a:t>
            </a:r>
            <a:endParaRPr lang="ja-JP" sz="1500" dirty="0"/>
          </a:p>
        </p:txBody>
      </p:sp>
      <p:sp>
        <p:nvSpPr>
          <p:cNvPr id="5" name="card"/>
          <p:cNvSpPr/>
          <p:nvPr/>
        </p:nvSpPr>
        <p:spPr>
          <a:xfrm>
            <a:off x="411480" y="1554480"/>
            <a:ext cx="2096073" cy="2514600"/>
          </a:xfrm>
          <a:prstGeom prst="roundRect">
            <a:avLst>
              <a:gd name="adj" fmla="val 2617"/>
            </a:avLst>
          </a:prstGeom>
          <a:solidFill>
            <a:srgbClr val="F2F2F2"/>
          </a:solidFill>
          <a:ln/>
        </p:spPr>
      </p:sp>
      <p:sp>
        <p:nvSpPr>
          <p:cNvPr id="6" name="badge"/>
          <p:cNvSpPr/>
          <p:nvPr/>
        </p:nvSpPr>
        <p:spPr>
          <a:xfrm>
            <a:off x="602899" y="1828800"/>
            <a:ext cx="365760" cy="365760"/>
          </a:xfrm>
          <a:prstGeom prst="ellipse">
            <a:avLst/>
          </a:prstGeom>
          <a:solidFill>
            <a:srgbClr val="CB2420"/>
          </a:solidFill>
          <a:ln/>
        </p:spPr>
      </p:sp>
      <p:sp>
        <p:nvSpPr>
          <p:cNvPr id="7" name="Text 4"/>
          <p:cNvSpPr txBox="1"/>
          <p:nvPr/>
        </p:nvSpPr>
        <p:spPr>
          <a:xfrm>
            <a:off x="602899" y="182880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1</a:t>
            </a:r>
            <a:endParaRPr lang="ja-JP" sz="1400" dirty="0"/>
          </a:p>
        </p:txBody>
      </p:sp>
      <p:sp>
        <p:nvSpPr>
          <p:cNvPr id="8" name="Text 5"/>
          <p:cNvSpPr txBox="1"/>
          <p:nvPr/>
        </p:nvSpPr>
        <p:spPr>
          <a:xfrm>
            <a:off x="598629" y="2377440"/>
            <a:ext cx="1721775" cy="457200"/>
          </a:xfrm>
          <a:prstGeom prst="rect">
            <a:avLst/>
          </a:prstGeom>
          <a:noFill/>
          <a:ln/>
        </p:spPr>
        <p:txBody>
          <a:bodyPr wrap="square" lIns="0" tIns="0" rIns="0" bIns="0" rtlCol="0" anchor="t"/>
          <a:lstStyle/>
          <a:p>
            <a:pPr indent="0" marL="0">
              <a:buNone/>
            </a:pPr>
            <a:r>
              <a:rPr lang="ja-JP" altLang="en-US" sz="1400" b="1" dirty="0">
                <a:solidFill>
                  <a:srgbClr val="000000"/>
                </a:solidFill>
              </a:rPr>
              <a:t>単体の予測力</a:t>
            </a:r>
            <a:endParaRPr lang="ja-JP" sz="1400" dirty="0"/>
          </a:p>
        </p:txBody>
      </p:sp>
      <p:sp>
        <p:nvSpPr>
          <p:cNvPr id="9" name="Text 6"/>
          <p:cNvSpPr txBox="1"/>
          <p:nvPr/>
        </p:nvSpPr>
        <p:spPr>
          <a:xfrm>
            <a:off x="598629" y="2880360"/>
            <a:ext cx="1721775" cy="1051560"/>
          </a:xfrm>
          <a:prstGeom prst="rect">
            <a:avLst/>
          </a:prstGeom>
          <a:noFill/>
          <a:ln/>
        </p:spPr>
        <p:txBody>
          <a:bodyPr wrap="square" lIns="0" tIns="0" rIns="0" bIns="0" rtlCol="0" anchor="t"/>
          <a:lstStyle/>
          <a:p>
            <a:pPr indent="0" marL="0">
              <a:buNone/>
            </a:pPr>
            <a:r>
              <a:rPr lang="ja-JP" altLang="en-US" sz="1200" dirty="0">
                <a:solidFill>
                  <a:srgbClr val="000000"/>
                </a:solidFill>
              </a:rPr>
              <a:t>翌月リターンとの IC（t 値）、5 分位の Q5 超過と Q5−Q1</a:t>
            </a:r>
            <a:endParaRPr lang="ja-JP" sz="1200" dirty="0"/>
          </a:p>
        </p:txBody>
      </p:sp>
      <p:sp>
        <p:nvSpPr>
          <p:cNvPr id="10" name="arrow"/>
          <p:cNvSpPr/>
          <p:nvPr/>
        </p:nvSpPr>
        <p:spPr>
          <a:xfrm>
            <a:off x="2564073" y="2674620"/>
            <a:ext cx="119776" cy="274320"/>
          </a:xfrm>
          <a:prstGeom prst="chevron">
            <a:avLst/>
          </a:prstGeom>
          <a:solidFill>
            <a:srgbClr val="737374"/>
          </a:solidFill>
          <a:ln/>
        </p:spPr>
      </p:sp>
      <p:sp>
        <p:nvSpPr>
          <p:cNvPr id="11" name="card"/>
          <p:cNvSpPr/>
          <p:nvPr/>
        </p:nvSpPr>
        <p:spPr>
          <a:xfrm>
            <a:off x="2740367" y="1554480"/>
            <a:ext cx="2096073" cy="2514600"/>
          </a:xfrm>
          <a:prstGeom prst="roundRect">
            <a:avLst>
              <a:gd name="adj" fmla="val 2617"/>
            </a:avLst>
          </a:prstGeom>
          <a:solidFill>
            <a:srgbClr val="F2F2F2"/>
          </a:solidFill>
          <a:ln/>
        </p:spPr>
      </p:sp>
      <p:sp>
        <p:nvSpPr>
          <p:cNvPr id="12" name="badge"/>
          <p:cNvSpPr/>
          <p:nvPr/>
        </p:nvSpPr>
        <p:spPr>
          <a:xfrm>
            <a:off x="2931786" y="1828800"/>
            <a:ext cx="365760" cy="365760"/>
          </a:xfrm>
          <a:prstGeom prst="ellipse">
            <a:avLst/>
          </a:prstGeom>
          <a:solidFill>
            <a:srgbClr val="CB2420"/>
          </a:solidFill>
          <a:ln/>
        </p:spPr>
      </p:sp>
      <p:sp>
        <p:nvSpPr>
          <p:cNvPr id="13" name="Text 10"/>
          <p:cNvSpPr txBox="1"/>
          <p:nvPr/>
        </p:nvSpPr>
        <p:spPr>
          <a:xfrm>
            <a:off x="2931786" y="182880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2</a:t>
            </a:r>
            <a:endParaRPr lang="ja-JP" sz="1400" dirty="0"/>
          </a:p>
        </p:txBody>
      </p:sp>
      <p:sp>
        <p:nvSpPr>
          <p:cNvPr id="14" name="Text 11"/>
          <p:cNvSpPr txBox="1"/>
          <p:nvPr/>
        </p:nvSpPr>
        <p:spPr>
          <a:xfrm>
            <a:off x="2927517" y="2377440"/>
            <a:ext cx="1721775" cy="457200"/>
          </a:xfrm>
          <a:prstGeom prst="rect">
            <a:avLst/>
          </a:prstGeom>
          <a:noFill/>
          <a:ln/>
        </p:spPr>
        <p:txBody>
          <a:bodyPr wrap="square" lIns="0" tIns="0" rIns="0" bIns="0" rtlCol="0" anchor="t"/>
          <a:lstStyle/>
          <a:p>
            <a:pPr indent="0" marL="0">
              <a:buNone/>
            </a:pPr>
            <a:r>
              <a:rPr lang="ja-JP" altLang="en-US" sz="1400" b="1" dirty="0">
                <a:solidFill>
                  <a:srgbClr val="000000"/>
                </a:solidFill>
              </a:rPr>
              <a:t>独立性</a:t>
            </a:r>
            <a:endParaRPr lang="ja-JP" sz="1400" dirty="0"/>
          </a:p>
        </p:txBody>
      </p:sp>
      <p:sp>
        <p:nvSpPr>
          <p:cNvPr id="15" name="Text 12"/>
          <p:cNvSpPr txBox="1"/>
          <p:nvPr/>
        </p:nvSpPr>
        <p:spPr>
          <a:xfrm>
            <a:off x="2927517" y="2880360"/>
            <a:ext cx="1721775" cy="1051560"/>
          </a:xfrm>
          <a:prstGeom prst="rect">
            <a:avLst/>
          </a:prstGeom>
          <a:noFill/>
          <a:ln/>
        </p:spPr>
        <p:txBody>
          <a:bodyPr wrap="square" lIns="0" tIns="0" rIns="0" bIns="0" rtlCol="0" anchor="t"/>
          <a:lstStyle/>
          <a:p>
            <a:pPr indent="0" marL="0">
              <a:buNone/>
            </a:pPr>
            <a:r>
              <a:rPr lang="ja-JP" altLang="en-US" sz="1200" dirty="0">
                <a:solidFill>
                  <a:srgbClr val="000000"/>
                </a:solidFill>
              </a:rPr>
              <a:t>comp_ew との順位相関、comp_ew で説明できない部分の IC（残差 IC）、スパニング回帰</a:t>
            </a:r>
            <a:endParaRPr lang="ja-JP" sz="1200" dirty="0"/>
          </a:p>
        </p:txBody>
      </p:sp>
      <p:sp>
        <p:nvSpPr>
          <p:cNvPr id="16" name="arrow"/>
          <p:cNvSpPr/>
          <p:nvPr/>
        </p:nvSpPr>
        <p:spPr>
          <a:xfrm>
            <a:off x="4892960" y="2674620"/>
            <a:ext cx="119776" cy="274320"/>
          </a:xfrm>
          <a:prstGeom prst="chevron">
            <a:avLst/>
          </a:prstGeom>
          <a:solidFill>
            <a:srgbClr val="737374"/>
          </a:solidFill>
          <a:ln/>
        </p:spPr>
      </p:sp>
      <p:sp>
        <p:nvSpPr>
          <p:cNvPr id="17" name="card"/>
          <p:cNvSpPr/>
          <p:nvPr/>
        </p:nvSpPr>
        <p:spPr>
          <a:xfrm>
            <a:off x="5069255" y="1554480"/>
            <a:ext cx="2096073" cy="2514600"/>
          </a:xfrm>
          <a:prstGeom prst="roundRect">
            <a:avLst>
              <a:gd name="adj" fmla="val 2617"/>
            </a:avLst>
          </a:prstGeom>
          <a:solidFill>
            <a:srgbClr val="F2F2F2"/>
          </a:solidFill>
          <a:ln/>
        </p:spPr>
      </p:sp>
      <p:sp>
        <p:nvSpPr>
          <p:cNvPr id="18" name="badge"/>
          <p:cNvSpPr/>
          <p:nvPr/>
        </p:nvSpPr>
        <p:spPr>
          <a:xfrm>
            <a:off x="5260673" y="1828800"/>
            <a:ext cx="365760" cy="365760"/>
          </a:xfrm>
          <a:prstGeom prst="ellipse">
            <a:avLst/>
          </a:prstGeom>
          <a:solidFill>
            <a:srgbClr val="CB2420"/>
          </a:solidFill>
          <a:ln/>
        </p:spPr>
      </p:sp>
      <p:sp>
        <p:nvSpPr>
          <p:cNvPr id="19" name="Text 16"/>
          <p:cNvSpPr txBox="1"/>
          <p:nvPr/>
        </p:nvSpPr>
        <p:spPr>
          <a:xfrm>
            <a:off x="5260673" y="182880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3</a:t>
            </a:r>
            <a:endParaRPr lang="ja-JP" sz="1400" dirty="0"/>
          </a:p>
        </p:txBody>
      </p:sp>
      <p:sp>
        <p:nvSpPr>
          <p:cNvPr id="20" name="Text 17"/>
          <p:cNvSpPr txBox="1"/>
          <p:nvPr/>
        </p:nvSpPr>
        <p:spPr>
          <a:xfrm>
            <a:off x="5256404" y="2377440"/>
            <a:ext cx="1721775" cy="457200"/>
          </a:xfrm>
          <a:prstGeom prst="rect">
            <a:avLst/>
          </a:prstGeom>
          <a:noFill/>
          <a:ln/>
        </p:spPr>
        <p:txBody>
          <a:bodyPr wrap="square" lIns="0" tIns="0" rIns="0" bIns="0" rtlCol="0" anchor="t"/>
          <a:lstStyle/>
          <a:p>
            <a:pPr indent="0" marL="0">
              <a:buNone/>
            </a:pPr>
            <a:r>
              <a:rPr lang="ja-JP" altLang="en-US" sz="1400" b="1" dirty="0">
                <a:solidFill>
                  <a:srgbClr val="000000"/>
                </a:solidFill>
              </a:rPr>
              <a:t>複合</a:t>
            </a:r>
            <a:endParaRPr lang="ja-JP" sz="1400" dirty="0"/>
          </a:p>
        </p:txBody>
      </p:sp>
      <p:sp>
        <p:nvSpPr>
          <p:cNvPr id="21" name="Text 18"/>
          <p:cNvSpPr txBox="1"/>
          <p:nvPr/>
        </p:nvSpPr>
        <p:spPr>
          <a:xfrm>
            <a:off x="5256404" y="2880360"/>
            <a:ext cx="1721775" cy="1051560"/>
          </a:xfrm>
          <a:prstGeom prst="rect">
            <a:avLst/>
          </a:prstGeom>
          <a:noFill/>
          <a:ln/>
        </p:spPr>
        <p:txBody>
          <a:bodyPr wrap="square" lIns="0" tIns="0" rIns="0" bIns="0" rtlCol="0" anchor="t"/>
          <a:lstStyle/>
          <a:p>
            <a:pPr indent="0" marL="0">
              <a:buNone/>
            </a:pPr>
            <a:r>
              <a:rPr lang="ja-JP" altLang="en-US" sz="1200" dirty="0">
                <a:solidFill>
                  <a:srgbClr val="000000"/>
                </a:solidFill>
              </a:rPr>
              <a:t>comp_ew と各月正規スコア化し、90:10 / 80:20 / 70:30 で加重平均</a:t>
            </a:r>
            <a:endParaRPr lang="ja-JP" sz="1200" dirty="0"/>
          </a:p>
        </p:txBody>
      </p:sp>
      <p:sp>
        <p:nvSpPr>
          <p:cNvPr id="22" name="arrow"/>
          <p:cNvSpPr/>
          <p:nvPr/>
        </p:nvSpPr>
        <p:spPr>
          <a:xfrm>
            <a:off x="7221847" y="2674620"/>
            <a:ext cx="119776" cy="274320"/>
          </a:xfrm>
          <a:prstGeom prst="chevron">
            <a:avLst/>
          </a:prstGeom>
          <a:solidFill>
            <a:srgbClr val="737374"/>
          </a:solidFill>
          <a:ln/>
        </p:spPr>
      </p:sp>
      <p:sp>
        <p:nvSpPr>
          <p:cNvPr id="23" name="card"/>
          <p:cNvSpPr/>
          <p:nvPr/>
        </p:nvSpPr>
        <p:spPr>
          <a:xfrm>
            <a:off x="7398142" y="1554480"/>
            <a:ext cx="2096073" cy="2514600"/>
          </a:xfrm>
          <a:prstGeom prst="roundRect">
            <a:avLst>
              <a:gd name="adj" fmla="val 2617"/>
            </a:avLst>
          </a:prstGeom>
          <a:solidFill>
            <a:srgbClr val="F2F2F2"/>
          </a:solidFill>
          <a:ln/>
        </p:spPr>
      </p:sp>
      <p:sp>
        <p:nvSpPr>
          <p:cNvPr id="24" name="badge"/>
          <p:cNvSpPr/>
          <p:nvPr/>
        </p:nvSpPr>
        <p:spPr>
          <a:xfrm>
            <a:off x="7589561" y="1828800"/>
            <a:ext cx="365760" cy="365760"/>
          </a:xfrm>
          <a:prstGeom prst="ellipse">
            <a:avLst/>
          </a:prstGeom>
          <a:solidFill>
            <a:srgbClr val="CB2420"/>
          </a:solidFill>
          <a:ln/>
        </p:spPr>
      </p:sp>
      <p:sp>
        <p:nvSpPr>
          <p:cNvPr id="25" name="Text 22"/>
          <p:cNvSpPr txBox="1"/>
          <p:nvPr/>
        </p:nvSpPr>
        <p:spPr>
          <a:xfrm>
            <a:off x="7589561" y="182880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4</a:t>
            </a:r>
            <a:endParaRPr lang="ja-JP" sz="1400" dirty="0"/>
          </a:p>
        </p:txBody>
      </p:sp>
      <p:sp>
        <p:nvSpPr>
          <p:cNvPr id="26" name="Text 23"/>
          <p:cNvSpPr txBox="1"/>
          <p:nvPr/>
        </p:nvSpPr>
        <p:spPr>
          <a:xfrm>
            <a:off x="7585291" y="2377440"/>
            <a:ext cx="1721775" cy="457200"/>
          </a:xfrm>
          <a:prstGeom prst="rect">
            <a:avLst/>
          </a:prstGeom>
          <a:noFill/>
          <a:ln/>
        </p:spPr>
        <p:txBody>
          <a:bodyPr wrap="square" lIns="0" tIns="0" rIns="0" bIns="0" rtlCol="0" anchor="t"/>
          <a:lstStyle/>
          <a:p>
            <a:pPr indent="0" marL="0">
              <a:buNone/>
            </a:pPr>
            <a:r>
              <a:rPr lang="ja-JP" altLang="en-US" sz="1400" b="1" dirty="0">
                <a:solidFill>
                  <a:srgbClr val="000000"/>
                </a:solidFill>
              </a:rPr>
              <a:t>税引後ロングオンリー</a:t>
            </a:r>
            <a:endParaRPr lang="ja-JP" sz="1400" dirty="0"/>
          </a:p>
        </p:txBody>
      </p:sp>
      <p:sp>
        <p:nvSpPr>
          <p:cNvPr id="27" name="Text 24"/>
          <p:cNvSpPr txBox="1"/>
          <p:nvPr/>
        </p:nvSpPr>
        <p:spPr>
          <a:xfrm>
            <a:off x="7585291" y="2880360"/>
            <a:ext cx="1721775" cy="1051560"/>
          </a:xfrm>
          <a:prstGeom prst="rect">
            <a:avLst/>
          </a:prstGeom>
          <a:noFill/>
          <a:ln/>
        </p:spPr>
        <p:txBody>
          <a:bodyPr wrap="square" lIns="0" tIns="0" rIns="0" bIns="0" rtlCol="0" anchor="t"/>
          <a:lstStyle/>
          <a:p>
            <a:pPr indent="0" marL="0">
              <a:buNone/>
            </a:pPr>
            <a:r>
              <a:rPr lang="ja-JP" altLang="en-US" sz="1200" dirty="0">
                <a:solidFill>
                  <a:srgbClr val="000000"/>
                </a:solidFill>
              </a:rPr>
              <a:t>Q5 等ウェイトを BM と比べる。売買コストと短期・長期の譲渡益課税を控除</a:t>
            </a:r>
            <a:endParaRPr lang="ja-JP" sz="1200" dirty="0"/>
          </a:p>
        </p:txBody>
      </p:sp>
      <p:sp>
        <p:nvSpPr>
          <p:cNvPr id="28" name="conditions"/>
          <p:cNvSpPr/>
          <p:nvPr/>
        </p:nvSpPr>
        <p:spPr>
          <a:xfrm>
            <a:off x="411480" y="4343400"/>
            <a:ext cx="9082735" cy="1965960"/>
          </a:xfrm>
          <a:prstGeom prst="roundRect">
            <a:avLst>
              <a:gd name="adj" fmla="val 2791"/>
            </a:avLst>
          </a:prstGeom>
          <a:ln w="12700">
            <a:solidFill>
              <a:srgbClr val="BFBFBF"/>
            </a:solidFill>
            <a:prstDash val="solid"/>
          </a:ln>
        </p:spPr>
      </p:sp>
      <p:sp>
        <p:nvSpPr>
          <p:cNvPr id="29" name="Text 26"/>
          <p:cNvSpPr txBox="1"/>
          <p:nvPr/>
        </p:nvSpPr>
        <p:spPr>
          <a:xfrm>
            <a:off x="598629" y="4507992"/>
            <a:ext cx="2994391" cy="365760"/>
          </a:xfrm>
          <a:prstGeom prst="rect">
            <a:avLst/>
          </a:prstGeom>
          <a:noFill/>
          <a:ln/>
        </p:spPr>
        <p:txBody>
          <a:bodyPr wrap="square" lIns="0" tIns="0" rIns="0" bIns="0" rtlCol="0" anchor="t"/>
          <a:lstStyle/>
          <a:p>
            <a:pPr indent="0" marL="0">
              <a:buNone/>
            </a:pPr>
            <a:r>
              <a:rPr lang="ja-JP" altLang="en-US" sz="1400" b="1" dirty="0">
                <a:solidFill>
                  <a:srgbClr val="000000"/>
                </a:solidFill>
              </a:rPr>
              <a:t>共通の条件</a:t>
            </a:r>
            <a:endParaRPr lang="ja-JP" sz="1400" dirty="0"/>
          </a:p>
        </p:txBody>
      </p:sp>
      <p:sp>
        <p:nvSpPr>
          <p:cNvPr id="30" name="Text 27"/>
          <p:cNvSpPr txBox="1"/>
          <p:nvPr/>
        </p:nvSpPr>
        <p:spPr>
          <a:xfrm>
            <a:off x="598629" y="4937760"/>
            <a:ext cx="4260643" cy="128016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ユニバース MSCI India IMI、BM MSCI India、月次リバランス</a:t>
            </a:r>
            <a:endParaRPr lang="ja-JP" sz="1200" dirty="0"/>
          </a:p>
          <a:p>
            <a:pPr marL="152400" indent="-152400">
              <a:spcAft>
                <a:spcPts val="500"/>
              </a:spcAft>
              <a:buSzPct val="100000"/>
              <a:buChar char="•"/>
            </a:pPr>
            <a:r>
              <a:rPr lang="ja-JP" altLang="en-US" sz="1200" dirty="0">
                <a:solidFill>
                  <a:srgbClr val="000000"/>
                </a:solidFill>
              </a:rPr>
              <a:t>スコア 2008-01〜、評価 2009-01〜2026-07（2008 年はバーンイン）</a:t>
            </a:r>
            <a:endParaRPr lang="ja-JP" sz="1200" dirty="0"/>
          </a:p>
          <a:p>
            <a:pPr marL="152400" indent="-152400">
              <a:spcAft>
                <a:spcPts val="500"/>
              </a:spcAft>
              <a:buSzPct val="100000"/>
              <a:buChar char="•"/>
            </a:pPr>
            <a:r>
              <a:rPr lang="ja-JP" altLang="en-US" sz="1200" dirty="0">
                <a:solidFill>
                  <a:srgbClr val="000000"/>
                </a:solidFill>
              </a:rPr>
              <a:t>安定性は前半 2009–2017 / 後半 2018– に分けて確認</a:t>
            </a:r>
            <a:endParaRPr lang="ja-JP" sz="1200" dirty="0"/>
          </a:p>
        </p:txBody>
      </p:sp>
      <p:sp>
        <p:nvSpPr>
          <p:cNvPr id="31" name="Text 28"/>
          <p:cNvSpPr txBox="1"/>
          <p:nvPr/>
        </p:nvSpPr>
        <p:spPr>
          <a:xfrm>
            <a:off x="5046422" y="4937760"/>
            <a:ext cx="4260643" cy="128016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リターンは配当込み（drtn）と固有リターン（srtn）</a:t>
            </a:r>
            <a:endParaRPr lang="ja-JP" sz="1200" dirty="0"/>
          </a:p>
          <a:p>
            <a:pPr marL="152400" indent="-152400">
              <a:spcAft>
                <a:spcPts val="500"/>
              </a:spcAft>
              <a:buSzPct val="100000"/>
              <a:buChar char="•"/>
            </a:pPr>
            <a:r>
              <a:rPr lang="ja-JP" altLang="en-US" sz="1200" dirty="0">
                <a:solidFill>
                  <a:srgbClr val="000000"/>
                </a:solidFill>
              </a:rPr>
              <a:t>税は時期別の税率表、コストは買い 15bp・売り 25bp</a:t>
            </a:r>
            <a:endParaRPr lang="ja-JP" sz="1200" dirty="0"/>
          </a:p>
          <a:p>
            <a:pPr marL="152400" indent="-152400">
              <a:spcAft>
                <a:spcPts val="500"/>
              </a:spcAft>
              <a:buSzPct val="100000"/>
              <a:buChar char="•"/>
            </a:pPr>
            <a:r>
              <a:rPr lang="ja-JP" altLang="en-US" sz="1200" dirty="0">
                <a:solidFill>
                  <a:srgbClr val="000000"/>
                </a:solidFill>
              </a:rPr>
              <a:t>t 値は Newey–West（ラグ 6）</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評価方法の詳細 1  リターンと予測力</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指標の定義（全検証で共通）</a:t>
            </a:r>
            <a:endParaRPr lang="ja-JP" sz="1500" dirty="0"/>
          </a:p>
        </p:txBody>
      </p:sp>
      <p:sp>
        <p:nvSpPr>
          <p:cNvPr id="5" name="Text 2"/>
          <p:cNvSpPr txBox="1"/>
          <p:nvPr/>
        </p:nvSpPr>
        <p:spPr>
          <a:xfrm>
            <a:off x="411480" y="15544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Q5 超過・Q5−Q1</a:t>
            </a:r>
            <a:endParaRPr lang="ja-JP" sz="1200" dirty="0"/>
          </a:p>
        </p:txBody>
      </p:sp>
      <p:pic>
        <p:nvPicPr>
          <p:cNvPr id="6" name="Image 0" descr="eq_xs">    </p:cNvPr>
          <p:cNvPicPr>
            <a:picLocks noChangeAspect="1"/>
          </p:cNvPicPr>
          <p:nvPr/>
        </p:nvPicPr>
        <p:blipFill>
          <a:blip r:embed="rId1"/>
          <a:stretch>
            <a:fillRect/>
          </a:stretch>
        </p:blipFill>
        <p:spPr>
          <a:xfrm>
            <a:off x="2170684" y="1554480"/>
            <a:ext cx="3621024" cy="448056"/>
          </a:xfrm>
          <a:prstGeom prst="rect">
            <a:avLst/>
          </a:prstGeom>
        </p:spPr>
      </p:pic>
      <p:sp>
        <p:nvSpPr>
          <p:cNvPr id="7" name="Text 3"/>
          <p:cNvSpPr txBox="1"/>
          <p:nvPr/>
        </p:nvSpPr>
        <p:spPr>
          <a:xfrm>
            <a:off x="2170684" y="2057400"/>
            <a:ext cx="7323531" cy="365760"/>
          </a:xfrm>
          <a:prstGeom prst="rect">
            <a:avLst/>
          </a:prstGeom>
          <a:noFill/>
          <a:ln/>
        </p:spPr>
        <p:txBody>
          <a:bodyPr wrap="square" lIns="0" tIns="0" rIns="0" bIns="0" rtlCol="0" anchor="t"/>
          <a:lstStyle/>
          <a:p>
            <a:pPr indent="0" marL="0">
              <a:buNone/>
            </a:pPr>
            <a:r>
              <a:rPr lang="ja-JP" altLang="en-US" sz="1050" dirty="0">
                <a:solidFill>
                  <a:srgbClr val="737374"/>
                </a:solidFill>
              </a:rPr>
              <a:t>各月末 t にユニバース内でスコアを 5 分位に分け、翌月 1 か月保有。r は配当込み（drtn）。EW = 等ウェイト、CW = 時価総額ウェイト。月次差の算術平均 × 12</a:t>
            </a:r>
            <a:endParaRPr lang="ja-JP" sz="1050" dirty="0"/>
          </a:p>
        </p:txBody>
      </p:sp>
      <p:sp>
        <p:nvSpPr>
          <p:cNvPr id="8" name="rule"/>
          <p:cNvSpPr/>
          <p:nvPr/>
        </p:nvSpPr>
        <p:spPr>
          <a:xfrm>
            <a:off x="411480" y="2478024"/>
            <a:ext cx="9082735" cy="0"/>
          </a:xfrm>
          <a:prstGeom prst="line">
            <a:avLst/>
          </a:prstGeom>
          <a:noFill/>
          <a:ln w="9525">
            <a:solidFill>
              <a:srgbClr val="D9D9D9"/>
            </a:solidFill>
            <a:prstDash val="solid"/>
          </a:ln>
        </p:spPr>
      </p:sp>
      <p:sp>
        <p:nvSpPr>
          <p:cNvPr id="9" name="Text 5"/>
          <p:cNvSpPr txBox="1"/>
          <p:nvPr/>
        </p:nvSpPr>
        <p:spPr>
          <a:xfrm>
            <a:off x="411480" y="2523744"/>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IC</a:t>
            </a:r>
            <a:endParaRPr lang="ja-JP" sz="1200" dirty="0"/>
          </a:p>
        </p:txBody>
      </p:sp>
      <p:pic>
        <p:nvPicPr>
          <p:cNvPr id="10" name="Image 1" descr="eq_ic">    </p:cNvPr>
          <p:cNvPicPr>
            <a:picLocks noChangeAspect="1"/>
          </p:cNvPicPr>
          <p:nvPr/>
        </p:nvPicPr>
        <p:blipFill>
          <a:blip r:embed="rId2"/>
          <a:stretch>
            <a:fillRect/>
          </a:stretch>
        </p:blipFill>
        <p:spPr>
          <a:xfrm>
            <a:off x="2170684" y="2523744"/>
            <a:ext cx="2371344" cy="353568"/>
          </a:xfrm>
          <a:prstGeom prst="rect">
            <a:avLst/>
          </a:prstGeom>
        </p:spPr>
      </p:pic>
      <p:sp>
        <p:nvSpPr>
          <p:cNvPr id="11" name="Text 6"/>
          <p:cNvSpPr txBox="1"/>
          <p:nvPr/>
        </p:nvSpPr>
        <p:spPr>
          <a:xfrm>
            <a:off x="2170684" y="2932176"/>
            <a:ext cx="7323531" cy="460248"/>
          </a:xfrm>
          <a:prstGeom prst="rect">
            <a:avLst/>
          </a:prstGeom>
          <a:noFill/>
          <a:ln/>
        </p:spPr>
        <p:txBody>
          <a:bodyPr wrap="square" lIns="0" tIns="0" rIns="0" bIns="0" rtlCol="0" anchor="t"/>
          <a:lstStyle/>
          <a:p>
            <a:pPr indent="0" marL="0">
              <a:buNone/>
            </a:pPr>
            <a:r>
              <a:rPr lang="ja-JP" altLang="en-US" sz="1050" dirty="0">
                <a:solidFill>
                  <a:srgbClr val="737374"/>
                </a:solidFill>
              </a:rPr>
              <a:t>ρ_S は銘柄横断の順位相関（Spearman）。t 値は Newey–West（ラグ 6）</a:t>
            </a:r>
            <a:endParaRPr lang="ja-JP" sz="1050" dirty="0"/>
          </a:p>
        </p:txBody>
      </p:sp>
      <p:sp>
        <p:nvSpPr>
          <p:cNvPr id="12" name="rule"/>
          <p:cNvSpPr/>
          <p:nvPr/>
        </p:nvSpPr>
        <p:spPr>
          <a:xfrm>
            <a:off x="411480" y="3447288"/>
            <a:ext cx="9082735" cy="0"/>
          </a:xfrm>
          <a:prstGeom prst="line">
            <a:avLst/>
          </a:prstGeom>
          <a:noFill/>
          <a:ln w="9525">
            <a:solidFill>
              <a:srgbClr val="D9D9D9"/>
            </a:solidFill>
            <a:prstDash val="solid"/>
          </a:ln>
        </p:spPr>
      </p:sp>
      <p:sp>
        <p:nvSpPr>
          <p:cNvPr id="13" name="Text 8"/>
          <p:cNvSpPr txBox="1"/>
          <p:nvPr/>
        </p:nvSpPr>
        <p:spPr>
          <a:xfrm>
            <a:off x="411480" y="3493008"/>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残差 IC</a:t>
            </a:r>
            <a:endParaRPr lang="ja-JP" sz="1200" dirty="0"/>
          </a:p>
        </p:txBody>
      </p:sp>
      <p:pic>
        <p:nvPicPr>
          <p:cNvPr id="14" name="Image 2" descr="eq_ric">    </p:cNvPr>
          <p:cNvPicPr>
            <a:picLocks noChangeAspect="1"/>
          </p:cNvPicPr>
          <p:nvPr/>
        </p:nvPicPr>
        <p:blipFill>
          <a:blip r:embed="rId3"/>
          <a:stretch>
            <a:fillRect/>
          </a:stretch>
        </p:blipFill>
        <p:spPr>
          <a:xfrm>
            <a:off x="2170684" y="3493008"/>
            <a:ext cx="3404616" cy="222504"/>
          </a:xfrm>
          <a:prstGeom prst="rect">
            <a:avLst/>
          </a:prstGeom>
        </p:spPr>
      </p:pic>
      <p:sp>
        <p:nvSpPr>
          <p:cNvPr id="15" name="Text 9"/>
          <p:cNvSpPr txBox="1"/>
          <p:nvPr/>
        </p:nvSpPr>
        <p:spPr>
          <a:xfrm>
            <a:off x="2170684" y="3770376"/>
            <a:ext cx="7323531" cy="591312"/>
          </a:xfrm>
          <a:prstGeom prst="rect">
            <a:avLst/>
          </a:prstGeom>
          <a:noFill/>
          <a:ln/>
        </p:spPr>
        <p:txBody>
          <a:bodyPr wrap="square" lIns="0" tIns="0" rIns="0" bIns="0" rtlCol="0" anchor="t"/>
          <a:lstStyle/>
          <a:p>
            <a:pPr indent="0" marL="0">
              <a:buNone/>
            </a:pPr>
            <a:r>
              <a:rPr lang="ja-JP" altLang="en-US" sz="1050" dirty="0">
                <a:solidFill>
                  <a:srgbClr val="737374"/>
                </a:solidFill>
              </a:rPr>
              <a:t>c = comp_ew。各月の横断面回帰の残差 u の IC。comp_ew で説明できない部分の予測力</a:t>
            </a:r>
            <a:endParaRPr lang="ja-JP" sz="1050" dirty="0"/>
          </a:p>
        </p:txBody>
      </p:sp>
      <p:sp>
        <p:nvSpPr>
          <p:cNvPr id="16" name="rule"/>
          <p:cNvSpPr/>
          <p:nvPr/>
        </p:nvSpPr>
        <p:spPr>
          <a:xfrm>
            <a:off x="411480" y="4416552"/>
            <a:ext cx="9082735" cy="0"/>
          </a:xfrm>
          <a:prstGeom prst="line">
            <a:avLst/>
          </a:prstGeom>
          <a:noFill/>
          <a:ln w="9525">
            <a:solidFill>
              <a:srgbClr val="D9D9D9"/>
            </a:solidFill>
            <a:prstDash val="solid"/>
          </a:ln>
        </p:spPr>
      </p:sp>
      <p:sp>
        <p:nvSpPr>
          <p:cNvPr id="17" name="Text 11"/>
          <p:cNvSpPr txBox="1"/>
          <p:nvPr/>
        </p:nvSpPr>
        <p:spPr>
          <a:xfrm>
            <a:off x="411480" y="4462272"/>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スパニング回帰</a:t>
            </a:r>
            <a:endParaRPr lang="ja-JP" sz="1200" dirty="0"/>
          </a:p>
        </p:txBody>
      </p:sp>
      <p:pic>
        <p:nvPicPr>
          <p:cNvPr id="18" name="Image 3" descr="eq_span">    </p:cNvPr>
          <p:cNvPicPr>
            <a:picLocks noChangeAspect="1"/>
          </p:cNvPicPr>
          <p:nvPr/>
        </p:nvPicPr>
        <p:blipFill>
          <a:blip r:embed="rId4"/>
          <a:stretch>
            <a:fillRect/>
          </a:stretch>
        </p:blipFill>
        <p:spPr>
          <a:xfrm>
            <a:off x="2170684" y="4462272"/>
            <a:ext cx="1344168" cy="219456"/>
          </a:xfrm>
          <a:prstGeom prst="rect">
            <a:avLst/>
          </a:prstGeom>
        </p:spPr>
      </p:pic>
      <p:sp>
        <p:nvSpPr>
          <p:cNvPr id="19" name="Text 12"/>
          <p:cNvSpPr txBox="1"/>
          <p:nvPr/>
        </p:nvSpPr>
        <p:spPr>
          <a:xfrm>
            <a:off x="2170684" y="4736592"/>
            <a:ext cx="7323531" cy="594360"/>
          </a:xfrm>
          <a:prstGeom prst="rect">
            <a:avLst/>
          </a:prstGeom>
          <a:noFill/>
          <a:ln/>
        </p:spPr>
        <p:txBody>
          <a:bodyPr wrap="square" lIns="0" tIns="0" rIns="0" bIns="0" rtlCol="0" anchor="t"/>
          <a:lstStyle/>
          <a:p>
            <a:pPr indent="0" marL="0">
              <a:buNone/>
            </a:pPr>
            <a:r>
              <a:rPr lang="ja-JP" altLang="en-US" sz="1050" dirty="0">
                <a:solidFill>
                  <a:srgbClr val="737374"/>
                </a:solidFill>
              </a:rPr>
              <a:t>LS^s は素材、LS^c は comp_ew の月次 Q5−Q1。α は年率（× 12）、t 値は Newey–West（ラグ 6）</a:t>
            </a:r>
            <a:endParaRPr lang="ja-JP" sz="1050" dirty="0"/>
          </a:p>
        </p:txBody>
      </p:sp>
      <p:sp>
        <p:nvSpPr>
          <p:cNvPr id="20" name="rule"/>
          <p:cNvSpPr/>
          <p:nvPr/>
        </p:nvSpPr>
        <p:spPr>
          <a:xfrm>
            <a:off x="411480" y="5385816"/>
            <a:ext cx="9082735" cy="0"/>
          </a:xfrm>
          <a:prstGeom prst="line">
            <a:avLst/>
          </a:prstGeom>
          <a:noFill/>
          <a:ln w="9525">
            <a:solidFill>
              <a:srgbClr val="D9D9D9"/>
            </a:solidFill>
            <a:prstDash val="solid"/>
          </a:ln>
        </p:spPr>
      </p:sp>
      <p:sp>
        <p:nvSpPr>
          <p:cNvPr id="21" name="Text 14"/>
          <p:cNvSpPr txBox="1"/>
          <p:nvPr/>
        </p:nvSpPr>
        <p:spPr>
          <a:xfrm>
            <a:off x="411480" y="5431536"/>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正規スコアと複合</a:t>
            </a:r>
            <a:endParaRPr lang="ja-JP" sz="1200" dirty="0"/>
          </a:p>
        </p:txBody>
      </p:sp>
      <p:pic>
        <p:nvPicPr>
          <p:cNvPr id="22" name="Image 4" descr="eq_blom">    </p:cNvPr>
          <p:cNvPicPr>
            <a:picLocks noChangeAspect="1"/>
          </p:cNvPicPr>
          <p:nvPr/>
        </p:nvPicPr>
        <p:blipFill>
          <a:blip r:embed="rId5"/>
          <a:stretch>
            <a:fillRect/>
          </a:stretch>
        </p:blipFill>
        <p:spPr>
          <a:xfrm>
            <a:off x="2170684" y="5431536"/>
            <a:ext cx="4276344" cy="381000"/>
          </a:xfrm>
          <a:prstGeom prst="rect">
            <a:avLst/>
          </a:prstGeom>
        </p:spPr>
      </p:pic>
      <p:sp>
        <p:nvSpPr>
          <p:cNvPr id="23" name="Text 15"/>
          <p:cNvSpPr txBox="1"/>
          <p:nvPr/>
        </p:nvSpPr>
        <p:spPr>
          <a:xfrm>
            <a:off x="2170684" y="5867400"/>
            <a:ext cx="7323531" cy="432816"/>
          </a:xfrm>
          <a:prstGeom prst="rect">
            <a:avLst/>
          </a:prstGeom>
          <a:noFill/>
          <a:ln/>
        </p:spPr>
        <p:txBody>
          <a:bodyPr wrap="square" lIns="0" tIns="0" rIns="0" bIns="0" rtlCol="0" anchor="t"/>
          <a:lstStyle/>
          <a:p>
            <a:pPr indent="0" marL="0">
              <a:buNone/>
            </a:pPr>
            <a:r>
              <a:rPr lang="ja-JP" altLang="en-US" sz="1050" dirty="0">
                <a:solidFill>
                  <a:srgbClr val="737374"/>
                </a:solidFill>
              </a:rPr>
              <a:t>z は各月ユニバース内の Blom 正規スコア。w は comp_ew の比率（0.9 / 0.8 / 0.7）</a:t>
            </a:r>
            <a:endParaRPr lang="ja-JP" sz="105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評価方法の詳細 2  回転率と税引後</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税引後は FIFO のロット台帳で、実際の保有期間から短期・長期を判定する</a:t>
            </a:r>
            <a:endParaRPr lang="ja-JP" sz="1500" dirty="0"/>
          </a:p>
        </p:txBody>
      </p:sp>
      <p:sp>
        <p:nvSpPr>
          <p:cNvPr id="5" name="Text 2"/>
          <p:cNvSpPr txBox="1"/>
          <p:nvPr/>
        </p:nvSpPr>
        <p:spPr>
          <a:xfrm>
            <a:off x="411480" y="15544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回転率（片道）</a:t>
            </a:r>
            <a:endParaRPr lang="ja-JP" sz="1200" dirty="0"/>
          </a:p>
        </p:txBody>
      </p:sp>
      <p:pic>
        <p:nvPicPr>
          <p:cNvPr id="6" name="Image 0" descr="eq_to">    </p:cNvPr>
          <p:cNvPicPr>
            <a:picLocks noChangeAspect="1"/>
          </p:cNvPicPr>
          <p:nvPr/>
        </p:nvPicPr>
        <p:blipFill>
          <a:blip r:embed="rId1"/>
          <a:stretch>
            <a:fillRect/>
          </a:stretch>
        </p:blipFill>
        <p:spPr>
          <a:xfrm>
            <a:off x="2170684" y="1554480"/>
            <a:ext cx="4322064" cy="429768"/>
          </a:xfrm>
          <a:prstGeom prst="rect">
            <a:avLst/>
          </a:prstGeom>
        </p:spPr>
      </p:pic>
      <p:sp>
        <p:nvSpPr>
          <p:cNvPr id="7" name="Text 3"/>
          <p:cNvSpPr txBox="1"/>
          <p:nvPr/>
        </p:nvSpPr>
        <p:spPr>
          <a:xfrm>
            <a:off x="2170684" y="2039112"/>
            <a:ext cx="7323531" cy="466344"/>
          </a:xfrm>
          <a:prstGeom prst="rect">
            <a:avLst/>
          </a:prstGeom>
          <a:noFill/>
          <a:ln/>
        </p:spPr>
        <p:txBody>
          <a:bodyPr wrap="square" lIns="0" tIns="0" rIns="0" bIns="0" rtlCol="0" anchor="t"/>
          <a:lstStyle/>
          <a:p>
            <a:pPr indent="0" marL="0">
              <a:buNone/>
            </a:pPr>
            <a:r>
              <a:rPr lang="ja-JP" altLang="en-US" sz="1050" dirty="0">
                <a:solidFill>
                  <a:srgbClr val="737374"/>
                </a:solidFill>
              </a:rPr>
              <a:t>w は Q5 のウェイト、w^− は前月のウェイトを当月のリターンで動かした値（リバランス直前）</a:t>
            </a:r>
            <a:endParaRPr lang="ja-JP" sz="1050" dirty="0"/>
          </a:p>
        </p:txBody>
      </p:sp>
      <p:sp>
        <p:nvSpPr>
          <p:cNvPr id="8" name="rule"/>
          <p:cNvSpPr/>
          <p:nvPr/>
        </p:nvSpPr>
        <p:spPr>
          <a:xfrm>
            <a:off x="411480" y="2560320"/>
            <a:ext cx="9082735" cy="0"/>
          </a:xfrm>
          <a:prstGeom prst="line">
            <a:avLst/>
          </a:prstGeom>
          <a:noFill/>
          <a:ln w="9525">
            <a:solidFill>
              <a:srgbClr val="D9D9D9"/>
            </a:solidFill>
            <a:prstDash val="solid"/>
          </a:ln>
        </p:spPr>
      </p:sp>
      <p:sp>
        <p:nvSpPr>
          <p:cNvPr id="9" name="Text 5"/>
          <p:cNvSpPr txBox="1"/>
          <p:nvPr/>
        </p:nvSpPr>
        <p:spPr>
          <a:xfrm>
            <a:off x="411480" y="260604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税引後 Q5 超過</a:t>
            </a:r>
            <a:endParaRPr lang="ja-JP" sz="1200" dirty="0"/>
          </a:p>
        </p:txBody>
      </p:sp>
      <p:pic>
        <p:nvPicPr>
          <p:cNvPr id="10" name="Image 1" descr="eq_net">    </p:cNvPr>
          <p:cNvPicPr>
            <a:picLocks noChangeAspect="1"/>
          </p:cNvPicPr>
          <p:nvPr/>
        </p:nvPicPr>
        <p:blipFill>
          <a:blip r:embed="rId2"/>
          <a:stretch>
            <a:fillRect/>
          </a:stretch>
        </p:blipFill>
        <p:spPr>
          <a:xfrm>
            <a:off x="2170684" y="2606040"/>
            <a:ext cx="2904744" cy="362712"/>
          </a:xfrm>
          <a:prstGeom prst="rect">
            <a:avLst/>
          </a:prstGeom>
        </p:spPr>
      </p:pic>
      <p:sp>
        <p:nvSpPr>
          <p:cNvPr id="11" name="Text 6"/>
          <p:cNvSpPr txBox="1"/>
          <p:nvPr/>
        </p:nvSpPr>
        <p:spPr>
          <a:xfrm>
            <a:off x="2170684" y="3023616"/>
            <a:ext cx="7323531" cy="350520"/>
          </a:xfrm>
          <a:prstGeom prst="rect">
            <a:avLst/>
          </a:prstGeom>
          <a:noFill/>
          <a:ln/>
        </p:spPr>
        <p:txBody>
          <a:bodyPr wrap="square" lIns="0" tIns="0" rIns="0" bIns="0" rtlCol="0" anchor="t"/>
          <a:lstStyle/>
          <a:p>
            <a:pPr indent="0" marL="0">
              <a:buNone/>
            </a:pPr>
            <a:r>
              <a:rPr lang="ja-JP" altLang="en-US" sz="1050" dirty="0">
                <a:solidFill>
                  <a:srgbClr val="737374"/>
                </a:solidFill>
              </a:rPr>
              <a:t>cost・tax は月次のコスト・税ドラッグ（ポートフォリオ価値比）</a:t>
            </a:r>
            <a:endParaRPr lang="ja-JP" sz="1050" dirty="0"/>
          </a:p>
        </p:txBody>
      </p:sp>
      <p:sp>
        <p:nvSpPr>
          <p:cNvPr id="12" name="rule"/>
          <p:cNvSpPr/>
          <p:nvPr/>
        </p:nvSpPr>
        <p:spPr>
          <a:xfrm>
            <a:off x="411480" y="3429000"/>
            <a:ext cx="9082735" cy="0"/>
          </a:xfrm>
          <a:prstGeom prst="line">
            <a:avLst/>
          </a:prstGeom>
          <a:noFill/>
          <a:ln w="9525">
            <a:solidFill>
              <a:srgbClr val="D9D9D9"/>
            </a:solidFill>
            <a:prstDash val="solid"/>
          </a:ln>
        </p:spPr>
      </p:sp>
      <p:sp>
        <p:nvSpPr>
          <p:cNvPr id="13" name="Text 8"/>
          <p:cNvSpPr txBox="1"/>
          <p:nvPr/>
        </p:nvSpPr>
        <p:spPr>
          <a:xfrm>
            <a:off x="411480" y="347472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実現損益</a:t>
            </a:r>
            <a:endParaRPr lang="ja-JP" sz="1200" dirty="0"/>
          </a:p>
        </p:txBody>
      </p:sp>
      <p:pic>
        <p:nvPicPr>
          <p:cNvPr id="14" name="Image 2" descr="eq_taxlot">    </p:cNvPr>
          <p:cNvPicPr>
            <a:picLocks noChangeAspect="1"/>
          </p:cNvPicPr>
          <p:nvPr/>
        </p:nvPicPr>
        <p:blipFill>
          <a:blip r:embed="rId3"/>
          <a:stretch>
            <a:fillRect/>
          </a:stretch>
        </p:blipFill>
        <p:spPr>
          <a:xfrm>
            <a:off x="2170684" y="3474720"/>
            <a:ext cx="4581144" cy="246888"/>
          </a:xfrm>
          <a:prstGeom prst="rect">
            <a:avLst/>
          </a:prstGeom>
        </p:spPr>
      </p:pic>
      <p:sp>
        <p:nvSpPr>
          <p:cNvPr id="15" name="Text 9"/>
          <p:cNvSpPr txBox="1"/>
          <p:nvPr/>
        </p:nvSpPr>
        <p:spPr>
          <a:xfrm>
            <a:off x="2170684" y="3776472"/>
            <a:ext cx="7323531" cy="374904"/>
          </a:xfrm>
          <a:prstGeom prst="rect">
            <a:avLst/>
          </a:prstGeom>
          <a:noFill/>
          <a:ln/>
        </p:spPr>
        <p:txBody>
          <a:bodyPr wrap="square" lIns="0" tIns="0" rIns="0" bIns="0" rtlCol="0" anchor="t"/>
          <a:lstStyle/>
          <a:p>
            <a:pPr indent="0" marL="0">
              <a:buNone/>
            </a:pPr>
            <a:r>
              <a:rPr lang="ja-JP" altLang="en-US" sz="1050" dirty="0">
                <a:solidFill>
                  <a:srgbClr val="737374"/>
                </a:solidFill>
              </a:rPr>
              <a:t>売却は古いロットから充当（FIFO）。h は保有期間</a:t>
            </a:r>
            <a:endParaRPr lang="ja-JP"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4343400"/>
          <a:ext cx="9082735" cy="914400"/>
        </p:xfrm>
        <a:graphic>
          <a:graphicData uri="http://schemas.openxmlformats.org/drawingml/2006/table">
            <a:tbl>
              <a:tblPr/>
              <a:tblGrid>
                <a:gridCol w="1646915"/>
                <a:gridCol w="7435820"/>
              </a:tblGrid>
              <a:tr h="384048">
                <a:tc>
                  <a:txBody>
                    <a:bodyPr/>
                    <a:lstStyle/>
                    <a:p>
                      <a:pPr algn="ctr" indent="0" marL="0">
                        <a:buNone/>
                      </a:pPr>
                      <a:r>
                        <a:rPr lang="ja-JP" altLang="en-US" sz="1100" b="1" dirty="0">
                          <a:solidFill>
                            <a:srgbClr val="FFFFFF"/>
                          </a:solidFill>
                        </a:rPr>
                        <a:t>項目</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設定</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384048">
                <a:tc>
                  <a:txBody>
                    <a:bodyPr/>
                    <a:lstStyle/>
                    <a:p>
                      <a:pPr algn="l" indent="0" marL="0">
                        <a:buNone/>
                      </a:pPr>
                      <a:r>
                        <a:rPr lang="ja-JP" altLang="en-US" sz="1100" b="1" dirty="0">
                          <a:solidFill>
                            <a:srgbClr val="000000"/>
                          </a:solidFill>
                        </a:rPr>
                        <a:t>税率（現行）</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STCG 20%・LTCG 12.5% にサーチャージ 15%・cess 4% を加えた 23.9% / 15.0%（信託・AOP 扱い）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ja-JP" altLang="en-US" sz="1100" b="1" dirty="0">
                          <a:solidFill>
                            <a:srgbClr val="000000"/>
                          </a:solidFill>
                        </a:rPr>
                        <a:t>税率（過去）</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時期別の税率表。2018 年 3 月以前は上場株の LTCG は非課税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84048">
                <a:tc>
                  <a:txBody>
                    <a:bodyPr/>
                    <a:lstStyle/>
                    <a:p>
                      <a:pPr algn="l" indent="0" marL="0">
                        <a:buNone/>
                      </a:pPr>
                      <a:r>
                        <a:rPr lang="ja-JP" altLang="en-US" sz="1100" b="1" dirty="0">
                          <a:solidFill>
                            <a:srgbClr val="000000"/>
                          </a:solidFill>
                        </a:rPr>
                        <a:t>通算と繰越</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税務年度（4 月始まり）内で短期・長期の損益を通算。損失は 8 年繰越</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ja-JP" altLang="en-US" sz="1100" b="1" dirty="0">
                          <a:solidFill>
                            <a:srgbClr val="000000"/>
                          </a:solidFill>
                        </a:rPr>
                        <a:t>コスト</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買い 15bp・売り 25bp</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type="body" idx="1"/>
          </p:nvPr>
        </p:nvSpPr>
        <p:spPr>
          <a:xfrm>
            <a:off x="265176" y="3602736"/>
            <a:ext cx="7818120" cy="859536"/>
          </a:xfrm>
          <a:prstGeom prst="rect">
            <a:avLst/>
          </a:prstGeom>
          <a:noFill/>
          <a:ln/>
        </p:spPr>
        <p:txBody>
          <a:bodyPr wrap="square" rtlCol="0"/>
          <a:lstStyle/>
          <a:p>
            <a:pPr indent="0" marL="0">
              <a:buNone/>
            </a:pPr>
            <a:r>
              <a:rPr lang="ja-JP" altLang="en-US" sz="2400" b="1" dirty="0">
                <a:solidFill>
                  <a:srgbClr val="000000"/>
                </a:solidFill>
              </a:rPr>
              <a:t>01  異常回転率（abn_to）</a:t>
            </a:r>
            <a:endParaRPr lang="ja-JP" sz="2400" dirty="0"/>
          </a:p>
        </p:txBody>
      </p:sp>
      <p:sp>
        <p:nvSpPr>
          <p:cNvPr id="3" name="Text 0"/>
          <p:cNvSpPr/>
          <p:nvPr>
            <p:ph type="title"/>
          </p:nvPr>
        </p:nvSpPr>
        <p:spPr>
          <a:xfrm>
            <a:off x="265176" y="4608576"/>
            <a:ext cx="7818120" cy="512064"/>
          </a:xfrm>
          <a:prstGeom prst="rect">
            <a:avLst/>
          </a:prstGeom>
          <a:noFill/>
          <a:ln/>
        </p:spPr>
        <p:txBody>
          <a:bodyPr wrap="square" rtlCol="0"/>
          <a:lstStyle/>
          <a:p>
            <a:pPr indent="0" marL="0">
              <a:buNone/>
            </a:pPr>
            <a:r>
              <a:rPr lang="ja-JP" altLang="en-US" sz="1800" dirty="0">
                <a:solidFill>
                  <a:srgbClr val="000000"/>
                </a:solidFill>
              </a:rPr>
              <a:t>出来高が平常より膨らんだ銘柄は、その後上がるのか</a:t>
            </a:r>
            <a:endParaRPr lang="ja-JP"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abn_to｜なぜ試したか</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出来高の「変化」が、既存の特性と別に翌月リターンを予測していた</a:t>
            </a:r>
            <a:endParaRPr lang="ja-JP" sz="1500" dirty="0"/>
          </a:p>
        </p:txBody>
      </p:sp>
      <p:sp>
        <p:nvSpPr>
          <p:cNvPr id="5" name="card"/>
          <p:cNvSpPr/>
          <p:nvPr/>
        </p:nvSpPr>
        <p:spPr>
          <a:xfrm>
            <a:off x="411480" y="1508760"/>
            <a:ext cx="3742988" cy="3931920"/>
          </a:xfrm>
          <a:prstGeom prst="roundRect">
            <a:avLst>
              <a:gd name="adj" fmla="val 1466"/>
            </a:avLst>
          </a:prstGeom>
          <a:solidFill>
            <a:srgbClr val="F2F2F2"/>
          </a:solidFill>
          <a:ln/>
        </p:spPr>
      </p:sp>
      <p:sp>
        <p:nvSpPr>
          <p:cNvPr id="6" name="Text 3"/>
          <p:cNvSpPr txBox="1"/>
          <p:nvPr/>
        </p:nvSpPr>
        <p:spPr>
          <a:xfrm>
            <a:off x="598629" y="1691640"/>
            <a:ext cx="3368689" cy="411480"/>
          </a:xfrm>
          <a:prstGeom prst="rect">
            <a:avLst/>
          </a:prstGeom>
          <a:noFill/>
          <a:ln/>
        </p:spPr>
        <p:txBody>
          <a:bodyPr wrap="square" lIns="0" tIns="0" rIns="0" bIns="0" rtlCol="0" anchor="t"/>
          <a:lstStyle/>
          <a:p>
            <a:pPr indent="0" marL="0">
              <a:buNone/>
            </a:pPr>
            <a:r>
              <a:rPr lang="ja-JP" altLang="en-US" sz="1400" b="1" dirty="0">
                <a:solidFill>
                  <a:srgbClr val="000000"/>
                </a:solidFill>
              </a:rPr>
              <a:t>きっかけ</a:t>
            </a:r>
            <a:endParaRPr lang="ja-JP" sz="1400" dirty="0"/>
          </a:p>
        </p:txBody>
      </p:sp>
      <p:sp>
        <p:nvSpPr>
          <p:cNvPr id="7" name="Text 4"/>
          <p:cNvSpPr txBox="1"/>
          <p:nvPr/>
        </p:nvSpPr>
        <p:spPr>
          <a:xfrm>
            <a:off x="598629" y="2148840"/>
            <a:ext cx="3368689" cy="731520"/>
          </a:xfrm>
          <a:prstGeom prst="rect">
            <a:avLst/>
          </a:prstGeom>
          <a:noFill/>
          <a:ln/>
        </p:spPr>
        <p:txBody>
          <a:bodyPr wrap="square" lIns="0" tIns="0" rIns="0" bIns="0" rtlCol="0" anchor="t"/>
          <a:lstStyle/>
          <a:p>
            <a:pPr indent="0" marL="0">
              <a:buNone/>
            </a:pPr>
            <a:r>
              <a:rPr lang="ja-JP" altLang="en-US" sz="1200" dirty="0">
                <a:solidFill>
                  <a:srgbClr val="000000"/>
                </a:solidFill>
              </a:rPr>
              <a:t>市場の基礎分析で、既存の特性を同時に入れた回帰（Fama–MacBeth）でも翌月リターンを予測した</a:t>
            </a:r>
            <a:endParaRPr lang="ja-JP" sz="1200" dirty="0"/>
          </a:p>
        </p:txBody>
      </p:sp>
      <p:sp>
        <p:nvSpPr>
          <p:cNvPr id="8" name="Text 5"/>
          <p:cNvSpPr txBox="1"/>
          <p:nvPr/>
        </p:nvSpPr>
        <p:spPr>
          <a:xfrm>
            <a:off x="598629" y="2834640"/>
            <a:ext cx="3368689" cy="822960"/>
          </a:xfrm>
          <a:prstGeom prst="rect">
            <a:avLst/>
          </a:prstGeom>
          <a:noFill/>
          <a:ln/>
        </p:spPr>
        <p:txBody>
          <a:bodyPr wrap="square" lIns="0" tIns="0" rIns="0" bIns="0" rtlCol="0" anchor="b"/>
          <a:lstStyle/>
          <a:p>
            <a:pPr indent="0" marL="0">
              <a:buNone/>
            </a:pPr>
            <a:r>
              <a:rPr lang="ja-JP" altLang="en-US" sz="3800" b="1" dirty="0">
                <a:solidFill>
                  <a:srgbClr val="CB2420"/>
                </a:solidFill>
              </a:rPr>
              <a:t>t 3.3</a:t>
            </a:r>
            <a:endParaRPr lang="ja-JP" sz="3800" dirty="0"/>
          </a:p>
        </p:txBody>
      </p:sp>
      <p:sp>
        <p:nvSpPr>
          <p:cNvPr id="9" name="Text 6"/>
          <p:cNvSpPr txBox="1"/>
          <p:nvPr/>
        </p:nvSpPr>
        <p:spPr>
          <a:xfrm>
            <a:off x="598629" y="3703320"/>
            <a:ext cx="3368689" cy="365760"/>
          </a:xfrm>
          <a:prstGeom prst="rect">
            <a:avLst/>
          </a:prstGeom>
          <a:noFill/>
          <a:ln/>
        </p:spPr>
        <p:txBody>
          <a:bodyPr wrap="square" lIns="0" tIns="0" rIns="0" bIns="0" rtlCol="0" anchor="t"/>
          <a:lstStyle/>
          <a:p>
            <a:pPr indent="0" marL="0">
              <a:buNone/>
            </a:pPr>
            <a:r>
              <a:rPr lang="ja-JP" altLang="en-US" sz="1100" dirty="0">
                <a:solidFill>
                  <a:srgbClr val="000000"/>
                </a:solidFill>
              </a:rPr>
              <a:t>前半 2.5 / 後半 2.0、固有リターンでは t 3.7</a:t>
            </a:r>
            <a:endParaRPr lang="ja-JP" sz="1100" dirty="0"/>
          </a:p>
        </p:txBody>
      </p:sp>
      <p:sp>
        <p:nvSpPr>
          <p:cNvPr id="10" name="Text 7"/>
          <p:cNvSpPr txBox="1"/>
          <p:nvPr/>
        </p:nvSpPr>
        <p:spPr>
          <a:xfrm>
            <a:off x="598629" y="4206240"/>
            <a:ext cx="3368689" cy="1143000"/>
          </a:xfrm>
          <a:prstGeom prst="rect">
            <a:avLst/>
          </a:prstGeom>
          <a:noFill/>
          <a:ln/>
        </p:spPr>
        <p:txBody>
          <a:bodyPr wrap="square" lIns="0" tIns="0" rIns="0" bIns="0" rtlCol="0" anchor="t"/>
          <a:lstStyle/>
          <a:p>
            <a:pPr indent="0" marL="0">
              <a:buNone/>
            </a:pPr>
            <a:r>
              <a:rPr lang="ja-JP" altLang="en-US" sz="1100" dirty="0">
                <a:solidFill>
                  <a:srgbClr val="737374"/>
                </a:solidFill>
              </a:rPr>
              <a:t>同時に入れた特性: 短期・中期モメンタム、回転率の水準、ボラティリティ、歪度、時価総額。core の tover は回転率の「水準」、こちらは「変化」なので重複は小さいはず</a:t>
            </a:r>
            <a:endParaRPr lang="ja-JP" sz="1100" dirty="0"/>
          </a:p>
        </p:txBody>
      </p:sp>
      <p:sp>
        <p:nvSpPr>
          <p:cNvPr id="11" name="card"/>
          <p:cNvSpPr/>
          <p:nvPr/>
        </p:nvSpPr>
        <p:spPr>
          <a:xfrm>
            <a:off x="4401505" y="1508760"/>
            <a:ext cx="5092710" cy="3931920"/>
          </a:xfrm>
          <a:prstGeom prst="roundRect">
            <a:avLst>
              <a:gd name="adj" fmla="val 1395"/>
            </a:avLst>
          </a:prstGeom>
          <a:solidFill>
            <a:srgbClr val="F2F2F2"/>
          </a:solidFill>
          <a:ln/>
        </p:spPr>
      </p:sp>
      <p:sp>
        <p:nvSpPr>
          <p:cNvPr id="12" name="Text 9"/>
          <p:cNvSpPr txBox="1"/>
          <p:nvPr/>
        </p:nvSpPr>
        <p:spPr>
          <a:xfrm>
            <a:off x="4588655" y="1691640"/>
            <a:ext cx="4718411" cy="411480"/>
          </a:xfrm>
          <a:prstGeom prst="rect">
            <a:avLst/>
          </a:prstGeom>
          <a:noFill/>
          <a:ln/>
        </p:spPr>
        <p:txBody>
          <a:bodyPr wrap="square" lIns="0" tIns="0" rIns="0" bIns="0" rtlCol="0" anchor="t"/>
          <a:lstStyle/>
          <a:p>
            <a:pPr indent="0" marL="0">
              <a:buNone/>
            </a:pPr>
            <a:r>
              <a:rPr lang="ja-JP" altLang="en-US" sz="1400" b="1" dirty="0">
                <a:solidFill>
                  <a:srgbClr val="000000"/>
                </a:solidFill>
              </a:rPr>
              <a:t>仮説と対立する説明</a:t>
            </a:r>
            <a:endParaRPr lang="ja-JP" sz="1400" dirty="0"/>
          </a:p>
        </p:txBody>
      </p:sp>
      <p:sp>
        <p:nvSpPr>
          <p:cNvPr id="13" name="tag"/>
          <p:cNvSpPr/>
          <p:nvPr/>
        </p:nvSpPr>
        <p:spPr>
          <a:xfrm>
            <a:off x="4588655" y="2258568"/>
            <a:ext cx="711168" cy="329184"/>
          </a:xfrm>
          <a:prstGeom prst="roundRect">
            <a:avLst>
              <a:gd name="adj" fmla="val 50000"/>
            </a:avLst>
          </a:prstGeom>
          <a:solidFill>
            <a:srgbClr val="CB2420"/>
          </a:solidFill>
          <a:ln/>
        </p:spPr>
      </p:sp>
      <p:sp>
        <p:nvSpPr>
          <p:cNvPr id="14" name="Text 11"/>
          <p:cNvSpPr txBox="1"/>
          <p:nvPr/>
        </p:nvSpPr>
        <p:spPr>
          <a:xfrm>
            <a:off x="4588655" y="2258568"/>
            <a:ext cx="711168" cy="329184"/>
          </a:xfrm>
          <a:prstGeom prst="rect">
            <a:avLst/>
          </a:prstGeom>
          <a:noFill/>
          <a:ln/>
        </p:spPr>
        <p:txBody>
          <a:bodyPr wrap="square" lIns="0" tIns="0" rIns="0" bIns="0" rtlCol="0" anchor="ctr"/>
          <a:lstStyle/>
          <a:p>
            <a:pPr algn="ctr" indent="0" marL="0">
              <a:buNone/>
            </a:pPr>
            <a:r>
              <a:rPr lang="ja-JP" altLang="en-US" sz="1050" b="1" dirty="0">
                <a:solidFill>
                  <a:srgbClr val="FFFFFF"/>
                </a:solidFill>
              </a:rPr>
              <a:t>本命</a:t>
            </a:r>
            <a:endParaRPr lang="ja-JP" sz="1050" dirty="0"/>
          </a:p>
        </p:txBody>
      </p:sp>
      <p:sp>
        <p:nvSpPr>
          <p:cNvPr id="15" name="Text 12"/>
          <p:cNvSpPr txBox="1"/>
          <p:nvPr/>
        </p:nvSpPr>
        <p:spPr>
          <a:xfrm>
            <a:off x="5412112" y="2240280"/>
            <a:ext cx="3894954" cy="365760"/>
          </a:xfrm>
          <a:prstGeom prst="rect">
            <a:avLst/>
          </a:prstGeom>
          <a:noFill/>
          <a:ln/>
        </p:spPr>
        <p:txBody>
          <a:bodyPr wrap="square" lIns="0" tIns="0" rIns="0" bIns="0" rtlCol="0" anchor="ctr"/>
          <a:lstStyle/>
          <a:p>
            <a:pPr indent="0" marL="0">
              <a:buNone/>
            </a:pPr>
            <a:r>
              <a:rPr lang="ja-JP" altLang="en-US" sz="1300" b="1" dirty="0">
                <a:solidFill>
                  <a:srgbClr val="000000"/>
                </a:solidFill>
              </a:rPr>
              <a:t>注目度（高出来高プレミアム、Gervais ほか 2001）</a:t>
            </a:r>
            <a:endParaRPr lang="ja-JP" sz="1300" dirty="0"/>
          </a:p>
        </p:txBody>
      </p:sp>
      <p:sp>
        <p:nvSpPr>
          <p:cNvPr id="16" name="Text 13"/>
          <p:cNvSpPr txBox="1"/>
          <p:nvPr/>
        </p:nvSpPr>
        <p:spPr>
          <a:xfrm>
            <a:off x="5412112" y="2624328"/>
            <a:ext cx="3894954" cy="594360"/>
          </a:xfrm>
          <a:prstGeom prst="rect">
            <a:avLst/>
          </a:prstGeom>
          <a:noFill/>
          <a:ln/>
        </p:spPr>
        <p:txBody>
          <a:bodyPr wrap="square" lIns="0" tIns="0" rIns="0" bIns="0" rtlCol="0" anchor="t"/>
          <a:lstStyle/>
          <a:p>
            <a:pPr indent="0" marL="0">
              <a:buNone/>
            </a:pPr>
            <a:r>
              <a:rPr lang="ja-JP" altLang="en-US" sz="1100" dirty="0">
                <a:solidFill>
                  <a:srgbClr val="000000"/>
                </a:solidFill>
              </a:rPr>
              <a:t>売買が膨らむと注目され、新しい買い手がつくので上がる</a:t>
            </a:r>
            <a:endParaRPr lang="ja-JP" sz="1100" dirty="0"/>
          </a:p>
        </p:txBody>
      </p:sp>
      <p:sp>
        <p:nvSpPr>
          <p:cNvPr id="17" name="tag"/>
          <p:cNvSpPr/>
          <p:nvPr/>
        </p:nvSpPr>
        <p:spPr>
          <a:xfrm>
            <a:off x="4588655" y="3300984"/>
            <a:ext cx="711168" cy="329184"/>
          </a:xfrm>
          <a:prstGeom prst="roundRect">
            <a:avLst>
              <a:gd name="adj" fmla="val 50000"/>
            </a:avLst>
          </a:prstGeom>
          <a:solidFill>
            <a:srgbClr val="737374"/>
          </a:solidFill>
          <a:ln/>
        </p:spPr>
      </p:sp>
      <p:sp>
        <p:nvSpPr>
          <p:cNvPr id="18" name="Text 15"/>
          <p:cNvSpPr txBox="1"/>
          <p:nvPr/>
        </p:nvSpPr>
        <p:spPr>
          <a:xfrm>
            <a:off x="4588655" y="3300984"/>
            <a:ext cx="711168" cy="329184"/>
          </a:xfrm>
          <a:prstGeom prst="rect">
            <a:avLst/>
          </a:prstGeom>
          <a:noFill/>
          <a:ln/>
        </p:spPr>
        <p:txBody>
          <a:bodyPr wrap="square" lIns="0" tIns="0" rIns="0" bIns="0" rtlCol="0" anchor="ctr"/>
          <a:lstStyle/>
          <a:p>
            <a:pPr algn="ctr" indent="0" marL="0">
              <a:buNone/>
            </a:pPr>
            <a:r>
              <a:rPr lang="ja-JP" altLang="en-US" sz="1050" b="1" dirty="0">
                <a:solidFill>
                  <a:srgbClr val="FFFFFF"/>
                </a:solidFill>
              </a:rPr>
              <a:t>対立 1</a:t>
            </a:r>
            <a:endParaRPr lang="ja-JP" sz="1050" dirty="0"/>
          </a:p>
        </p:txBody>
      </p:sp>
      <p:sp>
        <p:nvSpPr>
          <p:cNvPr id="19" name="Text 16"/>
          <p:cNvSpPr txBox="1"/>
          <p:nvPr/>
        </p:nvSpPr>
        <p:spPr>
          <a:xfrm>
            <a:off x="5412112" y="3282696"/>
            <a:ext cx="3894954" cy="365760"/>
          </a:xfrm>
          <a:prstGeom prst="rect">
            <a:avLst/>
          </a:prstGeom>
          <a:noFill/>
          <a:ln/>
        </p:spPr>
        <p:txBody>
          <a:bodyPr wrap="square" lIns="0" tIns="0" rIns="0" bIns="0" rtlCol="0" anchor="ctr"/>
          <a:lstStyle/>
          <a:p>
            <a:pPr indent="0" marL="0">
              <a:buNone/>
            </a:pPr>
            <a:r>
              <a:rPr lang="ja-JP" altLang="en-US" sz="1300" b="1" dirty="0">
                <a:solidFill>
                  <a:srgbClr val="000000"/>
                </a:solidFill>
              </a:rPr>
              <a:t>情報イベント</a:t>
            </a:r>
            <a:endParaRPr lang="ja-JP" sz="1300" dirty="0"/>
          </a:p>
        </p:txBody>
      </p:sp>
      <p:sp>
        <p:nvSpPr>
          <p:cNvPr id="20" name="Text 17"/>
          <p:cNvSpPr txBox="1"/>
          <p:nvPr/>
        </p:nvSpPr>
        <p:spPr>
          <a:xfrm>
            <a:off x="5412112" y="3666744"/>
            <a:ext cx="3894954" cy="594360"/>
          </a:xfrm>
          <a:prstGeom prst="rect">
            <a:avLst/>
          </a:prstGeom>
          <a:noFill/>
          <a:ln/>
        </p:spPr>
        <p:txBody>
          <a:bodyPr wrap="square" lIns="0" tIns="0" rIns="0" bIns="0" rtlCol="0" anchor="t"/>
          <a:lstStyle/>
          <a:p>
            <a:pPr indent="0" marL="0">
              <a:buNone/>
            </a:pPr>
            <a:r>
              <a:rPr lang="ja-JP" altLang="en-US" sz="1100" dirty="0">
                <a:solidFill>
                  <a:srgbClr val="000000"/>
                </a:solidFill>
              </a:rPr>
              <a:t>決算やニュースの月に出来高が増えるだけ。comp_ew のリビジョンで説明すれば消えるはず</a:t>
            </a:r>
            <a:endParaRPr lang="ja-JP" sz="1100" dirty="0"/>
          </a:p>
        </p:txBody>
      </p:sp>
      <p:sp>
        <p:nvSpPr>
          <p:cNvPr id="21" name="tag"/>
          <p:cNvSpPr/>
          <p:nvPr/>
        </p:nvSpPr>
        <p:spPr>
          <a:xfrm>
            <a:off x="4588655" y="4343400"/>
            <a:ext cx="711168" cy="329184"/>
          </a:xfrm>
          <a:prstGeom prst="roundRect">
            <a:avLst>
              <a:gd name="adj" fmla="val 50000"/>
            </a:avLst>
          </a:prstGeom>
          <a:solidFill>
            <a:srgbClr val="737374"/>
          </a:solidFill>
          <a:ln/>
        </p:spPr>
      </p:sp>
      <p:sp>
        <p:nvSpPr>
          <p:cNvPr id="22" name="Text 19"/>
          <p:cNvSpPr txBox="1"/>
          <p:nvPr/>
        </p:nvSpPr>
        <p:spPr>
          <a:xfrm>
            <a:off x="4588655" y="4343400"/>
            <a:ext cx="711168" cy="329184"/>
          </a:xfrm>
          <a:prstGeom prst="rect">
            <a:avLst/>
          </a:prstGeom>
          <a:noFill/>
          <a:ln/>
        </p:spPr>
        <p:txBody>
          <a:bodyPr wrap="square" lIns="0" tIns="0" rIns="0" bIns="0" rtlCol="0" anchor="ctr"/>
          <a:lstStyle/>
          <a:p>
            <a:pPr algn="ctr" indent="0" marL="0">
              <a:buNone/>
            </a:pPr>
            <a:r>
              <a:rPr lang="ja-JP" altLang="en-US" sz="1050" b="1" dirty="0">
                <a:solidFill>
                  <a:srgbClr val="FFFFFF"/>
                </a:solidFill>
              </a:rPr>
              <a:t>対立 2</a:t>
            </a:r>
            <a:endParaRPr lang="ja-JP" sz="1050" dirty="0"/>
          </a:p>
        </p:txBody>
      </p:sp>
      <p:sp>
        <p:nvSpPr>
          <p:cNvPr id="23" name="Text 20"/>
          <p:cNvSpPr txBox="1"/>
          <p:nvPr/>
        </p:nvSpPr>
        <p:spPr>
          <a:xfrm>
            <a:off x="5412112" y="4325112"/>
            <a:ext cx="3894954" cy="365760"/>
          </a:xfrm>
          <a:prstGeom prst="rect">
            <a:avLst/>
          </a:prstGeom>
          <a:noFill/>
          <a:ln/>
        </p:spPr>
        <p:txBody>
          <a:bodyPr wrap="square" lIns="0" tIns="0" rIns="0" bIns="0" rtlCol="0" anchor="ctr"/>
          <a:lstStyle/>
          <a:p>
            <a:pPr indent="0" marL="0">
              <a:buNone/>
            </a:pPr>
            <a:r>
              <a:rPr lang="ja-JP" altLang="en-US" sz="1300" b="1" dirty="0">
                <a:solidFill>
                  <a:srgbClr val="000000"/>
                </a:solidFill>
              </a:rPr>
              <a:t>個人の過剰反応</a:t>
            </a:r>
            <a:endParaRPr lang="ja-JP" sz="1300" dirty="0"/>
          </a:p>
        </p:txBody>
      </p:sp>
      <p:sp>
        <p:nvSpPr>
          <p:cNvPr id="24" name="Text 21"/>
          <p:cNvSpPr txBox="1"/>
          <p:nvPr/>
        </p:nvSpPr>
        <p:spPr>
          <a:xfrm>
            <a:off x="5412112" y="4709160"/>
            <a:ext cx="3894954" cy="594360"/>
          </a:xfrm>
          <a:prstGeom prst="rect">
            <a:avLst/>
          </a:prstGeom>
          <a:noFill/>
          <a:ln/>
        </p:spPr>
        <p:txBody>
          <a:bodyPr wrap="square" lIns="0" tIns="0" rIns="0" bIns="0" rtlCol="0" anchor="t"/>
          <a:lstStyle/>
          <a:p>
            <a:pPr indent="0" marL="0">
              <a:buNone/>
            </a:pPr>
            <a:r>
              <a:rPr lang="ja-JP" altLang="en-US" sz="1100" dirty="0">
                <a:solidFill>
                  <a:srgbClr val="000000"/>
                </a:solidFill>
              </a:rPr>
              <a:t>インドは個人の売買比率が高い。買われすぎなら数か月後に反転するはず</a:t>
            </a:r>
            <a:endParaRPr lang="ja-JP" sz="1100" dirty="0"/>
          </a:p>
        </p:txBody>
      </p:sp>
      <p:sp>
        <p:nvSpPr>
          <p:cNvPr id="25" name="takeaway"/>
          <p:cNvSpPr/>
          <p:nvPr/>
        </p:nvSpPr>
        <p:spPr>
          <a:xfrm>
            <a:off x="411480" y="5623560"/>
            <a:ext cx="9082735" cy="731520"/>
          </a:xfrm>
          <a:prstGeom prst="roundRect">
            <a:avLst>
              <a:gd name="adj" fmla="val 7500"/>
            </a:avLst>
          </a:prstGeom>
          <a:solidFill>
            <a:srgbClr val="FBE9E8"/>
          </a:solidFill>
          <a:ln w="12700">
            <a:solidFill>
              <a:srgbClr val="CB2420"/>
            </a:solidFill>
            <a:prstDash val="solid"/>
          </a:ln>
        </p:spPr>
      </p:sp>
      <p:sp>
        <p:nvSpPr>
          <p:cNvPr id="26" name="Text 23"/>
          <p:cNvSpPr txBox="1"/>
          <p:nvPr/>
        </p:nvSpPr>
        <p:spPr>
          <a:xfrm>
            <a:off x="598629" y="5623560"/>
            <a:ext cx="8708436" cy="731520"/>
          </a:xfrm>
          <a:prstGeom prst="rect">
            <a:avLst/>
          </a:prstGeom>
          <a:noFill/>
          <a:ln/>
        </p:spPr>
        <p:txBody>
          <a:bodyPr wrap="square" lIns="0" tIns="0" rIns="0" bIns="0" rtlCol="0" anchor="ctr"/>
          <a:lstStyle/>
          <a:p>
            <a:pPr indent="0" marL="0">
              <a:buNone/>
            </a:pPr>
            <a:r>
              <a:rPr lang="ja-JP" altLang="en-US" sz="1300" b="1" dirty="0">
                <a:solidFill>
                  <a:srgbClr val="CB2420"/>
                </a:solidFill>
              </a:rPr>
              <a:t>定義  </a:t>
            </a:r>
            <a:pPr indent="0" marL="0">
              <a:buNone/>
            </a:pPr>
            <a:r>
              <a:rPr lang="ja-JP" altLang="en-US" sz="1300" dirty="0">
                <a:solidFill>
                  <a:srgbClr val="000000"/>
                </a:solidFill>
              </a:rPr>
              <a:t>abn_to = log（当月の日次回転率の平均 ÷ 過去 12 か月の月平均）。高いほど出来高が平常より多い</a:t>
            </a:r>
            <a:endParaRPr lang="ja-JP" sz="13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abn_to｜手法 1  スコアの作り方</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定義の変形は事前に決めた 4 本だけに絞り、後から選ばない</a:t>
            </a:r>
            <a:endParaRPr lang="ja-JP" sz="1500" dirty="0"/>
          </a:p>
        </p:txBody>
      </p:sp>
      <p:sp>
        <p:nvSpPr>
          <p:cNvPr id="5" name="Text 2"/>
          <p:cNvSpPr txBox="1"/>
          <p:nvPr/>
        </p:nvSpPr>
        <p:spPr>
          <a:xfrm>
            <a:off x="411480" y="15544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abn_to（本命）</a:t>
            </a:r>
            <a:endParaRPr lang="ja-JP" sz="1200" dirty="0"/>
          </a:p>
        </p:txBody>
      </p:sp>
      <p:pic>
        <p:nvPicPr>
          <p:cNvPr id="6" name="Image 0" descr="eq_abn">    </p:cNvPr>
          <p:cNvPicPr>
            <a:picLocks noChangeAspect="1"/>
          </p:cNvPicPr>
          <p:nvPr/>
        </p:nvPicPr>
        <p:blipFill>
          <a:blip r:embed="rId1"/>
          <a:stretch>
            <a:fillRect/>
          </a:stretch>
        </p:blipFill>
        <p:spPr>
          <a:xfrm>
            <a:off x="2170684" y="1554480"/>
            <a:ext cx="5955792" cy="426720"/>
          </a:xfrm>
          <a:prstGeom prst="rect">
            <a:avLst/>
          </a:prstGeom>
        </p:spPr>
      </p:pic>
      <p:sp>
        <p:nvSpPr>
          <p:cNvPr id="7" name="Text 3"/>
          <p:cNvSpPr txBox="1"/>
          <p:nvPr/>
        </p:nvSpPr>
        <p:spPr>
          <a:xfrm>
            <a:off x="2170684" y="2036064"/>
            <a:ext cx="7323531" cy="469392"/>
          </a:xfrm>
          <a:prstGeom prst="rect">
            <a:avLst/>
          </a:prstGeom>
          <a:noFill/>
          <a:ln/>
        </p:spPr>
        <p:txBody>
          <a:bodyPr wrap="square" lIns="0" tIns="0" rIns="0" bIns="0" rtlCol="0" anchor="t"/>
          <a:lstStyle/>
          <a:p>
            <a:pPr indent="0" marL="0">
              <a:buNone/>
            </a:pPr>
            <a:r>
              <a:rPr lang="ja-JP" altLang="en-US" sz="1050" dirty="0">
                <a:solidFill>
                  <a:srgbClr val="737374"/>
                </a:solidFill>
              </a:rPr>
              <a:t>D_t は月 t の営業日。分母は前月までの 12 か月（当月を含まない）。基礎分析と同じ定義</a:t>
            </a:r>
            <a:endParaRPr lang="ja-JP" sz="1050" dirty="0"/>
          </a:p>
        </p:txBody>
      </p:sp>
      <p:sp>
        <p:nvSpPr>
          <p:cNvPr id="8" name="rule"/>
          <p:cNvSpPr/>
          <p:nvPr/>
        </p:nvSpPr>
        <p:spPr>
          <a:xfrm>
            <a:off x="411480" y="2560320"/>
            <a:ext cx="9082735" cy="0"/>
          </a:xfrm>
          <a:prstGeom prst="line">
            <a:avLst/>
          </a:prstGeom>
          <a:noFill/>
          <a:ln w="9525">
            <a:solidFill>
              <a:srgbClr val="D9D9D9"/>
            </a:solidFill>
            <a:prstDash val="solid"/>
          </a:ln>
        </p:spPr>
      </p:sp>
      <p:sp>
        <p:nvSpPr>
          <p:cNvPr id="9" name="Text 5"/>
          <p:cNvSpPr txBox="1"/>
          <p:nvPr/>
        </p:nvSpPr>
        <p:spPr>
          <a:xfrm>
            <a:off x="411480" y="260604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abn_to_med</a:t>
            </a:r>
            <a:endParaRPr lang="ja-JP" sz="1200" dirty="0"/>
          </a:p>
        </p:txBody>
      </p:sp>
      <p:pic>
        <p:nvPicPr>
          <p:cNvPr id="10" name="Image 1" descr="eq_abn_med">    </p:cNvPr>
          <p:cNvPicPr>
            <a:picLocks noChangeAspect="1"/>
          </p:cNvPicPr>
          <p:nvPr/>
        </p:nvPicPr>
        <p:blipFill>
          <a:blip r:embed="rId2"/>
          <a:stretch>
            <a:fillRect/>
          </a:stretch>
        </p:blipFill>
        <p:spPr>
          <a:xfrm>
            <a:off x="2170684" y="2606040"/>
            <a:ext cx="5867400" cy="426720"/>
          </a:xfrm>
          <a:prstGeom prst="rect">
            <a:avLst/>
          </a:prstGeom>
        </p:spPr>
      </p:pic>
      <p:sp>
        <p:nvSpPr>
          <p:cNvPr id="11" name="Text 6"/>
          <p:cNvSpPr txBox="1"/>
          <p:nvPr/>
        </p:nvSpPr>
        <p:spPr>
          <a:xfrm>
            <a:off x="2170684" y="3087624"/>
            <a:ext cx="7323531" cy="377952"/>
          </a:xfrm>
          <a:prstGeom prst="rect">
            <a:avLst/>
          </a:prstGeom>
          <a:noFill/>
          <a:ln/>
        </p:spPr>
        <p:txBody>
          <a:bodyPr wrap="square" lIns="0" tIns="0" rIns="0" bIns="0" rtlCol="0" anchor="t"/>
          <a:lstStyle/>
          <a:p>
            <a:pPr indent="0" marL="0">
              <a:buNone/>
            </a:pPr>
            <a:r>
              <a:rPr lang="ja-JP" altLang="en-US" sz="1050" dirty="0">
                <a:solidFill>
                  <a:srgbClr val="737374"/>
                </a:solidFill>
              </a:rPr>
              <a:t>中央値にしてブロック取引など 1 日だけの急増に頑健にした版</a:t>
            </a:r>
            <a:endParaRPr lang="ja-JP" sz="1050" dirty="0"/>
          </a:p>
        </p:txBody>
      </p:sp>
      <p:sp>
        <p:nvSpPr>
          <p:cNvPr id="12" name="rule"/>
          <p:cNvSpPr/>
          <p:nvPr/>
        </p:nvSpPr>
        <p:spPr>
          <a:xfrm>
            <a:off x="411480" y="3520440"/>
            <a:ext cx="9082735" cy="0"/>
          </a:xfrm>
          <a:prstGeom prst="line">
            <a:avLst/>
          </a:prstGeom>
          <a:noFill/>
          <a:ln w="9525">
            <a:solidFill>
              <a:srgbClr val="D9D9D9"/>
            </a:solidFill>
            <a:prstDash val="solid"/>
          </a:ln>
        </p:spPr>
      </p:sp>
      <p:sp>
        <p:nvSpPr>
          <p:cNvPr id="13" name="Text 8"/>
          <p:cNvSpPr txBox="1"/>
          <p:nvPr/>
        </p:nvSpPr>
        <p:spPr>
          <a:xfrm>
            <a:off x="411480" y="356616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abn_to_q</a:t>
            </a:r>
            <a:endParaRPr lang="ja-JP" sz="1200" dirty="0"/>
          </a:p>
        </p:txBody>
      </p:sp>
      <p:pic>
        <p:nvPicPr>
          <p:cNvPr id="14" name="Image 2" descr="eq_abn_q">    </p:cNvPr>
          <p:cNvPicPr>
            <a:picLocks noChangeAspect="1"/>
          </p:cNvPicPr>
          <p:nvPr/>
        </p:nvPicPr>
        <p:blipFill>
          <a:blip r:embed="rId3"/>
          <a:stretch>
            <a:fillRect/>
          </a:stretch>
        </p:blipFill>
        <p:spPr>
          <a:xfrm>
            <a:off x="2170684" y="3566160"/>
            <a:ext cx="2490216" cy="399288"/>
          </a:xfrm>
          <a:prstGeom prst="rect">
            <a:avLst/>
          </a:prstGeom>
        </p:spPr>
      </p:pic>
      <p:sp>
        <p:nvSpPr>
          <p:cNvPr id="15" name="Text 9"/>
          <p:cNvSpPr txBox="1"/>
          <p:nvPr/>
        </p:nvSpPr>
        <p:spPr>
          <a:xfrm>
            <a:off x="2170684" y="4020312"/>
            <a:ext cx="7323531" cy="405384"/>
          </a:xfrm>
          <a:prstGeom prst="rect">
            <a:avLst/>
          </a:prstGeom>
          <a:noFill/>
          <a:ln/>
        </p:spPr>
        <p:txBody>
          <a:bodyPr wrap="square" lIns="0" tIns="0" rIns="0" bIns="0" rtlCol="0" anchor="t"/>
          <a:lstStyle/>
          <a:p>
            <a:pPr indent="0" marL="0">
              <a:buNone/>
            </a:pPr>
            <a:r>
              <a:rPr lang="ja-JP" altLang="en-US" sz="1050" dirty="0">
                <a:solidFill>
                  <a:srgbClr val="737374"/>
                </a:solidFill>
              </a:rPr>
              <a:t>直近 3 か月をその前の 12 か月と比べる遅い版（回転率を下げる）</a:t>
            </a:r>
            <a:endParaRPr lang="ja-JP" sz="1050" dirty="0"/>
          </a:p>
        </p:txBody>
      </p:sp>
      <p:sp>
        <p:nvSpPr>
          <p:cNvPr id="16" name="rule"/>
          <p:cNvSpPr/>
          <p:nvPr/>
        </p:nvSpPr>
        <p:spPr>
          <a:xfrm>
            <a:off x="411480" y="4480560"/>
            <a:ext cx="9082735" cy="0"/>
          </a:xfrm>
          <a:prstGeom prst="line">
            <a:avLst/>
          </a:prstGeom>
          <a:noFill/>
          <a:ln w="9525">
            <a:solidFill>
              <a:srgbClr val="D9D9D9"/>
            </a:solidFill>
            <a:prstDash val="solid"/>
          </a:ln>
        </p:spPr>
      </p:sp>
      <p:sp>
        <p:nvSpPr>
          <p:cNvPr id="17" name="Text 11"/>
          <p:cNvSpPr txBox="1"/>
          <p:nvPr/>
        </p:nvSpPr>
        <p:spPr>
          <a:xfrm>
            <a:off x="411480" y="45262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abn_to_neu</a:t>
            </a:r>
            <a:endParaRPr lang="ja-JP" sz="1200" dirty="0"/>
          </a:p>
        </p:txBody>
      </p:sp>
      <p:pic>
        <p:nvPicPr>
          <p:cNvPr id="18" name="Image 3" descr="eq_neu">    </p:cNvPr>
          <p:cNvPicPr>
            <a:picLocks noChangeAspect="1"/>
          </p:cNvPicPr>
          <p:nvPr/>
        </p:nvPicPr>
        <p:blipFill>
          <a:blip r:embed="rId4"/>
          <a:stretch>
            <a:fillRect/>
          </a:stretch>
        </p:blipFill>
        <p:spPr>
          <a:xfrm>
            <a:off x="2170684" y="4526280"/>
            <a:ext cx="4986528" cy="365760"/>
          </a:xfrm>
          <a:prstGeom prst="rect">
            <a:avLst/>
          </a:prstGeom>
        </p:spPr>
      </p:pic>
      <p:sp>
        <p:nvSpPr>
          <p:cNvPr id="19" name="Text 12"/>
          <p:cNvSpPr txBox="1"/>
          <p:nvPr/>
        </p:nvSpPr>
        <p:spPr>
          <a:xfrm>
            <a:off x="2170684" y="4946904"/>
            <a:ext cx="7323531" cy="576072"/>
          </a:xfrm>
          <a:prstGeom prst="rect">
            <a:avLst/>
          </a:prstGeom>
          <a:noFill/>
          <a:ln/>
        </p:spPr>
        <p:txBody>
          <a:bodyPr wrap="square" lIns="0" tIns="0" rIns="0" bIns="0" rtlCol="0" anchor="t"/>
          <a:lstStyle/>
          <a:p>
            <a:pPr indent="0" marL="0">
              <a:buNone/>
            </a:pPr>
            <a:r>
              <a:rPr lang="ja-JP" altLang="en-US" sz="1050" dirty="0">
                <a:solidFill>
                  <a:srgbClr val="737374"/>
                </a:solidFill>
              </a:rPr>
              <a:t>x_j: log 時価総額・mom1・mom12_1・tover・vola60・skew60、D_g: GICS セクター。各月 OLS、z は Blom 正規スコア</a:t>
            </a:r>
            <a:endParaRPr lang="ja-JP" sz="1050" dirty="0"/>
          </a:p>
        </p:txBody>
      </p:sp>
      <p:sp>
        <p:nvSpPr>
          <p:cNvPr id="20" name="data"/>
          <p:cNvSpPr/>
          <p:nvPr/>
        </p:nvSpPr>
        <p:spPr>
          <a:xfrm>
            <a:off x="411480" y="5715000"/>
            <a:ext cx="9082735" cy="640080"/>
          </a:xfrm>
          <a:prstGeom prst="roundRect">
            <a:avLst>
              <a:gd name="adj" fmla="val 8571"/>
            </a:avLst>
          </a:prstGeom>
          <a:ln w="12700">
            <a:solidFill>
              <a:srgbClr val="BFBFBF"/>
            </a:solidFill>
            <a:prstDash val="solid"/>
          </a:ln>
        </p:spPr>
      </p:sp>
      <p:sp>
        <p:nvSpPr>
          <p:cNvPr id="21" name="Text 14"/>
          <p:cNvSpPr txBox="1"/>
          <p:nvPr/>
        </p:nvSpPr>
        <p:spPr>
          <a:xfrm>
            <a:off x="561200" y="5715000"/>
            <a:ext cx="8783296" cy="640080"/>
          </a:xfrm>
          <a:prstGeom prst="rect">
            <a:avLst/>
          </a:prstGeom>
          <a:noFill/>
          <a:ln/>
        </p:spPr>
        <p:txBody>
          <a:bodyPr wrap="square" lIns="0" tIns="0" rIns="0" bIns="0" rtlCol="0" anchor="ctr"/>
          <a:lstStyle/>
          <a:p>
            <a:pPr indent="0" marL="0">
              <a:buNone/>
            </a:pPr>
            <a:r>
              <a:rPr lang="ja-JP" altLang="en-US" sz="1050" b="1" dirty="0">
                <a:solidFill>
                  <a:srgbClr val="000000"/>
                </a:solidFill>
              </a:rPr>
              <a:t>データ: </a:t>
            </a:r>
            <a:pPr indent="0" marL="0">
              <a:buNone/>
            </a:pPr>
            <a:r>
              <a:rPr lang="ja-JP" altLang="en-US" sz="1050" dirty="0">
                <a:solidFill>
                  <a:srgbClr val="000000"/>
                </a:solidFill>
              </a:rPr>
              <a:t>data/turnover の日次回転率。月末 t までのデータだけを使い、各月のユニバース構成銘柄に絞る。スコア 2003-07〜、カバレッジ 98.9%。複合は comp_ew と 90:10 / 80:20 / 70:30</a:t>
            </a:r>
            <a:endParaRPr lang="ja-JP" sz="105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abn_to｜手法 2  仮説の確かめ方</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3 つの仮説が食い違う 5 つの予測を、データを見る前に置いた</a:t>
            </a:r>
            <a:endParaRPr lang="ja-JP"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9082735" cy="914400"/>
        </p:xfrm>
        <a:graphic>
          <a:graphicData uri="http://schemas.openxmlformats.org/drawingml/2006/table">
            <a:tbl>
              <a:tblPr/>
              <a:tblGrid>
                <a:gridCol w="2320653"/>
                <a:gridCol w="1422336"/>
                <a:gridCol w="1310046"/>
                <a:gridCol w="1310046"/>
                <a:gridCol w="2719655"/>
              </a:tblGrid>
              <a:tr h="502920">
                <a:tc>
                  <a:txBody>
                    <a:bodyPr/>
                    <a:lstStyle/>
                    <a:p>
                      <a:pPr algn="ctr" indent="0" marL="0">
                        <a:buNone/>
                      </a:pPr>
                      <a:r>
                        <a:rPr lang="ja-JP" altLang="en-US" sz="1100" b="1" dirty="0">
                          <a:solidFill>
                            <a:srgbClr val="FFFFFF"/>
                          </a:solidFill>
                        </a:rPr>
                        <a:t>予測</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注目度（本命）</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情報イベント</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過剰反応</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測り方</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502920">
                <a:tc>
                  <a:txBody>
                    <a:bodyPr/>
                    <a:lstStyle/>
                    <a:p>
                      <a:pPr algn="l" indent="0" marL="0">
                        <a:buNone/>
                      </a:pPr>
                      <a:r>
                        <a:rPr lang="ja-JP" altLang="en-US" sz="1100" b="1" dirty="0">
                          <a:solidFill>
                            <a:srgbClr val="000000"/>
                          </a:solidFill>
                        </a:rPr>
                        <a:t>P1 翌月の IC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正</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正</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正</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abn_to と翌月リターンの IC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ja-JP" altLang="en-US" sz="1100" b="1" dirty="0">
                          <a:solidFill>
                            <a:srgbClr val="000000"/>
                          </a:solidFill>
                        </a:rPr>
                        <a:t>P2 comp_ew で説明した残りの IC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残る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消える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残る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残差 IC とスパニング回帰の α</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02920">
                <a:tc>
                  <a:txBody>
                    <a:bodyPr/>
                    <a:lstStyle/>
                    <a:p>
                      <a:pPr algn="l" indent="0" marL="0">
                        <a:buNone/>
                      </a:pPr>
                      <a:r>
                        <a:rPr lang="ja-JP" altLang="en-US" sz="1100" b="1" dirty="0">
                          <a:solidFill>
                            <a:srgbClr val="000000"/>
                          </a:solidFill>
                        </a:rPr>
                        <a:t>P3 IC の減衰</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数か月かけて消える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1〜2 か月で消える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2〜6 か月先で負</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k か月前のスコアと当月リターンの IC（k = 1〜12）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ja-JP" altLang="en-US" sz="1100" b="1" dirty="0">
                          <a:solidFill>
                            <a:srgbClr val="000000"/>
                          </a:solidFill>
                        </a:rPr>
                        <a:t>P4 前月リターンとの関係</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上昇・下落とも正</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上昇で強い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上昇で後に反転</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前月リターンの 3 分位ごとに分位を付け直した Q5−Q1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02920">
                <a:tc>
                  <a:txBody>
                    <a:bodyPr/>
                    <a:lstStyle/>
                    <a:p>
                      <a:pPr algn="l" indent="0" marL="0">
                        <a:buNone/>
                      </a:pPr>
                      <a:r>
                        <a:rPr lang="ja-JP" altLang="en-US" sz="1100" b="1" dirty="0">
                          <a:solidFill>
                            <a:srgbClr val="000000"/>
                          </a:solidFill>
                        </a:rPr>
                        <a:t>P5 サイズ</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小型で強い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差は小さい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小型で強い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MSCI の大型・中型・小型の区分内 IC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creen"/>
          <p:cNvSpPr/>
          <p:nvPr/>
        </p:nvSpPr>
        <p:spPr>
          <a:xfrm>
            <a:off x="411480" y="4709160"/>
            <a:ext cx="9082735" cy="1645920"/>
          </a:xfrm>
          <a:prstGeom prst="roundRect">
            <a:avLst>
              <a:gd name="adj" fmla="val 3333"/>
            </a:avLst>
          </a:prstGeom>
          <a:ln w="12700">
            <a:solidFill>
              <a:srgbClr val="BFBFBF"/>
            </a:solidFill>
            <a:prstDash val="solid"/>
          </a:ln>
        </p:spPr>
      </p:sp>
      <p:sp>
        <p:nvSpPr>
          <p:cNvPr id="7" name="Text 3"/>
          <p:cNvSpPr txBox="1"/>
          <p:nvPr/>
        </p:nvSpPr>
        <p:spPr>
          <a:xfrm>
            <a:off x="598629" y="4800600"/>
            <a:ext cx="8708436" cy="365760"/>
          </a:xfrm>
          <a:prstGeom prst="rect">
            <a:avLst/>
          </a:prstGeom>
          <a:noFill/>
          <a:ln/>
        </p:spPr>
        <p:txBody>
          <a:bodyPr wrap="square" lIns="0" tIns="0" rIns="0" bIns="0" rtlCol="0" anchor="t"/>
          <a:lstStyle/>
          <a:p>
            <a:pPr indent="0" marL="0">
              <a:buNone/>
            </a:pPr>
            <a:r>
              <a:rPr lang="ja-JP" altLang="en-US" sz="1300" b="1" dirty="0">
                <a:solidFill>
                  <a:srgbClr val="000000"/>
                </a:solidFill>
              </a:rPr>
              <a:t>ロングオンリーでの使い方の検証（Q5 スクリーン）</a:t>
            </a:r>
            <a:endParaRPr lang="ja-JP" sz="1300" dirty="0"/>
          </a:p>
        </p:txBody>
      </p:sp>
      <p:pic>
        <p:nvPicPr>
          <p:cNvPr id="8" name="Image 0" descr="eq_screen">    </p:cNvPr>
          <p:cNvPicPr>
            <a:picLocks noChangeAspect="1"/>
          </p:cNvPicPr>
          <p:nvPr/>
        </p:nvPicPr>
        <p:blipFill>
          <a:blip r:embed="rId1"/>
          <a:stretch>
            <a:fillRect/>
          </a:stretch>
        </p:blipFill>
        <p:spPr>
          <a:xfrm>
            <a:off x="598629" y="5212080"/>
            <a:ext cx="4038600" cy="216408"/>
          </a:xfrm>
          <a:prstGeom prst="rect">
            <a:avLst/>
          </a:prstGeom>
        </p:spPr>
      </p:pic>
      <p:sp>
        <p:nvSpPr>
          <p:cNvPr id="9" name="Text 4"/>
          <p:cNvSpPr txBox="1"/>
          <p:nvPr/>
        </p:nvSpPr>
        <p:spPr>
          <a:xfrm>
            <a:off x="598629" y="5532120"/>
            <a:ext cx="8708436" cy="77724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Q5_t は comp_ew の上位 20%。Δ &lt; 0 なら「Q5 から外す」スクリーンとして使える（等ウェイト）</a:t>
            </a:r>
            <a:endParaRPr lang="ja-JP" sz="1200" dirty="0"/>
          </a:p>
          <a:p>
            <a:pPr marL="152400" indent="-152400">
              <a:spcAft>
                <a:spcPts val="500"/>
              </a:spcAft>
              <a:buSzPct val="100000"/>
              <a:buChar char="•"/>
            </a:pPr>
            <a:r>
              <a:rPr lang="ja-JP" altLang="en-US" sz="1100" dirty="0">
                <a:solidFill>
                  <a:srgbClr val="000000"/>
                </a:solidFill>
              </a:rPr>
              <a:t>税引後は 3 通りで比較: 素の Q5 / 毎月その銘柄を外す / 新しく Q5 に入る銘柄だけ外す（保有中は売らない）</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abn_to｜単体の成績</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IC は有意だが、税引後はほぼゼロ</a:t>
            </a:r>
            <a:endParaRPr lang="ja-JP"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9082735" cy="914400"/>
        </p:xfrm>
        <a:graphic>
          <a:graphicData uri="http://schemas.openxmlformats.org/drawingml/2006/table">
            <a:tbl>
              <a:tblPr/>
              <a:tblGrid>
                <a:gridCol w="1497195"/>
                <a:gridCol w="2133503"/>
                <a:gridCol w="1235186"/>
                <a:gridCol w="1085467"/>
                <a:gridCol w="898317"/>
                <a:gridCol w="1310046"/>
                <a:gridCol w="923021"/>
              </a:tblGrid>
              <a:tr h="457200">
                <a:tc>
                  <a:txBody>
                    <a:bodyPr/>
                    <a:lstStyle/>
                    <a:p>
                      <a:pPr algn="ctr" indent="0" marL="0">
                        <a:buNone/>
                      </a:pPr>
                      <a:r>
                        <a:rPr lang="ja-JP" altLang="en-US" sz="1100" b="1" dirty="0">
                          <a:solidFill>
                            <a:srgbClr val="FFFFFF"/>
                          </a:solidFill>
                        </a:rPr>
                        <a:t>スコア</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中身</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IC（t）</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 EW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Q5−Q1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税引後 Q5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回転率</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57200">
                <a:tc>
                  <a:txBody>
                    <a:bodyPr/>
                    <a:lstStyle/>
                    <a:p>
                      <a:pPr algn="l" indent="0" marL="0">
                        <a:buNone/>
                      </a:pPr>
                      <a:r>
                        <a:rPr lang="ja-JP" altLang="en-US" sz="1200" b="1" dirty="0">
                          <a:solidFill>
                            <a:srgbClr val="000000"/>
                          </a:solidFill>
                        </a:rPr>
                        <a:t>comp_ew（基準）</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200" dirty="0">
                          <a:solidFill>
                            <a:srgbClr val="000000"/>
                          </a:solidFill>
                        </a:rPr>
                        <a:t>既存の複合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0.065（7.0）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13.0%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17.6%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8.5%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457200">
                <a:tc>
                  <a:txBody>
                    <a:bodyPr/>
                    <a:lstStyle/>
                    <a:p>
                      <a:pPr algn="l" indent="0" marL="0">
                        <a:buNone/>
                      </a:pPr>
                      <a:r>
                        <a:rPr lang="ja-JP" altLang="en-US" sz="1200" dirty="0">
                          <a:solidFill>
                            <a:srgbClr val="000000"/>
                          </a:solidFill>
                        </a:rPr>
                        <a:t>abn_to</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200" dirty="0">
                          <a:solidFill>
                            <a:srgbClr val="000000"/>
                          </a:solidFill>
                        </a:rPr>
                        <a:t>本命（日次の平均）</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0.016（2.5）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4.1%</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−0.4%</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7.5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abn_to_med</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200" dirty="0">
                          <a:solidFill>
                            <a:srgbClr val="000000"/>
                          </a:solidFill>
                        </a:rPr>
                        <a:t>日次の中央値版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0.022（3.4）</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7.0%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8.8%</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6.5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ja-JP" altLang="en-US" sz="1200" dirty="0">
                          <a:solidFill>
                            <a:srgbClr val="000000"/>
                          </a:solidFill>
                        </a:rPr>
                        <a:t>abn_to_q</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200" dirty="0">
                          <a:solidFill>
                            <a:srgbClr val="000000"/>
                          </a:solidFill>
                        </a:rPr>
                        <a:t>3 か月の遅い版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0.012（1.8）</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4.4%</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3.9%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abn_to_neu</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200" dirty="0">
                          <a:solidFill>
                            <a:srgbClr val="000000"/>
                          </a:solidFill>
                        </a:rPr>
                        <a:t>サイズ・業種などで中立化</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0.017（4.0）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5.0%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4.7%</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7.2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11480" y="4297680"/>
            <a:ext cx="9082735" cy="274320"/>
          </a:xfrm>
          <a:prstGeom prst="rect">
            <a:avLst/>
          </a:prstGeom>
          <a:noFill/>
          <a:ln/>
        </p:spPr>
        <p:txBody>
          <a:bodyPr wrap="square" lIns="0" tIns="0" rIns="0" bIns="0" rtlCol="0" anchor="t"/>
          <a:lstStyle/>
          <a:p>
            <a:pPr indent="0" marL="0">
              <a:buNone/>
            </a:pPr>
            <a:r>
              <a:rPr lang="ja-JP" altLang="en-US" sz="950" dirty="0">
                <a:solidFill>
                  <a:srgbClr val="737374"/>
                </a:solidFill>
              </a:rPr>
              <a:t>超過・Q5−Q1 は年率、回転率は年間（片道）。期間 2009-01〜2026-07</a:t>
            </a:r>
            <a:endParaRPr lang="ja-JP" sz="950" dirty="0"/>
          </a:p>
        </p:txBody>
      </p:sp>
      <p:sp>
        <p:nvSpPr>
          <p:cNvPr id="7" name="card"/>
          <p:cNvSpPr/>
          <p:nvPr/>
        </p:nvSpPr>
        <p:spPr>
          <a:xfrm>
            <a:off x="411480" y="4663440"/>
            <a:ext cx="2862887" cy="1691640"/>
          </a:xfrm>
          <a:prstGeom prst="roundRect">
            <a:avLst>
              <a:gd name="adj" fmla="val 3243"/>
            </a:avLst>
          </a:prstGeom>
          <a:solidFill>
            <a:srgbClr val="F2F2F2"/>
          </a:solidFill>
          <a:ln/>
        </p:spPr>
      </p:sp>
      <p:sp>
        <p:nvSpPr>
          <p:cNvPr id="8" name="Text 4"/>
          <p:cNvSpPr txBox="1"/>
          <p:nvPr/>
        </p:nvSpPr>
        <p:spPr>
          <a:xfrm>
            <a:off x="598629" y="4846320"/>
            <a:ext cx="2488588" cy="411480"/>
          </a:xfrm>
          <a:prstGeom prst="rect">
            <a:avLst/>
          </a:prstGeom>
          <a:noFill/>
          <a:ln/>
        </p:spPr>
        <p:txBody>
          <a:bodyPr wrap="square" lIns="0" tIns="0" rIns="0" bIns="0" rtlCol="0" anchor="t"/>
          <a:lstStyle/>
          <a:p>
            <a:pPr indent="0" marL="0">
              <a:buNone/>
            </a:pPr>
            <a:r>
              <a:rPr lang="ja-JP" altLang="en-US" sz="1400" b="1" dirty="0">
                <a:solidFill>
                  <a:srgbClr val="000000"/>
                </a:solidFill>
              </a:rPr>
              <a:t>回転率が年 7.5 倍</a:t>
            </a:r>
            <a:endParaRPr lang="ja-JP" sz="1400" dirty="0"/>
          </a:p>
        </p:txBody>
      </p:sp>
      <p:sp>
        <p:nvSpPr>
          <p:cNvPr id="9" name="Text 5"/>
          <p:cNvSpPr txBox="1"/>
          <p:nvPr/>
        </p:nvSpPr>
        <p:spPr>
          <a:xfrm>
            <a:off x="598629" y="5303520"/>
            <a:ext cx="2488588" cy="914400"/>
          </a:xfrm>
          <a:prstGeom prst="rect">
            <a:avLst/>
          </a:prstGeom>
          <a:noFill/>
          <a:ln/>
        </p:spPr>
        <p:txBody>
          <a:bodyPr wrap="square" lIns="0" tIns="0" rIns="0" bIns="0" rtlCol="0" anchor="t"/>
          <a:lstStyle/>
          <a:p>
            <a:pPr indent="0" marL="0">
              <a:buNone/>
            </a:pPr>
            <a:r>
              <a:rPr lang="ja-JP" altLang="en-US" sz="1100" dirty="0">
                <a:solidFill>
                  <a:srgbClr val="000000"/>
                </a:solidFill>
              </a:rPr>
              <a:t>スコアの前月との順位相関は 0.45。売却はほぼすべて短期課税（20%）になる</a:t>
            </a:r>
            <a:endParaRPr lang="ja-JP" sz="1100" dirty="0"/>
          </a:p>
        </p:txBody>
      </p:sp>
      <p:sp>
        <p:nvSpPr>
          <p:cNvPr id="10" name="card"/>
          <p:cNvSpPr/>
          <p:nvPr/>
        </p:nvSpPr>
        <p:spPr>
          <a:xfrm>
            <a:off x="3521404" y="4663440"/>
            <a:ext cx="2862887" cy="1691640"/>
          </a:xfrm>
          <a:prstGeom prst="roundRect">
            <a:avLst>
              <a:gd name="adj" fmla="val 3243"/>
            </a:avLst>
          </a:prstGeom>
          <a:solidFill>
            <a:srgbClr val="F2F2F2"/>
          </a:solidFill>
          <a:ln/>
        </p:spPr>
      </p:sp>
      <p:sp>
        <p:nvSpPr>
          <p:cNvPr id="11" name="Text 7"/>
          <p:cNvSpPr txBox="1"/>
          <p:nvPr/>
        </p:nvSpPr>
        <p:spPr>
          <a:xfrm>
            <a:off x="3708554" y="4846320"/>
            <a:ext cx="2488588" cy="411480"/>
          </a:xfrm>
          <a:prstGeom prst="rect">
            <a:avLst/>
          </a:prstGeom>
          <a:noFill/>
          <a:ln/>
        </p:spPr>
        <p:txBody>
          <a:bodyPr wrap="square" lIns="0" tIns="0" rIns="0" bIns="0" rtlCol="0" anchor="t"/>
          <a:lstStyle/>
          <a:p>
            <a:pPr indent="0" marL="0">
              <a:buNone/>
            </a:pPr>
            <a:r>
              <a:rPr lang="ja-JP" altLang="en-US" sz="1400" b="1" dirty="0">
                <a:solidFill>
                  <a:srgbClr val="000000"/>
                </a:solidFill>
              </a:rPr>
              <a:t>中立化版が最も安定</a:t>
            </a:r>
            <a:endParaRPr lang="ja-JP" sz="1400" dirty="0"/>
          </a:p>
        </p:txBody>
      </p:sp>
      <p:sp>
        <p:nvSpPr>
          <p:cNvPr id="12" name="Text 8"/>
          <p:cNvSpPr txBox="1"/>
          <p:nvPr/>
        </p:nvSpPr>
        <p:spPr>
          <a:xfrm>
            <a:off x="3708554" y="5303520"/>
            <a:ext cx="2488588" cy="914400"/>
          </a:xfrm>
          <a:prstGeom prst="rect">
            <a:avLst/>
          </a:prstGeom>
          <a:noFill/>
          <a:ln/>
        </p:spPr>
        <p:txBody>
          <a:bodyPr wrap="square" lIns="0" tIns="0" rIns="0" bIns="0" rtlCol="0" anchor="t"/>
          <a:lstStyle/>
          <a:p>
            <a:pPr indent="0" marL="0">
              <a:buNone/>
            </a:pPr>
            <a:r>
              <a:rPr lang="ja-JP" altLang="en-US" sz="1100" dirty="0">
                <a:solidFill>
                  <a:srgbClr val="000000"/>
                </a:solidFill>
              </a:rPr>
              <a:t>IC t 4.0、後半だけでも t 2.8。18 年中 16 年で IC が正</a:t>
            </a:r>
            <a:endParaRPr lang="ja-JP" sz="1100" dirty="0"/>
          </a:p>
        </p:txBody>
      </p:sp>
      <p:sp>
        <p:nvSpPr>
          <p:cNvPr id="13" name="card"/>
          <p:cNvSpPr/>
          <p:nvPr/>
        </p:nvSpPr>
        <p:spPr>
          <a:xfrm>
            <a:off x="6631328" y="4663440"/>
            <a:ext cx="2862887" cy="1691640"/>
          </a:xfrm>
          <a:prstGeom prst="roundRect">
            <a:avLst>
              <a:gd name="adj" fmla="val 3243"/>
            </a:avLst>
          </a:prstGeom>
          <a:solidFill>
            <a:srgbClr val="F2F2F2"/>
          </a:solidFill>
          <a:ln/>
        </p:spPr>
      </p:sp>
      <p:sp>
        <p:nvSpPr>
          <p:cNvPr id="14" name="Text 10"/>
          <p:cNvSpPr txBox="1"/>
          <p:nvPr/>
        </p:nvSpPr>
        <p:spPr>
          <a:xfrm>
            <a:off x="6818478" y="4846320"/>
            <a:ext cx="2488588" cy="411480"/>
          </a:xfrm>
          <a:prstGeom prst="rect">
            <a:avLst/>
          </a:prstGeom>
          <a:noFill/>
          <a:ln/>
        </p:spPr>
        <p:txBody>
          <a:bodyPr wrap="square" lIns="0" tIns="0" rIns="0" bIns="0" rtlCol="0" anchor="t"/>
          <a:lstStyle/>
          <a:p>
            <a:pPr indent="0" marL="0">
              <a:buNone/>
            </a:pPr>
            <a:r>
              <a:rPr lang="ja-JP" altLang="en-US" sz="1400" b="1" dirty="0">
                <a:solidFill>
                  <a:srgbClr val="000000"/>
                </a:solidFill>
              </a:rPr>
              <a:t>中央値版は後半で弱まる</a:t>
            </a:r>
            <a:endParaRPr lang="ja-JP" sz="1400" dirty="0"/>
          </a:p>
        </p:txBody>
      </p:sp>
      <p:sp>
        <p:nvSpPr>
          <p:cNvPr id="15" name="Text 11"/>
          <p:cNvSpPr txBox="1"/>
          <p:nvPr/>
        </p:nvSpPr>
        <p:spPr>
          <a:xfrm>
            <a:off x="6818478" y="5303520"/>
            <a:ext cx="2488588" cy="914400"/>
          </a:xfrm>
          <a:prstGeom prst="rect">
            <a:avLst/>
          </a:prstGeom>
          <a:noFill/>
          <a:ln/>
        </p:spPr>
        <p:txBody>
          <a:bodyPr wrap="square" lIns="0" tIns="0" rIns="0" bIns="0" rtlCol="0" anchor="t"/>
          <a:lstStyle/>
          <a:p>
            <a:pPr indent="0" marL="0">
              <a:buNone/>
            </a:pPr>
            <a:r>
              <a:rPr lang="ja-JP" altLang="en-US" sz="1100" dirty="0">
                <a:solidFill>
                  <a:srgbClr val="000000"/>
                </a:solidFill>
              </a:rPr>
              <a:t>最も強いが、IC t は前半 3.2 → 後半 1.9。4 本から最良を選んだ形なので割り引いて読む</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abn_to｜差の出どころ</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「注目されて上がる」より「関心が離れて負ける」</a:t>
            </a:r>
            <a:endParaRPr lang="ja-JP" sz="1500" dirty="0"/>
          </a:p>
        </p:txBody>
      </p:sp>
      <p:pic>
        <p:nvPicPr>
          <p:cNvPr id="5" name="Image 0" descr="abn_to の分位別リターン（ユニバース平均との差）">    </p:cNvPr>
          <p:cNvPicPr>
            <a:picLocks noChangeAspect="1"/>
          </p:cNvPicPr>
          <p:nvPr/>
        </p:nvPicPr>
        <p:blipFill>
          <a:blip r:embed="rId1"/>
          <a:stretch>
            <a:fillRect/>
          </a:stretch>
        </p:blipFill>
        <p:spPr>
          <a:xfrm>
            <a:off x="411480" y="1508760"/>
            <a:ext cx="5257800" cy="4754880"/>
          </a:xfrm>
          <a:prstGeom prst="rect">
            <a:avLst/>
          </a:prstGeom>
        </p:spPr>
      </p:pic>
      <p:sp>
        <p:nvSpPr>
          <p:cNvPr id="6" name="card"/>
          <p:cNvSpPr/>
          <p:nvPr/>
        </p:nvSpPr>
        <p:spPr>
          <a:xfrm>
            <a:off x="5898701" y="1508760"/>
            <a:ext cx="3595514" cy="2240280"/>
          </a:xfrm>
          <a:prstGeom prst="roundRect">
            <a:avLst>
              <a:gd name="adj" fmla="val 2449"/>
            </a:avLst>
          </a:prstGeom>
          <a:solidFill>
            <a:srgbClr val="F2F2F2"/>
          </a:solidFill>
          <a:ln/>
        </p:spPr>
      </p:sp>
      <p:sp>
        <p:nvSpPr>
          <p:cNvPr id="7" name="Text 3"/>
          <p:cNvSpPr txBox="1"/>
          <p:nvPr/>
        </p:nvSpPr>
        <p:spPr>
          <a:xfrm>
            <a:off x="6085850" y="1691640"/>
            <a:ext cx="3221216" cy="411480"/>
          </a:xfrm>
          <a:prstGeom prst="rect">
            <a:avLst/>
          </a:prstGeom>
          <a:noFill/>
          <a:ln/>
        </p:spPr>
        <p:txBody>
          <a:bodyPr wrap="square" lIns="0" tIns="0" rIns="0" bIns="0" rtlCol="0" anchor="t"/>
          <a:lstStyle/>
          <a:p>
            <a:pPr indent="0" marL="0">
              <a:buNone/>
            </a:pPr>
            <a:r>
              <a:rPr lang="ja-JP" altLang="en-US" sz="1400" b="1" dirty="0">
                <a:solidFill>
                  <a:srgbClr val="000000"/>
                </a:solidFill>
              </a:rPr>
              <a:t>Q1 側に偏る</a:t>
            </a:r>
            <a:endParaRPr lang="ja-JP" sz="1400" dirty="0"/>
          </a:p>
        </p:txBody>
      </p:sp>
      <p:sp>
        <p:nvSpPr>
          <p:cNvPr id="8" name="Text 4"/>
          <p:cNvSpPr txBox="1"/>
          <p:nvPr/>
        </p:nvSpPr>
        <p:spPr>
          <a:xfrm>
            <a:off x="6085850" y="2148840"/>
            <a:ext cx="3221216" cy="1463040"/>
          </a:xfrm>
          <a:prstGeom prst="rect">
            <a:avLst/>
          </a:prstGeom>
          <a:noFill/>
          <a:ln/>
        </p:spPr>
        <p:txBody>
          <a:bodyPr wrap="square" lIns="0" tIns="0" rIns="0" bIns="0" rtlCol="0" anchor="t"/>
          <a:lstStyle/>
          <a:p>
            <a:pPr indent="0" marL="0">
              <a:buNone/>
            </a:pPr>
            <a:r>
              <a:rPr lang="ja-JP" altLang="en-US" sz="1200" dirty="0">
                <a:solidFill>
                  <a:srgbClr val="000000"/>
                </a:solidFill>
              </a:rPr>
              <a:t>abn_to は Q1 が −2.6% に対し、Q5 は +1.4%。差の大半は「出来高が細った銘柄が負ける」側から来ている</a:t>
            </a:r>
            <a:endParaRPr lang="ja-JP" sz="1200" dirty="0"/>
          </a:p>
        </p:txBody>
      </p:sp>
      <p:sp>
        <p:nvSpPr>
          <p:cNvPr id="9" name="card"/>
          <p:cNvSpPr/>
          <p:nvPr/>
        </p:nvSpPr>
        <p:spPr>
          <a:xfrm>
            <a:off x="5898701" y="4023360"/>
            <a:ext cx="3595514" cy="2331720"/>
          </a:xfrm>
          <a:prstGeom prst="roundRect">
            <a:avLst>
              <a:gd name="adj" fmla="val 2353"/>
            </a:avLst>
          </a:prstGeom>
          <a:solidFill>
            <a:srgbClr val="F2F2F2"/>
          </a:solidFill>
          <a:ln/>
        </p:spPr>
      </p:sp>
      <p:sp>
        <p:nvSpPr>
          <p:cNvPr id="10" name="Text 6"/>
          <p:cNvSpPr txBox="1"/>
          <p:nvPr/>
        </p:nvSpPr>
        <p:spPr>
          <a:xfrm>
            <a:off x="6085850" y="4206240"/>
            <a:ext cx="3221216" cy="411480"/>
          </a:xfrm>
          <a:prstGeom prst="rect">
            <a:avLst/>
          </a:prstGeom>
          <a:noFill/>
          <a:ln/>
        </p:spPr>
        <p:txBody>
          <a:bodyPr wrap="square" lIns="0" tIns="0" rIns="0" bIns="0" rtlCol="0" anchor="t"/>
          <a:lstStyle/>
          <a:p>
            <a:pPr indent="0" marL="0">
              <a:buNone/>
            </a:pPr>
            <a:r>
              <a:rPr lang="ja-JP" altLang="en-US" sz="1400" b="1" dirty="0">
                <a:solidFill>
                  <a:srgbClr val="000000"/>
                </a:solidFill>
              </a:rPr>
              <a:t>小型株だけの現象</a:t>
            </a:r>
            <a:endParaRPr lang="ja-JP" sz="1400" dirty="0"/>
          </a:p>
        </p:txBody>
      </p:sp>
      <p:sp>
        <p:nvSpPr>
          <p:cNvPr id="11" name="Text 7"/>
          <p:cNvSpPr txBox="1"/>
          <p:nvPr/>
        </p:nvSpPr>
        <p:spPr>
          <a:xfrm>
            <a:off x="6085850" y="4663440"/>
            <a:ext cx="3221216" cy="1554480"/>
          </a:xfrm>
          <a:prstGeom prst="rect">
            <a:avLst/>
          </a:prstGeom>
          <a:noFill/>
          <a:ln/>
        </p:spPr>
        <p:txBody>
          <a:bodyPr wrap="square" lIns="0" tIns="0" rIns="0" bIns="0" rtlCol="0" anchor="t"/>
          <a:lstStyle/>
          <a:p>
            <a:pPr indent="0" marL="0">
              <a:buNone/>
            </a:pPr>
            <a:r>
              <a:rPr lang="ja-JP" altLang="en-US" sz="1200" dirty="0">
                <a:solidFill>
                  <a:srgbClr val="000000"/>
                </a:solidFill>
              </a:rPr>
              <a:t>区分内の IC は小型で有意（中立化版 t 3.1、後半 2.4）。大型・中型は |t| &lt; 1.9、後半はほぼ 0</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abn_to｜情報の寿命</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1〜2 か月で消え、その後の反転もない</a:t>
            </a:r>
            <a:endParaRPr lang="ja-JP" sz="1500" dirty="0"/>
          </a:p>
        </p:txBody>
      </p:sp>
      <p:pic>
        <p:nvPicPr>
          <p:cNvPr id="5" name="Image 0" descr="k か月先の IC（abn_to・abn_to_neu・comp_ew）">    </p:cNvPr>
          <p:cNvPicPr>
            <a:picLocks noChangeAspect="1"/>
          </p:cNvPicPr>
          <p:nvPr/>
        </p:nvPicPr>
        <p:blipFill>
          <a:blip r:embed="rId1"/>
          <a:stretch>
            <a:fillRect/>
          </a:stretch>
        </p:blipFill>
        <p:spPr>
          <a:xfrm>
            <a:off x="411480" y="1508760"/>
            <a:ext cx="5532120" cy="4754880"/>
          </a:xfrm>
          <a:prstGeom prst="rect">
            <a:avLst/>
          </a:prstGeom>
        </p:spPr>
      </p:pic>
      <p:sp>
        <p:nvSpPr>
          <p:cNvPr id="6" name="card"/>
          <p:cNvSpPr/>
          <p:nvPr/>
        </p:nvSpPr>
        <p:spPr>
          <a:xfrm>
            <a:off x="6198140" y="1508760"/>
            <a:ext cx="3296075" cy="1517904"/>
          </a:xfrm>
          <a:prstGeom prst="roundRect">
            <a:avLst>
              <a:gd name="adj" fmla="val 3614"/>
            </a:avLst>
          </a:prstGeom>
          <a:solidFill>
            <a:srgbClr val="F2F2F2"/>
          </a:solidFill>
          <a:ln/>
        </p:spPr>
      </p:sp>
      <p:sp>
        <p:nvSpPr>
          <p:cNvPr id="7" name="Text 3"/>
          <p:cNvSpPr txBox="1"/>
          <p:nvPr/>
        </p:nvSpPr>
        <p:spPr>
          <a:xfrm>
            <a:off x="6385289" y="1691640"/>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1〜2 か月で消える</a:t>
            </a:r>
            <a:endParaRPr lang="ja-JP" sz="1400" dirty="0"/>
          </a:p>
        </p:txBody>
      </p:sp>
      <p:sp>
        <p:nvSpPr>
          <p:cNvPr id="8" name="Text 4"/>
          <p:cNvSpPr txBox="1"/>
          <p:nvPr/>
        </p:nvSpPr>
        <p:spPr>
          <a:xfrm>
            <a:off x="6385289" y="2148840"/>
            <a:ext cx="2921777" cy="740664"/>
          </a:xfrm>
          <a:prstGeom prst="rect">
            <a:avLst/>
          </a:prstGeom>
          <a:noFill/>
          <a:ln/>
        </p:spPr>
        <p:txBody>
          <a:bodyPr wrap="square" lIns="0" tIns="0" rIns="0" bIns="0" rtlCol="0" anchor="t"/>
          <a:lstStyle/>
          <a:p>
            <a:pPr indent="0" marL="0">
              <a:buNone/>
            </a:pPr>
            <a:r>
              <a:rPr lang="ja-JP" altLang="en-US" sz="1100" dirty="0">
                <a:solidFill>
                  <a:srgbClr val="000000"/>
                </a:solidFill>
              </a:rPr>
              <a:t>abn_to の IC は k=1 で 0.016（t 2.6）、k=2 で 0.012（t 2.2）。3 か月目以降は有意でない</a:t>
            </a:r>
            <a:endParaRPr lang="ja-JP" sz="1100" dirty="0"/>
          </a:p>
        </p:txBody>
      </p:sp>
      <p:sp>
        <p:nvSpPr>
          <p:cNvPr id="9" name="card"/>
          <p:cNvSpPr/>
          <p:nvPr/>
        </p:nvSpPr>
        <p:spPr>
          <a:xfrm>
            <a:off x="6198140" y="3172968"/>
            <a:ext cx="3296075" cy="1517904"/>
          </a:xfrm>
          <a:prstGeom prst="roundRect">
            <a:avLst>
              <a:gd name="adj" fmla="val 3614"/>
            </a:avLst>
          </a:prstGeom>
          <a:solidFill>
            <a:srgbClr val="F2F2F2"/>
          </a:solidFill>
          <a:ln/>
        </p:spPr>
      </p:sp>
      <p:sp>
        <p:nvSpPr>
          <p:cNvPr id="10" name="Text 6"/>
          <p:cNvSpPr txBox="1"/>
          <p:nvPr/>
        </p:nvSpPr>
        <p:spPr>
          <a:xfrm>
            <a:off x="6385289" y="3355848"/>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反転しない</a:t>
            </a:r>
            <a:endParaRPr lang="ja-JP" sz="1400" dirty="0"/>
          </a:p>
        </p:txBody>
      </p:sp>
      <p:sp>
        <p:nvSpPr>
          <p:cNvPr id="11" name="Text 7"/>
          <p:cNvSpPr txBox="1"/>
          <p:nvPr/>
        </p:nvSpPr>
        <p:spPr>
          <a:xfrm>
            <a:off x="6385289" y="3813048"/>
            <a:ext cx="2921777" cy="740664"/>
          </a:xfrm>
          <a:prstGeom prst="rect">
            <a:avLst/>
          </a:prstGeom>
          <a:noFill/>
          <a:ln/>
        </p:spPr>
        <p:txBody>
          <a:bodyPr wrap="square" lIns="0" tIns="0" rIns="0" bIns="0" rtlCol="0" anchor="t"/>
          <a:lstStyle/>
          <a:p>
            <a:pPr indent="0" marL="0">
              <a:buNone/>
            </a:pPr>
            <a:r>
              <a:rPr lang="ja-JP" altLang="en-US" sz="1100" dirty="0">
                <a:solidFill>
                  <a:srgbClr val="000000"/>
                </a:solidFill>
              </a:rPr>
              <a:t>12 か月先まで負にならない。過剰反応（後で反転）の説明は否定</a:t>
            </a:r>
            <a:endParaRPr lang="ja-JP" sz="1100" dirty="0"/>
          </a:p>
        </p:txBody>
      </p:sp>
      <p:sp>
        <p:nvSpPr>
          <p:cNvPr id="12" name="card"/>
          <p:cNvSpPr/>
          <p:nvPr/>
        </p:nvSpPr>
        <p:spPr>
          <a:xfrm>
            <a:off x="6198140" y="4837176"/>
            <a:ext cx="3296075" cy="1517904"/>
          </a:xfrm>
          <a:prstGeom prst="roundRect">
            <a:avLst>
              <a:gd name="adj" fmla="val 3614"/>
            </a:avLst>
          </a:prstGeom>
          <a:solidFill>
            <a:srgbClr val="F2F2F2"/>
          </a:solidFill>
          <a:ln/>
        </p:spPr>
      </p:sp>
      <p:sp>
        <p:nvSpPr>
          <p:cNvPr id="13" name="Text 9"/>
          <p:cNvSpPr txBox="1"/>
          <p:nvPr/>
        </p:nvSpPr>
        <p:spPr>
          <a:xfrm>
            <a:off x="6385289" y="5020056"/>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comp_ew は長く残る</a:t>
            </a:r>
            <a:endParaRPr lang="ja-JP" sz="1400" dirty="0"/>
          </a:p>
        </p:txBody>
      </p:sp>
      <p:sp>
        <p:nvSpPr>
          <p:cNvPr id="14" name="Text 10"/>
          <p:cNvSpPr txBox="1"/>
          <p:nvPr/>
        </p:nvSpPr>
        <p:spPr>
          <a:xfrm>
            <a:off x="6385289" y="5477256"/>
            <a:ext cx="2921777" cy="740664"/>
          </a:xfrm>
          <a:prstGeom prst="rect">
            <a:avLst/>
          </a:prstGeom>
          <a:noFill/>
          <a:ln/>
        </p:spPr>
        <p:txBody>
          <a:bodyPr wrap="square" lIns="0" tIns="0" rIns="0" bIns="0" rtlCol="0" anchor="t"/>
          <a:lstStyle/>
          <a:p>
            <a:pPr indent="0" marL="0">
              <a:buNone/>
            </a:pPr>
            <a:r>
              <a:rPr lang="ja-JP" altLang="en-US" sz="1100" dirty="0">
                <a:solidFill>
                  <a:srgbClr val="000000"/>
                </a:solidFill>
              </a:rPr>
              <a:t>12 か月先でも 0.033（t 4.0）。寿命が一桁違う</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abn_to｜仮説の判定</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決算の言い換えでも過剰反応でもない、短命な情報</a:t>
            </a:r>
            <a:endParaRPr lang="ja-JP"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9082735" cy="914400"/>
        </p:xfrm>
        <a:graphic>
          <a:graphicData uri="http://schemas.openxmlformats.org/drawingml/2006/table">
            <a:tbl>
              <a:tblPr/>
              <a:tblGrid>
                <a:gridCol w="2620092"/>
                <a:gridCol w="1497195"/>
                <a:gridCol w="1497195"/>
                <a:gridCol w="1422336"/>
                <a:gridCol w="2045917"/>
              </a:tblGrid>
              <a:tr h="566928">
                <a:tc>
                  <a:txBody>
                    <a:bodyPr/>
                    <a:lstStyle/>
                    <a:p>
                      <a:pPr algn="ctr" indent="0" marL="0">
                        <a:buNone/>
                      </a:pPr>
                      <a:r>
                        <a:rPr lang="ja-JP" altLang="en-US" sz="1100" b="1" dirty="0">
                          <a:solidFill>
                            <a:srgbClr val="FFFFFF"/>
                          </a:solidFill>
                        </a:rPr>
                        <a:t>予測</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注目度（本命）</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情報イベント</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過剰反応</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結果</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566928">
                <a:tc>
                  <a:txBody>
                    <a:bodyPr/>
                    <a:lstStyle/>
                    <a:p>
                      <a:pPr algn="l" indent="0" marL="0">
                        <a:buNone/>
                      </a:pPr>
                      <a:r>
                        <a:rPr lang="ja-JP" altLang="en-US" sz="1200" dirty="0">
                          <a:solidFill>
                            <a:srgbClr val="000000"/>
                          </a:solidFill>
                        </a:rPr>
                        <a:t>P1 翌月の IC</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b="1" dirty="0">
                          <a:solidFill>
                            <a:srgbClr val="CB2420"/>
                          </a:solidFill>
                        </a:rPr>
                        <a:t>正</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b="1" dirty="0">
                          <a:solidFill>
                            <a:srgbClr val="CB2420"/>
                          </a:solidFill>
                        </a:rPr>
                        <a:t>正</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b="1" dirty="0">
                          <a:solidFill>
                            <a:srgbClr val="CB2420"/>
                          </a:solidFill>
                        </a:rPr>
                        <a:t>正</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200" dirty="0">
                          <a:solidFill>
                            <a:srgbClr val="000000"/>
                          </a:solidFill>
                        </a:rPr>
                        <a:t>正: 0.016（t 2.5）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ja-JP" altLang="en-US" sz="1200" dirty="0">
                          <a:solidFill>
                            <a:srgbClr val="000000"/>
                          </a:solidFill>
                        </a:rPr>
                        <a:t>P2 comp_ew で説明した残りの IC</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b="1" dirty="0">
                          <a:solidFill>
                            <a:srgbClr val="CB2420"/>
                          </a:solidFill>
                        </a:rPr>
                        <a:t>残る</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9A9A9A"/>
                          </a:solidFill>
                        </a:rPr>
                        <a:t>消える</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b="1" dirty="0">
                          <a:solidFill>
                            <a:srgbClr val="CB2420"/>
                          </a:solidFill>
                        </a:rPr>
                        <a:t>残る</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200" dirty="0">
                          <a:solidFill>
                            <a:srgbClr val="000000"/>
                          </a:solidFill>
                        </a:rPr>
                        <a:t>残る: 0.016（t 2.6）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66928">
                <a:tc>
                  <a:txBody>
                    <a:bodyPr/>
                    <a:lstStyle/>
                    <a:p>
                      <a:pPr algn="l" indent="0" marL="0">
                        <a:buNone/>
                      </a:pPr>
                      <a:r>
                        <a:rPr lang="ja-JP" altLang="en-US" sz="1200" dirty="0">
                          <a:solidFill>
                            <a:srgbClr val="000000"/>
                          </a:solidFill>
                        </a:rPr>
                        <a:t>P3 IC の減衰</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9A9A9A"/>
                          </a:solidFill>
                        </a:rPr>
                        <a:t>数か月かけて消える</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b="1" dirty="0">
                          <a:solidFill>
                            <a:srgbClr val="CB2420"/>
                          </a:solidFill>
                        </a:rPr>
                        <a:t>1〜2 か月で消える</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9A9A9A"/>
                          </a:solidFill>
                        </a:rPr>
                        <a:t>後で負に転じる</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200" dirty="0">
                          <a:solidFill>
                            <a:srgbClr val="000000"/>
                          </a:solidFill>
                        </a:rPr>
                        <a:t>1〜2 か月で消え、反転なし</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ja-JP" altLang="en-US" sz="1200" dirty="0">
                          <a:solidFill>
                            <a:srgbClr val="000000"/>
                          </a:solidFill>
                        </a:rPr>
                        <a:t>P4 前月リターンとの関係</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b="1" dirty="0">
                          <a:solidFill>
                            <a:srgbClr val="CB2420"/>
                          </a:solidFill>
                        </a:rPr>
                        <a:t>上昇・下落とも正</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9A9A9A"/>
                          </a:solidFill>
                        </a:rPr>
                        <a:t>上昇で強い</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9A9A9A"/>
                          </a:solidFill>
                        </a:rPr>
                        <a:t>上昇で後に反転</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200" dirty="0">
                          <a:solidFill>
                            <a:srgbClr val="000000"/>
                          </a:solidFill>
                        </a:rPr>
                        <a:t>3 区分とも正（有意は中位・上位のみ）</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66928">
                <a:tc>
                  <a:txBody>
                    <a:bodyPr/>
                    <a:lstStyle/>
                    <a:p>
                      <a:pPr algn="l" indent="0" marL="0">
                        <a:buNone/>
                      </a:pPr>
                      <a:r>
                        <a:rPr lang="ja-JP" altLang="en-US" sz="1200" dirty="0">
                          <a:solidFill>
                            <a:srgbClr val="000000"/>
                          </a:solidFill>
                        </a:rPr>
                        <a:t>P5 サイズ</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b="1" dirty="0">
                          <a:solidFill>
                            <a:srgbClr val="CB2420"/>
                          </a:solidFill>
                        </a:rPr>
                        <a:t>小型で強い</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9A9A9A"/>
                          </a:solidFill>
                        </a:rPr>
                        <a:t>差は小さい</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b="1" dirty="0">
                          <a:solidFill>
                            <a:srgbClr val="CB2420"/>
                          </a:solidFill>
                        </a:rPr>
                        <a:t>小型で強い</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200" dirty="0">
                          <a:solidFill>
                            <a:srgbClr val="000000"/>
                          </a:solidFill>
                        </a:rPr>
                        <a:t>小型だけで有意</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verdict"/>
          <p:cNvSpPr/>
          <p:nvPr/>
        </p:nvSpPr>
        <p:spPr>
          <a:xfrm>
            <a:off x="411480" y="5257800"/>
            <a:ext cx="9082735" cy="1051560"/>
          </a:xfrm>
          <a:prstGeom prst="roundRect">
            <a:avLst>
              <a:gd name="adj" fmla="val 5217"/>
            </a:avLst>
          </a:prstGeom>
          <a:solidFill>
            <a:srgbClr val="FBE9E8"/>
          </a:solidFill>
          <a:ln w="12700">
            <a:solidFill>
              <a:srgbClr val="CB2420"/>
            </a:solidFill>
            <a:prstDash val="solid"/>
          </a:ln>
        </p:spPr>
      </p:sp>
      <p:sp>
        <p:nvSpPr>
          <p:cNvPr id="7" name="Text 3"/>
          <p:cNvSpPr txBox="1"/>
          <p:nvPr/>
        </p:nvSpPr>
        <p:spPr>
          <a:xfrm>
            <a:off x="598629" y="5257800"/>
            <a:ext cx="8708436" cy="1051560"/>
          </a:xfrm>
          <a:prstGeom prst="rect">
            <a:avLst/>
          </a:prstGeom>
          <a:noFill/>
          <a:ln/>
        </p:spPr>
        <p:txBody>
          <a:bodyPr wrap="square" lIns="0" tIns="0" rIns="0" bIns="0" rtlCol="0" anchor="ctr"/>
          <a:lstStyle/>
          <a:p>
            <a:pPr indent="0" marL="0">
              <a:buNone/>
            </a:pPr>
            <a:r>
              <a:rPr lang="ja-JP" altLang="en-US" sz="1300" b="1" dirty="0">
                <a:solidFill>
                  <a:srgbClr val="CB2420"/>
                </a:solidFill>
              </a:rPr>
              <a:t>判定: </a:t>
            </a:r>
            <a:pPr indent="0" marL="0">
              <a:buNone/>
            </a:pPr>
            <a:r>
              <a:rPr lang="ja-JP" altLang="en-US" sz="1300" dirty="0">
                <a:solidFill>
                  <a:srgbClr val="000000"/>
                </a:solidFill>
              </a:rPr>
              <a:t>情報イベント説（P2）と過剰反応説（P3）は否定。注目度説に近いが、寿命は想定より短い</a:t>
            </a:r>
            <a:endParaRPr lang="ja-JP" sz="13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abn_to｜comp_ew との複合</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独立なのに、税引後の Q5 は改善しない</a:t>
            </a:r>
            <a:endParaRPr lang="ja-JP"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9082735" cy="914400"/>
        </p:xfrm>
        <a:graphic>
          <a:graphicData uri="http://schemas.openxmlformats.org/drawingml/2006/table">
            <a:tbl>
              <a:tblPr/>
              <a:tblGrid>
                <a:gridCol w="2245793"/>
                <a:gridCol w="1122896"/>
                <a:gridCol w="1122896"/>
                <a:gridCol w="1048037"/>
                <a:gridCol w="1497195"/>
                <a:gridCol w="898317"/>
                <a:gridCol w="1147600"/>
              </a:tblGrid>
              <a:tr h="457200">
                <a:tc>
                  <a:txBody>
                    <a:bodyPr/>
                    <a:lstStyle/>
                    <a:p>
                      <a:pPr algn="ctr" indent="0" marL="0">
                        <a:buNone/>
                      </a:pPr>
                      <a:r>
                        <a:rPr lang="ja-JP" altLang="en-US" sz="1100" b="1" dirty="0">
                          <a:solidFill>
                            <a:srgbClr val="FFFFFF"/>
                          </a:solidFill>
                        </a:rPr>
                        <a:t>comp_ew : abn_to</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 EW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 CW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Q5−Q1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税引後 Q5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IC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回転率</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57200">
                <a:tc>
                  <a:txBody>
                    <a:bodyPr/>
                    <a:lstStyle/>
                    <a:p>
                      <a:pPr algn="l" indent="0" marL="0">
                        <a:buNone/>
                      </a:pPr>
                      <a:r>
                        <a:rPr lang="ja-JP" altLang="en-US" sz="1200" b="1" dirty="0">
                          <a:solidFill>
                            <a:srgbClr val="000000"/>
                          </a:solidFill>
                        </a:rPr>
                        <a:t>100 : 0（comp_ew 単独）</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13.0%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9.9%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17.6%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8.5%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0.065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457200">
                <a:tc>
                  <a:txBody>
                    <a:bodyPr/>
                    <a:lstStyle/>
                    <a:p>
                      <a:pPr algn="l" indent="0" marL="0">
                        <a:buNone/>
                      </a:pPr>
                      <a:r>
                        <a:rPr lang="ja-JP" altLang="en-US" sz="1200" dirty="0">
                          <a:solidFill>
                            <a:srgbClr val="000000"/>
                          </a:solidFill>
                        </a:rPr>
                        <a:t>90 : 10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13.1%</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9.9%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18.3%</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8.5%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0.066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4.1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80 : 20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12.9%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9.3%</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18.3%</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8.2%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0.066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4.3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ja-JP" altLang="en-US" sz="1200" dirty="0">
                          <a:solidFill>
                            <a:srgbClr val="000000"/>
                          </a:solidFill>
                        </a:rPr>
                        <a:t>70 : 30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12.5%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8.3%</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18.0%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7.5%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0.065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4.7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80 : 20（中立化版）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12.8%</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9.2%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18.5%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8.0%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0.065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4.3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card"/>
          <p:cNvSpPr/>
          <p:nvPr/>
        </p:nvSpPr>
        <p:spPr>
          <a:xfrm>
            <a:off x="411480" y="4526280"/>
            <a:ext cx="4417849" cy="1828800"/>
          </a:xfrm>
          <a:prstGeom prst="roundRect">
            <a:avLst>
              <a:gd name="adj" fmla="val 3000"/>
            </a:avLst>
          </a:prstGeom>
          <a:solidFill>
            <a:srgbClr val="F2F2F2"/>
          </a:solidFill>
          <a:ln/>
        </p:spPr>
      </p:sp>
      <p:sp>
        <p:nvSpPr>
          <p:cNvPr id="7" name="Text 3"/>
          <p:cNvSpPr txBox="1"/>
          <p:nvPr/>
        </p:nvSpPr>
        <p:spPr>
          <a:xfrm>
            <a:off x="598629" y="4709160"/>
            <a:ext cx="4043550" cy="411480"/>
          </a:xfrm>
          <a:prstGeom prst="rect">
            <a:avLst/>
          </a:prstGeom>
          <a:noFill/>
          <a:ln/>
        </p:spPr>
        <p:txBody>
          <a:bodyPr wrap="square" lIns="0" tIns="0" rIns="0" bIns="0" rtlCol="0" anchor="t"/>
          <a:lstStyle/>
          <a:p>
            <a:pPr indent="0" marL="0">
              <a:buNone/>
            </a:pPr>
            <a:r>
              <a:rPr lang="ja-JP" altLang="en-US" sz="1400" b="1" dirty="0">
                <a:solidFill>
                  <a:srgbClr val="000000"/>
                </a:solidFill>
              </a:rPr>
              <a:t>独立性は確認できた</a:t>
            </a:r>
            <a:endParaRPr lang="ja-JP" sz="1400" dirty="0"/>
          </a:p>
        </p:txBody>
      </p:sp>
      <p:sp>
        <p:nvSpPr>
          <p:cNvPr id="8" name="Text 4"/>
          <p:cNvSpPr txBox="1"/>
          <p:nvPr/>
        </p:nvSpPr>
        <p:spPr>
          <a:xfrm>
            <a:off x="598629" y="5166360"/>
            <a:ext cx="4043550" cy="105156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comp_ew で説明できない部分の IC 0.016（t 2.6）</a:t>
            </a:r>
            <a:endParaRPr lang="ja-JP" sz="1100" dirty="0"/>
          </a:p>
          <a:p>
            <a:pPr marL="152400" indent="-152400">
              <a:spcAft>
                <a:spcPts val="500"/>
              </a:spcAft>
              <a:buSzPct val="100000"/>
              <a:buChar char="•"/>
            </a:pPr>
            <a:r>
              <a:rPr lang="ja-JP" altLang="en-US" sz="1100" dirty="0">
                <a:solidFill>
                  <a:srgbClr val="000000"/>
                </a:solidFill>
              </a:rPr>
              <a:t>スパニング回帰の α 年 6.1%（t 2.1）</a:t>
            </a:r>
            <a:endParaRPr lang="ja-JP" sz="1100" dirty="0"/>
          </a:p>
          <a:p>
            <a:pPr marL="152400" indent="-152400">
              <a:spcAft>
                <a:spcPts val="500"/>
              </a:spcAft>
              <a:buSzPct val="100000"/>
              <a:buChar char="•"/>
            </a:pPr>
            <a:r>
              <a:rPr lang="ja-JP" altLang="en-US" sz="1100" dirty="0">
                <a:solidFill>
                  <a:srgbClr val="000000"/>
                </a:solidFill>
              </a:rPr>
              <a:t>決算やリビジョンの言い換えではない</a:t>
            </a:r>
            <a:endParaRPr lang="ja-JP" sz="1100" dirty="0"/>
          </a:p>
        </p:txBody>
      </p:sp>
      <p:sp>
        <p:nvSpPr>
          <p:cNvPr id="9" name="card"/>
          <p:cNvSpPr/>
          <p:nvPr/>
        </p:nvSpPr>
        <p:spPr>
          <a:xfrm>
            <a:off x="5076366" y="4526280"/>
            <a:ext cx="4417849" cy="1828800"/>
          </a:xfrm>
          <a:prstGeom prst="roundRect">
            <a:avLst>
              <a:gd name="adj" fmla="val 3000"/>
            </a:avLst>
          </a:prstGeom>
          <a:solidFill>
            <a:srgbClr val="F2F2F2"/>
          </a:solidFill>
          <a:ln/>
        </p:spPr>
      </p:sp>
      <p:sp>
        <p:nvSpPr>
          <p:cNvPr id="10" name="Text 6"/>
          <p:cNvSpPr txBox="1"/>
          <p:nvPr/>
        </p:nvSpPr>
        <p:spPr>
          <a:xfrm>
            <a:off x="5263516" y="4709160"/>
            <a:ext cx="4043550" cy="411480"/>
          </a:xfrm>
          <a:prstGeom prst="rect">
            <a:avLst/>
          </a:prstGeom>
          <a:noFill/>
          <a:ln/>
        </p:spPr>
        <p:txBody>
          <a:bodyPr wrap="square" lIns="0" tIns="0" rIns="0" bIns="0" rtlCol="0" anchor="t"/>
          <a:lstStyle/>
          <a:p>
            <a:pPr indent="0" marL="0">
              <a:buNone/>
            </a:pPr>
            <a:r>
              <a:rPr lang="ja-JP" altLang="en-US" sz="1400" b="1" dirty="0">
                <a:solidFill>
                  <a:srgbClr val="000000"/>
                </a:solidFill>
              </a:rPr>
              <a:t>でもロングオンリーには乗らない</a:t>
            </a:r>
            <a:endParaRPr lang="ja-JP" sz="1400" dirty="0"/>
          </a:p>
        </p:txBody>
      </p:sp>
      <p:sp>
        <p:nvSpPr>
          <p:cNvPr id="11" name="Text 7"/>
          <p:cNvSpPr txBox="1"/>
          <p:nvPr/>
        </p:nvSpPr>
        <p:spPr>
          <a:xfrm>
            <a:off x="5263516" y="5166360"/>
            <a:ext cx="4043550" cy="105156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上がるのはロングショートの Q5−Q1 だけ</a:t>
            </a:r>
            <a:endParaRPr lang="ja-JP" sz="1100" dirty="0"/>
          </a:p>
          <a:p>
            <a:pPr marL="152400" indent="-152400">
              <a:spcAft>
                <a:spcPts val="500"/>
              </a:spcAft>
              <a:buSzPct val="100000"/>
              <a:buChar char="•"/>
            </a:pPr>
            <a:r>
              <a:rPr lang="ja-JP" altLang="en-US" sz="1100" dirty="0">
                <a:solidFill>
                  <a:srgbClr val="000000"/>
                </a:solidFill>
              </a:rPr>
              <a:t>Q5 超過と税引後は下がり、回転率は増える</a:t>
            </a:r>
            <a:endParaRPr lang="ja-JP" sz="1100" dirty="0"/>
          </a:p>
          <a:p>
            <a:pPr marL="152400" indent="-152400">
              <a:spcAft>
                <a:spcPts val="500"/>
              </a:spcAft>
              <a:buSzPct val="100000"/>
              <a:buChar char="•"/>
            </a:pPr>
            <a:r>
              <a:rPr lang="ja-JP" altLang="en-US" sz="1100" dirty="0">
                <a:solidFill>
                  <a:srgbClr val="000000"/>
                </a:solidFill>
              </a:rPr>
              <a:t>comp_ew との月次差はどれも有意でない（|t| &lt; 1.6）</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abn_to｜残る使い道</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comp_ew の Q5 から「出来高が細った銘柄」を外す</a:t>
            </a:r>
            <a:endParaRPr lang="ja-JP" sz="1500" dirty="0"/>
          </a:p>
        </p:txBody>
      </p:sp>
      <p:sp>
        <p:nvSpPr>
          <p:cNvPr id="5" name="card"/>
          <p:cNvSpPr/>
          <p:nvPr/>
        </p:nvSpPr>
        <p:spPr>
          <a:xfrm>
            <a:off x="411480" y="1508760"/>
            <a:ext cx="3293830" cy="4846320"/>
          </a:xfrm>
          <a:prstGeom prst="roundRect">
            <a:avLst>
              <a:gd name="adj" fmla="val 1666"/>
            </a:avLst>
          </a:prstGeom>
          <a:solidFill>
            <a:srgbClr val="F2F2F2"/>
          </a:solidFill>
          <a:ln/>
        </p:spPr>
      </p:sp>
      <p:sp>
        <p:nvSpPr>
          <p:cNvPr id="6" name="Text 3"/>
          <p:cNvSpPr txBox="1"/>
          <p:nvPr/>
        </p:nvSpPr>
        <p:spPr>
          <a:xfrm>
            <a:off x="636059" y="1737360"/>
            <a:ext cx="2844671" cy="731520"/>
          </a:xfrm>
          <a:prstGeom prst="rect">
            <a:avLst/>
          </a:prstGeom>
          <a:noFill/>
          <a:ln/>
        </p:spPr>
        <p:txBody>
          <a:bodyPr wrap="square" lIns="0" tIns="0" rIns="0" bIns="0" rtlCol="0" anchor="t"/>
          <a:lstStyle/>
          <a:p>
            <a:pPr indent="0" marL="0">
              <a:buNone/>
            </a:pPr>
            <a:r>
              <a:rPr lang="ja-JP" altLang="en-US" sz="1400" b="1" dirty="0">
                <a:solidFill>
                  <a:srgbClr val="000000"/>
                </a:solidFill>
              </a:rPr>
              <a:t>comp_ew の Q5 のうち、出来高が細った銘柄</a:t>
            </a:r>
            <a:endParaRPr lang="ja-JP" sz="1400" dirty="0"/>
          </a:p>
        </p:txBody>
      </p:sp>
      <p:sp>
        <p:nvSpPr>
          <p:cNvPr id="7" name="Text 4"/>
          <p:cNvSpPr txBox="1"/>
          <p:nvPr/>
        </p:nvSpPr>
        <p:spPr>
          <a:xfrm>
            <a:off x="636059" y="2423160"/>
            <a:ext cx="2844671" cy="822960"/>
          </a:xfrm>
          <a:prstGeom prst="rect">
            <a:avLst/>
          </a:prstGeom>
          <a:noFill/>
          <a:ln/>
        </p:spPr>
        <p:txBody>
          <a:bodyPr wrap="square" lIns="0" tIns="0" rIns="0" bIns="0" rtlCol="0" anchor="b"/>
          <a:lstStyle/>
          <a:p>
            <a:pPr indent="0" marL="0">
              <a:buNone/>
            </a:pPr>
            <a:r>
              <a:rPr lang="ja-JP" altLang="en-US" sz="3450" b="1" dirty="0">
                <a:solidFill>
                  <a:srgbClr val="CB2420"/>
                </a:solidFill>
              </a:rPr>
              <a:t>−0.76%/月</a:t>
            </a:r>
            <a:endParaRPr lang="ja-JP" sz="3450" dirty="0"/>
          </a:p>
        </p:txBody>
      </p:sp>
      <p:sp>
        <p:nvSpPr>
          <p:cNvPr id="8" name="Text 5"/>
          <p:cNvSpPr txBox="1"/>
          <p:nvPr/>
        </p:nvSpPr>
        <p:spPr>
          <a:xfrm>
            <a:off x="636059" y="3291840"/>
            <a:ext cx="2844671" cy="822960"/>
          </a:xfrm>
          <a:prstGeom prst="rect">
            <a:avLst/>
          </a:prstGeom>
          <a:noFill/>
          <a:ln/>
        </p:spPr>
        <p:txBody>
          <a:bodyPr wrap="square" lIns="0" tIns="0" rIns="0" bIns="0" rtlCol="0" anchor="t"/>
          <a:lstStyle/>
          <a:p>
            <a:pPr indent="0" marL="0">
              <a:buNone/>
            </a:pPr>
            <a:r>
              <a:rPr lang="ja-JP" altLang="en-US" sz="1100" dirty="0">
                <a:solidFill>
                  <a:srgbClr val="000000"/>
                </a:solidFill>
              </a:rPr>
              <a:t>残りの Q5 に対する翌月リターン差（t −3.1、前半 −2.3 / 後半 −2.2）</a:t>
            </a:r>
            <a:endParaRPr lang="ja-JP" sz="1100" dirty="0"/>
          </a:p>
        </p:txBody>
      </p:sp>
      <p:sp>
        <p:nvSpPr>
          <p:cNvPr id="9" name="Text 6"/>
          <p:cNvSpPr txBox="1"/>
          <p:nvPr/>
        </p:nvSpPr>
        <p:spPr>
          <a:xfrm>
            <a:off x="636059" y="4297680"/>
            <a:ext cx="2844671" cy="731520"/>
          </a:xfrm>
          <a:prstGeom prst="rect">
            <a:avLst/>
          </a:prstGeom>
          <a:noFill/>
          <a:ln/>
        </p:spPr>
        <p:txBody>
          <a:bodyPr wrap="square" lIns="0" tIns="0" rIns="0" bIns="0" rtlCol="0" anchor="t"/>
          <a:lstStyle/>
          <a:p>
            <a:pPr indent="0" marL="0">
              <a:buNone/>
            </a:pPr>
            <a:r>
              <a:rPr lang="ja-JP" altLang="en-US" sz="1100" dirty="0">
                <a:solidFill>
                  <a:srgbClr val="737374"/>
                </a:solidFill>
              </a:rPr>
              <a:t>対象は abn_to_med がユニバースの下位 20% の銘柄で、Q5 の約 18%</a:t>
            </a:r>
            <a:endParaRPr lang="ja-JP" sz="1100" dirty="0"/>
          </a:p>
        </p:txBody>
      </p:sp>
      <p:sp>
        <p:nvSpPr>
          <p:cNvPr id="10" name="Text 7"/>
          <p:cNvSpPr txBox="1"/>
          <p:nvPr/>
        </p:nvSpPr>
        <p:spPr>
          <a:xfrm>
            <a:off x="636059" y="5120640"/>
            <a:ext cx="2844671" cy="731520"/>
          </a:xfrm>
          <a:prstGeom prst="rect">
            <a:avLst/>
          </a:prstGeom>
          <a:noFill/>
          <a:ln/>
        </p:spPr>
        <p:txBody>
          <a:bodyPr wrap="square" lIns="0" tIns="0" rIns="0" bIns="0" rtlCol="0" anchor="t"/>
          <a:lstStyle/>
          <a:p>
            <a:pPr indent="0" marL="0">
              <a:buNone/>
            </a:pPr>
            <a:r>
              <a:rPr lang="ja-JP" altLang="en-US" sz="1100" dirty="0">
                <a:solidFill>
                  <a:srgbClr val="737374"/>
                </a:solidFill>
              </a:rPr>
              <a:t>中央値版は事前に決めた 4 本のうち最良のものなので、割り引いて読む</a:t>
            </a:r>
            <a:endParaRPr lang="ja-JP"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952347" y="1508760"/>
          <a:ext cx="5541868" cy="914400"/>
        </p:xfrm>
        <a:graphic>
          <a:graphicData uri="http://schemas.openxmlformats.org/drawingml/2006/table">
            <a:tbl>
              <a:tblPr/>
              <a:tblGrid>
                <a:gridCol w="1946354"/>
                <a:gridCol w="860887"/>
                <a:gridCol w="860887"/>
                <a:gridCol w="1010607"/>
                <a:gridCol w="1110170"/>
              </a:tblGrid>
              <a:tr h="457200">
                <a:tc>
                  <a:txBody>
                    <a:bodyPr/>
                    <a:lstStyle/>
                    <a:p>
                      <a:pPr algn="ctr" indent="0" marL="0">
                        <a:buNone/>
                      </a:pPr>
                      <a:r>
                        <a:rPr lang="ja-JP" altLang="en-US" sz="1100" b="1" dirty="0">
                          <a:solidFill>
                            <a:srgbClr val="FFFFFF"/>
                          </a:solidFill>
                        </a:rPr>
                        <a:t>Q5 の組み方</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税引前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税引後</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回転率（年）</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税引後の差の t</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57200">
                <a:tc>
                  <a:txBody>
                    <a:bodyPr/>
                    <a:lstStyle/>
                    <a:p>
                      <a:pPr algn="l" indent="0" marL="0">
                        <a:buNone/>
                      </a:pPr>
                      <a:r>
                        <a:rPr lang="ja-JP" altLang="en-US" sz="1200" dirty="0">
                          <a:solidFill>
                            <a:srgbClr val="000000"/>
                          </a:solidFill>
                        </a:rPr>
                        <a:t>素の Q5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13.2%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8.7%</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ja-JP" altLang="en-US" sz="1200" dirty="0">
                          <a:solidFill>
                            <a:srgbClr val="000000"/>
                          </a:solidFill>
                        </a:rPr>
                        <a:t>毎月外す</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15.2%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9.5%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5.0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新しく買う銘柄だけ外す</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13.7%</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9.1%</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3.9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2" name="card"/>
          <p:cNvSpPr/>
          <p:nvPr/>
        </p:nvSpPr>
        <p:spPr>
          <a:xfrm>
            <a:off x="3952347" y="3611880"/>
            <a:ext cx="5541868" cy="2743200"/>
          </a:xfrm>
          <a:prstGeom prst="roundRect">
            <a:avLst>
              <a:gd name="adj" fmla="val 2000"/>
            </a:avLst>
          </a:prstGeom>
          <a:solidFill>
            <a:srgbClr val="F2F2F2"/>
          </a:solidFill>
          <a:ln/>
        </p:spPr>
      </p:sp>
      <p:sp>
        <p:nvSpPr>
          <p:cNvPr id="13" name="Text 9"/>
          <p:cNvSpPr txBox="1"/>
          <p:nvPr/>
        </p:nvSpPr>
        <p:spPr>
          <a:xfrm>
            <a:off x="4139496" y="3794760"/>
            <a:ext cx="5167570" cy="411480"/>
          </a:xfrm>
          <a:prstGeom prst="rect">
            <a:avLst/>
          </a:prstGeom>
          <a:noFill/>
          <a:ln/>
        </p:spPr>
        <p:txBody>
          <a:bodyPr wrap="square" lIns="0" tIns="0" rIns="0" bIns="0" rtlCol="0" anchor="t"/>
          <a:lstStyle/>
          <a:p>
            <a:pPr indent="0" marL="0">
              <a:buNone/>
            </a:pPr>
            <a:r>
              <a:rPr lang="ja-JP" altLang="en-US" sz="1400" b="1" dirty="0">
                <a:solidFill>
                  <a:srgbClr val="000000"/>
                </a:solidFill>
              </a:rPr>
              <a:t>税引後では差が縮む</a:t>
            </a:r>
            <a:endParaRPr lang="ja-JP" sz="1400" dirty="0"/>
          </a:p>
        </p:txBody>
      </p:sp>
      <p:sp>
        <p:nvSpPr>
          <p:cNvPr id="14" name="Text 10"/>
          <p:cNvSpPr txBox="1"/>
          <p:nvPr/>
        </p:nvSpPr>
        <p:spPr>
          <a:xfrm>
            <a:off x="4139496" y="4251960"/>
            <a:ext cx="5167570" cy="196596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税引前は外すだけで +0.15%/月（t 3.5）</a:t>
            </a:r>
            <a:endParaRPr lang="ja-JP" sz="1100" dirty="0"/>
          </a:p>
          <a:p>
            <a:pPr marL="152400" indent="-152400">
              <a:spcAft>
                <a:spcPts val="500"/>
              </a:spcAft>
              <a:buSzPct val="100000"/>
              <a:buChar char="•"/>
            </a:pPr>
            <a:r>
              <a:rPr lang="ja-JP" altLang="en-US" sz="1100" dirty="0">
                <a:solidFill>
                  <a:srgbClr val="000000"/>
                </a:solidFill>
              </a:rPr>
              <a:t>毎月外すと回転率が 4.0 → 5.0 倍に増え、税引後は +0.07%/月（t 1.5）</a:t>
            </a:r>
            <a:endParaRPr lang="ja-JP" sz="1100" dirty="0"/>
          </a:p>
          <a:p>
            <a:pPr marL="152400" indent="-152400">
              <a:spcAft>
                <a:spcPts val="500"/>
              </a:spcAft>
              <a:buSzPct val="100000"/>
              <a:buChar char="•"/>
            </a:pPr>
            <a:r>
              <a:rPr lang="ja-JP" altLang="en-US" sz="1100" dirty="0">
                <a:solidFill>
                  <a:srgbClr val="000000"/>
                </a:solidFill>
              </a:rPr>
              <a:t>保有中は売らず、新しく買う銘柄だけ外せば回転率は増えない（+0.04%/月、t 1.6）</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abn_to｜判定</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素材としては見送り。使うなら新規買いの除外条件</a:t>
            </a:r>
            <a:endParaRPr lang="ja-JP" sz="1500" dirty="0"/>
          </a:p>
        </p:txBody>
      </p:sp>
      <p:sp>
        <p:nvSpPr>
          <p:cNvPr id="5" name="card"/>
          <p:cNvSpPr/>
          <p:nvPr/>
        </p:nvSpPr>
        <p:spPr>
          <a:xfrm>
            <a:off x="411480" y="1508760"/>
            <a:ext cx="2862887" cy="2560320"/>
          </a:xfrm>
          <a:prstGeom prst="roundRect">
            <a:avLst>
              <a:gd name="adj" fmla="val 2143"/>
            </a:avLst>
          </a:prstGeom>
          <a:solidFill>
            <a:srgbClr val="F2F2F2"/>
          </a:solidFill>
          <a:ln/>
        </p:spPr>
      </p:sp>
      <p:sp>
        <p:nvSpPr>
          <p:cNvPr id="6" name="badge"/>
          <p:cNvSpPr/>
          <p:nvPr/>
        </p:nvSpPr>
        <p:spPr>
          <a:xfrm>
            <a:off x="602899" y="1783080"/>
            <a:ext cx="365760" cy="365760"/>
          </a:xfrm>
          <a:prstGeom prst="ellipse">
            <a:avLst/>
          </a:prstGeom>
          <a:solidFill>
            <a:srgbClr val="00305C"/>
          </a:solidFill>
          <a:ln/>
        </p:spPr>
      </p:sp>
      <p:sp>
        <p:nvSpPr>
          <p:cNvPr id="7" name="Text 4"/>
          <p:cNvSpPr txBox="1"/>
          <p:nvPr/>
        </p:nvSpPr>
        <p:spPr>
          <a:xfrm>
            <a:off x="602899"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1</a:t>
            </a:r>
            <a:endParaRPr lang="ja-JP" sz="1400" dirty="0"/>
          </a:p>
        </p:txBody>
      </p:sp>
      <p:sp>
        <p:nvSpPr>
          <p:cNvPr id="8" name="Text 5"/>
          <p:cNvSpPr txBox="1"/>
          <p:nvPr/>
        </p:nvSpPr>
        <p:spPr>
          <a:xfrm>
            <a:off x="1085218"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本物の情報</a:t>
            </a:r>
            <a:endParaRPr lang="ja-JP" sz="1450" dirty="0"/>
          </a:p>
        </p:txBody>
      </p:sp>
      <p:sp>
        <p:nvSpPr>
          <p:cNvPr id="9" name="Text 6"/>
          <p:cNvSpPr txBox="1"/>
          <p:nvPr/>
        </p:nvSpPr>
        <p:spPr>
          <a:xfrm>
            <a:off x="598629"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comp_ew と独立</a:t>
            </a:r>
            <a:endParaRPr lang="ja-JP" sz="1200" dirty="0"/>
          </a:p>
          <a:p>
            <a:pPr marL="152400" indent="-152400">
              <a:spcAft>
                <a:spcPts val="500"/>
              </a:spcAft>
              <a:buSzPct val="100000"/>
              <a:buChar char="•"/>
            </a:pPr>
            <a:r>
              <a:rPr lang="ja-JP" altLang="en-US" sz="1300" dirty="0">
                <a:solidFill>
                  <a:srgbClr val="000000"/>
                </a:solidFill>
              </a:rPr>
              <a:t>後半（2018 年以降）でも残る</a:t>
            </a:r>
            <a:endParaRPr lang="ja-JP" sz="1200" dirty="0"/>
          </a:p>
          <a:p>
            <a:pPr marL="152400" indent="-152400">
              <a:spcAft>
                <a:spcPts val="500"/>
              </a:spcAft>
              <a:buSzPct val="100000"/>
              <a:buChar char="•"/>
            </a:pPr>
            <a:r>
              <a:rPr lang="ja-JP" altLang="en-US" sz="1300" dirty="0">
                <a:solidFill>
                  <a:srgbClr val="000000"/>
                </a:solidFill>
              </a:rPr>
              <a:t>決算の言い換えでも過剰反応でもない</a:t>
            </a:r>
            <a:endParaRPr lang="ja-JP" sz="1200" dirty="0"/>
          </a:p>
        </p:txBody>
      </p:sp>
      <p:sp>
        <p:nvSpPr>
          <p:cNvPr id="10" name="card"/>
          <p:cNvSpPr/>
          <p:nvPr/>
        </p:nvSpPr>
        <p:spPr>
          <a:xfrm>
            <a:off x="3521404" y="1508760"/>
            <a:ext cx="2862887" cy="2560320"/>
          </a:xfrm>
          <a:prstGeom prst="roundRect">
            <a:avLst>
              <a:gd name="adj" fmla="val 2143"/>
            </a:avLst>
          </a:prstGeom>
          <a:solidFill>
            <a:srgbClr val="F2F2F2"/>
          </a:solidFill>
          <a:ln/>
        </p:spPr>
      </p:sp>
      <p:sp>
        <p:nvSpPr>
          <p:cNvPr id="11" name="badge"/>
          <p:cNvSpPr/>
          <p:nvPr/>
        </p:nvSpPr>
        <p:spPr>
          <a:xfrm>
            <a:off x="3712823" y="1783080"/>
            <a:ext cx="365760" cy="365760"/>
          </a:xfrm>
          <a:prstGeom prst="ellipse">
            <a:avLst/>
          </a:prstGeom>
          <a:solidFill>
            <a:srgbClr val="CB2420"/>
          </a:solidFill>
          <a:ln/>
        </p:spPr>
      </p:sp>
      <p:sp>
        <p:nvSpPr>
          <p:cNvPr id="12" name="Text 9"/>
          <p:cNvSpPr txBox="1"/>
          <p:nvPr/>
        </p:nvSpPr>
        <p:spPr>
          <a:xfrm>
            <a:off x="3712823"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2</a:t>
            </a:r>
            <a:endParaRPr lang="ja-JP" sz="1400" dirty="0"/>
          </a:p>
        </p:txBody>
      </p:sp>
      <p:sp>
        <p:nvSpPr>
          <p:cNvPr id="13" name="Text 10"/>
          <p:cNvSpPr txBox="1"/>
          <p:nvPr/>
        </p:nvSpPr>
        <p:spPr>
          <a:xfrm>
            <a:off x="4195142"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でも小さく短い</a:t>
            </a:r>
            <a:endParaRPr lang="ja-JP" sz="1450" dirty="0"/>
          </a:p>
        </p:txBody>
      </p:sp>
      <p:sp>
        <p:nvSpPr>
          <p:cNvPr id="14" name="Text 11"/>
          <p:cNvSpPr txBox="1"/>
          <p:nvPr/>
        </p:nvSpPr>
        <p:spPr>
          <a:xfrm>
            <a:off x="3708554"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IC は comp_ew の約 1/4</a:t>
            </a:r>
            <a:endParaRPr lang="ja-JP" sz="1200" dirty="0"/>
          </a:p>
          <a:p>
            <a:pPr marL="152400" indent="-152400">
              <a:spcAft>
                <a:spcPts val="500"/>
              </a:spcAft>
              <a:buSzPct val="100000"/>
              <a:buChar char="•"/>
            </a:pPr>
            <a:r>
              <a:rPr lang="ja-JP" altLang="en-US" sz="1300" dirty="0">
                <a:solidFill>
                  <a:srgbClr val="000000"/>
                </a:solidFill>
              </a:rPr>
              <a:t>寿命は 1〜2 か月</a:t>
            </a:r>
            <a:endParaRPr lang="ja-JP" sz="1200" dirty="0"/>
          </a:p>
          <a:p>
            <a:pPr marL="152400" indent="-152400">
              <a:spcAft>
                <a:spcPts val="500"/>
              </a:spcAft>
              <a:buSzPct val="100000"/>
              <a:buChar char="•"/>
            </a:pPr>
            <a:r>
              <a:rPr lang="ja-JP" altLang="en-US" sz="1300" dirty="0">
                <a:solidFill>
                  <a:srgbClr val="000000"/>
                </a:solidFill>
              </a:rPr>
              <a:t>効くのは小型株の Q1 側（空売りが必要な側）</a:t>
            </a:r>
            <a:endParaRPr lang="ja-JP" sz="1200" dirty="0"/>
          </a:p>
        </p:txBody>
      </p:sp>
      <p:sp>
        <p:nvSpPr>
          <p:cNvPr id="15" name="card"/>
          <p:cNvSpPr/>
          <p:nvPr/>
        </p:nvSpPr>
        <p:spPr>
          <a:xfrm>
            <a:off x="6631328" y="1508760"/>
            <a:ext cx="2862887" cy="2560320"/>
          </a:xfrm>
          <a:prstGeom prst="roundRect">
            <a:avLst>
              <a:gd name="adj" fmla="val 2143"/>
            </a:avLst>
          </a:prstGeom>
          <a:solidFill>
            <a:srgbClr val="F2F2F2"/>
          </a:solidFill>
          <a:ln/>
        </p:spPr>
      </p:sp>
      <p:sp>
        <p:nvSpPr>
          <p:cNvPr id="16" name="badge"/>
          <p:cNvSpPr/>
          <p:nvPr/>
        </p:nvSpPr>
        <p:spPr>
          <a:xfrm>
            <a:off x="6822747" y="1783080"/>
            <a:ext cx="365760" cy="365760"/>
          </a:xfrm>
          <a:prstGeom prst="ellipse">
            <a:avLst/>
          </a:prstGeom>
          <a:solidFill>
            <a:srgbClr val="595959"/>
          </a:solidFill>
          <a:ln/>
        </p:spPr>
      </p:sp>
      <p:sp>
        <p:nvSpPr>
          <p:cNvPr id="17" name="Text 14"/>
          <p:cNvSpPr txBox="1"/>
          <p:nvPr/>
        </p:nvSpPr>
        <p:spPr>
          <a:xfrm>
            <a:off x="6822747"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3</a:t>
            </a:r>
            <a:endParaRPr lang="ja-JP" sz="1400" dirty="0"/>
          </a:p>
        </p:txBody>
      </p:sp>
      <p:sp>
        <p:nvSpPr>
          <p:cNvPr id="18" name="Text 15"/>
          <p:cNvSpPr txBox="1"/>
          <p:nvPr/>
        </p:nvSpPr>
        <p:spPr>
          <a:xfrm>
            <a:off x="7305066"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税引後に残らない</a:t>
            </a:r>
            <a:endParaRPr lang="ja-JP" sz="1450" dirty="0"/>
          </a:p>
        </p:txBody>
      </p:sp>
      <p:sp>
        <p:nvSpPr>
          <p:cNvPr id="19" name="Text 16"/>
          <p:cNvSpPr txBox="1"/>
          <p:nvPr/>
        </p:nvSpPr>
        <p:spPr>
          <a:xfrm>
            <a:off x="6818478"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混ぜると税引後 8.5% → 8.2%</a:t>
            </a:r>
            <a:endParaRPr lang="ja-JP" sz="1200" dirty="0"/>
          </a:p>
          <a:p>
            <a:pPr marL="152400" indent="-152400">
              <a:spcAft>
                <a:spcPts val="500"/>
              </a:spcAft>
              <a:buSzPct val="100000"/>
              <a:buChar char="•"/>
            </a:pPr>
            <a:r>
              <a:rPr lang="ja-JP" altLang="en-US" sz="1300" dirty="0">
                <a:solidFill>
                  <a:srgbClr val="000000"/>
                </a:solidFill>
              </a:rPr>
              <a:t>Q5 から外す使い方でも年 +0.5〜0.8% で有意でない</a:t>
            </a:r>
            <a:endParaRPr lang="ja-JP" sz="1200" dirty="0"/>
          </a:p>
        </p:txBody>
      </p:sp>
      <p:sp>
        <p:nvSpPr>
          <p:cNvPr id="20" name="next"/>
          <p:cNvSpPr/>
          <p:nvPr/>
        </p:nvSpPr>
        <p:spPr>
          <a:xfrm>
            <a:off x="411480" y="4343400"/>
            <a:ext cx="9082735" cy="1600200"/>
          </a:xfrm>
          <a:prstGeom prst="roundRect">
            <a:avLst>
              <a:gd name="adj" fmla="val 3429"/>
            </a:avLst>
          </a:prstGeom>
          <a:ln w="12700">
            <a:solidFill>
              <a:srgbClr val="BFBFBF"/>
            </a:solidFill>
            <a:prstDash val="solid"/>
          </a:ln>
        </p:spPr>
      </p:sp>
      <p:sp>
        <p:nvSpPr>
          <p:cNvPr id="21" name="Text 18"/>
          <p:cNvSpPr txBox="1"/>
          <p:nvPr/>
        </p:nvSpPr>
        <p:spPr>
          <a:xfrm>
            <a:off x="598629" y="4526280"/>
            <a:ext cx="2994391" cy="365760"/>
          </a:xfrm>
          <a:prstGeom prst="rect">
            <a:avLst/>
          </a:prstGeom>
          <a:noFill/>
          <a:ln/>
        </p:spPr>
        <p:txBody>
          <a:bodyPr wrap="square" lIns="0" tIns="0" rIns="0" bIns="0" rtlCol="0" anchor="t"/>
          <a:lstStyle/>
          <a:p>
            <a:pPr indent="0" marL="0">
              <a:buNone/>
            </a:pPr>
            <a:r>
              <a:rPr lang="ja-JP" altLang="en-US" sz="1400" b="1" dirty="0">
                <a:solidFill>
                  <a:srgbClr val="000000"/>
                </a:solidFill>
              </a:rPr>
              <a:t>次に試すなら</a:t>
            </a:r>
            <a:endParaRPr lang="ja-JP" sz="1400" dirty="0"/>
          </a:p>
        </p:txBody>
      </p:sp>
      <p:sp>
        <p:nvSpPr>
          <p:cNvPr id="22" name="Text 19"/>
          <p:cNvSpPr txBox="1"/>
          <p:nvPr/>
        </p:nvSpPr>
        <p:spPr>
          <a:xfrm>
            <a:off x="598629" y="4983480"/>
            <a:ext cx="8708436" cy="128016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bax の新規買い候補から abn_to_med 下位 20% を外す（回転率を増やさない形。期待は税引後 年 +0.4% 程度で、有意ではない）</a:t>
            </a:r>
            <a:endParaRPr lang="ja-JP" sz="1200" dirty="0"/>
          </a:p>
          <a:p>
            <a:pPr marL="152400" indent="-152400">
              <a:spcAft>
                <a:spcPts val="500"/>
              </a:spcAft>
              <a:buSzPct val="100000"/>
              <a:buChar char="•"/>
            </a:pPr>
            <a:r>
              <a:rPr lang="ja-JP" altLang="en-US" sz="1300" dirty="0">
                <a:solidFill>
                  <a:srgbClr val="000000"/>
                </a:solidFill>
              </a:rPr>
              <a:t>ブロック取引の日を除いた平均版で、中央値版の強さが再現するかを確認する</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type="body" idx="1"/>
          </p:nvPr>
        </p:nvSpPr>
        <p:spPr>
          <a:xfrm>
            <a:off x="265176" y="3602736"/>
            <a:ext cx="7818120" cy="859536"/>
          </a:xfrm>
          <a:prstGeom prst="rect">
            <a:avLst/>
          </a:prstGeom>
          <a:noFill/>
          <a:ln/>
        </p:spPr>
        <p:txBody>
          <a:bodyPr wrap="square" rtlCol="0"/>
          <a:lstStyle/>
          <a:p>
            <a:pPr indent="0" marL="0">
              <a:buNone/>
            </a:pPr>
            <a:r>
              <a:rPr lang="ja-JP" altLang="en-US" sz="2400" b="1" dirty="0">
                <a:solidFill>
                  <a:srgbClr val="000000"/>
                </a:solidFill>
              </a:rPr>
              <a:t>02  Agnostic Fundamental Analysis</a:t>
            </a:r>
            <a:endParaRPr lang="ja-JP" sz="2400" dirty="0"/>
          </a:p>
        </p:txBody>
      </p:sp>
      <p:sp>
        <p:nvSpPr>
          <p:cNvPr id="3" name="Text 0"/>
          <p:cNvSpPr/>
          <p:nvPr>
            <p:ph type="title"/>
          </p:nvPr>
        </p:nvSpPr>
        <p:spPr>
          <a:xfrm>
            <a:off x="265176" y="4608576"/>
            <a:ext cx="7818120" cy="512064"/>
          </a:xfrm>
          <a:prstGeom prst="rect">
            <a:avLst/>
          </a:prstGeom>
          <a:noFill/>
          <a:ln/>
        </p:spPr>
        <p:txBody>
          <a:bodyPr wrap="square" rtlCol="0"/>
          <a:lstStyle/>
          <a:p>
            <a:pPr indent="0" marL="0">
              <a:buNone/>
            </a:pPr>
            <a:r>
              <a:rPr lang="ja-JP" altLang="en-US" sz="1800" dirty="0">
                <a:solidFill>
                  <a:srgbClr val="000000"/>
                </a:solidFill>
              </a:rPr>
              <a:t>財務から推定した公正価値からのずれは、ゆっくり戻るのか</a:t>
            </a:r>
            <a:endParaRPr lang="ja-JP"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Agnostic｜なぜ試したか</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comp_ew と独立で、ゆっくり効く素材がほしい</a:t>
            </a:r>
            <a:endParaRPr lang="ja-JP" sz="1500" dirty="0"/>
          </a:p>
        </p:txBody>
      </p:sp>
      <p:sp>
        <p:nvSpPr>
          <p:cNvPr id="5" name="card"/>
          <p:cNvSpPr/>
          <p:nvPr/>
        </p:nvSpPr>
        <p:spPr>
          <a:xfrm>
            <a:off x="411480" y="1508760"/>
            <a:ext cx="3742988" cy="3931920"/>
          </a:xfrm>
          <a:prstGeom prst="roundRect">
            <a:avLst>
              <a:gd name="adj" fmla="val 1466"/>
            </a:avLst>
          </a:prstGeom>
          <a:solidFill>
            <a:srgbClr val="F2F2F2"/>
          </a:solidFill>
          <a:ln/>
        </p:spPr>
      </p:sp>
      <p:sp>
        <p:nvSpPr>
          <p:cNvPr id="6" name="Text 3"/>
          <p:cNvSpPr txBox="1"/>
          <p:nvPr/>
        </p:nvSpPr>
        <p:spPr>
          <a:xfrm>
            <a:off x="598629" y="1691640"/>
            <a:ext cx="3368689" cy="411480"/>
          </a:xfrm>
          <a:prstGeom prst="rect">
            <a:avLst/>
          </a:prstGeom>
          <a:noFill/>
          <a:ln/>
        </p:spPr>
        <p:txBody>
          <a:bodyPr wrap="square" lIns="0" tIns="0" rIns="0" bIns="0" rtlCol="0" anchor="t"/>
          <a:lstStyle/>
          <a:p>
            <a:pPr indent="0" marL="0">
              <a:buNone/>
            </a:pPr>
            <a:r>
              <a:rPr lang="ja-JP" altLang="en-US" sz="1400" b="1" dirty="0">
                <a:solidFill>
                  <a:srgbClr val="000000"/>
                </a:solidFill>
              </a:rPr>
              <a:t>comp_ew の弱点は売買の速さ</a:t>
            </a:r>
            <a:endParaRPr lang="ja-JP" sz="1400" dirty="0"/>
          </a:p>
        </p:txBody>
      </p:sp>
      <p:sp>
        <p:nvSpPr>
          <p:cNvPr id="7" name="Text 4"/>
          <p:cNvSpPr txBox="1"/>
          <p:nvPr/>
        </p:nvSpPr>
        <p:spPr>
          <a:xfrm>
            <a:off x="598629" y="2057400"/>
            <a:ext cx="3368689" cy="822960"/>
          </a:xfrm>
          <a:prstGeom prst="rect">
            <a:avLst/>
          </a:prstGeom>
          <a:noFill/>
          <a:ln/>
        </p:spPr>
        <p:txBody>
          <a:bodyPr wrap="square" lIns="0" tIns="0" rIns="0" bIns="0" rtlCol="0" anchor="b"/>
          <a:lstStyle/>
          <a:p>
            <a:pPr indent="0" marL="0">
              <a:buNone/>
            </a:pPr>
            <a:r>
              <a:rPr lang="ja-JP" altLang="en-US" sz="3800" b="1" dirty="0">
                <a:solidFill>
                  <a:srgbClr val="CB2420"/>
                </a:solidFill>
              </a:rPr>
              <a:t>年 4.0 倍</a:t>
            </a:r>
            <a:endParaRPr lang="ja-JP" sz="3800" dirty="0"/>
          </a:p>
        </p:txBody>
      </p:sp>
      <p:sp>
        <p:nvSpPr>
          <p:cNvPr id="8" name="Text 5"/>
          <p:cNvSpPr txBox="1"/>
          <p:nvPr/>
        </p:nvSpPr>
        <p:spPr>
          <a:xfrm>
            <a:off x="598629" y="2926080"/>
            <a:ext cx="3368689" cy="365760"/>
          </a:xfrm>
          <a:prstGeom prst="rect">
            <a:avLst/>
          </a:prstGeom>
          <a:noFill/>
          <a:ln/>
        </p:spPr>
        <p:txBody>
          <a:bodyPr wrap="square" lIns="0" tIns="0" rIns="0" bIns="0" rtlCol="0" anchor="t"/>
          <a:lstStyle/>
          <a:p>
            <a:pPr indent="0" marL="0">
              <a:buNone/>
            </a:pPr>
            <a:r>
              <a:rPr lang="ja-JP" altLang="en-US" sz="1100" dirty="0">
                <a:solidFill>
                  <a:srgbClr val="000000"/>
                </a:solidFill>
              </a:rPr>
              <a:t>回転率。短期売却の比率は 81%</a:t>
            </a:r>
            <a:endParaRPr lang="ja-JP" sz="1100" dirty="0"/>
          </a:p>
        </p:txBody>
      </p:sp>
      <p:sp>
        <p:nvSpPr>
          <p:cNvPr id="9" name="Text 6"/>
          <p:cNvSpPr txBox="1"/>
          <p:nvPr/>
        </p:nvSpPr>
        <p:spPr>
          <a:xfrm>
            <a:off x="598629" y="3429000"/>
            <a:ext cx="3368689" cy="182880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税ドラッグ 年 2.8%、コスト 年 1.7%</a:t>
            </a:r>
            <a:endParaRPr lang="ja-JP" sz="1200" dirty="0"/>
          </a:p>
          <a:p>
            <a:pPr marL="152400" indent="-152400">
              <a:spcAft>
                <a:spcPts val="500"/>
              </a:spcAft>
              <a:buSzPct val="100000"/>
              <a:buChar char="•"/>
            </a:pPr>
            <a:r>
              <a:rPr lang="ja-JP" altLang="en-US" sz="1200" dirty="0">
                <a:solidFill>
                  <a:srgbClr val="000000"/>
                </a:solidFill>
              </a:rPr>
              <a:t>税引前 13.0% が税引後 8.5% に</a:t>
            </a:r>
            <a:endParaRPr lang="ja-JP" sz="1200" dirty="0"/>
          </a:p>
          <a:p>
            <a:pPr marL="152400" indent="-152400">
              <a:spcAft>
                <a:spcPts val="500"/>
              </a:spcAft>
              <a:buSzPct val="100000"/>
              <a:buChar char="•"/>
            </a:pPr>
            <a:r>
              <a:rPr lang="ja-JP" altLang="en-US" sz="1200" dirty="0">
                <a:solidFill>
                  <a:srgbClr val="000000"/>
                </a:solidFill>
              </a:rPr>
              <a:t>中期モメンタムとの順位相関 0.60 で、価格系に寄っている</a:t>
            </a:r>
            <a:endParaRPr lang="ja-JP" sz="1200" dirty="0"/>
          </a:p>
        </p:txBody>
      </p:sp>
      <p:sp>
        <p:nvSpPr>
          <p:cNvPr id="10" name="card"/>
          <p:cNvSpPr/>
          <p:nvPr/>
        </p:nvSpPr>
        <p:spPr>
          <a:xfrm>
            <a:off x="4401505" y="1508760"/>
            <a:ext cx="5092710" cy="3931920"/>
          </a:xfrm>
          <a:prstGeom prst="roundRect">
            <a:avLst>
              <a:gd name="adj" fmla="val 1395"/>
            </a:avLst>
          </a:prstGeom>
          <a:solidFill>
            <a:srgbClr val="F2F2F2"/>
          </a:solidFill>
          <a:ln/>
        </p:spPr>
      </p:sp>
      <p:sp>
        <p:nvSpPr>
          <p:cNvPr id="11" name="Text 8"/>
          <p:cNvSpPr txBox="1"/>
          <p:nvPr/>
        </p:nvSpPr>
        <p:spPr>
          <a:xfrm>
            <a:off x="4588655" y="1691640"/>
            <a:ext cx="4718411" cy="411480"/>
          </a:xfrm>
          <a:prstGeom prst="rect">
            <a:avLst/>
          </a:prstGeom>
          <a:noFill/>
          <a:ln/>
        </p:spPr>
        <p:txBody>
          <a:bodyPr wrap="square" lIns="0" tIns="0" rIns="0" bIns="0" rtlCol="0" anchor="t"/>
          <a:lstStyle/>
          <a:p>
            <a:pPr indent="0" marL="0">
              <a:buNone/>
            </a:pPr>
            <a:r>
              <a:rPr lang="ja-JP" altLang="en-US" sz="1400" b="1" dirty="0">
                <a:solidFill>
                  <a:srgbClr val="000000"/>
                </a:solidFill>
              </a:rPr>
              <a:t>論文: Bartram &amp; Grinblatt (2018, JFE)</a:t>
            </a:r>
            <a:endParaRPr lang="ja-JP" sz="1400" dirty="0"/>
          </a:p>
        </p:txBody>
      </p:sp>
      <p:sp>
        <p:nvSpPr>
          <p:cNvPr id="12" name="Text 9"/>
          <p:cNvSpPr txBox="1"/>
          <p:nvPr/>
        </p:nvSpPr>
        <p:spPr>
          <a:xfrm>
            <a:off x="4588655" y="2194560"/>
            <a:ext cx="4718411" cy="310896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毎月、時価総額 V を財務項目の金額に横断面回帰し、公正価値 P を推定する</a:t>
            </a:r>
            <a:endParaRPr lang="ja-JP" sz="1200" dirty="0"/>
          </a:p>
          <a:p>
            <a:pPr marL="152400" indent="-152400">
              <a:spcAft>
                <a:spcPts val="500"/>
              </a:spcAft>
              <a:buSzPct val="100000"/>
              <a:buChar char="•"/>
            </a:pPr>
            <a:r>
              <a:rPr lang="ja-JP" altLang="en-US" sz="1200" dirty="0">
                <a:solidFill>
                  <a:srgbClr val="000000"/>
                </a:solidFill>
              </a:rPr>
              <a:t>乖離 M = (P − V) / V が大きい（割安な）銘柄ほど、その後上がる</a:t>
            </a:r>
            <a:endParaRPr lang="ja-JP" sz="1200" dirty="0"/>
          </a:p>
          <a:p>
            <a:pPr marL="152400" indent="-152400">
              <a:spcAft>
                <a:spcPts val="500"/>
              </a:spcAft>
              <a:buSzPct val="100000"/>
              <a:buChar char="•"/>
            </a:pPr>
            <a:r>
              <a:rPr lang="ja-JP" altLang="en-US" sz="1200" dirty="0">
                <a:solidFill>
                  <a:srgbClr val="000000"/>
                </a:solidFill>
              </a:rPr>
              <a:t>理論やファクターを仮定しない（agnostic）</a:t>
            </a:r>
            <a:endParaRPr lang="ja-JP" sz="1200" dirty="0"/>
          </a:p>
          <a:p>
            <a:pPr marL="152400" indent="-152400">
              <a:spcAft>
                <a:spcPts val="500"/>
              </a:spcAft>
              <a:buSzPct val="100000"/>
              <a:buChar char="•"/>
            </a:pPr>
            <a:r>
              <a:rPr lang="ja-JP" altLang="en-US" sz="1200" dirty="0">
                <a:solidFill>
                  <a:srgbClr val="000000"/>
                </a:solidFill>
              </a:rPr>
              <a:t>米国では効果がおよそ 34 か月続く</a:t>
            </a:r>
            <a:endParaRPr lang="ja-JP" sz="1200" dirty="0"/>
          </a:p>
          <a:p>
            <a:pPr marL="152400" indent="-152400">
              <a:spcAft>
                <a:spcPts val="500"/>
              </a:spcAft>
              <a:buSzPct val="100000"/>
              <a:buChar char="•"/>
            </a:pPr>
            <a:r>
              <a:rPr lang="ja-JP" altLang="en-US" sz="1200" dirty="0">
                <a:solidFill>
                  <a:srgbClr val="000000"/>
                </a:solidFill>
              </a:rPr>
              <a:t>推定は外れ値に頑健な Theil–Sen 型を推す</a:t>
            </a:r>
            <a:endParaRPr lang="ja-JP" sz="1200" dirty="0"/>
          </a:p>
        </p:txBody>
      </p:sp>
      <p:sp>
        <p:nvSpPr>
          <p:cNvPr id="13" name="hypothesis"/>
          <p:cNvSpPr/>
          <p:nvPr/>
        </p:nvSpPr>
        <p:spPr>
          <a:xfrm>
            <a:off x="411480" y="5623560"/>
            <a:ext cx="9082735" cy="731520"/>
          </a:xfrm>
          <a:prstGeom prst="roundRect">
            <a:avLst>
              <a:gd name="adj" fmla="val 7500"/>
            </a:avLst>
          </a:prstGeom>
          <a:solidFill>
            <a:srgbClr val="FBE9E8"/>
          </a:solidFill>
          <a:ln w="12700">
            <a:solidFill>
              <a:srgbClr val="CB2420"/>
            </a:solidFill>
            <a:prstDash val="solid"/>
          </a:ln>
        </p:spPr>
      </p:sp>
      <p:sp>
        <p:nvSpPr>
          <p:cNvPr id="14" name="Text 11"/>
          <p:cNvSpPr txBox="1"/>
          <p:nvPr/>
        </p:nvSpPr>
        <p:spPr>
          <a:xfrm>
            <a:off x="598629" y="5623560"/>
            <a:ext cx="8708436" cy="731520"/>
          </a:xfrm>
          <a:prstGeom prst="rect">
            <a:avLst/>
          </a:prstGeom>
          <a:noFill/>
          <a:ln/>
        </p:spPr>
        <p:txBody>
          <a:bodyPr wrap="square" lIns="0" tIns="0" rIns="0" bIns="0" rtlCol="0" anchor="ctr"/>
          <a:lstStyle/>
          <a:p>
            <a:pPr indent="0" marL="0">
              <a:buNone/>
            </a:pPr>
            <a:r>
              <a:rPr lang="ja-JP" altLang="en-US" sz="1300" b="1" dirty="0">
                <a:solidFill>
                  <a:srgbClr val="CB2420"/>
                </a:solidFill>
              </a:rPr>
              <a:t>仮説  </a:t>
            </a:r>
            <a:pPr indent="0" marL="0">
              <a:buNone/>
            </a:pPr>
            <a:r>
              <a:rPr lang="ja-JP" altLang="en-US" sz="1300" dirty="0">
                <a:solidFill>
                  <a:srgbClr val="000000"/>
                </a:solidFill>
              </a:rPr>
              <a:t>インドでも株価は財務が示す価値からずれ、数年かけて戻る。あわせて「機械学習で推定を良くすると効くか」も確かめる</a:t>
            </a:r>
            <a:endParaRPr lang="ja-JP" sz="13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Agnostic｜手法 1  流れと財務項目</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core の比率から財務の金額を復元し、外れ値を過去データだけで処理する</a:t>
            </a:r>
            <a:endParaRPr lang="ja-JP" sz="1500" dirty="0"/>
          </a:p>
        </p:txBody>
      </p:sp>
      <p:sp>
        <p:nvSpPr>
          <p:cNvPr id="5" name="card"/>
          <p:cNvSpPr/>
          <p:nvPr/>
        </p:nvSpPr>
        <p:spPr>
          <a:xfrm>
            <a:off x="411480" y="1508760"/>
            <a:ext cx="2096073" cy="1371600"/>
          </a:xfrm>
          <a:prstGeom prst="roundRect">
            <a:avLst>
              <a:gd name="adj" fmla="val 4000"/>
            </a:avLst>
          </a:prstGeom>
          <a:solidFill>
            <a:srgbClr val="F2F2F2"/>
          </a:solidFill>
          <a:ln/>
        </p:spPr>
      </p:sp>
      <p:sp>
        <p:nvSpPr>
          <p:cNvPr id="6" name="badge"/>
          <p:cNvSpPr/>
          <p:nvPr/>
        </p:nvSpPr>
        <p:spPr>
          <a:xfrm>
            <a:off x="565469" y="1691640"/>
            <a:ext cx="365760" cy="365760"/>
          </a:xfrm>
          <a:prstGeom prst="ellipse">
            <a:avLst/>
          </a:prstGeom>
          <a:solidFill>
            <a:srgbClr val="CB2420"/>
          </a:solidFill>
          <a:ln/>
        </p:spPr>
      </p:sp>
      <p:sp>
        <p:nvSpPr>
          <p:cNvPr id="7" name="Text 4"/>
          <p:cNvSpPr txBox="1"/>
          <p:nvPr/>
        </p:nvSpPr>
        <p:spPr>
          <a:xfrm>
            <a:off x="565469" y="169164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1</a:t>
            </a:r>
            <a:endParaRPr lang="ja-JP" sz="1400" dirty="0"/>
          </a:p>
        </p:txBody>
      </p:sp>
      <p:sp>
        <p:nvSpPr>
          <p:cNvPr id="8" name="Text 5"/>
          <p:cNvSpPr txBox="1"/>
          <p:nvPr/>
        </p:nvSpPr>
        <p:spPr>
          <a:xfrm>
            <a:off x="1010358" y="1645920"/>
            <a:ext cx="1384906" cy="457200"/>
          </a:xfrm>
          <a:prstGeom prst="rect">
            <a:avLst/>
          </a:prstGeom>
          <a:noFill/>
          <a:ln/>
        </p:spPr>
        <p:txBody>
          <a:bodyPr wrap="square" lIns="0" tIns="0" rIns="0" bIns="0" rtlCol="0" anchor="ctr"/>
          <a:lstStyle/>
          <a:p>
            <a:pPr indent="0" marL="0">
              <a:buNone/>
            </a:pPr>
            <a:r>
              <a:rPr lang="ja-JP" altLang="en-US" sz="1300" b="1" dirty="0">
                <a:solidFill>
                  <a:srgbClr val="000000"/>
                </a:solidFill>
              </a:rPr>
              <a:t>金額を復元</a:t>
            </a:r>
            <a:endParaRPr lang="ja-JP" sz="1300" dirty="0"/>
          </a:p>
        </p:txBody>
      </p:sp>
      <p:sp>
        <p:nvSpPr>
          <p:cNvPr id="9" name="Text 6"/>
          <p:cNvSpPr txBox="1"/>
          <p:nvPr/>
        </p:nvSpPr>
        <p:spPr>
          <a:xfrm>
            <a:off x="561200" y="2194560"/>
            <a:ext cx="1796634" cy="594360"/>
          </a:xfrm>
          <a:prstGeom prst="rect">
            <a:avLst/>
          </a:prstGeom>
          <a:noFill/>
          <a:ln/>
        </p:spPr>
        <p:txBody>
          <a:bodyPr wrap="square" lIns="0" tIns="0" rIns="0" bIns="0" rtlCol="0" anchor="t"/>
          <a:lstStyle/>
          <a:p>
            <a:pPr indent="0" marL="0">
              <a:buNone/>
            </a:pPr>
            <a:r>
              <a:rPr lang="ja-JP" altLang="en-US" sz="1100" dirty="0">
                <a:solidFill>
                  <a:srgbClr val="000000"/>
                </a:solidFill>
              </a:rPr>
              <a:t>core の比率 × 時価総額（または総資産・負債）で 13 項目の金額へ</a:t>
            </a:r>
            <a:endParaRPr lang="ja-JP" sz="1100" dirty="0"/>
          </a:p>
        </p:txBody>
      </p:sp>
      <p:sp>
        <p:nvSpPr>
          <p:cNvPr id="10" name="arrow"/>
          <p:cNvSpPr/>
          <p:nvPr/>
        </p:nvSpPr>
        <p:spPr>
          <a:xfrm>
            <a:off x="2564073" y="2057400"/>
            <a:ext cx="119776" cy="274320"/>
          </a:xfrm>
          <a:prstGeom prst="chevron">
            <a:avLst/>
          </a:prstGeom>
          <a:solidFill>
            <a:srgbClr val="737374"/>
          </a:solidFill>
          <a:ln/>
        </p:spPr>
      </p:sp>
      <p:sp>
        <p:nvSpPr>
          <p:cNvPr id="11" name="card"/>
          <p:cNvSpPr/>
          <p:nvPr/>
        </p:nvSpPr>
        <p:spPr>
          <a:xfrm>
            <a:off x="2740367" y="1508760"/>
            <a:ext cx="2096073" cy="1371600"/>
          </a:xfrm>
          <a:prstGeom prst="roundRect">
            <a:avLst>
              <a:gd name="adj" fmla="val 4000"/>
            </a:avLst>
          </a:prstGeom>
          <a:solidFill>
            <a:srgbClr val="F2F2F2"/>
          </a:solidFill>
          <a:ln/>
        </p:spPr>
      </p:sp>
      <p:sp>
        <p:nvSpPr>
          <p:cNvPr id="12" name="badge"/>
          <p:cNvSpPr/>
          <p:nvPr/>
        </p:nvSpPr>
        <p:spPr>
          <a:xfrm>
            <a:off x="2894356" y="1691640"/>
            <a:ext cx="365760" cy="365760"/>
          </a:xfrm>
          <a:prstGeom prst="ellipse">
            <a:avLst/>
          </a:prstGeom>
          <a:solidFill>
            <a:srgbClr val="CB2420"/>
          </a:solidFill>
          <a:ln/>
        </p:spPr>
      </p:sp>
      <p:sp>
        <p:nvSpPr>
          <p:cNvPr id="13" name="Text 10"/>
          <p:cNvSpPr txBox="1"/>
          <p:nvPr/>
        </p:nvSpPr>
        <p:spPr>
          <a:xfrm>
            <a:off x="2894356" y="169164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2</a:t>
            </a:r>
            <a:endParaRPr lang="ja-JP" sz="1400" dirty="0"/>
          </a:p>
        </p:txBody>
      </p:sp>
      <p:sp>
        <p:nvSpPr>
          <p:cNvPr id="14" name="Text 11"/>
          <p:cNvSpPr txBox="1"/>
          <p:nvPr/>
        </p:nvSpPr>
        <p:spPr>
          <a:xfrm>
            <a:off x="3339245" y="1645920"/>
            <a:ext cx="1384906" cy="457200"/>
          </a:xfrm>
          <a:prstGeom prst="rect">
            <a:avLst/>
          </a:prstGeom>
          <a:noFill/>
          <a:ln/>
        </p:spPr>
        <p:txBody>
          <a:bodyPr wrap="square" lIns="0" tIns="0" rIns="0" bIns="0" rtlCol="0" anchor="ctr"/>
          <a:lstStyle/>
          <a:p>
            <a:pPr indent="0" marL="0">
              <a:buNone/>
            </a:pPr>
            <a:r>
              <a:rPr lang="ja-JP" altLang="en-US" sz="1300" b="1" dirty="0">
                <a:solidFill>
                  <a:srgbClr val="000000"/>
                </a:solidFill>
              </a:rPr>
              <a:t>外れ値処理</a:t>
            </a:r>
            <a:endParaRPr lang="ja-JP" sz="1300" dirty="0"/>
          </a:p>
        </p:txBody>
      </p:sp>
      <p:sp>
        <p:nvSpPr>
          <p:cNvPr id="15" name="Text 12"/>
          <p:cNvSpPr txBox="1"/>
          <p:nvPr/>
        </p:nvSpPr>
        <p:spPr>
          <a:xfrm>
            <a:off x="2890087" y="2194560"/>
            <a:ext cx="1796634" cy="594360"/>
          </a:xfrm>
          <a:prstGeom prst="rect">
            <a:avLst/>
          </a:prstGeom>
          <a:noFill/>
          <a:ln/>
        </p:spPr>
        <p:txBody>
          <a:bodyPr wrap="square" lIns="0" tIns="0" rIns="0" bIns="0" rtlCol="0" anchor="t"/>
          <a:lstStyle/>
          <a:p>
            <a:pPr indent="0" marL="0">
              <a:buNone/>
            </a:pPr>
            <a:r>
              <a:rPr lang="ja-JP" altLang="en-US" sz="1100" dirty="0">
                <a:solidFill>
                  <a:srgbClr val="000000"/>
                </a:solidFill>
              </a:rPr>
              <a:t>総資産比を過去全履歴の 5% / 95% 点でクリップし、総資産を掛け戻す</a:t>
            </a:r>
            <a:endParaRPr lang="ja-JP" sz="1100" dirty="0"/>
          </a:p>
        </p:txBody>
      </p:sp>
      <p:sp>
        <p:nvSpPr>
          <p:cNvPr id="16" name="arrow"/>
          <p:cNvSpPr/>
          <p:nvPr/>
        </p:nvSpPr>
        <p:spPr>
          <a:xfrm>
            <a:off x="4892960" y="2057400"/>
            <a:ext cx="119776" cy="274320"/>
          </a:xfrm>
          <a:prstGeom prst="chevron">
            <a:avLst/>
          </a:prstGeom>
          <a:solidFill>
            <a:srgbClr val="737374"/>
          </a:solidFill>
          <a:ln/>
        </p:spPr>
      </p:sp>
      <p:sp>
        <p:nvSpPr>
          <p:cNvPr id="17" name="card"/>
          <p:cNvSpPr/>
          <p:nvPr/>
        </p:nvSpPr>
        <p:spPr>
          <a:xfrm>
            <a:off x="5069255" y="1508760"/>
            <a:ext cx="2096073" cy="1371600"/>
          </a:xfrm>
          <a:prstGeom prst="roundRect">
            <a:avLst>
              <a:gd name="adj" fmla="val 4000"/>
            </a:avLst>
          </a:prstGeom>
          <a:solidFill>
            <a:srgbClr val="F2F2F2"/>
          </a:solidFill>
          <a:ln/>
        </p:spPr>
      </p:sp>
      <p:sp>
        <p:nvSpPr>
          <p:cNvPr id="18" name="badge"/>
          <p:cNvSpPr/>
          <p:nvPr/>
        </p:nvSpPr>
        <p:spPr>
          <a:xfrm>
            <a:off x="5223243" y="1691640"/>
            <a:ext cx="365760" cy="365760"/>
          </a:xfrm>
          <a:prstGeom prst="ellipse">
            <a:avLst/>
          </a:prstGeom>
          <a:solidFill>
            <a:srgbClr val="CB2420"/>
          </a:solidFill>
          <a:ln/>
        </p:spPr>
      </p:sp>
      <p:sp>
        <p:nvSpPr>
          <p:cNvPr id="19" name="Text 16"/>
          <p:cNvSpPr txBox="1"/>
          <p:nvPr/>
        </p:nvSpPr>
        <p:spPr>
          <a:xfrm>
            <a:off x="5223243" y="169164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3</a:t>
            </a:r>
            <a:endParaRPr lang="ja-JP" sz="1400" dirty="0"/>
          </a:p>
        </p:txBody>
      </p:sp>
      <p:sp>
        <p:nvSpPr>
          <p:cNvPr id="20" name="Text 17"/>
          <p:cNvSpPr txBox="1"/>
          <p:nvPr/>
        </p:nvSpPr>
        <p:spPr>
          <a:xfrm>
            <a:off x="5668133" y="1645920"/>
            <a:ext cx="1384906" cy="457200"/>
          </a:xfrm>
          <a:prstGeom prst="rect">
            <a:avLst/>
          </a:prstGeom>
          <a:noFill/>
          <a:ln/>
        </p:spPr>
        <p:txBody>
          <a:bodyPr wrap="square" lIns="0" tIns="0" rIns="0" bIns="0" rtlCol="0" anchor="ctr"/>
          <a:lstStyle/>
          <a:p>
            <a:pPr indent="0" marL="0">
              <a:buNone/>
            </a:pPr>
            <a:r>
              <a:rPr lang="ja-JP" altLang="en-US" sz="1300" b="1" dirty="0">
                <a:solidFill>
                  <a:srgbClr val="000000"/>
                </a:solidFill>
              </a:rPr>
              <a:t>公正価値を推定</a:t>
            </a:r>
            <a:endParaRPr lang="ja-JP" sz="1300" dirty="0"/>
          </a:p>
        </p:txBody>
      </p:sp>
      <p:sp>
        <p:nvSpPr>
          <p:cNvPr id="21" name="Text 18"/>
          <p:cNvSpPr txBox="1"/>
          <p:nvPr/>
        </p:nvSpPr>
        <p:spPr>
          <a:xfrm>
            <a:off x="5218974" y="2194560"/>
            <a:ext cx="1796634" cy="594360"/>
          </a:xfrm>
          <a:prstGeom prst="rect">
            <a:avLst/>
          </a:prstGeom>
          <a:noFill/>
          <a:ln/>
        </p:spPr>
        <p:txBody>
          <a:bodyPr wrap="square" lIns="0" tIns="0" rIns="0" bIns="0" rtlCol="0" anchor="t"/>
          <a:lstStyle/>
          <a:p>
            <a:pPr indent="0" marL="0">
              <a:buNone/>
            </a:pPr>
            <a:r>
              <a:rPr lang="ja-JP" altLang="en-US" sz="1100" dirty="0">
                <a:solidFill>
                  <a:srgbClr val="000000"/>
                </a:solidFill>
              </a:rPr>
              <a:t>毎月、非金融銘柄で時価総額を財務の金額に回帰（7 通り）</a:t>
            </a:r>
            <a:endParaRPr lang="ja-JP" sz="1100" dirty="0"/>
          </a:p>
        </p:txBody>
      </p:sp>
      <p:sp>
        <p:nvSpPr>
          <p:cNvPr id="22" name="arrow"/>
          <p:cNvSpPr/>
          <p:nvPr/>
        </p:nvSpPr>
        <p:spPr>
          <a:xfrm>
            <a:off x="7221847" y="2057400"/>
            <a:ext cx="119776" cy="274320"/>
          </a:xfrm>
          <a:prstGeom prst="chevron">
            <a:avLst/>
          </a:prstGeom>
          <a:solidFill>
            <a:srgbClr val="737374"/>
          </a:solidFill>
          <a:ln/>
        </p:spPr>
      </p:sp>
      <p:sp>
        <p:nvSpPr>
          <p:cNvPr id="23" name="card"/>
          <p:cNvSpPr/>
          <p:nvPr/>
        </p:nvSpPr>
        <p:spPr>
          <a:xfrm>
            <a:off x="7398142" y="1508760"/>
            <a:ext cx="2096073" cy="1371600"/>
          </a:xfrm>
          <a:prstGeom prst="roundRect">
            <a:avLst>
              <a:gd name="adj" fmla="val 4000"/>
            </a:avLst>
          </a:prstGeom>
          <a:solidFill>
            <a:srgbClr val="F2F2F2"/>
          </a:solidFill>
          <a:ln/>
        </p:spPr>
      </p:sp>
      <p:sp>
        <p:nvSpPr>
          <p:cNvPr id="24" name="badge"/>
          <p:cNvSpPr/>
          <p:nvPr/>
        </p:nvSpPr>
        <p:spPr>
          <a:xfrm>
            <a:off x="7552131" y="1691640"/>
            <a:ext cx="365760" cy="365760"/>
          </a:xfrm>
          <a:prstGeom prst="ellipse">
            <a:avLst/>
          </a:prstGeom>
          <a:solidFill>
            <a:srgbClr val="CB2420"/>
          </a:solidFill>
          <a:ln/>
        </p:spPr>
      </p:sp>
      <p:sp>
        <p:nvSpPr>
          <p:cNvPr id="25" name="Text 22"/>
          <p:cNvSpPr txBox="1"/>
          <p:nvPr/>
        </p:nvSpPr>
        <p:spPr>
          <a:xfrm>
            <a:off x="7552131" y="169164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4</a:t>
            </a:r>
            <a:endParaRPr lang="ja-JP" sz="1400" dirty="0"/>
          </a:p>
        </p:txBody>
      </p:sp>
      <p:sp>
        <p:nvSpPr>
          <p:cNvPr id="26" name="Text 23"/>
          <p:cNvSpPr txBox="1"/>
          <p:nvPr/>
        </p:nvSpPr>
        <p:spPr>
          <a:xfrm>
            <a:off x="7997020" y="1645920"/>
            <a:ext cx="1384906" cy="457200"/>
          </a:xfrm>
          <a:prstGeom prst="rect">
            <a:avLst/>
          </a:prstGeom>
          <a:noFill/>
          <a:ln/>
        </p:spPr>
        <p:txBody>
          <a:bodyPr wrap="square" lIns="0" tIns="0" rIns="0" bIns="0" rtlCol="0" anchor="ctr"/>
          <a:lstStyle/>
          <a:p>
            <a:pPr indent="0" marL="0">
              <a:buNone/>
            </a:pPr>
            <a:r>
              <a:rPr lang="ja-JP" altLang="en-US" sz="1300" b="1" dirty="0">
                <a:solidFill>
                  <a:srgbClr val="000000"/>
                </a:solidFill>
              </a:rPr>
              <a:t>スコア化</a:t>
            </a:r>
            <a:endParaRPr lang="ja-JP" sz="1300" dirty="0"/>
          </a:p>
        </p:txBody>
      </p:sp>
      <p:sp>
        <p:nvSpPr>
          <p:cNvPr id="27" name="Text 24"/>
          <p:cNvSpPr txBox="1"/>
          <p:nvPr/>
        </p:nvSpPr>
        <p:spPr>
          <a:xfrm>
            <a:off x="7547861" y="2194560"/>
            <a:ext cx="1796634" cy="594360"/>
          </a:xfrm>
          <a:prstGeom prst="rect">
            <a:avLst/>
          </a:prstGeom>
          <a:noFill/>
          <a:ln/>
        </p:spPr>
        <p:txBody>
          <a:bodyPr wrap="square" lIns="0" tIns="0" rIns="0" bIns="0" rtlCol="0" anchor="t"/>
          <a:lstStyle/>
          <a:p>
            <a:pPr indent="0" marL="0">
              <a:buNone/>
            </a:pPr>
            <a:r>
              <a:rPr lang="ja-JP" altLang="en-US" sz="1100" dirty="0">
                <a:solidFill>
                  <a:srgbClr val="000000"/>
                </a:solidFill>
              </a:rPr>
              <a:t>M = (P − V) / V を Blom 正規スコア化。高いほど割安</a:t>
            </a:r>
            <a:endParaRPr lang="ja-JP"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3063240"/>
          <a:ext cx="4417849" cy="914400"/>
        </p:xfrm>
        <a:graphic>
          <a:graphicData uri="http://schemas.openxmlformats.org/drawingml/2006/table">
            <a:tbl>
              <a:tblPr/>
              <a:tblGrid>
                <a:gridCol w="935747"/>
                <a:gridCol w="1871494"/>
                <a:gridCol w="1610608"/>
              </a:tblGrid>
              <a:tr h="301752">
                <a:tc>
                  <a:txBody>
                    <a:bodyPr/>
                    <a:lstStyle/>
                    <a:p>
                      <a:pPr algn="ctr" indent="0" marL="0">
                        <a:buNone/>
                      </a:pPr>
                      <a:r>
                        <a:rPr lang="ja-JP" altLang="en-US" sz="1050" b="1" dirty="0">
                          <a:solidFill>
                            <a:srgbClr val="FFFFFF"/>
                          </a:solidFill>
                        </a:rPr>
                        <a:t>項目</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内容</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復元式</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301752">
                <a:tc>
                  <a:txBody>
                    <a:bodyPr/>
                    <a:lstStyle/>
                    <a:p>
                      <a:pPr algn="l" indent="0" marL="0">
                        <a:buNone/>
                      </a:pPr>
                      <a:r>
                        <a:rPr lang="ja-JP" altLang="en-US" sz="1050" dirty="0">
                          <a:solidFill>
                            <a:srgbClr val="000000"/>
                          </a:solidFill>
                        </a:rPr>
                        <a:t>TL</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負債合計</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MV ÷ mve_tl</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総資産</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TL ÷ tl_ta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01752">
                <a:tc>
                  <a:txBody>
                    <a:bodyPr/>
                    <a:lstStyle/>
                    <a:p>
                      <a:pPr algn="l" indent="0" marL="0">
                        <a:buNone/>
                      </a:pPr>
                      <a:r>
                        <a:rPr lang="ja-JP" altLang="en-US" sz="1050" dirty="0">
                          <a:solidFill>
                            <a:srgbClr val="000000"/>
                          </a:solidFill>
                        </a:rPr>
                        <a:t>be</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簿価（株主資本）</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bp_act × MV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ni</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純利益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ep_act × MV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01752">
                <a:tc>
                  <a:txBody>
                    <a:bodyPr/>
                    <a:lstStyle/>
                    <a:p>
                      <a:pPr algn="l" indent="0" marL="0">
                        <a:buNone/>
                      </a:pPr>
                      <a:r>
                        <a:rPr lang="ja-JP" altLang="en-US" sz="1050" dirty="0">
                          <a:solidFill>
                            <a:srgbClr val="000000"/>
                          </a:solidFill>
                        </a:rPr>
                        <a:t>sales</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売上高</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sp_act × MV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cfe</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キャッシュ利益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cfp_act × MV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01752">
                <a:tc>
                  <a:txBody>
                    <a:bodyPr/>
                    <a:lstStyle/>
                    <a:p>
                      <a:pPr algn="l" indent="0" marL="0">
                        <a:buNone/>
                      </a:pPr>
                      <a:r>
                        <a:rPr lang="ja-JP" altLang="en-US" sz="1050" dirty="0">
                          <a:solidFill>
                            <a:srgbClr val="000000"/>
                          </a:solidFill>
                        </a:rPr>
                        <a:t>ocf</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営業 CF</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ocfp × MV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div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配当</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dp_act × MV</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5076366" y="3063240"/>
          <a:ext cx="4417849" cy="914400"/>
        </p:xfrm>
        <a:graphic>
          <a:graphicData uri="http://schemas.openxmlformats.org/drawingml/2006/table">
            <a:tbl>
              <a:tblPr/>
              <a:tblGrid>
                <a:gridCol w="935747"/>
                <a:gridCol w="1871494"/>
                <a:gridCol w="1610608"/>
              </a:tblGrid>
              <a:tr h="301752">
                <a:tc>
                  <a:txBody>
                    <a:bodyPr/>
                    <a:lstStyle/>
                    <a:p>
                      <a:pPr algn="ctr" indent="0" marL="0">
                        <a:buNone/>
                      </a:pPr>
                      <a:r>
                        <a:rPr lang="ja-JP" altLang="en-US" sz="1050" b="1" dirty="0">
                          <a:solidFill>
                            <a:srgbClr val="FFFFFF"/>
                          </a:solidFill>
                        </a:rPr>
                        <a:t>項目</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内容</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復元式</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301752">
                <a:tc>
                  <a:txBody>
                    <a:bodyPr/>
                    <a:lstStyle/>
                    <a:p>
                      <a:pPr algn="l" indent="0" marL="0">
                        <a:buNone/>
                      </a:pPr>
                      <a:r>
                        <a:rPr lang="ja-JP" altLang="en-US" sz="1050" dirty="0">
                          <a:solidFill>
                            <a:srgbClr val="000000"/>
                          </a:solidFill>
                        </a:rPr>
                        <a:t>td</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有利子負債</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td_ta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re</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利益剰余金</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re_ta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01752">
                <a:tc>
                  <a:txBody>
                    <a:bodyPr/>
                    <a:lstStyle/>
                    <a:p>
                      <a:pPr algn="l" indent="0" marL="0">
                        <a:buNone/>
                      </a:pPr>
                      <a:r>
                        <a:rPr lang="ja-JP" altLang="en-US" sz="1050" dirty="0">
                          <a:solidFill>
                            <a:srgbClr val="000000"/>
                          </a:solidFill>
                        </a:rPr>
                        <a:t>wk</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運転資本</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wk_ta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ebit</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EBIT</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ebit_ta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01752">
                <a:tc>
                  <a:txBody>
                    <a:bodyPr/>
                    <a:lstStyle/>
                    <a:p>
                      <a:pPr algn="l" indent="0" marL="0">
                        <a:buNone/>
                      </a:pPr>
                      <a:r>
                        <a:rPr lang="ja-JP" altLang="en-US" sz="1050" dirty="0">
                          <a:solidFill>
                            <a:srgbClr val="000000"/>
                          </a:solidFill>
                        </a:rPr>
                        <a:t>gp</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売上総利益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gpa_act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ja-JP" altLang="en-US" sz="1050" dirty="0">
                          <a:solidFill>
                            <a:srgbClr val="000000"/>
                          </a:solidFill>
                        </a:rPr>
                        <a:t>sga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販管費</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sga_ta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01752">
                <a:tc>
                  <a:txBody>
                    <a:bodyPr/>
                    <a:lstStyle/>
                    <a:p>
                      <a:pPr algn="l" indent="0" marL="0">
                        <a:buNone/>
                      </a:pPr>
                      <a:r>
                        <a:rPr lang="ja-JP" altLang="en-US" sz="1050" dirty="0">
                          <a:solidFill>
                            <a:srgbClr val="000000"/>
                          </a:solidFill>
                        </a:rPr>
                        <a:t>pti</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税引前利益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pti_tl × TL</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30" name="Text 25"/>
          <p:cNvSpPr txBox="1"/>
          <p:nvPr/>
        </p:nvSpPr>
        <p:spPr>
          <a:xfrm>
            <a:off x="411480" y="5943600"/>
            <a:ext cx="9082735" cy="411480"/>
          </a:xfrm>
          <a:prstGeom prst="rect">
            <a:avLst/>
          </a:prstGeom>
          <a:noFill/>
          <a:ln/>
        </p:spPr>
        <p:txBody>
          <a:bodyPr wrap="square" lIns="0" tIns="0" rIns="0" bIns="0" rtlCol="0" anchor="t"/>
          <a:lstStyle/>
          <a:p>
            <a:pPr indent="0" marL="0">
              <a:buNone/>
            </a:pPr>
            <a:r>
              <a:rPr lang="ja-JP" altLang="en-US" sz="950" dirty="0">
                <a:solidFill>
                  <a:srgbClr val="737374"/>
                </a:solidFill>
              </a:rPr>
              <a:t>MV = 時価総額。財務は年次決算（*_act、3 月期決算の発表後に主に 5〜7 月更新）。売上は sales_ta が 2013〜2020 年に一部壊れているため sp_act から復元。FCF は 2019 年に大量欠損するため不使用</a:t>
            </a:r>
            <a:endParaRPr lang="ja-JP" sz="95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Agnostic｜手法 2  公正価値とスコアの式</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時価総額を財務の金額に回帰した予測値を公正価値とし、乖離率をスコアにする</a:t>
            </a:r>
            <a:endParaRPr lang="ja-JP" sz="1500" dirty="0"/>
          </a:p>
        </p:txBody>
      </p:sp>
      <p:sp>
        <p:nvSpPr>
          <p:cNvPr id="5" name="Text 2"/>
          <p:cNvSpPr txBox="1"/>
          <p:nvPr/>
        </p:nvSpPr>
        <p:spPr>
          <a:xfrm>
            <a:off x="411480" y="1554480"/>
            <a:ext cx="1871494" cy="411480"/>
          </a:xfrm>
          <a:prstGeom prst="rect">
            <a:avLst/>
          </a:prstGeom>
          <a:noFill/>
          <a:ln/>
        </p:spPr>
        <p:txBody>
          <a:bodyPr wrap="square" lIns="0" tIns="0" rIns="0" bIns="0" rtlCol="0" anchor="t"/>
          <a:lstStyle/>
          <a:p>
            <a:pPr indent="0" marL="0">
              <a:buNone/>
            </a:pPr>
            <a:r>
              <a:rPr lang="ja-JP" altLang="en-US" sz="1200" b="1" dirty="0">
                <a:solidFill>
                  <a:srgbClr val="000000"/>
                </a:solidFill>
              </a:rPr>
              <a:t>外れ値処理</a:t>
            </a:r>
            <a:endParaRPr lang="ja-JP" sz="1200" dirty="0"/>
          </a:p>
        </p:txBody>
      </p:sp>
      <p:pic>
        <p:nvPicPr>
          <p:cNvPr id="6" name="Image 0" descr="eq_win">    </p:cNvPr>
          <p:cNvPicPr>
            <a:picLocks noChangeAspect="1"/>
          </p:cNvPicPr>
          <p:nvPr/>
        </p:nvPicPr>
        <p:blipFill>
          <a:blip r:embed="rId1"/>
          <a:stretch>
            <a:fillRect/>
          </a:stretch>
        </p:blipFill>
        <p:spPr>
          <a:xfrm>
            <a:off x="2395264" y="1554480"/>
            <a:ext cx="2587752" cy="414528"/>
          </a:xfrm>
          <a:prstGeom prst="rect">
            <a:avLst/>
          </a:prstGeom>
        </p:spPr>
      </p:pic>
      <p:sp>
        <p:nvSpPr>
          <p:cNvPr id="7" name="Text 3"/>
          <p:cNvSpPr txBox="1"/>
          <p:nvPr/>
        </p:nvSpPr>
        <p:spPr>
          <a:xfrm>
            <a:off x="2395264" y="2023872"/>
            <a:ext cx="7098951" cy="274320"/>
          </a:xfrm>
          <a:prstGeom prst="rect">
            <a:avLst/>
          </a:prstGeom>
          <a:noFill/>
          <a:ln/>
        </p:spPr>
        <p:txBody>
          <a:bodyPr wrap="square" lIns="0" tIns="0" rIns="0" bIns="0" rtlCol="0" anchor="t"/>
          <a:lstStyle/>
          <a:p>
            <a:pPr indent="0" marL="0">
              <a:buNone/>
            </a:pPr>
            <a:r>
              <a:rPr lang="ja-JP" altLang="en-US" sz="1050" dirty="0">
                <a:solidFill>
                  <a:srgbClr val="737374"/>
                </a:solidFill>
              </a:rPr>
              <a:t>q は各項目の総資産比の、月 t までの全履歴（2003 年以降の非金融銘柄）の 5% / 95% 点。先読みなし</a:t>
            </a:r>
            <a:endParaRPr lang="ja-JP" sz="1050" dirty="0"/>
          </a:p>
        </p:txBody>
      </p:sp>
      <p:sp>
        <p:nvSpPr>
          <p:cNvPr id="8" name="rule"/>
          <p:cNvSpPr/>
          <p:nvPr/>
        </p:nvSpPr>
        <p:spPr>
          <a:xfrm>
            <a:off x="411480" y="2316480"/>
            <a:ext cx="9082735" cy="0"/>
          </a:xfrm>
          <a:prstGeom prst="line">
            <a:avLst/>
          </a:prstGeom>
          <a:noFill/>
          <a:ln w="9525">
            <a:solidFill>
              <a:srgbClr val="D9D9D9"/>
            </a:solidFill>
            <a:prstDash val="solid"/>
          </a:ln>
        </p:spPr>
      </p:sp>
      <p:sp>
        <p:nvSpPr>
          <p:cNvPr id="9" name="Text 5"/>
          <p:cNvSpPr txBox="1"/>
          <p:nvPr/>
        </p:nvSpPr>
        <p:spPr>
          <a:xfrm>
            <a:off x="411480" y="2362200"/>
            <a:ext cx="1871494" cy="411480"/>
          </a:xfrm>
          <a:prstGeom prst="rect">
            <a:avLst/>
          </a:prstGeom>
          <a:noFill/>
          <a:ln/>
        </p:spPr>
        <p:txBody>
          <a:bodyPr wrap="square" lIns="0" tIns="0" rIns="0" bIns="0" rtlCol="0" anchor="t"/>
          <a:lstStyle/>
          <a:p>
            <a:pPr indent="0" marL="0">
              <a:buNone/>
            </a:pPr>
            <a:r>
              <a:rPr lang="ja-JP" altLang="en-US" sz="1200" b="1" dirty="0">
                <a:solidFill>
                  <a:srgbClr val="000000"/>
                </a:solidFill>
              </a:rPr>
              <a:t>線形（論文 OLS ほか）</a:t>
            </a:r>
            <a:endParaRPr lang="ja-JP" sz="1200" dirty="0"/>
          </a:p>
        </p:txBody>
      </p:sp>
      <p:pic>
        <p:nvPicPr>
          <p:cNvPr id="10" name="Image 1" descr="eq_lin">    </p:cNvPr>
          <p:cNvPicPr>
            <a:picLocks noChangeAspect="1"/>
          </p:cNvPicPr>
          <p:nvPr/>
        </p:nvPicPr>
        <p:blipFill>
          <a:blip r:embed="rId2"/>
          <a:stretch>
            <a:fillRect/>
          </a:stretch>
        </p:blipFill>
        <p:spPr>
          <a:xfrm>
            <a:off x="2395264" y="2362200"/>
            <a:ext cx="1490472" cy="460248"/>
          </a:xfrm>
          <a:prstGeom prst="rect">
            <a:avLst/>
          </a:prstGeom>
        </p:spPr>
      </p:pic>
      <p:sp>
        <p:nvSpPr>
          <p:cNvPr id="11" name="Text 6"/>
          <p:cNvSpPr txBox="1"/>
          <p:nvPr/>
        </p:nvSpPr>
        <p:spPr>
          <a:xfrm>
            <a:off x="2395264" y="2877312"/>
            <a:ext cx="7098951" cy="274320"/>
          </a:xfrm>
          <a:prstGeom prst="rect">
            <a:avLst/>
          </a:prstGeom>
          <a:noFill/>
          <a:ln/>
        </p:spPr>
        <p:txBody>
          <a:bodyPr wrap="square" lIns="0" tIns="0" rIns="0" bIns="0" rtlCol="0" anchor="t"/>
          <a:lstStyle/>
          <a:p>
            <a:pPr indent="0" marL="0">
              <a:buNone/>
            </a:pPr>
            <a:r>
              <a:rPr lang="ja-JP" altLang="en-US" sz="1050" dirty="0">
                <a:solidFill>
                  <a:srgbClr val="737374"/>
                </a:solidFill>
              </a:rPr>
              <a:t>毎月、非金融銘柄（各月 100 銘柄以上、平均約 270）の横断面回帰。X は TA・TL と 13 項目の金額</a:t>
            </a:r>
            <a:endParaRPr lang="ja-JP" sz="1050" dirty="0"/>
          </a:p>
        </p:txBody>
      </p:sp>
      <p:sp>
        <p:nvSpPr>
          <p:cNvPr id="12" name="rule"/>
          <p:cNvSpPr/>
          <p:nvPr/>
        </p:nvSpPr>
        <p:spPr>
          <a:xfrm>
            <a:off x="411480" y="3124200"/>
            <a:ext cx="9082735" cy="0"/>
          </a:xfrm>
          <a:prstGeom prst="line">
            <a:avLst/>
          </a:prstGeom>
          <a:noFill/>
          <a:ln w="9525">
            <a:solidFill>
              <a:srgbClr val="D9D9D9"/>
            </a:solidFill>
            <a:prstDash val="solid"/>
          </a:ln>
        </p:spPr>
      </p:sp>
      <p:sp>
        <p:nvSpPr>
          <p:cNvPr id="13" name="Text 8"/>
          <p:cNvSpPr txBox="1"/>
          <p:nvPr/>
        </p:nvSpPr>
        <p:spPr>
          <a:xfrm>
            <a:off x="411480" y="3169920"/>
            <a:ext cx="1871494" cy="411480"/>
          </a:xfrm>
          <a:prstGeom prst="rect">
            <a:avLst/>
          </a:prstGeom>
          <a:noFill/>
          <a:ln/>
        </p:spPr>
        <p:txBody>
          <a:bodyPr wrap="square" lIns="0" tIns="0" rIns="0" bIns="0" rtlCol="0" anchor="t"/>
          <a:lstStyle/>
          <a:p>
            <a:pPr indent="0" marL="0">
              <a:buNone/>
            </a:pPr>
            <a:r>
              <a:rPr lang="ja-JP" altLang="en-US" sz="1200" b="1" dirty="0">
                <a:solidFill>
                  <a:srgbClr val="000000"/>
                </a:solidFill>
              </a:rPr>
              <a:t>Theil–Sen 型</a:t>
            </a:r>
            <a:endParaRPr lang="ja-JP" sz="1200" dirty="0"/>
          </a:p>
        </p:txBody>
      </p:sp>
      <p:pic>
        <p:nvPicPr>
          <p:cNvPr id="14" name="Image 2" descr="eq_ts">    </p:cNvPr>
          <p:cNvPicPr>
            <a:picLocks noChangeAspect="1"/>
          </p:cNvPicPr>
          <p:nvPr/>
        </p:nvPicPr>
        <p:blipFill>
          <a:blip r:embed="rId3"/>
          <a:stretch>
            <a:fillRect/>
          </a:stretch>
        </p:blipFill>
        <p:spPr>
          <a:xfrm>
            <a:off x="2395264" y="3169920"/>
            <a:ext cx="5391912" cy="381000"/>
          </a:xfrm>
          <a:prstGeom prst="rect">
            <a:avLst/>
          </a:prstGeom>
        </p:spPr>
      </p:pic>
      <p:sp>
        <p:nvSpPr>
          <p:cNvPr id="15" name="Text 9"/>
          <p:cNvSpPr txBox="1"/>
          <p:nvPr/>
        </p:nvSpPr>
        <p:spPr>
          <a:xfrm>
            <a:off x="2395264" y="3605784"/>
            <a:ext cx="7098951" cy="274320"/>
          </a:xfrm>
          <a:prstGeom prst="rect">
            <a:avLst/>
          </a:prstGeom>
          <a:noFill/>
          <a:ln/>
        </p:spPr>
        <p:txBody>
          <a:bodyPr wrap="square" lIns="0" tIns="0" rIns="0" bIns="0" rtlCol="0" anchor="t"/>
          <a:lstStyle/>
          <a:p>
            <a:pPr indent="0" marL="0">
              <a:buNone/>
            </a:pPr>
            <a:r>
              <a:rPr lang="ja-JP" altLang="en-US" sz="1050" dirty="0">
                <a:solidFill>
                  <a:srgbClr val="737374"/>
                </a:solidFill>
              </a:rPr>
              <a:t>外れ値に頑健。学習に使った銘柄そのものも予測する（in-sample、論文は 10 万回）</a:t>
            </a:r>
            <a:endParaRPr lang="ja-JP" sz="1050" dirty="0"/>
          </a:p>
        </p:txBody>
      </p:sp>
      <p:sp>
        <p:nvSpPr>
          <p:cNvPr id="16" name="rule"/>
          <p:cNvSpPr/>
          <p:nvPr/>
        </p:nvSpPr>
        <p:spPr>
          <a:xfrm>
            <a:off x="411480" y="3931920"/>
            <a:ext cx="9082735" cy="0"/>
          </a:xfrm>
          <a:prstGeom prst="line">
            <a:avLst/>
          </a:prstGeom>
          <a:noFill/>
          <a:ln w="9525">
            <a:solidFill>
              <a:srgbClr val="D9D9D9"/>
            </a:solidFill>
            <a:prstDash val="solid"/>
          </a:ln>
        </p:spPr>
      </p:sp>
      <p:sp>
        <p:nvSpPr>
          <p:cNvPr id="17" name="Text 11"/>
          <p:cNvSpPr txBox="1"/>
          <p:nvPr/>
        </p:nvSpPr>
        <p:spPr>
          <a:xfrm>
            <a:off x="411480" y="3977640"/>
            <a:ext cx="1871494" cy="411480"/>
          </a:xfrm>
          <a:prstGeom prst="rect">
            <a:avLst/>
          </a:prstGeom>
          <a:noFill/>
          <a:ln/>
        </p:spPr>
        <p:txBody>
          <a:bodyPr wrap="square" lIns="0" tIns="0" rIns="0" bIns="0" rtlCol="0" anchor="t"/>
          <a:lstStyle/>
          <a:p>
            <a:pPr indent="0" marL="0">
              <a:buNone/>
            </a:pPr>
            <a:r>
              <a:rPr lang="ja-JP" altLang="en-US" sz="1200" b="1" dirty="0">
                <a:solidFill>
                  <a:srgbClr val="000000"/>
                </a:solidFill>
              </a:rPr>
              <a:t>交差推定</a:t>
            </a:r>
            <a:endParaRPr lang="ja-JP" sz="1200" dirty="0"/>
          </a:p>
        </p:txBody>
      </p:sp>
      <p:pic>
        <p:nvPicPr>
          <p:cNvPr id="18" name="Image 3" descr="eq_cf">    </p:cNvPr>
          <p:cNvPicPr>
            <a:picLocks noChangeAspect="1"/>
          </p:cNvPicPr>
          <p:nvPr/>
        </p:nvPicPr>
        <p:blipFill>
          <a:blip r:embed="rId4"/>
          <a:stretch>
            <a:fillRect/>
          </a:stretch>
        </p:blipFill>
        <p:spPr>
          <a:xfrm>
            <a:off x="2395264" y="3977640"/>
            <a:ext cx="3685032" cy="259080"/>
          </a:xfrm>
          <a:prstGeom prst="rect">
            <a:avLst/>
          </a:prstGeom>
        </p:spPr>
      </p:pic>
      <p:sp>
        <p:nvSpPr>
          <p:cNvPr id="19" name="Text 12"/>
          <p:cNvSpPr txBox="1"/>
          <p:nvPr/>
        </p:nvSpPr>
        <p:spPr>
          <a:xfrm>
            <a:off x="2395264" y="4291584"/>
            <a:ext cx="7098951" cy="393192"/>
          </a:xfrm>
          <a:prstGeom prst="rect">
            <a:avLst/>
          </a:prstGeom>
          <a:noFill/>
          <a:ln/>
        </p:spPr>
        <p:txBody>
          <a:bodyPr wrap="square" lIns="0" tIns="0" rIns="0" bIns="0" rtlCol="0" anchor="t"/>
          <a:lstStyle/>
          <a:p>
            <a:pPr indent="0" marL="0">
              <a:buNone/>
            </a:pPr>
            <a:r>
              <a:rPr lang="ja-JP" altLang="en-US" sz="1050" dirty="0">
                <a:solidFill>
                  <a:srgbClr val="737374"/>
                </a:solidFill>
              </a:rPr>
              <a:t>OLS・Ridge・Lasso・RF・LightGBM は 5 分割。自分を含まない 4/5 の銘柄で学習した f で予測</a:t>
            </a:r>
            <a:endParaRPr lang="ja-JP" sz="1050" dirty="0"/>
          </a:p>
        </p:txBody>
      </p:sp>
      <p:sp>
        <p:nvSpPr>
          <p:cNvPr id="20" name="rule"/>
          <p:cNvSpPr/>
          <p:nvPr/>
        </p:nvSpPr>
        <p:spPr>
          <a:xfrm>
            <a:off x="411480" y="4739640"/>
            <a:ext cx="9082735" cy="0"/>
          </a:xfrm>
          <a:prstGeom prst="line">
            <a:avLst/>
          </a:prstGeom>
          <a:noFill/>
          <a:ln w="9525">
            <a:solidFill>
              <a:srgbClr val="D9D9D9"/>
            </a:solidFill>
            <a:prstDash val="solid"/>
          </a:ln>
        </p:spPr>
      </p:sp>
      <p:sp>
        <p:nvSpPr>
          <p:cNvPr id="21" name="Text 14"/>
          <p:cNvSpPr txBox="1"/>
          <p:nvPr/>
        </p:nvSpPr>
        <p:spPr>
          <a:xfrm>
            <a:off x="411480" y="4785360"/>
            <a:ext cx="1871494" cy="411480"/>
          </a:xfrm>
          <a:prstGeom prst="rect">
            <a:avLst/>
          </a:prstGeom>
          <a:noFill/>
          <a:ln/>
        </p:spPr>
        <p:txBody>
          <a:bodyPr wrap="square" lIns="0" tIns="0" rIns="0" bIns="0" rtlCol="0" anchor="t"/>
          <a:lstStyle/>
          <a:p>
            <a:pPr indent="0" marL="0">
              <a:buNone/>
            </a:pPr>
            <a:r>
              <a:rPr lang="ja-JP" altLang="en-US" sz="1200" b="1" dirty="0">
                <a:solidFill>
                  <a:srgbClr val="000000"/>
                </a:solidFill>
              </a:rPr>
              <a:t>木（RF・LightGBM）</a:t>
            </a:r>
            <a:endParaRPr lang="ja-JP" sz="1200" dirty="0"/>
          </a:p>
        </p:txBody>
      </p:sp>
      <p:pic>
        <p:nvPicPr>
          <p:cNvPr id="22" name="Image 4" descr="eq_tree">    </p:cNvPr>
          <p:cNvPicPr>
            <a:picLocks noChangeAspect="1"/>
          </p:cNvPicPr>
          <p:nvPr/>
        </p:nvPicPr>
        <p:blipFill>
          <a:blip r:embed="rId5"/>
          <a:stretch>
            <a:fillRect/>
          </a:stretch>
        </p:blipFill>
        <p:spPr>
          <a:xfrm>
            <a:off x="2395264" y="4785360"/>
            <a:ext cx="3407664" cy="341376"/>
          </a:xfrm>
          <a:prstGeom prst="rect">
            <a:avLst/>
          </a:prstGeom>
        </p:spPr>
      </p:pic>
      <p:sp>
        <p:nvSpPr>
          <p:cNvPr id="23" name="Text 15"/>
          <p:cNvSpPr txBox="1"/>
          <p:nvPr/>
        </p:nvSpPr>
        <p:spPr>
          <a:xfrm>
            <a:off x="2395264" y="5181600"/>
            <a:ext cx="7098951" cy="310896"/>
          </a:xfrm>
          <a:prstGeom prst="rect">
            <a:avLst/>
          </a:prstGeom>
          <a:noFill/>
          <a:ln/>
        </p:spPr>
        <p:txBody>
          <a:bodyPr wrap="square" lIns="0" tIns="0" rIns="0" bIns="0" rtlCol="0" anchor="t"/>
          <a:lstStyle/>
          <a:p>
            <a:pPr indent="0" marL="0">
              <a:buNone/>
            </a:pPr>
            <a:r>
              <a:rPr lang="ja-JP" altLang="en-US" sz="1050" dirty="0">
                <a:solidFill>
                  <a:srgbClr val="737374"/>
                </a:solidFill>
              </a:rPr>
              <a:t>対数の時価総額を、log 総資産と総資産比の比率で予測し、指数で金額に戻す</a:t>
            </a:r>
            <a:endParaRPr lang="ja-JP" sz="1050" dirty="0"/>
          </a:p>
        </p:txBody>
      </p:sp>
      <p:sp>
        <p:nvSpPr>
          <p:cNvPr id="24" name="rule"/>
          <p:cNvSpPr/>
          <p:nvPr/>
        </p:nvSpPr>
        <p:spPr>
          <a:xfrm>
            <a:off x="411480" y="5547360"/>
            <a:ext cx="9082735" cy="0"/>
          </a:xfrm>
          <a:prstGeom prst="line">
            <a:avLst/>
          </a:prstGeom>
          <a:noFill/>
          <a:ln w="9525">
            <a:solidFill>
              <a:srgbClr val="D9D9D9"/>
            </a:solidFill>
            <a:prstDash val="solid"/>
          </a:ln>
        </p:spPr>
      </p:sp>
      <p:sp>
        <p:nvSpPr>
          <p:cNvPr id="25" name="Text 17"/>
          <p:cNvSpPr txBox="1"/>
          <p:nvPr/>
        </p:nvSpPr>
        <p:spPr>
          <a:xfrm>
            <a:off x="411480" y="5593080"/>
            <a:ext cx="1871494" cy="411480"/>
          </a:xfrm>
          <a:prstGeom prst="rect">
            <a:avLst/>
          </a:prstGeom>
          <a:noFill/>
          <a:ln/>
        </p:spPr>
        <p:txBody>
          <a:bodyPr wrap="square" lIns="0" tIns="0" rIns="0" bIns="0" rtlCol="0" anchor="t"/>
          <a:lstStyle/>
          <a:p>
            <a:pPr indent="0" marL="0">
              <a:buNone/>
            </a:pPr>
            <a:r>
              <a:rPr lang="ja-JP" altLang="en-US" sz="1200" b="1" dirty="0">
                <a:solidFill>
                  <a:srgbClr val="000000"/>
                </a:solidFill>
              </a:rPr>
              <a:t>スコア</a:t>
            </a:r>
            <a:endParaRPr lang="ja-JP" sz="1200" dirty="0"/>
          </a:p>
        </p:txBody>
      </p:sp>
      <p:pic>
        <p:nvPicPr>
          <p:cNvPr id="26" name="Image 5" descr="eq_m">    </p:cNvPr>
          <p:cNvPicPr>
            <a:picLocks noChangeAspect="1"/>
          </p:cNvPicPr>
          <p:nvPr/>
        </p:nvPicPr>
        <p:blipFill>
          <a:blip r:embed="rId6"/>
          <a:stretch>
            <a:fillRect/>
          </a:stretch>
        </p:blipFill>
        <p:spPr>
          <a:xfrm>
            <a:off x="2395264" y="5593080"/>
            <a:ext cx="2450592" cy="460248"/>
          </a:xfrm>
          <a:prstGeom prst="rect">
            <a:avLst/>
          </a:prstGeom>
        </p:spPr>
      </p:pic>
      <p:sp>
        <p:nvSpPr>
          <p:cNvPr id="27" name="Text 18"/>
          <p:cNvSpPr txBox="1"/>
          <p:nvPr/>
        </p:nvSpPr>
        <p:spPr>
          <a:xfrm>
            <a:off x="2395264" y="6108192"/>
            <a:ext cx="7098951" cy="274320"/>
          </a:xfrm>
          <a:prstGeom prst="rect">
            <a:avLst/>
          </a:prstGeom>
          <a:noFill/>
          <a:ln/>
        </p:spPr>
        <p:txBody>
          <a:bodyPr wrap="square" lIns="0" tIns="0" rIns="0" bIns="0" rtlCol="0" anchor="t"/>
          <a:lstStyle/>
          <a:p>
            <a:pPr indent="0" marL="0">
              <a:buNone/>
            </a:pPr>
            <a:r>
              <a:rPr lang="ja-JP" altLang="en-US" sz="1050" dirty="0">
                <a:solidFill>
                  <a:srgbClr val="737374"/>
                </a:solidFill>
              </a:rPr>
              <a:t>M &gt; 0 は時価総額が公正価値より低い（割安）。z は各月の Blom 正規スコア</a:t>
            </a:r>
            <a:endParaRPr lang="ja-JP" sz="105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Agnostic｜手法 3  推定モデルの設定</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線形 5 本と木 2 本。論文と同じ in-sample 推定と、交差推定を比べる</a:t>
            </a:r>
            <a:endParaRPr lang="ja-JP"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9082735" cy="914400"/>
        </p:xfrm>
        <a:graphic>
          <a:graphicData uri="http://schemas.openxmlformats.org/drawingml/2006/table">
            <a:tbl>
              <a:tblPr/>
              <a:tblGrid>
                <a:gridCol w="1422336"/>
                <a:gridCol w="2470372"/>
                <a:gridCol w="4216851"/>
                <a:gridCol w="973177"/>
              </a:tblGrid>
              <a:tr h="475488">
                <a:tc>
                  <a:txBody>
                    <a:bodyPr/>
                    <a:lstStyle/>
                    <a:p>
                      <a:pPr algn="ctr" indent="0" marL="0">
                        <a:buNone/>
                      </a:pPr>
                      <a:r>
                        <a:rPr lang="ja-JP" altLang="en-US" sz="1050" b="1" dirty="0">
                          <a:solidFill>
                            <a:srgbClr val="FFFFFF"/>
                          </a:solidFill>
                        </a:rPr>
                        <a:t>モデル</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目的変数・特徴量</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推定の仕方</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当てはまり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75488">
                <a:tc>
                  <a:txBody>
                    <a:bodyPr/>
                    <a:lstStyle/>
                    <a:p>
                      <a:pPr algn="l" indent="0" marL="0">
                        <a:buNone/>
                      </a:pPr>
                      <a:r>
                        <a:rPr lang="ja-JP" altLang="en-US" sz="1050" b="1" dirty="0">
                          <a:solidFill>
                            <a:srgbClr val="000000"/>
                          </a:solidFill>
                        </a:rPr>
                        <a:t>論文 OLS</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V ~ 定数 + TA・TL・13 項目の金額</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全銘柄で OLS、同じ銘柄を予測（in-sample）</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0.62</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ja-JP" altLang="en-US" sz="1050" b="1" dirty="0">
                          <a:solidFill>
                            <a:srgbClr val="000000"/>
                          </a:solidFill>
                        </a:rPr>
                        <a:t>Theil–Sen 型</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同上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無作為 100 銘柄で OLS → 全銘柄を予測、を 1 万回。銘柄ごとの中央値（in-sample）</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050" dirty="0">
                          <a:solidFill>
                            <a:srgbClr val="000000"/>
                          </a:solidFill>
                        </a:rPr>
                        <a:t>0.70</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75488">
                <a:tc>
                  <a:txBody>
                    <a:bodyPr/>
                    <a:lstStyle/>
                    <a:p>
                      <a:pPr algn="l" indent="0" marL="0">
                        <a:buNone/>
                      </a:pPr>
                      <a:r>
                        <a:rPr lang="ja-JP" altLang="en-US" sz="1050" b="1" dirty="0">
                          <a:solidFill>
                            <a:srgbClr val="000000"/>
                          </a:solidFill>
                        </a:rPr>
                        <a:t>OLS</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同上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5 分割の交差推定</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0.56</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ja-JP" altLang="en-US" sz="1050" b="1" dirty="0">
                          <a:solidFill>
                            <a:srgbClr val="000000"/>
                          </a:solidFill>
                        </a:rPr>
                        <a:t>Ridge</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同上（学習データで標準化）</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交差推定。罰則は LOO（10^-4〜10^4）で選ぶ</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050" dirty="0">
                          <a:solidFill>
                            <a:srgbClr val="000000"/>
                          </a:solidFill>
                        </a:rPr>
                        <a:t>0.65</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75488">
                <a:tc>
                  <a:txBody>
                    <a:bodyPr/>
                    <a:lstStyle/>
                    <a:p>
                      <a:pPr algn="l" indent="0" marL="0">
                        <a:buNone/>
                      </a:pPr>
                      <a:r>
                        <a:rPr lang="ja-JP" altLang="en-US" sz="1050" b="1" dirty="0">
                          <a:solidFill>
                            <a:srgbClr val="000000"/>
                          </a:solidFill>
                        </a:rPr>
                        <a:t>Lasso</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同上（学習データで標準化）</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交差推定。罰則は内側 5 分割 CV で選ぶ</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0.64</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ja-JP" altLang="en-US" sz="1050" b="1" dirty="0">
                          <a:solidFill>
                            <a:srgbClr val="000000"/>
                          </a:solidFill>
                        </a:rPr>
                        <a:t>Random Forest</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log V ~ log TA + 各項目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050" dirty="0">
                          <a:solidFill>
                            <a:srgbClr val="000000"/>
                          </a:solidFill>
                        </a:rPr>
                        <a:t>交差推定。500 本、葉の最小 3 銘柄、分割候補 1/3</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050" dirty="0">
                          <a:solidFill>
                            <a:srgbClr val="000000"/>
                          </a:solidFill>
                        </a:rPr>
                        <a:t>0.71</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75488">
                <a:tc>
                  <a:txBody>
                    <a:bodyPr/>
                    <a:lstStyle/>
                    <a:p>
                      <a:pPr algn="l" indent="0" marL="0">
                        <a:buNone/>
                      </a:pPr>
                      <a:r>
                        <a:rPr lang="ja-JP" altLang="en-US" sz="1050" b="1" dirty="0">
                          <a:solidFill>
                            <a:srgbClr val="000000"/>
                          </a:solidFill>
                        </a:rPr>
                        <a:t>LightGBM</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log V ~ log TA + 各項目 ÷ TA</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050" dirty="0">
                          <a:solidFill>
                            <a:srgbClr val="000000"/>
                          </a:solidFill>
                        </a:rPr>
                        <a:t>交差推定。300 回、学習率 0.05、葉 15、葉の最小 10 銘柄、行・列 80%、L2 1.0</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0.72</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11480" y="5440680"/>
            <a:ext cx="9082735" cy="274320"/>
          </a:xfrm>
          <a:prstGeom prst="rect">
            <a:avLst/>
          </a:prstGeom>
          <a:noFill/>
          <a:ln/>
        </p:spPr>
        <p:txBody>
          <a:bodyPr wrap="square" lIns="0" tIns="0" rIns="0" bIns="0" rtlCol="0" anchor="t"/>
          <a:lstStyle/>
          <a:p>
            <a:pPr indent="0" marL="0">
              <a:buNone/>
            </a:pPr>
            <a:r>
              <a:rPr lang="ja-JP" altLang="en-US" sz="950" dirty="0">
                <a:solidFill>
                  <a:srgbClr val="737374"/>
                </a:solidFill>
              </a:rPr>
              <a:t>当てはまり = 公正価値 P と時価総額 V の順位相関（月次の中央値）。金融（GICS 40）は財務の構造が違うため対象外</a:t>
            </a:r>
            <a:endParaRPr lang="ja-JP" sz="950" dirty="0"/>
          </a:p>
        </p:txBody>
      </p:sp>
      <p:sp>
        <p:nvSpPr>
          <p:cNvPr id="7" name="takeaway"/>
          <p:cNvSpPr/>
          <p:nvPr/>
        </p:nvSpPr>
        <p:spPr>
          <a:xfrm>
            <a:off x="411480" y="5806440"/>
            <a:ext cx="9082735" cy="548640"/>
          </a:xfrm>
          <a:prstGeom prst="roundRect">
            <a:avLst>
              <a:gd name="adj" fmla="val 10000"/>
            </a:avLst>
          </a:prstGeom>
          <a:solidFill>
            <a:srgbClr val="FBE9E8"/>
          </a:solidFill>
          <a:ln w="12700">
            <a:solidFill>
              <a:srgbClr val="CB2420"/>
            </a:solidFill>
            <a:prstDash val="solid"/>
          </a:ln>
        </p:spPr>
      </p:sp>
      <p:sp>
        <p:nvSpPr>
          <p:cNvPr id="8" name="Text 4"/>
          <p:cNvSpPr txBox="1"/>
          <p:nvPr/>
        </p:nvSpPr>
        <p:spPr>
          <a:xfrm>
            <a:off x="598629" y="5806440"/>
            <a:ext cx="8708436" cy="548640"/>
          </a:xfrm>
          <a:prstGeom prst="rect">
            <a:avLst/>
          </a:prstGeom>
          <a:noFill/>
          <a:ln/>
        </p:spPr>
        <p:txBody>
          <a:bodyPr wrap="square" lIns="0" tIns="0" rIns="0" bIns="0" rtlCol="0" anchor="ctr"/>
          <a:lstStyle/>
          <a:p>
            <a:pPr indent="0" marL="0">
              <a:buNone/>
            </a:pPr>
            <a:r>
              <a:rPr lang="ja-JP" altLang="en-US" sz="1200" b="1" dirty="0">
                <a:solidFill>
                  <a:srgbClr val="CB2420"/>
                </a:solidFill>
              </a:rPr>
              <a:t>注意  </a:t>
            </a:r>
            <a:pPr indent="0" marL="0">
              <a:buNone/>
            </a:pPr>
            <a:r>
              <a:rPr lang="ja-JP" altLang="en-US" sz="1200" dirty="0">
                <a:solidFill>
                  <a:srgbClr val="000000"/>
                </a:solidFill>
              </a:rPr>
              <a:t>当てはまりが良いほど予測力が高いわけではない（結果 2）</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Agnostic｜手法 4  加工と論文との違い</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サイズと業種の偏りを除き、12 か月平均で論文の 1 年保有に近づける</a:t>
            </a:r>
            <a:endParaRPr lang="ja-JP" sz="1500" dirty="0"/>
          </a:p>
        </p:txBody>
      </p:sp>
      <p:sp>
        <p:nvSpPr>
          <p:cNvPr id="5" name="Text 2"/>
          <p:cNvSpPr txBox="1"/>
          <p:nvPr/>
        </p:nvSpPr>
        <p:spPr>
          <a:xfrm>
            <a:off x="411480" y="1554480"/>
            <a:ext cx="1497195" cy="411480"/>
          </a:xfrm>
          <a:prstGeom prst="rect">
            <a:avLst/>
          </a:prstGeom>
          <a:noFill/>
          <a:ln/>
        </p:spPr>
        <p:txBody>
          <a:bodyPr wrap="square" lIns="0" tIns="0" rIns="0" bIns="0" rtlCol="0" anchor="t"/>
          <a:lstStyle/>
          <a:p>
            <a:pPr indent="0" marL="0">
              <a:buNone/>
            </a:pPr>
            <a:r>
              <a:rPr lang="ja-JP" altLang="en-US" sz="1200" b="1" dirty="0">
                <a:solidFill>
                  <a:srgbClr val="000000"/>
                </a:solidFill>
              </a:rPr>
              <a:t>中立化版</a:t>
            </a:r>
            <a:endParaRPr lang="ja-JP" sz="1200" dirty="0"/>
          </a:p>
        </p:txBody>
      </p:sp>
      <p:pic>
        <p:nvPicPr>
          <p:cNvPr id="6" name="Image 0" descr="eq_agn_neu">    </p:cNvPr>
          <p:cNvPicPr>
            <a:picLocks noChangeAspect="1"/>
          </p:cNvPicPr>
          <p:nvPr/>
        </p:nvPicPr>
        <p:blipFill>
          <a:blip r:embed="rId1"/>
          <a:stretch>
            <a:fillRect/>
          </a:stretch>
        </p:blipFill>
        <p:spPr>
          <a:xfrm>
            <a:off x="2020965" y="1554480"/>
            <a:ext cx="4111752" cy="341376"/>
          </a:xfrm>
          <a:prstGeom prst="rect">
            <a:avLst/>
          </a:prstGeom>
        </p:spPr>
      </p:pic>
      <p:sp>
        <p:nvSpPr>
          <p:cNvPr id="7" name="Text 3"/>
          <p:cNvSpPr txBox="1"/>
          <p:nvPr/>
        </p:nvSpPr>
        <p:spPr>
          <a:xfrm>
            <a:off x="2020965" y="1950720"/>
            <a:ext cx="7473250" cy="417576"/>
          </a:xfrm>
          <a:prstGeom prst="rect">
            <a:avLst/>
          </a:prstGeom>
          <a:noFill/>
          <a:ln/>
        </p:spPr>
        <p:txBody>
          <a:bodyPr wrap="square" lIns="0" tIns="0" rIns="0" bIns="0" rtlCol="0" anchor="t"/>
          <a:lstStyle/>
          <a:p>
            <a:pPr indent="0" marL="0">
              <a:buNone/>
            </a:pPr>
            <a:r>
              <a:rPr lang="ja-JP" altLang="en-US" sz="1050" dirty="0">
                <a:solidFill>
                  <a:srgbClr val="737374"/>
                </a:solidFill>
              </a:rPr>
              <a:t>D_g は GICS セクターダミー。各月 OLS の残差を再び Blom 化</a:t>
            </a:r>
            <a:endParaRPr lang="ja-JP" sz="1050" dirty="0"/>
          </a:p>
        </p:txBody>
      </p:sp>
      <p:sp>
        <p:nvSpPr>
          <p:cNvPr id="8" name="rule"/>
          <p:cNvSpPr/>
          <p:nvPr/>
        </p:nvSpPr>
        <p:spPr>
          <a:xfrm>
            <a:off x="411480" y="2423160"/>
            <a:ext cx="9082735" cy="0"/>
          </a:xfrm>
          <a:prstGeom prst="line">
            <a:avLst/>
          </a:prstGeom>
          <a:noFill/>
          <a:ln w="9525">
            <a:solidFill>
              <a:srgbClr val="D9D9D9"/>
            </a:solidFill>
            <a:prstDash val="solid"/>
          </a:ln>
        </p:spPr>
      </p:sp>
      <p:sp>
        <p:nvSpPr>
          <p:cNvPr id="9" name="Text 5"/>
          <p:cNvSpPr txBox="1"/>
          <p:nvPr/>
        </p:nvSpPr>
        <p:spPr>
          <a:xfrm>
            <a:off x="411480" y="2468880"/>
            <a:ext cx="1497195" cy="411480"/>
          </a:xfrm>
          <a:prstGeom prst="rect">
            <a:avLst/>
          </a:prstGeom>
          <a:noFill/>
          <a:ln/>
        </p:spPr>
        <p:txBody>
          <a:bodyPr wrap="square" lIns="0" tIns="0" rIns="0" bIns="0" rtlCol="0" anchor="t"/>
          <a:lstStyle/>
          <a:p>
            <a:pPr indent="0" marL="0">
              <a:buNone/>
            </a:pPr>
            <a:r>
              <a:rPr lang="ja-JP" altLang="en-US" sz="1200" b="1" dirty="0">
                <a:solidFill>
                  <a:srgbClr val="000000"/>
                </a:solidFill>
              </a:rPr>
              <a:t>12 か月平均版</a:t>
            </a:r>
            <a:endParaRPr lang="ja-JP" sz="1200" dirty="0"/>
          </a:p>
        </p:txBody>
      </p:sp>
      <p:pic>
        <p:nvPicPr>
          <p:cNvPr id="10" name="Image 1" descr="eq_avg">    </p:cNvPr>
          <p:cNvPicPr>
            <a:picLocks noChangeAspect="1"/>
          </p:cNvPicPr>
          <p:nvPr/>
        </p:nvPicPr>
        <p:blipFill>
          <a:blip r:embed="rId2"/>
          <a:stretch>
            <a:fillRect/>
          </a:stretch>
        </p:blipFill>
        <p:spPr>
          <a:xfrm>
            <a:off x="2020965" y="2468880"/>
            <a:ext cx="2840736" cy="457200"/>
          </a:xfrm>
          <a:prstGeom prst="rect">
            <a:avLst/>
          </a:prstGeom>
        </p:spPr>
      </p:pic>
      <p:sp>
        <p:nvSpPr>
          <p:cNvPr id="11" name="Text 6"/>
          <p:cNvSpPr txBox="1"/>
          <p:nvPr/>
        </p:nvSpPr>
        <p:spPr>
          <a:xfrm>
            <a:off x="2020965" y="2980944"/>
            <a:ext cx="7473250" cy="438912"/>
          </a:xfrm>
          <a:prstGeom prst="rect">
            <a:avLst/>
          </a:prstGeom>
          <a:noFill/>
          <a:ln/>
        </p:spPr>
        <p:txBody>
          <a:bodyPr wrap="square" lIns="0" tIns="0" rIns="0" bIns="0" rtlCol="0" anchor="t"/>
          <a:lstStyle/>
          <a:p>
            <a:pPr indent="0" marL="0">
              <a:buNone/>
            </a:pPr>
            <a:r>
              <a:rPr lang="ja-JP" altLang="en-US" sz="1050" dirty="0">
                <a:solidFill>
                  <a:srgbClr val="737374"/>
                </a:solidFill>
              </a:rPr>
              <a:t>当月を含む過去 12 か月（最小 6 か月）。ラグ 0〜11 のシグナルで作った 12 本のポートフォリオの平均（論文の 1 年保有）を近似</a:t>
            </a:r>
            <a:endParaRPr lang="ja-JP" sz="1050" dirty="0"/>
          </a:p>
        </p:txBody>
      </p:sp>
      <p:sp>
        <p:nvSpPr>
          <p:cNvPr id="12" name="card"/>
          <p:cNvSpPr/>
          <p:nvPr/>
        </p:nvSpPr>
        <p:spPr>
          <a:xfrm>
            <a:off x="411480" y="3611880"/>
            <a:ext cx="9082735" cy="1691640"/>
          </a:xfrm>
          <a:prstGeom prst="roundRect">
            <a:avLst>
              <a:gd name="adj" fmla="val 3243"/>
            </a:avLst>
          </a:prstGeom>
          <a:solidFill>
            <a:srgbClr val="F2F2F2"/>
          </a:solidFill>
          <a:ln/>
        </p:spPr>
      </p:sp>
      <p:sp>
        <p:nvSpPr>
          <p:cNvPr id="13" name="Text 8"/>
          <p:cNvSpPr txBox="1"/>
          <p:nvPr/>
        </p:nvSpPr>
        <p:spPr>
          <a:xfrm>
            <a:off x="598629" y="3794760"/>
            <a:ext cx="8708436" cy="411480"/>
          </a:xfrm>
          <a:prstGeom prst="rect">
            <a:avLst/>
          </a:prstGeom>
          <a:noFill/>
          <a:ln/>
        </p:spPr>
        <p:txBody>
          <a:bodyPr wrap="square" lIns="0" tIns="0" rIns="0" bIns="0" rtlCol="0" anchor="t"/>
          <a:lstStyle/>
          <a:p>
            <a:pPr indent="0" marL="0">
              <a:buNone/>
            </a:pPr>
            <a:r>
              <a:rPr lang="ja-JP" altLang="en-US" sz="1400" b="1" dirty="0">
                <a:solidFill>
                  <a:srgbClr val="000000"/>
                </a:solidFill>
              </a:rPr>
              <a:t>論文（Bartram &amp; Grinblatt 2018）との違い</a:t>
            </a:r>
            <a:endParaRPr lang="ja-JP" sz="1400" dirty="0"/>
          </a:p>
        </p:txBody>
      </p:sp>
      <p:sp>
        <p:nvSpPr>
          <p:cNvPr id="14" name="Text 9"/>
          <p:cNvSpPr txBox="1"/>
          <p:nvPr/>
        </p:nvSpPr>
        <p:spPr>
          <a:xfrm>
            <a:off x="598629" y="4251960"/>
            <a:ext cx="8708436" cy="91440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財務: 論文は四半期の直近 12 か月と直近四半期末の残高（28 項目）。ここでは年次決算の 15 項目</a:t>
            </a:r>
            <a:endParaRPr lang="ja-JP" sz="1100" dirty="0"/>
          </a:p>
          <a:p>
            <a:pPr marL="152400" indent="-152400">
              <a:spcAft>
                <a:spcPts val="500"/>
              </a:spcAft>
              <a:buSzPct val="100000"/>
              <a:buChar char="•"/>
            </a:pPr>
            <a:r>
              <a:rPr lang="ja-JP" altLang="en-US" sz="1100" dirty="0">
                <a:solidFill>
                  <a:srgbClr val="000000"/>
                </a:solidFill>
              </a:rPr>
              <a:t>推定: 交差推定と木のモデルは論文にない（木は Geertsema–Lu 2023 型の拡張）。Theil–Sen の反復は 10 万回 → 1 万回</a:t>
            </a:r>
            <a:endParaRPr lang="ja-JP" sz="1100" dirty="0"/>
          </a:p>
          <a:p>
            <a:pPr marL="152400" indent="-152400">
              <a:spcAft>
                <a:spcPts val="500"/>
              </a:spcAft>
              <a:buSzPct val="100000"/>
              <a:buChar char="•"/>
            </a:pPr>
            <a:r>
              <a:rPr lang="ja-JP" altLang="en-US" sz="1100" dirty="0">
                <a:solidFill>
                  <a:srgbClr val="000000"/>
                </a:solidFill>
              </a:rPr>
              <a:t>保有: 論文は 1 年保有。ここでは毎月入れ替え（12 か月平均版で近似）</a:t>
            </a:r>
            <a:endParaRPr lang="ja-JP" sz="1100" dirty="0"/>
          </a:p>
        </p:txBody>
      </p:sp>
      <p:sp>
        <p:nvSpPr>
          <p:cNvPr id="15" name="takeaway"/>
          <p:cNvSpPr/>
          <p:nvPr/>
        </p:nvSpPr>
        <p:spPr>
          <a:xfrm>
            <a:off x="411480" y="5486400"/>
            <a:ext cx="9082735" cy="868680"/>
          </a:xfrm>
          <a:prstGeom prst="roundRect">
            <a:avLst>
              <a:gd name="adj" fmla="val 6316"/>
            </a:avLst>
          </a:prstGeom>
          <a:solidFill>
            <a:srgbClr val="FBE9E8"/>
          </a:solidFill>
          <a:ln w="12700">
            <a:solidFill>
              <a:srgbClr val="CB2420"/>
            </a:solidFill>
            <a:prstDash val="solid"/>
          </a:ln>
        </p:spPr>
      </p:sp>
      <p:sp>
        <p:nvSpPr>
          <p:cNvPr id="16" name="Text 11"/>
          <p:cNvSpPr txBox="1"/>
          <p:nvPr/>
        </p:nvSpPr>
        <p:spPr>
          <a:xfrm>
            <a:off x="598629" y="5486400"/>
            <a:ext cx="8708436" cy="868680"/>
          </a:xfrm>
          <a:prstGeom prst="rect">
            <a:avLst/>
          </a:prstGeom>
          <a:noFill/>
          <a:ln/>
        </p:spPr>
        <p:txBody>
          <a:bodyPr wrap="square" lIns="0" tIns="0" rIns="0" bIns="0" rtlCol="0" anchor="ctr"/>
          <a:lstStyle/>
          <a:p>
            <a:pPr indent="0" marL="0">
              <a:buNone/>
            </a:pPr>
            <a:r>
              <a:rPr lang="ja-JP" altLang="en-US" sz="1200" b="1" dirty="0">
                <a:solidFill>
                  <a:srgbClr val="CB2420"/>
                </a:solidFill>
              </a:rPr>
              <a:t>読み方  </a:t>
            </a:r>
            <a:pPr indent="0" marL="0">
              <a:buNone/>
            </a:pPr>
            <a:r>
              <a:rPr lang="ja-JP" altLang="en-US" sz="1200" dirty="0">
                <a:solidFill>
                  <a:srgbClr val="000000"/>
                </a:solidFill>
              </a:rPr>
              <a:t>以降の結果は中立化版が中心（生のスコアはサイズの効果が混ざるため）。寿命は h か月先（h = 1〜24）の単月リターンとの IC で見る</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Agnostic｜結果 1  サイズとの関係</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生のスコアは小型株ベット。中立化するとバリュー寄りに</a:t>
            </a:r>
            <a:endParaRPr lang="ja-JP" sz="1500" dirty="0"/>
          </a:p>
        </p:txBody>
      </p:sp>
      <p:pic>
        <p:nvPicPr>
          <p:cNvPr id="5" name="Image 0" descr="Agnostic スコアと時価総額の順位相関">    </p:cNvPr>
          <p:cNvPicPr>
            <a:picLocks noChangeAspect="1"/>
          </p:cNvPicPr>
          <p:nvPr/>
        </p:nvPicPr>
        <p:blipFill>
          <a:blip r:embed="rId1"/>
          <a:stretch>
            <a:fillRect/>
          </a:stretch>
        </p:blipFill>
        <p:spPr>
          <a:xfrm>
            <a:off x="411480" y="1508760"/>
            <a:ext cx="5532120" cy="4754880"/>
          </a:xfrm>
          <a:prstGeom prst="rect">
            <a:avLst/>
          </a:prstGeom>
        </p:spPr>
      </p:pic>
      <p:sp>
        <p:nvSpPr>
          <p:cNvPr id="6" name="card"/>
          <p:cNvSpPr/>
          <p:nvPr/>
        </p:nvSpPr>
        <p:spPr>
          <a:xfrm>
            <a:off x="6198140" y="1508760"/>
            <a:ext cx="3296075" cy="2240280"/>
          </a:xfrm>
          <a:prstGeom prst="roundRect">
            <a:avLst>
              <a:gd name="adj" fmla="val 2449"/>
            </a:avLst>
          </a:prstGeom>
          <a:solidFill>
            <a:srgbClr val="F2F2F2"/>
          </a:solidFill>
          <a:ln/>
        </p:spPr>
      </p:sp>
      <p:sp>
        <p:nvSpPr>
          <p:cNvPr id="7" name="Text 3"/>
          <p:cNvSpPr txBox="1"/>
          <p:nvPr/>
        </p:nvSpPr>
        <p:spPr>
          <a:xfrm>
            <a:off x="6385289" y="1691640"/>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生のスコアは使えない</a:t>
            </a:r>
            <a:endParaRPr lang="ja-JP" sz="1400" dirty="0"/>
          </a:p>
        </p:txBody>
      </p:sp>
      <p:sp>
        <p:nvSpPr>
          <p:cNvPr id="8" name="Text 4"/>
          <p:cNvSpPr txBox="1"/>
          <p:nvPr/>
        </p:nvSpPr>
        <p:spPr>
          <a:xfrm>
            <a:off x="6385289" y="2148840"/>
            <a:ext cx="2921777" cy="146304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7 本とも時価総額と −0.47〜−0.76。小型ほど「割安」に出る</a:t>
            </a:r>
            <a:endParaRPr lang="ja-JP" sz="1100" dirty="0"/>
          </a:p>
          <a:p>
            <a:pPr marL="152400" indent="-152400">
              <a:spcAft>
                <a:spcPts val="500"/>
              </a:spcAft>
              <a:buSzPct val="100000"/>
              <a:buChar char="•"/>
            </a:pPr>
            <a:r>
              <a:rPr lang="ja-JP" altLang="en-US" sz="1100" dirty="0">
                <a:solidFill>
                  <a:srgbClr val="000000"/>
                </a:solidFill>
              </a:rPr>
              <a:t>翌月 IC は −0.023〜+0.002</a:t>
            </a:r>
            <a:endParaRPr lang="ja-JP" sz="1100" dirty="0"/>
          </a:p>
        </p:txBody>
      </p:sp>
      <p:sp>
        <p:nvSpPr>
          <p:cNvPr id="9" name="card"/>
          <p:cNvSpPr/>
          <p:nvPr/>
        </p:nvSpPr>
        <p:spPr>
          <a:xfrm>
            <a:off x="6198140" y="4023360"/>
            <a:ext cx="3296075" cy="2331720"/>
          </a:xfrm>
          <a:prstGeom prst="roundRect">
            <a:avLst>
              <a:gd name="adj" fmla="val 2353"/>
            </a:avLst>
          </a:prstGeom>
          <a:solidFill>
            <a:srgbClr val="F2F2F2"/>
          </a:solidFill>
          <a:ln/>
        </p:spPr>
      </p:sp>
      <p:sp>
        <p:nvSpPr>
          <p:cNvPr id="10" name="Text 6"/>
          <p:cNvSpPr txBox="1"/>
          <p:nvPr/>
        </p:nvSpPr>
        <p:spPr>
          <a:xfrm>
            <a:off x="6385289" y="4206240"/>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中立化後はバリュー寄り</a:t>
            </a:r>
            <a:endParaRPr lang="ja-JP" sz="1400" dirty="0"/>
          </a:p>
        </p:txBody>
      </p:sp>
      <p:sp>
        <p:nvSpPr>
          <p:cNvPr id="11" name="Text 7"/>
          <p:cNvSpPr txBox="1"/>
          <p:nvPr/>
        </p:nvSpPr>
        <p:spPr>
          <a:xfrm>
            <a:off x="6385289" y="4663440"/>
            <a:ext cx="2921777"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時価総額との相関は −0.06〜0.00 に</a:t>
            </a:r>
            <a:endParaRPr lang="ja-JP" sz="1100" dirty="0"/>
          </a:p>
          <a:p>
            <a:pPr marL="152400" indent="-152400">
              <a:spcAft>
                <a:spcPts val="500"/>
              </a:spcAft>
              <a:buSzPct val="100000"/>
              <a:buChar char="•"/>
            </a:pPr>
            <a:r>
              <a:rPr lang="ja-JP" altLang="en-US" sz="1100" dirty="0">
                <a:solidFill>
                  <a:srgbClr val="000000"/>
                </a:solidFill>
              </a:rPr>
              <a:t>B/P と +0.38〜+0.51、E/P と +0.43〜+0.60</a:t>
            </a:r>
            <a:endParaRPr lang="ja-JP" sz="1100" dirty="0"/>
          </a:p>
          <a:p>
            <a:pPr marL="152400" indent="-152400">
              <a:spcAft>
                <a:spcPts val="500"/>
              </a:spcAft>
              <a:buSzPct val="100000"/>
              <a:buChar char="•"/>
            </a:pPr>
            <a:r>
              <a:rPr lang="ja-JP" altLang="en-US" sz="1100" dirty="0">
                <a:solidFill>
                  <a:srgbClr val="000000"/>
                </a:solidFill>
              </a:rPr>
              <a:t>comp_ew とは −0.12〜−0.03 でほぼ無相関</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Agnostic｜結果 2  情報の寿命</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長く効くのは Theil–Sen と OLS。機械学習の残差は短命</a:t>
            </a:r>
            <a:endParaRPr lang="ja-JP" sz="1500" dirty="0"/>
          </a:p>
        </p:txBody>
      </p:sp>
      <p:pic>
        <p:nvPicPr>
          <p:cNvPr id="5" name="Image 0" descr="中立化版の h か月先の IC">    </p:cNvPr>
          <p:cNvPicPr>
            <a:picLocks noChangeAspect="1"/>
          </p:cNvPicPr>
          <p:nvPr/>
        </p:nvPicPr>
        <p:blipFill>
          <a:blip r:embed="rId1"/>
          <a:stretch>
            <a:fillRect/>
          </a:stretch>
        </p:blipFill>
        <p:spPr>
          <a:xfrm>
            <a:off x="411480" y="1508760"/>
            <a:ext cx="5166360" cy="475488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801383" y="1508760"/>
          <a:ext cx="3692832" cy="914400"/>
        </p:xfrm>
        <a:graphic>
          <a:graphicData uri="http://schemas.openxmlformats.org/drawingml/2006/table">
            <a:tbl>
              <a:tblPr/>
              <a:tblGrid>
                <a:gridCol w="1085467"/>
                <a:gridCol w="860887"/>
                <a:gridCol w="786028"/>
                <a:gridCol w="960451"/>
              </a:tblGrid>
              <a:tr h="384048">
                <a:tc>
                  <a:txBody>
                    <a:bodyPr/>
                    <a:lstStyle/>
                    <a:p>
                      <a:pPr algn="ctr" indent="0" marL="0">
                        <a:buNone/>
                      </a:pPr>
                      <a:r>
                        <a:rPr lang="ja-JP" altLang="en-US" sz="1050" b="1" dirty="0">
                          <a:solidFill>
                            <a:srgbClr val="FFFFFF"/>
                          </a:solidFill>
                        </a:rPr>
                        <a:t>モデル</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当てはまり</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IC 翌月</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IC 12 か月先</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384048">
                <a:tc>
                  <a:txBody>
                    <a:bodyPr/>
                    <a:lstStyle/>
                    <a:p>
                      <a:pPr algn="l" indent="0" marL="0">
                        <a:buNone/>
                      </a:pPr>
                      <a:r>
                        <a:rPr lang="ja-JP" altLang="en-US" sz="1100" b="1" dirty="0">
                          <a:solidFill>
                            <a:srgbClr val="000000"/>
                          </a:solidFill>
                        </a:rPr>
                        <a:t>Theil–Sen</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0.70</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0.014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0.016</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384048">
                <a:tc>
                  <a:txBody>
                    <a:bodyPr/>
                    <a:lstStyle/>
                    <a:p>
                      <a:pPr algn="l" indent="0" marL="0">
                        <a:buNone/>
                      </a:pPr>
                      <a:r>
                        <a:rPr lang="ja-JP" altLang="en-US" sz="1100" dirty="0">
                          <a:solidFill>
                            <a:srgbClr val="000000"/>
                          </a:solidFill>
                        </a:rPr>
                        <a:t>OLS</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0.56</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0.007</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0.012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384048">
                <a:tc>
                  <a:txBody>
                    <a:bodyPr/>
                    <a:lstStyle/>
                    <a:p>
                      <a:pPr algn="l" indent="0" marL="0">
                        <a:buNone/>
                      </a:pPr>
                      <a:r>
                        <a:rPr lang="ja-JP" altLang="en-US" sz="1100" dirty="0">
                          <a:solidFill>
                            <a:srgbClr val="000000"/>
                          </a:solidFill>
                        </a:rPr>
                        <a:t>RF</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0.71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0.009</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−0.003</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ja-JP" altLang="en-US" sz="1100" dirty="0">
                          <a:solidFill>
                            <a:srgbClr val="000000"/>
                          </a:solidFill>
                        </a:rPr>
                        <a:t>LightGBM</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0.72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0.007</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0.002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sp>
        <p:nvSpPr>
          <p:cNvPr id="7" name="Text 2"/>
          <p:cNvSpPr txBox="1"/>
          <p:nvPr/>
        </p:nvSpPr>
        <p:spPr>
          <a:xfrm>
            <a:off x="5801383" y="3520440"/>
            <a:ext cx="3692832" cy="457200"/>
          </a:xfrm>
          <a:prstGeom prst="rect">
            <a:avLst/>
          </a:prstGeom>
          <a:noFill/>
          <a:ln/>
        </p:spPr>
        <p:txBody>
          <a:bodyPr wrap="square" lIns="0" tIns="0" rIns="0" bIns="0" rtlCol="0" anchor="t"/>
          <a:lstStyle/>
          <a:p>
            <a:pPr indent="0" marL="0">
              <a:buNone/>
            </a:pPr>
            <a:r>
              <a:rPr lang="ja-JP" altLang="en-US" sz="950" dirty="0">
                <a:solidFill>
                  <a:srgbClr val="737374"/>
                </a:solidFill>
              </a:rPr>
              <a:t>当てはまり = 公正価値と時価総額の順位相関（月次の中央値）</a:t>
            </a:r>
            <a:endParaRPr lang="ja-JP" sz="950" dirty="0"/>
          </a:p>
        </p:txBody>
      </p:sp>
      <p:sp>
        <p:nvSpPr>
          <p:cNvPr id="8" name="Text 3"/>
          <p:cNvSpPr txBox="1"/>
          <p:nvPr/>
        </p:nvSpPr>
        <p:spPr>
          <a:xfrm>
            <a:off x="5801383" y="4069080"/>
            <a:ext cx="3692832" cy="228600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当てはまりが良いほど効くわけではない。論文の「頑健な推定が効く」はインドでも成立</a:t>
            </a:r>
            <a:endParaRPr lang="ja-JP" sz="1200" dirty="0"/>
          </a:p>
          <a:p>
            <a:pPr marL="152400" indent="-152400">
              <a:spcAft>
                <a:spcPts val="500"/>
              </a:spcAft>
              <a:buSzPct val="100000"/>
              <a:buChar char="•"/>
            </a:pPr>
            <a:r>
              <a:rPr lang="ja-JP" altLang="en-US" sz="1100" dirty="0">
                <a:solidFill>
                  <a:srgbClr val="000000"/>
                </a:solidFill>
              </a:rPr>
              <a:t>固有リターンの IC はほぼ 0。予測力はバリューのスタイルから来ている</a:t>
            </a:r>
            <a:endParaRPr lang="ja-JP" sz="1200" dirty="0"/>
          </a:p>
          <a:p>
            <a:pPr marL="152400" indent="-152400">
              <a:spcAft>
                <a:spcPts val="500"/>
              </a:spcAft>
              <a:buSzPct val="100000"/>
              <a:buChar char="•"/>
            </a:pPr>
            <a:r>
              <a:rPr lang="ja-JP" altLang="en-US" sz="1100" dirty="0">
                <a:solidFill>
                  <a:srgbClr val="000000"/>
                </a:solidFill>
              </a:rPr>
              <a:t>Ridge・Lasso は中立化後も IC が負</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Agnostic｜結果 3  comp_ew との複合</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comp_ew に 20% 混ぜても、税引後は横ばい</a:t>
            </a:r>
            <a:endParaRPr lang="ja-JP"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9082735" cy="914400"/>
        </p:xfrm>
        <a:graphic>
          <a:graphicData uri="http://schemas.openxmlformats.org/drawingml/2006/table">
            <a:tbl>
              <a:tblPr/>
              <a:tblGrid>
                <a:gridCol w="2245793"/>
                <a:gridCol w="1122896"/>
                <a:gridCol w="1122896"/>
                <a:gridCol w="1048037"/>
                <a:gridCol w="1497195"/>
                <a:gridCol w="898317"/>
                <a:gridCol w="1147600"/>
              </a:tblGrid>
              <a:tr h="457200">
                <a:tc>
                  <a:txBody>
                    <a:bodyPr/>
                    <a:lstStyle/>
                    <a:p>
                      <a:pPr algn="ctr" indent="0" marL="0">
                        <a:buNone/>
                      </a:pPr>
                      <a:r>
                        <a:rPr lang="ja-JP" altLang="en-US" sz="1100" b="1" dirty="0">
                          <a:solidFill>
                            <a:srgbClr val="FFFFFF"/>
                          </a:solidFill>
                        </a:rPr>
                        <a:t>comp_ew 80 : 素材 20</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 EW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 CW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Q5−Q1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税引後 Q5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IC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回転率</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57200">
                <a:tc>
                  <a:txBody>
                    <a:bodyPr/>
                    <a:lstStyle/>
                    <a:p>
                      <a:pPr algn="l" indent="0" marL="0">
                        <a:buNone/>
                      </a:pPr>
                      <a:r>
                        <a:rPr lang="ja-JP" altLang="en-US" sz="1200" b="1" dirty="0">
                          <a:solidFill>
                            <a:srgbClr val="000000"/>
                          </a:solidFill>
                        </a:rPr>
                        <a:t>comp_ew 単独</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13.0%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9.9%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17.6%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8.5%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0.065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457200">
                <a:tc>
                  <a:txBody>
                    <a:bodyPr/>
                    <a:lstStyle/>
                    <a:p>
                      <a:pPr algn="l" indent="0" marL="0">
                        <a:buNone/>
                      </a:pPr>
                      <a:r>
                        <a:rPr lang="ja-JP" altLang="en-US" sz="1200" dirty="0">
                          <a:solidFill>
                            <a:srgbClr val="000000"/>
                          </a:solidFill>
                        </a:rPr>
                        <a:t>Theil–Sen 中立化版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13.1%</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10.1%</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18.1%</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8.6%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0.066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Theil–Sen 12 か月平均版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13.2%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10.2%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18.4%</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8.3%</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0.066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ja-JP" altLang="en-US" sz="1200" dirty="0">
                          <a:solidFill>
                            <a:srgbClr val="000000"/>
                          </a:solidFill>
                        </a:rPr>
                        <a:t>LightGBM 中立化版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12.8%</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9.8%</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17.4%</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8.2%</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0.066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200" dirty="0">
                          <a:solidFill>
                            <a:srgbClr val="000000"/>
                          </a:solidFill>
                        </a:rPr>
                        <a:t>4.1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57200">
                <a:tc>
                  <a:txBody>
                    <a:bodyPr/>
                    <a:lstStyle/>
                    <a:p>
                      <a:pPr algn="l" indent="0" marL="0">
                        <a:buNone/>
                      </a:pPr>
                      <a:r>
                        <a:rPr lang="ja-JP" altLang="en-US" sz="1200" dirty="0">
                          <a:solidFill>
                            <a:srgbClr val="000000"/>
                          </a:solidFill>
                        </a:rPr>
                        <a:t>RF 中立化版</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12.5%</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9.9%</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17.8%</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8.0%</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0.066</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200" dirty="0">
                          <a:solidFill>
                            <a:srgbClr val="000000"/>
                          </a:solidFill>
                        </a:rPr>
                        <a:t>4.0 倍</a:t>
                      </a:r>
                      <a:endParaRPr lang="ja-JP" sz="12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card"/>
          <p:cNvSpPr/>
          <p:nvPr/>
        </p:nvSpPr>
        <p:spPr>
          <a:xfrm>
            <a:off x="411480" y="4526280"/>
            <a:ext cx="2862887" cy="1828800"/>
          </a:xfrm>
          <a:prstGeom prst="roundRect">
            <a:avLst>
              <a:gd name="adj" fmla="val 3000"/>
            </a:avLst>
          </a:prstGeom>
          <a:solidFill>
            <a:srgbClr val="F2F2F2"/>
          </a:solidFill>
          <a:ln/>
        </p:spPr>
      </p:sp>
      <p:sp>
        <p:nvSpPr>
          <p:cNvPr id="7" name="Text 3"/>
          <p:cNvSpPr txBox="1"/>
          <p:nvPr/>
        </p:nvSpPr>
        <p:spPr>
          <a:xfrm>
            <a:off x="598629" y="4709160"/>
            <a:ext cx="2488588" cy="411480"/>
          </a:xfrm>
          <a:prstGeom prst="rect">
            <a:avLst/>
          </a:prstGeom>
          <a:noFill/>
          <a:ln/>
        </p:spPr>
        <p:txBody>
          <a:bodyPr wrap="square" lIns="0" tIns="0" rIns="0" bIns="0" rtlCol="0" anchor="t"/>
          <a:lstStyle/>
          <a:p>
            <a:pPr indent="0" marL="0">
              <a:buNone/>
            </a:pPr>
            <a:r>
              <a:rPr lang="ja-JP" altLang="en-US" sz="1400" b="1" dirty="0">
                <a:solidFill>
                  <a:srgbClr val="000000"/>
                </a:solidFill>
              </a:rPr>
              <a:t>α の大半はヘッジ</a:t>
            </a:r>
            <a:endParaRPr lang="ja-JP" sz="1400" dirty="0"/>
          </a:p>
        </p:txBody>
      </p:sp>
      <p:sp>
        <p:nvSpPr>
          <p:cNvPr id="8" name="Text 4"/>
          <p:cNvSpPr txBox="1"/>
          <p:nvPr/>
        </p:nvSpPr>
        <p:spPr>
          <a:xfrm>
            <a:off x="598629" y="5166360"/>
            <a:ext cx="2488588" cy="1051560"/>
          </a:xfrm>
          <a:prstGeom prst="rect">
            <a:avLst/>
          </a:prstGeom>
          <a:noFill/>
          <a:ln/>
        </p:spPr>
        <p:txBody>
          <a:bodyPr wrap="square" lIns="0" tIns="0" rIns="0" bIns="0" rtlCol="0" anchor="t"/>
          <a:lstStyle/>
          <a:p>
            <a:pPr indent="0" marL="0">
              <a:buNone/>
            </a:pPr>
            <a:r>
              <a:rPr lang="ja-JP" altLang="en-US" sz="1100" dirty="0">
                <a:solidFill>
                  <a:srgbClr val="000000"/>
                </a:solidFill>
              </a:rPr>
              <a:t>スパニングの α は年 4.7〜13.5% と大きいが、β が −0.15〜−0.41。固有リターンでは −1.4〜+5.7% に縮む</a:t>
            </a:r>
            <a:endParaRPr lang="ja-JP" sz="1100" dirty="0"/>
          </a:p>
        </p:txBody>
      </p:sp>
      <p:sp>
        <p:nvSpPr>
          <p:cNvPr id="9" name="card"/>
          <p:cNvSpPr/>
          <p:nvPr/>
        </p:nvSpPr>
        <p:spPr>
          <a:xfrm>
            <a:off x="3521404" y="4526280"/>
            <a:ext cx="2862887" cy="1828800"/>
          </a:xfrm>
          <a:prstGeom prst="roundRect">
            <a:avLst>
              <a:gd name="adj" fmla="val 3000"/>
            </a:avLst>
          </a:prstGeom>
          <a:solidFill>
            <a:srgbClr val="F2F2F2"/>
          </a:solidFill>
          <a:ln/>
        </p:spPr>
      </p:sp>
      <p:sp>
        <p:nvSpPr>
          <p:cNvPr id="10" name="Text 6"/>
          <p:cNvSpPr txBox="1"/>
          <p:nvPr/>
        </p:nvSpPr>
        <p:spPr>
          <a:xfrm>
            <a:off x="3708554" y="4709160"/>
            <a:ext cx="2488588" cy="411480"/>
          </a:xfrm>
          <a:prstGeom prst="rect">
            <a:avLst/>
          </a:prstGeom>
          <a:noFill/>
          <a:ln/>
        </p:spPr>
        <p:txBody>
          <a:bodyPr wrap="square" lIns="0" tIns="0" rIns="0" bIns="0" rtlCol="0" anchor="t"/>
          <a:lstStyle/>
          <a:p>
            <a:pPr indent="0" marL="0">
              <a:buNone/>
            </a:pPr>
            <a:r>
              <a:rPr lang="ja-JP" altLang="en-US" sz="1400" b="1" dirty="0">
                <a:solidFill>
                  <a:srgbClr val="000000"/>
                </a:solidFill>
              </a:rPr>
              <a:t>比率を上げると Q5 は下がる</a:t>
            </a:r>
            <a:endParaRPr lang="ja-JP" sz="1400" dirty="0"/>
          </a:p>
        </p:txBody>
      </p:sp>
      <p:sp>
        <p:nvSpPr>
          <p:cNvPr id="11" name="Text 7"/>
          <p:cNvSpPr txBox="1"/>
          <p:nvPr/>
        </p:nvSpPr>
        <p:spPr>
          <a:xfrm>
            <a:off x="3708554" y="5166360"/>
            <a:ext cx="2488588" cy="1051560"/>
          </a:xfrm>
          <a:prstGeom prst="rect">
            <a:avLst/>
          </a:prstGeom>
          <a:noFill/>
          <a:ln/>
        </p:spPr>
        <p:txBody>
          <a:bodyPr wrap="square" lIns="0" tIns="0" rIns="0" bIns="0" rtlCol="0" anchor="t"/>
          <a:lstStyle/>
          <a:p>
            <a:pPr indent="0" marL="0">
              <a:buNone/>
            </a:pPr>
            <a:r>
              <a:rPr lang="ja-JP" altLang="en-US" sz="1100" dirty="0">
                <a:solidFill>
                  <a:srgbClr val="000000"/>
                </a:solidFill>
              </a:rPr>
              <a:t>30% 混ぜると Q5 EW 超過は 11.7〜12.4%、税引後は 7.3〜7.7% に下がる</a:t>
            </a:r>
            <a:endParaRPr lang="ja-JP" sz="1100" dirty="0"/>
          </a:p>
        </p:txBody>
      </p:sp>
      <p:sp>
        <p:nvSpPr>
          <p:cNvPr id="12" name="card"/>
          <p:cNvSpPr/>
          <p:nvPr/>
        </p:nvSpPr>
        <p:spPr>
          <a:xfrm>
            <a:off x="6631328" y="4526280"/>
            <a:ext cx="2862887" cy="1828800"/>
          </a:xfrm>
          <a:prstGeom prst="roundRect">
            <a:avLst>
              <a:gd name="adj" fmla="val 3000"/>
            </a:avLst>
          </a:prstGeom>
          <a:solidFill>
            <a:srgbClr val="F2F2F2"/>
          </a:solidFill>
          <a:ln/>
        </p:spPr>
      </p:sp>
      <p:sp>
        <p:nvSpPr>
          <p:cNvPr id="13" name="Text 9"/>
          <p:cNvSpPr txBox="1"/>
          <p:nvPr/>
        </p:nvSpPr>
        <p:spPr>
          <a:xfrm>
            <a:off x="6818478" y="4709160"/>
            <a:ext cx="2488588" cy="411480"/>
          </a:xfrm>
          <a:prstGeom prst="rect">
            <a:avLst/>
          </a:prstGeom>
          <a:noFill/>
          <a:ln/>
        </p:spPr>
        <p:txBody>
          <a:bodyPr wrap="square" lIns="0" tIns="0" rIns="0" bIns="0" rtlCol="0" anchor="t"/>
          <a:lstStyle/>
          <a:p>
            <a:pPr indent="0" marL="0">
              <a:buNone/>
            </a:pPr>
            <a:r>
              <a:rPr lang="ja-JP" altLang="en-US" sz="1400" b="1" dirty="0">
                <a:solidFill>
                  <a:srgbClr val="000000"/>
                </a:solidFill>
              </a:rPr>
              <a:t>期間で不安定</a:t>
            </a:r>
            <a:endParaRPr lang="ja-JP" sz="1400" dirty="0"/>
          </a:p>
        </p:txBody>
      </p:sp>
      <p:sp>
        <p:nvSpPr>
          <p:cNvPr id="14" name="Text 10"/>
          <p:cNvSpPr txBox="1"/>
          <p:nvPr/>
        </p:nvSpPr>
        <p:spPr>
          <a:xfrm>
            <a:off x="6818478" y="5166360"/>
            <a:ext cx="2488588" cy="1051560"/>
          </a:xfrm>
          <a:prstGeom prst="rect">
            <a:avLst/>
          </a:prstGeom>
          <a:noFill/>
          <a:ln/>
        </p:spPr>
        <p:txBody>
          <a:bodyPr wrap="square" lIns="0" tIns="0" rIns="0" bIns="0" rtlCol="0" anchor="t"/>
          <a:lstStyle/>
          <a:p>
            <a:pPr indent="0" marL="0">
              <a:buNone/>
            </a:pPr>
            <a:r>
              <a:rPr lang="ja-JP" altLang="en-US" sz="1100" dirty="0">
                <a:solidFill>
                  <a:srgbClr val="000000"/>
                </a:solidFill>
              </a:rPr>
              <a:t>Q5 超過の差は 2014–2018 年に年 +0.3〜+1.3%、2019–2022 年に −1.9〜−3.2%</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Agnostic｜結果 4  回転率</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12 か月平均は低回転だが、混ぜると回転率が戻る</a:t>
            </a:r>
            <a:endParaRPr lang="ja-JP" sz="1500" dirty="0"/>
          </a:p>
        </p:txBody>
      </p:sp>
      <p:pic>
        <p:nvPicPr>
          <p:cNvPr id="5" name="Image 0" descr="回転率の比較">    </p:cNvPr>
          <p:cNvPicPr>
            <a:picLocks noChangeAspect="1"/>
          </p:cNvPicPr>
          <p:nvPr/>
        </p:nvPicPr>
        <p:blipFill>
          <a:blip r:embed="rId1"/>
          <a:stretch>
            <a:fillRect/>
          </a:stretch>
        </p:blipFill>
        <p:spPr>
          <a:xfrm>
            <a:off x="411480" y="1508760"/>
            <a:ext cx="5532120" cy="4754880"/>
          </a:xfrm>
          <a:prstGeom prst="rect">
            <a:avLst/>
          </a:prstGeom>
        </p:spPr>
      </p:pic>
      <p:sp>
        <p:nvSpPr>
          <p:cNvPr id="6" name="card"/>
          <p:cNvSpPr/>
          <p:nvPr/>
        </p:nvSpPr>
        <p:spPr>
          <a:xfrm>
            <a:off x="6198140" y="1508760"/>
            <a:ext cx="3296075" cy="2514600"/>
          </a:xfrm>
          <a:prstGeom prst="roundRect">
            <a:avLst>
              <a:gd name="adj" fmla="val 2182"/>
            </a:avLst>
          </a:prstGeom>
          <a:solidFill>
            <a:srgbClr val="F2F2F2"/>
          </a:solidFill>
          <a:ln/>
        </p:spPr>
      </p:sp>
      <p:sp>
        <p:nvSpPr>
          <p:cNvPr id="7" name="Text 3"/>
          <p:cNvSpPr txBox="1"/>
          <p:nvPr/>
        </p:nvSpPr>
        <p:spPr>
          <a:xfrm>
            <a:off x="6385289" y="1691640"/>
            <a:ext cx="2921777" cy="365760"/>
          </a:xfrm>
          <a:prstGeom prst="rect">
            <a:avLst/>
          </a:prstGeom>
          <a:noFill/>
          <a:ln/>
        </p:spPr>
        <p:txBody>
          <a:bodyPr wrap="square" lIns="0" tIns="0" rIns="0" bIns="0" rtlCol="0" anchor="t"/>
          <a:lstStyle/>
          <a:p>
            <a:pPr indent="0" marL="0">
              <a:buNone/>
            </a:pPr>
            <a:r>
              <a:rPr lang="ja-JP" altLang="en-US" sz="1400" b="1" dirty="0">
                <a:solidFill>
                  <a:srgbClr val="000000"/>
                </a:solidFill>
              </a:rPr>
              <a:t>12 か月平均版の単体</a:t>
            </a:r>
            <a:endParaRPr lang="ja-JP" sz="1400" dirty="0"/>
          </a:p>
        </p:txBody>
      </p:sp>
      <p:sp>
        <p:nvSpPr>
          <p:cNvPr id="8" name="Text 4"/>
          <p:cNvSpPr txBox="1"/>
          <p:nvPr/>
        </p:nvSpPr>
        <p:spPr>
          <a:xfrm>
            <a:off x="6385289" y="2011680"/>
            <a:ext cx="1460888" cy="822960"/>
          </a:xfrm>
          <a:prstGeom prst="rect">
            <a:avLst/>
          </a:prstGeom>
          <a:noFill/>
          <a:ln/>
        </p:spPr>
        <p:txBody>
          <a:bodyPr wrap="square" lIns="0" tIns="0" rIns="0" bIns="0" rtlCol="0" anchor="b"/>
          <a:lstStyle/>
          <a:p>
            <a:pPr indent="0" marL="0">
              <a:buNone/>
            </a:pPr>
            <a:r>
              <a:rPr lang="ja-JP" altLang="en-US" sz="3100" b="1" dirty="0">
                <a:solidFill>
                  <a:srgbClr val="CB2420"/>
                </a:solidFill>
              </a:rPr>
              <a:t>45%</a:t>
            </a:r>
            <a:endParaRPr lang="ja-JP" sz="3100" dirty="0"/>
          </a:p>
        </p:txBody>
      </p:sp>
      <p:sp>
        <p:nvSpPr>
          <p:cNvPr id="9" name="Text 5"/>
          <p:cNvSpPr txBox="1"/>
          <p:nvPr/>
        </p:nvSpPr>
        <p:spPr>
          <a:xfrm>
            <a:off x="6385289" y="2880360"/>
            <a:ext cx="1460888" cy="822960"/>
          </a:xfrm>
          <a:prstGeom prst="rect">
            <a:avLst/>
          </a:prstGeom>
          <a:noFill/>
          <a:ln/>
        </p:spPr>
        <p:txBody>
          <a:bodyPr wrap="square" lIns="0" tIns="0" rIns="0" bIns="0" rtlCol="0" anchor="t"/>
          <a:lstStyle/>
          <a:p>
            <a:pPr indent="0" marL="0">
              <a:buNone/>
            </a:pPr>
            <a:r>
              <a:rPr lang="ja-JP" altLang="en-US" sz="1100" dirty="0">
                <a:solidFill>
                  <a:srgbClr val="000000"/>
                </a:solidFill>
              </a:rPr>
              <a:t>短期売却の比率</a:t>
            </a:r>
            <a:endParaRPr lang="ja-JP" sz="1100" dirty="0"/>
          </a:p>
          <a:p>
            <a:pPr indent="0" marL="0">
              <a:buNone/>
            </a:pPr>
            <a:r>
              <a:rPr lang="ja-JP" altLang="en-US" sz="1100" dirty="0">
                <a:solidFill>
                  <a:srgbClr val="000000"/>
                </a:solidFill>
              </a:rPr>
              <a:t>comp_ew は 81%</a:t>
            </a:r>
            <a:endParaRPr lang="ja-JP" sz="1100" dirty="0"/>
          </a:p>
        </p:txBody>
      </p:sp>
      <p:sp>
        <p:nvSpPr>
          <p:cNvPr id="10" name="Text 6"/>
          <p:cNvSpPr txBox="1"/>
          <p:nvPr/>
        </p:nvSpPr>
        <p:spPr>
          <a:xfrm>
            <a:off x="7846177" y="2011680"/>
            <a:ext cx="1460888" cy="822960"/>
          </a:xfrm>
          <a:prstGeom prst="rect">
            <a:avLst/>
          </a:prstGeom>
          <a:noFill/>
          <a:ln/>
        </p:spPr>
        <p:txBody>
          <a:bodyPr wrap="square" lIns="0" tIns="0" rIns="0" bIns="0" rtlCol="0" anchor="b"/>
          <a:lstStyle/>
          <a:p>
            <a:pPr indent="0" marL="0">
              <a:buNone/>
            </a:pPr>
            <a:r>
              <a:rPr lang="ja-JP" altLang="en-US" sz="3100" b="1" dirty="0">
                <a:solidFill>
                  <a:srgbClr val="CB2420"/>
                </a:solidFill>
              </a:rPr>
              <a:t>1.2%</a:t>
            </a:r>
            <a:endParaRPr lang="ja-JP" sz="3100" dirty="0"/>
          </a:p>
        </p:txBody>
      </p:sp>
      <p:sp>
        <p:nvSpPr>
          <p:cNvPr id="11" name="Text 7"/>
          <p:cNvSpPr txBox="1"/>
          <p:nvPr/>
        </p:nvSpPr>
        <p:spPr>
          <a:xfrm>
            <a:off x="7846177" y="2880360"/>
            <a:ext cx="1460888" cy="822960"/>
          </a:xfrm>
          <a:prstGeom prst="rect">
            <a:avLst/>
          </a:prstGeom>
          <a:noFill/>
          <a:ln/>
        </p:spPr>
        <p:txBody>
          <a:bodyPr wrap="square" lIns="0" tIns="0" rIns="0" bIns="0" rtlCol="0" anchor="t"/>
          <a:lstStyle/>
          <a:p>
            <a:pPr indent="0" marL="0">
              <a:buNone/>
            </a:pPr>
            <a:r>
              <a:rPr lang="ja-JP" altLang="en-US" sz="1100" dirty="0">
                <a:solidFill>
                  <a:srgbClr val="000000"/>
                </a:solidFill>
              </a:rPr>
              <a:t>税ドラッグ（年）</a:t>
            </a:r>
            <a:endParaRPr lang="ja-JP" sz="1100" dirty="0"/>
          </a:p>
          <a:p>
            <a:pPr indent="0" marL="0">
              <a:buNone/>
            </a:pPr>
            <a:r>
              <a:rPr lang="ja-JP" altLang="en-US" sz="1100" dirty="0">
                <a:solidFill>
                  <a:srgbClr val="000000"/>
                </a:solidFill>
              </a:rPr>
              <a:t>comp_ew は 2.8%</a:t>
            </a:r>
            <a:endParaRPr lang="ja-JP" sz="1100" dirty="0"/>
          </a:p>
        </p:txBody>
      </p:sp>
      <p:sp>
        <p:nvSpPr>
          <p:cNvPr id="12" name="card"/>
          <p:cNvSpPr/>
          <p:nvPr/>
        </p:nvSpPr>
        <p:spPr>
          <a:xfrm>
            <a:off x="6198140" y="4297680"/>
            <a:ext cx="3296075" cy="2057400"/>
          </a:xfrm>
          <a:prstGeom prst="roundRect">
            <a:avLst>
              <a:gd name="adj" fmla="val 2667"/>
            </a:avLst>
          </a:prstGeom>
          <a:solidFill>
            <a:srgbClr val="F2F2F2"/>
          </a:solidFill>
          <a:ln/>
        </p:spPr>
      </p:sp>
      <p:sp>
        <p:nvSpPr>
          <p:cNvPr id="13" name="Text 9"/>
          <p:cNvSpPr txBox="1"/>
          <p:nvPr/>
        </p:nvSpPr>
        <p:spPr>
          <a:xfrm>
            <a:off x="6385289" y="4480560"/>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なぜ戻るのか</a:t>
            </a:r>
            <a:endParaRPr lang="ja-JP" sz="1400" dirty="0"/>
          </a:p>
        </p:txBody>
      </p:sp>
      <p:sp>
        <p:nvSpPr>
          <p:cNvPr id="14" name="Text 10"/>
          <p:cNvSpPr txBox="1"/>
          <p:nvPr/>
        </p:nvSpPr>
        <p:spPr>
          <a:xfrm>
            <a:off x="6385289" y="4937760"/>
            <a:ext cx="2921777" cy="1280160"/>
          </a:xfrm>
          <a:prstGeom prst="rect">
            <a:avLst/>
          </a:prstGeom>
          <a:noFill/>
          <a:ln/>
        </p:spPr>
        <p:txBody>
          <a:bodyPr wrap="square" lIns="0" tIns="0" rIns="0" bIns="0" rtlCol="0" anchor="t"/>
          <a:lstStyle/>
          <a:p>
            <a:pPr indent="0" marL="0">
              <a:buNone/>
            </a:pPr>
            <a:r>
              <a:rPr lang="ja-JP" altLang="en-US" sz="1100" dirty="0">
                <a:solidFill>
                  <a:srgbClr val="000000"/>
                </a:solidFill>
              </a:rPr>
              <a:t>混ぜたスコアの順位の入れ替わりは comp_ew 側が決める。遅い素材を 20% 混ぜても、売買の回数はほとんど変わらない</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Agnostic｜判定</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優先度は中。使うなら Theil–Sen の中立化版</a:t>
            </a:r>
            <a:endParaRPr lang="ja-JP" sz="1500" dirty="0"/>
          </a:p>
        </p:txBody>
      </p:sp>
      <p:sp>
        <p:nvSpPr>
          <p:cNvPr id="5" name="card"/>
          <p:cNvSpPr/>
          <p:nvPr/>
        </p:nvSpPr>
        <p:spPr>
          <a:xfrm>
            <a:off x="411480" y="1508760"/>
            <a:ext cx="2862887" cy="2560320"/>
          </a:xfrm>
          <a:prstGeom prst="roundRect">
            <a:avLst>
              <a:gd name="adj" fmla="val 2143"/>
            </a:avLst>
          </a:prstGeom>
          <a:solidFill>
            <a:srgbClr val="F2F2F2"/>
          </a:solidFill>
          <a:ln/>
        </p:spPr>
      </p:sp>
      <p:sp>
        <p:nvSpPr>
          <p:cNvPr id="6" name="badge"/>
          <p:cNvSpPr/>
          <p:nvPr/>
        </p:nvSpPr>
        <p:spPr>
          <a:xfrm>
            <a:off x="602899" y="1783080"/>
            <a:ext cx="365760" cy="365760"/>
          </a:xfrm>
          <a:prstGeom prst="ellipse">
            <a:avLst/>
          </a:prstGeom>
          <a:solidFill>
            <a:srgbClr val="00305C"/>
          </a:solidFill>
          <a:ln/>
        </p:spPr>
      </p:sp>
      <p:sp>
        <p:nvSpPr>
          <p:cNvPr id="7" name="Text 4"/>
          <p:cNvSpPr txBox="1"/>
          <p:nvPr/>
        </p:nvSpPr>
        <p:spPr>
          <a:xfrm>
            <a:off x="602899"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1</a:t>
            </a:r>
            <a:endParaRPr lang="ja-JP" sz="1400" dirty="0"/>
          </a:p>
        </p:txBody>
      </p:sp>
      <p:sp>
        <p:nvSpPr>
          <p:cNvPr id="8" name="Text 5"/>
          <p:cNvSpPr txBox="1"/>
          <p:nvPr/>
        </p:nvSpPr>
        <p:spPr>
          <a:xfrm>
            <a:off x="1085218"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仮説は一部支持</a:t>
            </a:r>
            <a:endParaRPr lang="ja-JP" sz="1450" dirty="0"/>
          </a:p>
        </p:txBody>
      </p:sp>
      <p:sp>
        <p:nvSpPr>
          <p:cNvPr id="9" name="Text 6"/>
          <p:cNvSpPr txBox="1"/>
          <p:nvPr/>
        </p:nvSpPr>
        <p:spPr>
          <a:xfrm>
            <a:off x="598629"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中立化版は 24 か月先まで効き、論文と整合</a:t>
            </a:r>
            <a:endParaRPr lang="ja-JP" sz="1200" dirty="0"/>
          </a:p>
          <a:p>
            <a:pPr marL="152400" indent="-152400">
              <a:spcAft>
                <a:spcPts val="500"/>
              </a:spcAft>
              <a:buSzPct val="100000"/>
              <a:buChar char="•"/>
            </a:pPr>
            <a:r>
              <a:rPr lang="ja-JP" altLang="en-US" sz="1300" dirty="0">
                <a:solidFill>
                  <a:srgbClr val="000000"/>
                </a:solidFill>
              </a:rPr>
              <a:t>頑健な推定が効き、柔軟な機械学習は効かない</a:t>
            </a:r>
            <a:endParaRPr lang="ja-JP" sz="1200" dirty="0"/>
          </a:p>
        </p:txBody>
      </p:sp>
      <p:sp>
        <p:nvSpPr>
          <p:cNvPr id="10" name="card"/>
          <p:cNvSpPr/>
          <p:nvPr/>
        </p:nvSpPr>
        <p:spPr>
          <a:xfrm>
            <a:off x="3521404" y="1508760"/>
            <a:ext cx="2862887" cy="2560320"/>
          </a:xfrm>
          <a:prstGeom prst="roundRect">
            <a:avLst>
              <a:gd name="adj" fmla="val 2143"/>
            </a:avLst>
          </a:prstGeom>
          <a:solidFill>
            <a:srgbClr val="F2F2F2"/>
          </a:solidFill>
          <a:ln/>
        </p:spPr>
      </p:sp>
      <p:sp>
        <p:nvSpPr>
          <p:cNvPr id="11" name="badge"/>
          <p:cNvSpPr/>
          <p:nvPr/>
        </p:nvSpPr>
        <p:spPr>
          <a:xfrm>
            <a:off x="3712823" y="1783080"/>
            <a:ext cx="365760" cy="365760"/>
          </a:xfrm>
          <a:prstGeom prst="ellipse">
            <a:avLst/>
          </a:prstGeom>
          <a:solidFill>
            <a:srgbClr val="CB2420"/>
          </a:solidFill>
          <a:ln/>
        </p:spPr>
      </p:sp>
      <p:sp>
        <p:nvSpPr>
          <p:cNvPr id="12" name="Text 9"/>
          <p:cNvSpPr txBox="1"/>
          <p:nvPr/>
        </p:nvSpPr>
        <p:spPr>
          <a:xfrm>
            <a:off x="3712823"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2</a:t>
            </a:r>
            <a:endParaRPr lang="ja-JP" sz="1400" dirty="0"/>
          </a:p>
        </p:txBody>
      </p:sp>
      <p:sp>
        <p:nvSpPr>
          <p:cNvPr id="13" name="Text 10"/>
          <p:cNvSpPr txBox="1"/>
          <p:nvPr/>
        </p:nvSpPr>
        <p:spPr>
          <a:xfrm>
            <a:off x="4195142"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ただし単体は弱い</a:t>
            </a:r>
            <a:endParaRPr lang="ja-JP" sz="1450" dirty="0"/>
          </a:p>
        </p:txBody>
      </p:sp>
      <p:sp>
        <p:nvSpPr>
          <p:cNvPr id="14" name="Text 11"/>
          <p:cNvSpPr txBox="1"/>
          <p:nvPr/>
        </p:nvSpPr>
        <p:spPr>
          <a:xfrm>
            <a:off x="3708554"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IC は comp_ew の約 1/5</a:t>
            </a:r>
            <a:endParaRPr lang="ja-JP" sz="1200" dirty="0"/>
          </a:p>
          <a:p>
            <a:pPr marL="152400" indent="-152400">
              <a:spcAft>
                <a:spcPts val="500"/>
              </a:spcAft>
              <a:buSzPct val="100000"/>
              <a:buChar char="•"/>
            </a:pPr>
            <a:r>
              <a:rPr lang="ja-JP" altLang="en-US" sz="1300" dirty="0">
                <a:solidFill>
                  <a:srgbClr val="000000"/>
                </a:solidFill>
              </a:rPr>
              <a:t>固有リターンでは効かず、中身はバリュー</a:t>
            </a:r>
            <a:endParaRPr lang="ja-JP" sz="1200" dirty="0"/>
          </a:p>
        </p:txBody>
      </p:sp>
      <p:sp>
        <p:nvSpPr>
          <p:cNvPr id="15" name="card"/>
          <p:cNvSpPr/>
          <p:nvPr/>
        </p:nvSpPr>
        <p:spPr>
          <a:xfrm>
            <a:off x="6631328" y="1508760"/>
            <a:ext cx="2862887" cy="2560320"/>
          </a:xfrm>
          <a:prstGeom prst="roundRect">
            <a:avLst>
              <a:gd name="adj" fmla="val 2143"/>
            </a:avLst>
          </a:prstGeom>
          <a:solidFill>
            <a:srgbClr val="F2F2F2"/>
          </a:solidFill>
          <a:ln/>
        </p:spPr>
      </p:sp>
      <p:sp>
        <p:nvSpPr>
          <p:cNvPr id="16" name="badge"/>
          <p:cNvSpPr/>
          <p:nvPr/>
        </p:nvSpPr>
        <p:spPr>
          <a:xfrm>
            <a:off x="6822747" y="1783080"/>
            <a:ext cx="365760" cy="365760"/>
          </a:xfrm>
          <a:prstGeom prst="ellipse">
            <a:avLst/>
          </a:prstGeom>
          <a:solidFill>
            <a:srgbClr val="4E7C82"/>
          </a:solidFill>
          <a:ln/>
        </p:spPr>
      </p:sp>
      <p:sp>
        <p:nvSpPr>
          <p:cNvPr id="17" name="Text 14"/>
          <p:cNvSpPr txBox="1"/>
          <p:nvPr/>
        </p:nvSpPr>
        <p:spPr>
          <a:xfrm>
            <a:off x="6822747"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3</a:t>
            </a:r>
            <a:endParaRPr lang="ja-JP" sz="1400" dirty="0"/>
          </a:p>
        </p:txBody>
      </p:sp>
      <p:sp>
        <p:nvSpPr>
          <p:cNvPr id="18" name="Text 15"/>
          <p:cNvSpPr txBox="1"/>
          <p:nvPr/>
        </p:nvSpPr>
        <p:spPr>
          <a:xfrm>
            <a:off x="7305066"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混ぜても劣化しない</a:t>
            </a:r>
            <a:endParaRPr lang="ja-JP" sz="1450" dirty="0"/>
          </a:p>
        </p:txBody>
      </p:sp>
      <p:sp>
        <p:nvSpPr>
          <p:cNvPr id="19" name="Text 16"/>
          <p:cNvSpPr txBox="1"/>
          <p:nvPr/>
        </p:nvSpPr>
        <p:spPr>
          <a:xfrm>
            <a:off x="6818478"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80:20 で税引後 8.5% → 8.6%</a:t>
            </a:r>
            <a:endParaRPr lang="ja-JP" sz="1200" dirty="0"/>
          </a:p>
          <a:p>
            <a:pPr marL="152400" indent="-152400">
              <a:spcAft>
                <a:spcPts val="500"/>
              </a:spcAft>
              <a:buSzPct val="100000"/>
              <a:buChar char="•"/>
            </a:pPr>
            <a:r>
              <a:rPr lang="ja-JP" altLang="en-US" sz="1300" dirty="0">
                <a:solidFill>
                  <a:srgbClr val="000000"/>
                </a:solidFill>
              </a:rPr>
              <a:t>上乗せは期間で不安定</a:t>
            </a:r>
            <a:endParaRPr lang="ja-JP" sz="1200" dirty="0"/>
          </a:p>
        </p:txBody>
      </p:sp>
      <p:sp>
        <p:nvSpPr>
          <p:cNvPr id="20" name="next"/>
          <p:cNvSpPr/>
          <p:nvPr/>
        </p:nvSpPr>
        <p:spPr>
          <a:xfrm>
            <a:off x="411480" y="4343400"/>
            <a:ext cx="9082735" cy="1600200"/>
          </a:xfrm>
          <a:prstGeom prst="roundRect">
            <a:avLst>
              <a:gd name="adj" fmla="val 3429"/>
            </a:avLst>
          </a:prstGeom>
          <a:ln w="12700">
            <a:solidFill>
              <a:srgbClr val="BFBFBF"/>
            </a:solidFill>
            <a:prstDash val="solid"/>
          </a:ln>
        </p:spPr>
      </p:sp>
      <p:sp>
        <p:nvSpPr>
          <p:cNvPr id="21" name="Text 18"/>
          <p:cNvSpPr txBox="1"/>
          <p:nvPr/>
        </p:nvSpPr>
        <p:spPr>
          <a:xfrm>
            <a:off x="598629" y="4526280"/>
            <a:ext cx="2994391" cy="365760"/>
          </a:xfrm>
          <a:prstGeom prst="rect">
            <a:avLst/>
          </a:prstGeom>
          <a:noFill/>
          <a:ln/>
        </p:spPr>
        <p:txBody>
          <a:bodyPr wrap="square" lIns="0" tIns="0" rIns="0" bIns="0" rtlCol="0" anchor="t"/>
          <a:lstStyle/>
          <a:p>
            <a:pPr indent="0" marL="0">
              <a:buNone/>
            </a:pPr>
            <a:r>
              <a:rPr lang="ja-JP" altLang="en-US" sz="1400" b="1" dirty="0">
                <a:solidFill>
                  <a:srgbClr val="000000"/>
                </a:solidFill>
              </a:rPr>
              <a:t>次に試すなら</a:t>
            </a:r>
            <a:endParaRPr lang="ja-JP" sz="1400" dirty="0"/>
          </a:p>
        </p:txBody>
      </p:sp>
      <p:sp>
        <p:nvSpPr>
          <p:cNvPr id="22" name="Text 19"/>
          <p:cNvSpPr txBox="1"/>
          <p:nvPr/>
        </p:nvSpPr>
        <p:spPr>
          <a:xfrm>
            <a:off x="598629" y="4983480"/>
            <a:ext cx="8708436" cy="128016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bax で comp_ew 80 : Theil–Sen 中立化版 20 を回す（期待は小幅）</a:t>
            </a:r>
            <a:endParaRPr lang="ja-JP" sz="1200" dirty="0"/>
          </a:p>
          <a:p>
            <a:pPr marL="152400" indent="-152400">
              <a:spcAft>
                <a:spcPts val="500"/>
              </a:spcAft>
              <a:buSzPct val="100000"/>
              <a:buChar char="•"/>
            </a:pPr>
            <a:r>
              <a:rPr lang="ja-JP" altLang="en-US" sz="1300" dirty="0">
                <a:solidFill>
                  <a:srgbClr val="000000"/>
                </a:solidFill>
              </a:rPr>
              <a:t>四半期の直近 12 か月の財務が使えれば、論文に近づき更新頻度も上がる。Theil–Sen の設定（部分標本の大きさ・回数）の感度も未確認</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2 つの検証からの学び</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課題は素材より「売買の速さ」</a:t>
            </a:r>
            <a:endParaRPr lang="ja-JP" sz="1500" dirty="0"/>
          </a:p>
        </p:txBody>
      </p:sp>
      <p:sp>
        <p:nvSpPr>
          <p:cNvPr id="5" name="card"/>
          <p:cNvSpPr/>
          <p:nvPr/>
        </p:nvSpPr>
        <p:spPr>
          <a:xfrm>
            <a:off x="411480" y="1508760"/>
            <a:ext cx="3967568" cy="2286000"/>
          </a:xfrm>
          <a:prstGeom prst="roundRect">
            <a:avLst>
              <a:gd name="adj" fmla="val 2400"/>
            </a:avLst>
          </a:prstGeom>
          <a:solidFill>
            <a:srgbClr val="F2F2F2"/>
          </a:solidFill>
          <a:ln/>
        </p:spPr>
      </p:sp>
      <p:sp>
        <p:nvSpPr>
          <p:cNvPr id="6" name="Text 3"/>
          <p:cNvSpPr txBox="1"/>
          <p:nvPr/>
        </p:nvSpPr>
        <p:spPr>
          <a:xfrm>
            <a:off x="598629" y="1691640"/>
            <a:ext cx="3593269" cy="411480"/>
          </a:xfrm>
          <a:prstGeom prst="rect">
            <a:avLst/>
          </a:prstGeom>
          <a:noFill/>
          <a:ln/>
        </p:spPr>
        <p:txBody>
          <a:bodyPr wrap="square" lIns="0" tIns="0" rIns="0" bIns="0" rtlCol="0" anchor="t"/>
          <a:lstStyle/>
          <a:p>
            <a:pPr indent="0" marL="0">
              <a:buNone/>
            </a:pPr>
            <a:r>
              <a:rPr lang="ja-JP" altLang="en-US" sz="1400" b="1" dirty="0">
                <a:solidFill>
                  <a:srgbClr val="000000"/>
                </a:solidFill>
              </a:rPr>
              <a:t>速い情報は税に食われる</a:t>
            </a:r>
            <a:endParaRPr lang="ja-JP" sz="1400" dirty="0"/>
          </a:p>
        </p:txBody>
      </p:sp>
      <p:sp>
        <p:nvSpPr>
          <p:cNvPr id="7" name="Text 4"/>
          <p:cNvSpPr txBox="1"/>
          <p:nvPr/>
        </p:nvSpPr>
        <p:spPr>
          <a:xfrm>
            <a:off x="598629" y="2148840"/>
            <a:ext cx="3593269" cy="150876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abn_to は寿命 1〜2 か月、回転率 年 7.5 倍</a:t>
            </a:r>
            <a:endParaRPr lang="ja-JP" sz="1200" dirty="0"/>
          </a:p>
          <a:p>
            <a:pPr marL="152400" indent="-152400">
              <a:spcAft>
                <a:spcPts val="500"/>
              </a:spcAft>
              <a:buSzPct val="100000"/>
              <a:buChar char="•"/>
            </a:pPr>
            <a:r>
              <a:rPr lang="ja-JP" altLang="en-US" sz="1200" dirty="0">
                <a:solidFill>
                  <a:srgbClr val="000000"/>
                </a:solidFill>
              </a:rPr>
              <a:t>単体の税引後 Q5 超過は −0.4%</a:t>
            </a:r>
            <a:endParaRPr lang="ja-JP" sz="1200" dirty="0"/>
          </a:p>
          <a:p>
            <a:pPr marL="152400" indent="-152400">
              <a:spcAft>
                <a:spcPts val="500"/>
              </a:spcAft>
              <a:buSzPct val="100000"/>
              <a:buChar char="•"/>
            </a:pPr>
            <a:r>
              <a:rPr lang="ja-JP" altLang="en-US" sz="1200" dirty="0">
                <a:solidFill>
                  <a:srgbClr val="000000"/>
                </a:solidFill>
              </a:rPr>
              <a:t>業種追随 × 銘柄反転でも同じ構図だった</a:t>
            </a:r>
            <a:endParaRPr lang="ja-JP" sz="1200" dirty="0"/>
          </a:p>
        </p:txBody>
      </p:sp>
      <p:sp>
        <p:nvSpPr>
          <p:cNvPr id="8" name="card"/>
          <p:cNvSpPr/>
          <p:nvPr/>
        </p:nvSpPr>
        <p:spPr>
          <a:xfrm>
            <a:off x="411480" y="4069080"/>
            <a:ext cx="3967568" cy="2286000"/>
          </a:xfrm>
          <a:prstGeom prst="roundRect">
            <a:avLst>
              <a:gd name="adj" fmla="val 2400"/>
            </a:avLst>
          </a:prstGeom>
          <a:solidFill>
            <a:srgbClr val="F2F2F2"/>
          </a:solidFill>
          <a:ln/>
        </p:spPr>
      </p:sp>
      <p:sp>
        <p:nvSpPr>
          <p:cNvPr id="9" name="Text 6"/>
          <p:cNvSpPr txBox="1"/>
          <p:nvPr/>
        </p:nvSpPr>
        <p:spPr>
          <a:xfrm>
            <a:off x="598629" y="4251960"/>
            <a:ext cx="3593269" cy="411480"/>
          </a:xfrm>
          <a:prstGeom prst="rect">
            <a:avLst/>
          </a:prstGeom>
          <a:noFill/>
          <a:ln/>
        </p:spPr>
        <p:txBody>
          <a:bodyPr wrap="square" lIns="0" tIns="0" rIns="0" bIns="0" rtlCol="0" anchor="t"/>
          <a:lstStyle/>
          <a:p>
            <a:pPr indent="0" marL="0">
              <a:buNone/>
            </a:pPr>
            <a:r>
              <a:rPr lang="ja-JP" altLang="en-US" sz="1400" b="1" dirty="0">
                <a:solidFill>
                  <a:srgbClr val="000000"/>
                </a:solidFill>
              </a:rPr>
              <a:t>遅い情報は混ぜると活きない</a:t>
            </a:r>
            <a:endParaRPr lang="ja-JP" sz="1400" dirty="0"/>
          </a:p>
        </p:txBody>
      </p:sp>
      <p:sp>
        <p:nvSpPr>
          <p:cNvPr id="10" name="Text 7"/>
          <p:cNvSpPr txBox="1"/>
          <p:nvPr/>
        </p:nvSpPr>
        <p:spPr>
          <a:xfrm>
            <a:off x="598629" y="4709160"/>
            <a:ext cx="3593269" cy="150876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Agnostic の 12 か月平均版は単体で回転率 113%</a:t>
            </a:r>
            <a:endParaRPr lang="ja-JP" sz="1200" dirty="0"/>
          </a:p>
          <a:p>
            <a:pPr marL="152400" indent="-152400">
              <a:spcAft>
                <a:spcPts val="500"/>
              </a:spcAft>
              <a:buSzPct val="100000"/>
              <a:buChar char="•"/>
            </a:pPr>
            <a:r>
              <a:rPr lang="ja-JP" altLang="en-US" sz="1200" dirty="0">
                <a:solidFill>
                  <a:srgbClr val="000000"/>
                </a:solidFill>
              </a:rPr>
              <a:t>20% 混ぜると 401% で comp_ew（402%）と同じ</a:t>
            </a:r>
            <a:endParaRPr lang="ja-JP" sz="1200" dirty="0"/>
          </a:p>
          <a:p>
            <a:pPr marL="152400" indent="-152400">
              <a:spcAft>
                <a:spcPts val="500"/>
              </a:spcAft>
              <a:buSzPct val="100000"/>
              <a:buChar char="•"/>
            </a:pPr>
            <a:r>
              <a:rPr lang="ja-JP" altLang="en-US" sz="1200" dirty="0">
                <a:solidFill>
                  <a:srgbClr val="000000"/>
                </a:solidFill>
              </a:rPr>
              <a:t>売買の速さは comp_ew 側が決める</a:t>
            </a:r>
            <a:endParaRPr lang="ja-JP" sz="1200" dirty="0"/>
          </a:p>
        </p:txBody>
      </p:sp>
      <p:pic>
        <p:nvPicPr>
          <p:cNvPr id="11" name="Image 0" descr="comp_ew の IC の減衰">    </p:cNvPr>
          <p:cNvPicPr>
            <a:picLocks noChangeAspect="1"/>
          </p:cNvPicPr>
          <p:nvPr/>
        </p:nvPicPr>
        <p:blipFill>
          <a:blip r:embed="rId1"/>
          <a:stretch>
            <a:fillRect/>
          </a:stretch>
        </p:blipFill>
        <p:spPr>
          <a:xfrm>
            <a:off x="4626085" y="1508760"/>
            <a:ext cx="4846320" cy="3520440"/>
          </a:xfrm>
          <a:prstGeom prst="rect">
            <a:avLst/>
          </a:prstGeom>
        </p:spPr>
      </p:pic>
      <p:sp>
        <p:nvSpPr>
          <p:cNvPr id="12" name="insight"/>
          <p:cNvSpPr/>
          <p:nvPr/>
        </p:nvSpPr>
        <p:spPr>
          <a:xfrm>
            <a:off x="4626085" y="5257800"/>
            <a:ext cx="4868130" cy="1097280"/>
          </a:xfrm>
          <a:prstGeom prst="roundRect">
            <a:avLst>
              <a:gd name="adj" fmla="val 5000"/>
            </a:avLst>
          </a:prstGeom>
          <a:solidFill>
            <a:srgbClr val="FBE9E8"/>
          </a:solidFill>
          <a:ln w="12700">
            <a:solidFill>
              <a:srgbClr val="CB2420"/>
            </a:solidFill>
            <a:prstDash val="solid"/>
          </a:ln>
        </p:spPr>
      </p:sp>
      <p:sp>
        <p:nvSpPr>
          <p:cNvPr id="13" name="Text 9"/>
          <p:cNvSpPr txBox="1"/>
          <p:nvPr/>
        </p:nvSpPr>
        <p:spPr>
          <a:xfrm>
            <a:off x="4813234" y="5257800"/>
            <a:ext cx="4493832" cy="1097280"/>
          </a:xfrm>
          <a:prstGeom prst="rect">
            <a:avLst/>
          </a:prstGeom>
          <a:noFill/>
          <a:ln/>
        </p:spPr>
        <p:txBody>
          <a:bodyPr wrap="square" lIns="0" tIns="0" rIns="0" bIns="0" rtlCol="0" anchor="ctr"/>
          <a:lstStyle/>
          <a:p>
            <a:pPr indent="0" marL="0">
              <a:buNone/>
            </a:pPr>
            <a:r>
              <a:rPr lang="ja-JP" altLang="en-US" sz="1200" dirty="0">
                <a:solidFill>
                  <a:srgbClr val="000000"/>
                </a:solidFill>
              </a:rPr>
              <a:t>12 か月先でも IC は 1 か月の約半分が残るのに、回転率は年 4 倍。</a:t>
            </a:r>
            <a:endParaRPr lang="ja-JP" sz="1200" dirty="0"/>
          </a:p>
          <a:p>
            <a:pPr indent="0" marL="0">
              <a:buNone/>
            </a:pPr>
            <a:r>
              <a:rPr lang="ja-JP" altLang="en-US" sz="1200" b="1" dirty="0">
                <a:solidFill>
                  <a:srgbClr val="CB2420"/>
                </a:solidFill>
              </a:rPr>
              <a:t>comp_ew 自身が、情報の寿命より速く売買している</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次の一手</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素材を足す前に、ポートフォリオ側で売買を遅くする</a:t>
            </a:r>
            <a:endParaRPr lang="ja-JP" sz="1500" dirty="0"/>
          </a:p>
        </p:txBody>
      </p:sp>
      <p:sp>
        <p:nvSpPr>
          <p:cNvPr id="5" name="card"/>
          <p:cNvSpPr/>
          <p:nvPr/>
        </p:nvSpPr>
        <p:spPr>
          <a:xfrm>
            <a:off x="411480" y="1508760"/>
            <a:ext cx="2862887" cy="2743200"/>
          </a:xfrm>
          <a:prstGeom prst="roundRect">
            <a:avLst>
              <a:gd name="adj" fmla="val 2000"/>
            </a:avLst>
          </a:prstGeom>
          <a:solidFill>
            <a:srgbClr val="F2F2F2"/>
          </a:solidFill>
          <a:ln/>
        </p:spPr>
      </p:sp>
      <p:sp>
        <p:nvSpPr>
          <p:cNvPr id="6" name="badge"/>
          <p:cNvSpPr/>
          <p:nvPr/>
        </p:nvSpPr>
        <p:spPr>
          <a:xfrm>
            <a:off x="602899" y="1783080"/>
            <a:ext cx="365760" cy="365760"/>
          </a:xfrm>
          <a:prstGeom prst="ellipse">
            <a:avLst/>
          </a:prstGeom>
          <a:solidFill>
            <a:srgbClr val="CB2420"/>
          </a:solidFill>
          <a:ln/>
        </p:spPr>
      </p:sp>
      <p:sp>
        <p:nvSpPr>
          <p:cNvPr id="7" name="Text 4"/>
          <p:cNvSpPr txBox="1"/>
          <p:nvPr/>
        </p:nvSpPr>
        <p:spPr>
          <a:xfrm>
            <a:off x="602899"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1</a:t>
            </a:r>
            <a:endParaRPr lang="ja-JP" sz="1400" dirty="0"/>
          </a:p>
        </p:txBody>
      </p:sp>
      <p:sp>
        <p:nvSpPr>
          <p:cNvPr id="8" name="Text 5"/>
          <p:cNvSpPr txBox="1"/>
          <p:nvPr/>
        </p:nvSpPr>
        <p:spPr>
          <a:xfrm>
            <a:off x="1085218" y="1691640"/>
            <a:ext cx="2039430" cy="365760"/>
          </a:xfrm>
          <a:prstGeom prst="rect">
            <a:avLst/>
          </a:prstGeom>
          <a:noFill/>
          <a:ln/>
        </p:spPr>
        <p:txBody>
          <a:bodyPr wrap="square" lIns="0" tIns="0" rIns="0" bIns="0" rtlCol="0" anchor="t"/>
          <a:lstStyle/>
          <a:p>
            <a:pPr indent="0" marL="0">
              <a:buNone/>
            </a:pPr>
            <a:r>
              <a:rPr lang="ja-JP" altLang="en-US" sz="1450" b="1" dirty="0">
                <a:solidFill>
                  <a:srgbClr val="000000"/>
                </a:solidFill>
              </a:rPr>
              <a:t>部分調整</a:t>
            </a:r>
            <a:endParaRPr lang="ja-JP" sz="1450" dirty="0"/>
          </a:p>
        </p:txBody>
      </p:sp>
      <p:sp>
        <p:nvSpPr>
          <p:cNvPr id="9" name="Text 6"/>
          <p:cNvSpPr txBox="1"/>
          <p:nvPr/>
        </p:nvSpPr>
        <p:spPr>
          <a:xfrm>
            <a:off x="1085218" y="2057400"/>
            <a:ext cx="2039430" cy="274320"/>
          </a:xfrm>
          <a:prstGeom prst="rect">
            <a:avLst/>
          </a:prstGeom>
          <a:noFill/>
          <a:ln/>
        </p:spPr>
        <p:txBody>
          <a:bodyPr wrap="square" lIns="0" tIns="0" rIns="0" bIns="0" rtlCol="0" anchor="t"/>
          <a:lstStyle/>
          <a:p>
            <a:pPr indent="0" marL="0">
              <a:buNone/>
            </a:pPr>
            <a:r>
              <a:rPr lang="ja-JP" altLang="en-US" sz="1050" dirty="0">
                <a:solidFill>
                  <a:srgbClr val="737374"/>
                </a:solidFill>
              </a:rPr>
              <a:t>Portfolio-ML 型</a:t>
            </a:r>
            <a:endParaRPr lang="ja-JP" sz="1050" dirty="0"/>
          </a:p>
        </p:txBody>
      </p:sp>
      <p:sp>
        <p:nvSpPr>
          <p:cNvPr id="10" name="Text 7"/>
          <p:cNvSpPr txBox="1"/>
          <p:nvPr/>
        </p:nvSpPr>
        <p:spPr>
          <a:xfrm>
            <a:off x="598629" y="2514600"/>
            <a:ext cx="2488588" cy="1600200"/>
          </a:xfrm>
          <a:prstGeom prst="rect">
            <a:avLst/>
          </a:prstGeom>
          <a:noFill/>
          <a:ln/>
        </p:spPr>
        <p:txBody>
          <a:bodyPr wrap="square" lIns="0" tIns="0" rIns="0" bIns="0" rtlCol="0" anchor="t"/>
          <a:lstStyle/>
          <a:p>
            <a:pPr indent="0" marL="0">
              <a:buNone/>
            </a:pPr>
            <a:r>
              <a:rPr lang="ja-JP" altLang="en-US" sz="1300" dirty="0">
                <a:solidFill>
                  <a:srgbClr val="000000"/>
                </a:solidFill>
              </a:rPr>
              <a:t>コストと税を無視した bax の目標ポートフォリオへ、毎月一部だけ寄せる。寄せる速さ m を 0〜0.8 で比べる。既存の出力で検証でき、まずここから</a:t>
            </a:r>
            <a:endParaRPr lang="ja-JP" sz="1300" dirty="0"/>
          </a:p>
        </p:txBody>
      </p:sp>
      <p:sp>
        <p:nvSpPr>
          <p:cNvPr id="11" name="card"/>
          <p:cNvSpPr/>
          <p:nvPr/>
        </p:nvSpPr>
        <p:spPr>
          <a:xfrm>
            <a:off x="3521404" y="1508760"/>
            <a:ext cx="2862887" cy="2743200"/>
          </a:xfrm>
          <a:prstGeom prst="roundRect">
            <a:avLst>
              <a:gd name="adj" fmla="val 2000"/>
            </a:avLst>
          </a:prstGeom>
          <a:solidFill>
            <a:srgbClr val="F2F2F2"/>
          </a:solidFill>
          <a:ln/>
        </p:spPr>
      </p:sp>
      <p:sp>
        <p:nvSpPr>
          <p:cNvPr id="12" name="badge"/>
          <p:cNvSpPr/>
          <p:nvPr/>
        </p:nvSpPr>
        <p:spPr>
          <a:xfrm>
            <a:off x="3712823" y="1783080"/>
            <a:ext cx="365760" cy="365760"/>
          </a:xfrm>
          <a:prstGeom prst="ellipse">
            <a:avLst/>
          </a:prstGeom>
          <a:solidFill>
            <a:srgbClr val="00305C"/>
          </a:solidFill>
          <a:ln/>
        </p:spPr>
      </p:sp>
      <p:sp>
        <p:nvSpPr>
          <p:cNvPr id="13" name="Text 10"/>
          <p:cNvSpPr txBox="1"/>
          <p:nvPr/>
        </p:nvSpPr>
        <p:spPr>
          <a:xfrm>
            <a:off x="3712823"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2</a:t>
            </a:r>
            <a:endParaRPr lang="ja-JP" sz="1400" dirty="0"/>
          </a:p>
        </p:txBody>
      </p:sp>
      <p:sp>
        <p:nvSpPr>
          <p:cNvPr id="14" name="Text 11"/>
          <p:cNvSpPr txBox="1"/>
          <p:nvPr/>
        </p:nvSpPr>
        <p:spPr>
          <a:xfrm>
            <a:off x="4195142" y="1691640"/>
            <a:ext cx="2039430" cy="365760"/>
          </a:xfrm>
          <a:prstGeom prst="rect">
            <a:avLst/>
          </a:prstGeom>
          <a:noFill/>
          <a:ln/>
        </p:spPr>
        <p:txBody>
          <a:bodyPr wrap="square" lIns="0" tIns="0" rIns="0" bIns="0" rtlCol="0" anchor="t"/>
          <a:lstStyle/>
          <a:p>
            <a:pPr indent="0" marL="0">
              <a:buNone/>
            </a:pPr>
            <a:r>
              <a:rPr lang="ja-JP" altLang="en-US" sz="1450" b="1" dirty="0">
                <a:solidFill>
                  <a:srgbClr val="000000"/>
                </a:solidFill>
              </a:rPr>
              <a:t>多期間最適化</a:t>
            </a:r>
            <a:endParaRPr lang="ja-JP" sz="1450" dirty="0"/>
          </a:p>
        </p:txBody>
      </p:sp>
      <p:sp>
        <p:nvSpPr>
          <p:cNvPr id="15" name="Text 12"/>
          <p:cNvSpPr txBox="1"/>
          <p:nvPr/>
        </p:nvSpPr>
        <p:spPr>
          <a:xfrm>
            <a:off x="4195142" y="2057400"/>
            <a:ext cx="2039430" cy="274320"/>
          </a:xfrm>
          <a:prstGeom prst="rect">
            <a:avLst/>
          </a:prstGeom>
          <a:noFill/>
          <a:ln/>
        </p:spPr>
        <p:txBody>
          <a:bodyPr wrap="square" lIns="0" tIns="0" rIns="0" bIns="0" rtlCol="0" anchor="t"/>
          <a:lstStyle/>
          <a:p>
            <a:pPr indent="0" marL="0">
              <a:buNone/>
            </a:pPr>
            <a:r>
              <a:rPr lang="ja-JP" altLang="en-US" sz="1050" dirty="0">
                <a:solidFill>
                  <a:srgbClr val="737374"/>
                </a:solidFill>
              </a:rPr>
              <a:t>1 の効果が大きければ</a:t>
            </a:r>
            <a:endParaRPr lang="ja-JP" sz="1050" dirty="0"/>
          </a:p>
        </p:txBody>
      </p:sp>
      <p:sp>
        <p:nvSpPr>
          <p:cNvPr id="16" name="Text 13"/>
          <p:cNvSpPr txBox="1"/>
          <p:nvPr/>
        </p:nvSpPr>
        <p:spPr>
          <a:xfrm>
            <a:off x="3708554" y="2514600"/>
            <a:ext cx="2488588" cy="1600200"/>
          </a:xfrm>
          <a:prstGeom prst="rect">
            <a:avLst/>
          </a:prstGeom>
          <a:noFill/>
          <a:ln/>
        </p:spPr>
        <p:txBody>
          <a:bodyPr wrap="square" lIns="0" tIns="0" rIns="0" bIns="0" rtlCol="0" anchor="t"/>
          <a:lstStyle/>
          <a:p>
            <a:pPr indent="0" marL="0">
              <a:buNone/>
            </a:pPr>
            <a:r>
              <a:rPr lang="ja-JP" altLang="en-US" sz="1300" dirty="0">
                <a:solidFill>
                  <a:srgbClr val="000000"/>
                </a:solidFill>
              </a:rPr>
              <a:t>IC の減衰から各月先のアルファを作り、先 3〜6 か月の売買をまとめて解く。最適化ソルバー（cvxpy など）の追加が必要</a:t>
            </a:r>
            <a:endParaRPr lang="ja-JP" sz="1300" dirty="0"/>
          </a:p>
        </p:txBody>
      </p:sp>
      <p:sp>
        <p:nvSpPr>
          <p:cNvPr id="17" name="card"/>
          <p:cNvSpPr/>
          <p:nvPr/>
        </p:nvSpPr>
        <p:spPr>
          <a:xfrm>
            <a:off x="6631328" y="1508760"/>
            <a:ext cx="2862887" cy="2743200"/>
          </a:xfrm>
          <a:prstGeom prst="roundRect">
            <a:avLst>
              <a:gd name="adj" fmla="val 2000"/>
            </a:avLst>
          </a:prstGeom>
          <a:solidFill>
            <a:srgbClr val="F2F2F2"/>
          </a:solidFill>
          <a:ln/>
        </p:spPr>
      </p:sp>
      <p:sp>
        <p:nvSpPr>
          <p:cNvPr id="18" name="badge"/>
          <p:cNvSpPr/>
          <p:nvPr/>
        </p:nvSpPr>
        <p:spPr>
          <a:xfrm>
            <a:off x="6822747" y="1783080"/>
            <a:ext cx="365760" cy="365760"/>
          </a:xfrm>
          <a:prstGeom prst="ellipse">
            <a:avLst/>
          </a:prstGeom>
          <a:solidFill>
            <a:srgbClr val="4E7C82"/>
          </a:solidFill>
          <a:ln/>
        </p:spPr>
      </p:sp>
      <p:sp>
        <p:nvSpPr>
          <p:cNvPr id="19" name="Text 16"/>
          <p:cNvSpPr txBox="1"/>
          <p:nvPr/>
        </p:nvSpPr>
        <p:spPr>
          <a:xfrm>
            <a:off x="6822747"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3</a:t>
            </a:r>
            <a:endParaRPr lang="ja-JP" sz="1400" dirty="0"/>
          </a:p>
        </p:txBody>
      </p:sp>
      <p:sp>
        <p:nvSpPr>
          <p:cNvPr id="20" name="Text 17"/>
          <p:cNvSpPr txBox="1"/>
          <p:nvPr/>
        </p:nvSpPr>
        <p:spPr>
          <a:xfrm>
            <a:off x="7305066" y="1691640"/>
            <a:ext cx="2039430" cy="365760"/>
          </a:xfrm>
          <a:prstGeom prst="rect">
            <a:avLst/>
          </a:prstGeom>
          <a:noFill/>
          <a:ln/>
        </p:spPr>
        <p:txBody>
          <a:bodyPr wrap="square" lIns="0" tIns="0" rIns="0" bIns="0" rtlCol="0" anchor="t"/>
          <a:lstStyle/>
          <a:p>
            <a:pPr indent="0" marL="0">
              <a:buNone/>
            </a:pPr>
            <a:r>
              <a:rPr lang="ja-JP" altLang="en-US" sz="1450" b="1" dirty="0">
                <a:solidFill>
                  <a:srgbClr val="000000"/>
                </a:solidFill>
              </a:rPr>
              <a:t>素材の小さな使い道</a:t>
            </a:r>
            <a:endParaRPr lang="ja-JP" sz="1450" dirty="0"/>
          </a:p>
        </p:txBody>
      </p:sp>
      <p:sp>
        <p:nvSpPr>
          <p:cNvPr id="21" name="Text 18"/>
          <p:cNvSpPr txBox="1"/>
          <p:nvPr/>
        </p:nvSpPr>
        <p:spPr>
          <a:xfrm>
            <a:off x="7305066" y="2057400"/>
            <a:ext cx="2039430" cy="274320"/>
          </a:xfrm>
          <a:prstGeom prst="rect">
            <a:avLst/>
          </a:prstGeom>
          <a:noFill/>
          <a:ln/>
        </p:spPr>
        <p:txBody>
          <a:bodyPr wrap="square" lIns="0" tIns="0" rIns="0" bIns="0" rtlCol="0" anchor="t"/>
          <a:lstStyle/>
          <a:p>
            <a:pPr indent="0" marL="0">
              <a:buNone/>
            </a:pPr>
            <a:r>
              <a:rPr lang="ja-JP" altLang="en-US" sz="1050" dirty="0">
                <a:solidFill>
                  <a:srgbClr val="737374"/>
                </a:solidFill>
              </a:rPr>
              <a:t>並行して</a:t>
            </a:r>
            <a:endParaRPr lang="ja-JP" sz="1050" dirty="0"/>
          </a:p>
        </p:txBody>
      </p:sp>
      <p:sp>
        <p:nvSpPr>
          <p:cNvPr id="22" name="Text 19"/>
          <p:cNvSpPr txBox="1"/>
          <p:nvPr/>
        </p:nvSpPr>
        <p:spPr>
          <a:xfrm>
            <a:off x="6818478" y="2514600"/>
            <a:ext cx="2488588" cy="160020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abn_to_med: bax の新規買いの除外条件</a:t>
            </a:r>
            <a:endParaRPr lang="ja-JP" sz="1300" dirty="0"/>
          </a:p>
          <a:p>
            <a:pPr marL="152400" indent="-152400">
              <a:spcAft>
                <a:spcPts val="500"/>
              </a:spcAft>
              <a:buSzPct val="100000"/>
              <a:buChar char="•"/>
            </a:pPr>
            <a:r>
              <a:rPr lang="ja-JP" altLang="en-US" sz="1300" dirty="0">
                <a:solidFill>
                  <a:srgbClr val="000000"/>
                </a:solidFill>
              </a:rPr>
              <a:t>Theil–Sen 中立化版: comp_ew 80:20 で bax に</a:t>
            </a:r>
            <a:endParaRPr lang="ja-JP" sz="1300" dirty="0"/>
          </a:p>
        </p:txBody>
      </p:sp>
      <p:sp>
        <p:nvSpPr>
          <p:cNvPr id="23" name="also"/>
          <p:cNvSpPr/>
          <p:nvPr/>
        </p:nvSpPr>
        <p:spPr>
          <a:xfrm>
            <a:off x="411480" y="4526280"/>
            <a:ext cx="9082735" cy="1188720"/>
          </a:xfrm>
          <a:prstGeom prst="roundRect">
            <a:avLst>
              <a:gd name="adj" fmla="val 4615"/>
            </a:avLst>
          </a:prstGeom>
          <a:ln w="12700">
            <a:solidFill>
              <a:srgbClr val="BFBFBF"/>
            </a:solidFill>
            <a:prstDash val="solid"/>
          </a:ln>
        </p:spPr>
      </p:sp>
      <p:sp>
        <p:nvSpPr>
          <p:cNvPr id="24" name="Text 21"/>
          <p:cNvSpPr txBox="1"/>
          <p:nvPr/>
        </p:nvSpPr>
        <p:spPr>
          <a:xfrm>
            <a:off x="598629" y="4526280"/>
            <a:ext cx="8708436" cy="1188720"/>
          </a:xfrm>
          <a:prstGeom prst="rect">
            <a:avLst/>
          </a:prstGeom>
          <a:noFill/>
          <a:ln/>
        </p:spPr>
        <p:txBody>
          <a:bodyPr wrap="square" lIns="0" tIns="0" rIns="0" bIns="0" rtlCol="0" anchor="ctr"/>
          <a:lstStyle/>
          <a:p>
            <a:pPr indent="0" marL="0">
              <a:buNone/>
            </a:pPr>
            <a:r>
              <a:rPr lang="ja-JP" altLang="en-US" sz="1300" b="1" dirty="0">
                <a:solidFill>
                  <a:srgbClr val="CB2420"/>
                </a:solidFill>
              </a:rPr>
              <a:t>あわせて測る: </a:t>
            </a:r>
            <a:pPr indent="0" marL="0">
              <a:buNone/>
            </a:pPr>
            <a:r>
              <a:rPr lang="ja-JP" altLang="en-US" sz="1300" dirty="0">
                <a:solidFill>
                  <a:srgbClr val="000000"/>
                </a:solidFill>
              </a:rPr>
              <a:t>comp_ew の平滑化（3・6 か月平均）と分位バッファ、保有 12 か月直前の売却を避けるルールが、税引後をどれだけ改善するか</a:t>
            </a:r>
            <a:endParaRPr lang="ja-JP" sz="13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type="body" idx="1"/>
          </p:nvPr>
        </p:nvSpPr>
        <p:spPr>
          <a:xfrm>
            <a:off x="265176" y="3602736"/>
            <a:ext cx="7818120" cy="859536"/>
          </a:xfrm>
          <a:prstGeom prst="rect">
            <a:avLst/>
          </a:prstGeom>
          <a:noFill/>
          <a:ln/>
        </p:spPr>
        <p:txBody>
          <a:bodyPr wrap="square" rtlCol="0"/>
          <a:lstStyle/>
          <a:p>
            <a:pPr indent="0" marL="0">
              <a:buNone/>
            </a:pPr>
            <a:r>
              <a:rPr lang="ja-JP" altLang="en-US" sz="2400" b="1" dirty="0">
                <a:solidFill>
                  <a:srgbClr val="000000"/>
                </a:solidFill>
              </a:rPr>
              <a:t>Appendix  スタイル類似局面（DTW）</a:t>
            </a:r>
            <a:endParaRPr lang="ja-JP" sz="2400" dirty="0"/>
          </a:p>
        </p:txBody>
      </p:sp>
      <p:sp>
        <p:nvSpPr>
          <p:cNvPr id="3" name="Text 0"/>
          <p:cNvSpPr/>
          <p:nvPr>
            <p:ph type="title"/>
          </p:nvPr>
        </p:nvSpPr>
        <p:spPr>
          <a:xfrm>
            <a:off x="265176" y="4608576"/>
            <a:ext cx="7818120" cy="512064"/>
          </a:xfrm>
          <a:prstGeom prst="rect">
            <a:avLst/>
          </a:prstGeom>
          <a:noFill/>
          <a:ln/>
        </p:spPr>
        <p:txBody>
          <a:bodyPr wrap="square" rtlCol="0"/>
          <a:lstStyle/>
          <a:p>
            <a:pPr indent="0" marL="0">
              <a:buNone/>
            </a:pPr>
            <a:r>
              <a:rPr lang="ja-JP" altLang="en-US" sz="1800" dirty="0">
                <a:solidFill>
                  <a:srgbClr val="000000"/>
                </a:solidFill>
              </a:rPr>
              <a:t>似た過去局面から、翌月のスタイルを予測できるか（不採用）</a:t>
            </a:r>
            <a:endParaRPr lang="ja-JP"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DTW｜なぜ試したか</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スタイルの効き方は時期で大きく変わる。似た局面の後は似た動きをするなら、配分を変えて取れる</a:t>
            </a:r>
            <a:endParaRPr lang="ja-JP" sz="1500" dirty="0"/>
          </a:p>
        </p:txBody>
      </p:sp>
      <p:sp>
        <p:nvSpPr>
          <p:cNvPr id="5" name="card"/>
          <p:cNvSpPr/>
          <p:nvPr/>
        </p:nvSpPr>
        <p:spPr>
          <a:xfrm>
            <a:off x="411480" y="1508760"/>
            <a:ext cx="4192147" cy="3520440"/>
          </a:xfrm>
          <a:prstGeom prst="roundRect">
            <a:avLst>
              <a:gd name="adj" fmla="val 1558"/>
            </a:avLst>
          </a:prstGeom>
          <a:solidFill>
            <a:srgbClr val="F2F2F2"/>
          </a:solidFill>
          <a:ln/>
        </p:spPr>
      </p:sp>
      <p:sp>
        <p:nvSpPr>
          <p:cNvPr id="6" name="Text 3"/>
          <p:cNvSpPr txBox="1"/>
          <p:nvPr/>
        </p:nvSpPr>
        <p:spPr>
          <a:xfrm>
            <a:off x="598629" y="1691640"/>
            <a:ext cx="3817848" cy="411480"/>
          </a:xfrm>
          <a:prstGeom prst="rect">
            <a:avLst/>
          </a:prstGeom>
          <a:noFill/>
          <a:ln/>
        </p:spPr>
        <p:txBody>
          <a:bodyPr wrap="square" lIns="0" tIns="0" rIns="0" bIns="0" rtlCol="0" anchor="t"/>
          <a:lstStyle/>
          <a:p>
            <a:pPr indent="0" marL="0">
              <a:buNone/>
            </a:pPr>
            <a:r>
              <a:rPr lang="ja-JP" altLang="en-US" sz="1300" b="1" dirty="0">
                <a:solidFill>
                  <a:srgbClr val="000000"/>
                </a:solidFill>
              </a:rPr>
              <a:t>背景: 野村 BPN スタイル配分の改良方針（2022/10）</a:t>
            </a:r>
            <a:endParaRPr lang="ja-JP" sz="1300" dirty="0"/>
          </a:p>
        </p:txBody>
      </p:sp>
      <p:sp>
        <p:nvSpPr>
          <p:cNvPr id="7" name="Text 4"/>
          <p:cNvSpPr txBox="1"/>
          <p:nvPr/>
        </p:nvSpPr>
        <p:spPr>
          <a:xfrm>
            <a:off x="598629" y="2194560"/>
            <a:ext cx="3817848" cy="26974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日本のスタイル指数（小型−大型、バリュー−グロース）の直近 3 か月の日次チャートに最も似た過去 3 局面を DTW で探す</a:t>
            </a:r>
            <a:endParaRPr lang="ja-JP" sz="1200" dirty="0"/>
          </a:p>
          <a:p>
            <a:pPr marL="152400" indent="-152400">
              <a:spcAft>
                <a:spcPts val="500"/>
              </a:spcAft>
              <a:buSzPct val="100000"/>
              <a:buChar char="•"/>
            </a:pPr>
            <a:r>
              <a:rPr lang="ja-JP" altLang="en-US" sz="1100" dirty="0">
                <a:solidFill>
                  <a:srgbClr val="000000"/>
                </a:solidFill>
              </a:rPr>
              <a:t>その翌 3 か月リターンの平均を期待リターンとして配分を決める</a:t>
            </a:r>
            <a:endParaRPr lang="ja-JP" sz="1200" dirty="0"/>
          </a:p>
          <a:p>
            <a:pPr marL="152400" indent="-152400">
              <a:spcAft>
                <a:spcPts val="500"/>
              </a:spcAft>
              <a:buSzPct val="100000"/>
              <a:buChar char="•"/>
            </a:pPr>
            <a:r>
              <a:rPr lang="ja-JP" altLang="en-US" sz="1100" dirty="0">
                <a:solidFill>
                  <a:srgbClr val="000000"/>
                </a:solidFill>
              </a:rPr>
              <a:t>予測の最上位分位で翌期のリターンが突出していた</a:t>
            </a:r>
            <a:endParaRPr lang="ja-JP" sz="1200" dirty="0"/>
          </a:p>
          <a:p>
            <a:pPr marL="152400" indent="-152400">
              <a:spcAft>
                <a:spcPts val="500"/>
              </a:spcAft>
              <a:buSzPct val="100000"/>
              <a:buChar char="•"/>
            </a:pPr>
            <a:r>
              <a:rPr lang="ja-JP" altLang="en-US" sz="1100" dirty="0">
                <a:solidFill>
                  <a:srgbClr val="000000"/>
                </a:solidFill>
              </a:rPr>
              <a:t>ここでは予測を個別株スコアに変換し、本編と同じ規約（Q5 → IC → Q5−Q1）で評価する</a:t>
            </a:r>
            <a:endParaRPr lang="ja-JP" sz="1200" dirty="0"/>
          </a:p>
        </p:txBody>
      </p:sp>
      <p:pic>
        <p:nvPicPr>
          <p:cNvPr id="8" name="Image 0" descr="9 スタイルの累積リターン">    </p:cNvPr>
          <p:cNvPicPr>
            <a:picLocks noChangeAspect="1"/>
          </p:cNvPicPr>
          <p:nvPr/>
        </p:nvPicPr>
        <p:blipFill>
          <a:blip r:embed="rId1"/>
          <a:stretch>
            <a:fillRect/>
          </a:stretch>
        </p:blipFill>
        <p:spPr>
          <a:xfrm>
            <a:off x="4850664" y="1508760"/>
            <a:ext cx="4663440" cy="3520440"/>
          </a:xfrm>
          <a:prstGeom prst="rect">
            <a:avLst/>
          </a:prstGeom>
        </p:spPr>
      </p:pic>
      <p:sp>
        <p:nvSpPr>
          <p:cNvPr id="9" name="hypothesis"/>
          <p:cNvSpPr/>
          <p:nvPr/>
        </p:nvSpPr>
        <p:spPr>
          <a:xfrm>
            <a:off x="411480" y="5257800"/>
            <a:ext cx="9082735" cy="1097280"/>
          </a:xfrm>
          <a:prstGeom prst="roundRect">
            <a:avLst>
              <a:gd name="adj" fmla="val 5000"/>
            </a:avLst>
          </a:prstGeom>
          <a:solidFill>
            <a:srgbClr val="FBE9E8"/>
          </a:solidFill>
          <a:ln w="12700">
            <a:solidFill>
              <a:srgbClr val="CB2420"/>
            </a:solidFill>
            <a:prstDash val="solid"/>
          </a:ln>
        </p:spPr>
      </p:sp>
      <p:sp>
        <p:nvSpPr>
          <p:cNvPr id="10" name="Text 6"/>
          <p:cNvSpPr txBox="1"/>
          <p:nvPr/>
        </p:nvSpPr>
        <p:spPr>
          <a:xfrm>
            <a:off x="598629" y="5257800"/>
            <a:ext cx="8708436" cy="1097280"/>
          </a:xfrm>
          <a:prstGeom prst="rect">
            <a:avLst/>
          </a:prstGeom>
          <a:noFill/>
          <a:ln/>
        </p:spPr>
        <p:txBody>
          <a:bodyPr wrap="square" lIns="0" tIns="0" rIns="0" bIns="0" rtlCol="0" anchor="ctr"/>
          <a:lstStyle/>
          <a:p>
            <a:pPr indent="0" marL="0">
              <a:buNone/>
            </a:pPr>
            <a:r>
              <a:rPr lang="ja-JP" altLang="en-US" sz="1200" b="1" dirty="0">
                <a:solidFill>
                  <a:srgbClr val="CB2420"/>
                </a:solidFill>
              </a:rPr>
              <a:t>仮説  </a:t>
            </a:r>
            <a:pPr indent="0" marL="0">
              <a:buNone/>
            </a:pPr>
            <a:r>
              <a:rPr lang="ja-JP" altLang="en-US" sz="1200" dirty="0">
                <a:solidFill>
                  <a:srgbClr val="000000"/>
                </a:solidFill>
              </a:rPr>
              <a:t>スタイルの値動きには繰り返すパターンがある。直近 3 か月の推移が似た過去局面の翌月リターンで、スタイルの翌月リターンを予測でき、時変の配分が静的な等ウェイトに勝つ</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DTW｜手法 1  スタイルリターンの作り方</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core の特性から 9 スタイルを作り、月末で固定した Q5−Q1 の日次リターンを照合に使う</a:t>
            </a:r>
            <a:endParaRPr lang="ja-JP" sz="1500" dirty="0"/>
          </a:p>
        </p:txBody>
      </p:sp>
      <p:sp>
        <p:nvSpPr>
          <p:cNvPr id="5" name="Text 2"/>
          <p:cNvSpPr txBox="1"/>
          <p:nvPr/>
        </p:nvSpPr>
        <p:spPr>
          <a:xfrm>
            <a:off x="411480" y="15544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スタイルスコア</a:t>
            </a:r>
            <a:endParaRPr lang="ja-JP" sz="1200" dirty="0"/>
          </a:p>
        </p:txBody>
      </p:sp>
      <p:pic>
        <p:nvPicPr>
          <p:cNvPr id="6" name="Image 0" descr="eq_style">    </p:cNvPr>
          <p:cNvPicPr>
            <a:picLocks noChangeAspect="1"/>
          </p:cNvPicPr>
          <p:nvPr/>
        </p:nvPicPr>
        <p:blipFill>
          <a:blip r:embed="rId1"/>
          <a:stretch>
            <a:fillRect/>
          </a:stretch>
        </p:blipFill>
        <p:spPr>
          <a:xfrm>
            <a:off x="2170684" y="1554480"/>
            <a:ext cx="3657600" cy="390144"/>
          </a:xfrm>
          <a:prstGeom prst="rect">
            <a:avLst/>
          </a:prstGeom>
        </p:spPr>
      </p:pic>
      <p:sp>
        <p:nvSpPr>
          <p:cNvPr id="7" name="Text 3"/>
          <p:cNvSpPr txBox="1"/>
          <p:nvPr/>
        </p:nvSpPr>
        <p:spPr>
          <a:xfrm>
            <a:off x="2170684" y="1999488"/>
            <a:ext cx="7323531" cy="505968"/>
          </a:xfrm>
          <a:prstGeom prst="rect">
            <a:avLst/>
          </a:prstGeom>
          <a:noFill/>
          <a:ln/>
        </p:spPr>
        <p:txBody>
          <a:bodyPr wrap="square" lIns="0" tIns="0" rIns="0" bIns="0" rtlCol="0" anchor="t"/>
          <a:lstStyle/>
          <a:p>
            <a:pPr indent="0" marL="0">
              <a:buNone/>
            </a:pPr>
            <a:r>
              <a:rPr lang="ja-JP" altLang="en-US" sz="1050" dirty="0">
                <a:solidFill>
                  <a:srgbClr val="737374"/>
                </a:solidFill>
              </a:rPr>
              <a:t>F は銘柄 i が値を持つスタイル k の特性、d_f は符号（±1）。サイズは −log 時価総額ウェイト（小型ほど高い）。z は各月の Blom 正規スコア</a:t>
            </a:r>
            <a:endParaRPr lang="ja-JP" sz="1050" dirty="0"/>
          </a:p>
        </p:txBody>
      </p:sp>
      <p:sp>
        <p:nvSpPr>
          <p:cNvPr id="8" name="rule"/>
          <p:cNvSpPr/>
          <p:nvPr/>
        </p:nvSpPr>
        <p:spPr>
          <a:xfrm>
            <a:off x="411480" y="2560320"/>
            <a:ext cx="9082735" cy="0"/>
          </a:xfrm>
          <a:prstGeom prst="line">
            <a:avLst/>
          </a:prstGeom>
          <a:noFill/>
          <a:ln w="9525">
            <a:solidFill>
              <a:srgbClr val="D9D9D9"/>
            </a:solidFill>
            <a:prstDash val="solid"/>
          </a:ln>
        </p:spPr>
      </p:sp>
      <p:sp>
        <p:nvSpPr>
          <p:cNvPr id="9" name="Text 5"/>
          <p:cNvSpPr txBox="1"/>
          <p:nvPr/>
        </p:nvSpPr>
        <p:spPr>
          <a:xfrm>
            <a:off x="411480" y="260604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日次スタイルリターン</a:t>
            </a:r>
            <a:endParaRPr lang="ja-JP" sz="1200" dirty="0"/>
          </a:p>
        </p:txBody>
      </p:sp>
      <p:pic>
        <p:nvPicPr>
          <p:cNvPr id="10" name="Image 1" descr="eq_g">    </p:cNvPr>
          <p:cNvPicPr>
            <a:picLocks noChangeAspect="1"/>
          </p:cNvPicPr>
          <p:nvPr/>
        </p:nvPicPr>
        <p:blipFill>
          <a:blip r:embed="rId2"/>
          <a:stretch>
            <a:fillRect/>
          </a:stretch>
        </p:blipFill>
        <p:spPr>
          <a:xfrm>
            <a:off x="2170684" y="2606040"/>
            <a:ext cx="3910584" cy="347472"/>
          </a:xfrm>
          <a:prstGeom prst="rect">
            <a:avLst/>
          </a:prstGeom>
        </p:spPr>
      </p:pic>
      <p:sp>
        <p:nvSpPr>
          <p:cNvPr id="11" name="Text 6"/>
          <p:cNvSpPr txBox="1"/>
          <p:nvPr/>
        </p:nvSpPr>
        <p:spPr>
          <a:xfrm>
            <a:off x="2170684" y="3008376"/>
            <a:ext cx="7323531" cy="548640"/>
          </a:xfrm>
          <a:prstGeom prst="rect">
            <a:avLst/>
          </a:prstGeom>
          <a:noFill/>
          <a:ln/>
        </p:spPr>
        <p:txBody>
          <a:bodyPr wrap="square" lIns="0" tIns="0" rIns="0" bIns="0" rtlCol="0" anchor="t"/>
          <a:lstStyle/>
          <a:p>
            <a:pPr indent="0" marL="0">
              <a:buNone/>
            </a:pPr>
            <a:r>
              <a:rPr lang="ja-JP" altLang="en-US" sz="1050" dirty="0">
                <a:solidFill>
                  <a:srgbClr val="737374"/>
                </a:solidFill>
              </a:rPr>
              <a:t>月末 t のスコアで Q5（上位 20%）/ Q1（下位 20%）を固定し、翌月の各営業日 τ の等ウェイト平均の差。G は対数累積</a:t>
            </a:r>
            <a:endParaRPr lang="ja-JP" sz="1050" dirty="0"/>
          </a:p>
        </p:txBody>
      </p:sp>
      <p:sp>
        <p:nvSpPr>
          <p:cNvPr id="12" name="card"/>
          <p:cNvSpPr/>
          <p:nvPr/>
        </p:nvSpPr>
        <p:spPr>
          <a:xfrm>
            <a:off x="411480" y="3794760"/>
            <a:ext cx="4417849" cy="2560320"/>
          </a:xfrm>
          <a:prstGeom prst="roundRect">
            <a:avLst>
              <a:gd name="adj" fmla="val 2143"/>
            </a:avLst>
          </a:prstGeom>
          <a:solidFill>
            <a:srgbClr val="F2F2F2"/>
          </a:solidFill>
          <a:ln/>
        </p:spPr>
      </p:sp>
      <p:sp>
        <p:nvSpPr>
          <p:cNvPr id="13" name="Text 8"/>
          <p:cNvSpPr txBox="1"/>
          <p:nvPr/>
        </p:nvSpPr>
        <p:spPr>
          <a:xfrm>
            <a:off x="598629" y="3977640"/>
            <a:ext cx="4043550" cy="411480"/>
          </a:xfrm>
          <a:prstGeom prst="rect">
            <a:avLst/>
          </a:prstGeom>
          <a:noFill/>
          <a:ln/>
        </p:spPr>
        <p:txBody>
          <a:bodyPr wrap="square" lIns="0" tIns="0" rIns="0" bIns="0" rtlCol="0" anchor="t"/>
          <a:lstStyle/>
          <a:p>
            <a:pPr indent="0" marL="0">
              <a:buNone/>
            </a:pPr>
            <a:r>
              <a:rPr lang="ja-JP" altLang="en-US" sz="1400" b="1" dirty="0">
                <a:solidFill>
                  <a:srgbClr val="000000"/>
                </a:solidFill>
              </a:rPr>
              <a:t>符号の決め方（リターンは見ない）</a:t>
            </a:r>
            <a:endParaRPr lang="ja-JP" sz="1400" dirty="0"/>
          </a:p>
        </p:txBody>
      </p:sp>
      <p:sp>
        <p:nvSpPr>
          <p:cNvPr id="14" name="Text 9"/>
          <p:cNvSpPr txBox="1"/>
          <p:nvPr/>
        </p:nvSpPr>
        <p:spPr>
          <a:xfrm>
            <a:off x="598629" y="4434840"/>
            <a:ext cx="4043550" cy="17830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各特性と、同じスタイルの他の特性の平均（自分を除く）との順位相関を見て、逆向きのものを反転</a:t>
            </a:r>
            <a:endParaRPr lang="ja-JP" sz="1100" dirty="0"/>
          </a:p>
          <a:p>
            <a:pPr marL="152400" indent="-152400">
              <a:spcAft>
                <a:spcPts val="500"/>
              </a:spcAft>
              <a:buSzPct val="100000"/>
              <a:buChar char="•"/>
            </a:pPr>
            <a:r>
              <a:rPr lang="ja-JP" altLang="en-US" sz="1100" dirty="0">
                <a:solidFill>
                  <a:srgbClr val="000000"/>
                </a:solidFill>
              </a:rPr>
              <a:t>反転した例: レバレッジ、倒産リスク、外部資金調達、株式発行（csi）、ボラティリティ、歪度</a:t>
            </a:r>
            <a:endParaRPr lang="ja-JP" sz="1100" dirty="0"/>
          </a:p>
          <a:p>
            <a:pPr marL="152400" indent="-152400">
              <a:spcAft>
                <a:spcPts val="500"/>
              </a:spcAft>
              <a:buSzPct val="100000"/>
              <a:buChar char="•"/>
            </a:pPr>
            <a:r>
              <a:rPr lang="ja-JP" altLang="en-US" sz="1100" dirty="0">
                <a:solidFill>
                  <a:srgbClr val="000000"/>
                </a:solidFill>
              </a:rPr>
              <a:t>逆向きのまま残ったのは mscore（−0.22）と tover（−0.07）だけ</a:t>
            </a:r>
            <a:endParaRPr lang="ja-JP" sz="1100" dirty="0"/>
          </a:p>
        </p:txBody>
      </p:sp>
      <p:sp>
        <p:nvSpPr>
          <p:cNvPr id="15" name="card"/>
          <p:cNvSpPr/>
          <p:nvPr/>
        </p:nvSpPr>
        <p:spPr>
          <a:xfrm>
            <a:off x="5076366" y="3794760"/>
            <a:ext cx="4417849" cy="2560320"/>
          </a:xfrm>
          <a:prstGeom prst="roundRect">
            <a:avLst>
              <a:gd name="adj" fmla="val 2143"/>
            </a:avLst>
          </a:prstGeom>
          <a:solidFill>
            <a:srgbClr val="F2F2F2"/>
          </a:solidFill>
          <a:ln/>
        </p:spPr>
      </p:sp>
      <p:sp>
        <p:nvSpPr>
          <p:cNvPr id="16" name="Text 11"/>
          <p:cNvSpPr txBox="1"/>
          <p:nvPr/>
        </p:nvSpPr>
        <p:spPr>
          <a:xfrm>
            <a:off x="5263516" y="3977640"/>
            <a:ext cx="4043550" cy="411480"/>
          </a:xfrm>
          <a:prstGeom prst="rect">
            <a:avLst/>
          </a:prstGeom>
          <a:noFill/>
          <a:ln/>
        </p:spPr>
        <p:txBody>
          <a:bodyPr wrap="square" lIns="0" tIns="0" rIns="0" bIns="0" rtlCol="0" anchor="t"/>
          <a:lstStyle/>
          <a:p>
            <a:pPr indent="0" marL="0">
              <a:buNone/>
            </a:pPr>
            <a:r>
              <a:rPr lang="ja-JP" altLang="en-US" sz="1400" b="1" dirty="0">
                <a:solidFill>
                  <a:srgbClr val="000000"/>
                </a:solidFill>
              </a:rPr>
              <a:t>データと期間</a:t>
            </a:r>
            <a:endParaRPr lang="ja-JP" sz="1400" dirty="0"/>
          </a:p>
        </p:txBody>
      </p:sp>
      <p:sp>
        <p:nvSpPr>
          <p:cNvPr id="17" name="Text 12"/>
          <p:cNvSpPr txBox="1"/>
          <p:nvPr/>
        </p:nvSpPr>
        <p:spPr>
          <a:xfrm>
            <a:off x="5263516" y="4434840"/>
            <a:ext cx="4043550" cy="17830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日次リターンは data/turnover の分割調整済み株価（配当を含まない。高配当のスタイルは不利に出る）</a:t>
            </a:r>
            <a:endParaRPr lang="ja-JP" sz="1100" dirty="0"/>
          </a:p>
          <a:p>
            <a:pPr marL="152400" indent="-152400">
              <a:spcAft>
                <a:spcPts val="500"/>
              </a:spcAft>
              <a:buSzPct val="100000"/>
              <a:buChar char="•"/>
            </a:pPr>
            <a:r>
              <a:rPr lang="ja-JP" altLang="en-US" sz="1100" dirty="0">
                <a:solidFill>
                  <a:srgbClr val="000000"/>
                </a:solidFill>
              </a:rPr>
              <a:t>スタイルリターンは 2008-02〜（2007 年以前はユニバースが 15〜52 銘柄）</a:t>
            </a:r>
            <a:endParaRPr lang="ja-JP" sz="1100" dirty="0"/>
          </a:p>
          <a:p>
            <a:pPr marL="152400" indent="-152400">
              <a:spcAft>
                <a:spcPts val="500"/>
              </a:spcAft>
              <a:buSzPct val="100000"/>
              <a:buChar char="•"/>
            </a:pPr>
            <a:r>
              <a:rPr lang="ja-JP" altLang="en-US" sz="1100" dirty="0">
                <a:solidFill>
                  <a:srgbClr val="000000"/>
                </a:solidFill>
              </a:rPr>
              <a:t>評価は 2011-01〜（最初の 3 年は照合用の過去データをためる期間）</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DTW｜手法 2  類似局面の探し方と予測</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直近 63 営業日の値動きに最も似た過去 3 局面の、翌 21 営業日のリターンで予測する</a:t>
            </a:r>
            <a:endParaRPr lang="ja-JP" sz="1500" dirty="0"/>
          </a:p>
        </p:txBody>
      </p:sp>
      <p:sp>
        <p:nvSpPr>
          <p:cNvPr id="5" name="Text 2"/>
          <p:cNvSpPr txBox="1"/>
          <p:nvPr/>
        </p:nvSpPr>
        <p:spPr>
          <a:xfrm>
            <a:off x="411480" y="15544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窓とクエリ</a:t>
            </a:r>
            <a:endParaRPr lang="ja-JP" sz="1200" dirty="0"/>
          </a:p>
        </p:txBody>
      </p:sp>
      <p:pic>
        <p:nvPicPr>
          <p:cNvPr id="6" name="Image 0" descr="eq_cwin">    </p:cNvPr>
          <p:cNvPicPr>
            <a:picLocks noChangeAspect="1"/>
          </p:cNvPicPr>
          <p:nvPr/>
        </p:nvPicPr>
        <p:blipFill>
          <a:blip r:embed="rId1"/>
          <a:stretch>
            <a:fillRect/>
          </a:stretch>
        </p:blipFill>
        <p:spPr>
          <a:xfrm>
            <a:off x="2170684" y="1554480"/>
            <a:ext cx="4648200" cy="271272"/>
          </a:xfrm>
          <a:prstGeom prst="rect">
            <a:avLst/>
          </a:prstGeom>
        </p:spPr>
      </p:pic>
      <p:sp>
        <p:nvSpPr>
          <p:cNvPr id="7" name="Text 3"/>
          <p:cNvSpPr txBox="1"/>
          <p:nvPr/>
        </p:nvSpPr>
        <p:spPr>
          <a:xfrm>
            <a:off x="2170684" y="1880616"/>
            <a:ext cx="7323531" cy="670560"/>
          </a:xfrm>
          <a:prstGeom prst="rect">
            <a:avLst/>
          </a:prstGeom>
          <a:noFill/>
          <a:ln/>
        </p:spPr>
        <p:txBody>
          <a:bodyPr wrap="square" lIns="0" tIns="0" rIns="0" bIns="0" rtlCol="0" anchor="t"/>
          <a:lstStyle/>
          <a:p>
            <a:pPr indent="0" marL="0">
              <a:buNone/>
            </a:pPr>
            <a:r>
              <a:rPr lang="ja-JP" altLang="en-US" sz="1050" dirty="0">
                <a:solidFill>
                  <a:srgbClr val="737374"/>
                </a:solidFill>
              </a:rPr>
              <a:t>L = 63 営業日。窓の始点を 0 にそろえた累積リターンの形を比べる。τ_t は月 t の最終営業日、H = 21、G_min = 63</a:t>
            </a:r>
            <a:endParaRPr lang="ja-JP" sz="1050" dirty="0"/>
          </a:p>
        </p:txBody>
      </p:sp>
      <p:sp>
        <p:nvSpPr>
          <p:cNvPr id="8" name="rule"/>
          <p:cNvSpPr/>
          <p:nvPr/>
        </p:nvSpPr>
        <p:spPr>
          <a:xfrm>
            <a:off x="411480" y="2606040"/>
            <a:ext cx="9082735" cy="0"/>
          </a:xfrm>
          <a:prstGeom prst="line">
            <a:avLst/>
          </a:prstGeom>
          <a:noFill/>
          <a:ln w="9525">
            <a:solidFill>
              <a:srgbClr val="D9D9D9"/>
            </a:solidFill>
            <a:prstDash val="solid"/>
          </a:ln>
        </p:spPr>
      </p:sp>
      <p:sp>
        <p:nvSpPr>
          <p:cNvPr id="9" name="Text 5"/>
          <p:cNvSpPr txBox="1"/>
          <p:nvPr/>
        </p:nvSpPr>
        <p:spPr>
          <a:xfrm>
            <a:off x="411480" y="265176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DTW 距離</a:t>
            </a:r>
            <a:endParaRPr lang="ja-JP" sz="1200" dirty="0"/>
          </a:p>
        </p:txBody>
      </p:sp>
      <p:pic>
        <p:nvPicPr>
          <p:cNvPr id="10" name="Image 1" descr="eq_dtw">    </p:cNvPr>
          <p:cNvPicPr>
            <a:picLocks noChangeAspect="1"/>
          </p:cNvPicPr>
          <p:nvPr/>
        </p:nvPicPr>
        <p:blipFill>
          <a:blip r:embed="rId2"/>
          <a:stretch>
            <a:fillRect/>
          </a:stretch>
        </p:blipFill>
        <p:spPr>
          <a:xfrm>
            <a:off x="2170684" y="2651760"/>
            <a:ext cx="3096768" cy="438912"/>
          </a:xfrm>
          <a:prstGeom prst="rect">
            <a:avLst/>
          </a:prstGeom>
        </p:spPr>
      </p:pic>
      <p:sp>
        <p:nvSpPr>
          <p:cNvPr id="11" name="Text 6"/>
          <p:cNvSpPr txBox="1"/>
          <p:nvPr/>
        </p:nvSpPr>
        <p:spPr>
          <a:xfrm>
            <a:off x="2170684" y="3145536"/>
            <a:ext cx="7323531" cy="502920"/>
          </a:xfrm>
          <a:prstGeom prst="rect">
            <a:avLst/>
          </a:prstGeom>
          <a:noFill/>
          <a:ln/>
        </p:spPr>
        <p:txBody>
          <a:bodyPr wrap="square" lIns="0" tIns="0" rIns="0" bIns="0" rtlCol="0" anchor="t"/>
          <a:lstStyle/>
          <a:p>
            <a:pPr indent="0" marL="0">
              <a:buNone/>
            </a:pPr>
            <a:r>
              <a:rPr lang="ja-JP" altLang="en-US" sz="1050" dirty="0">
                <a:solidFill>
                  <a:srgbClr val="737374"/>
                </a:solidFill>
              </a:rPr>
              <a:t>時間軸の伸縮を許す距離。π は 2 本の系列の対応づけ（単調な経路）で、伸縮は ±6 日まで（Sakoe–Chiba 帯）</a:t>
            </a:r>
            <a:endParaRPr lang="ja-JP" sz="1050" dirty="0"/>
          </a:p>
        </p:txBody>
      </p:sp>
      <p:sp>
        <p:nvSpPr>
          <p:cNvPr id="12" name="rule"/>
          <p:cNvSpPr/>
          <p:nvPr/>
        </p:nvSpPr>
        <p:spPr>
          <a:xfrm>
            <a:off x="411480" y="3703320"/>
            <a:ext cx="9082735" cy="0"/>
          </a:xfrm>
          <a:prstGeom prst="line">
            <a:avLst/>
          </a:prstGeom>
          <a:noFill/>
          <a:ln w="9525">
            <a:solidFill>
              <a:srgbClr val="D9D9D9"/>
            </a:solidFill>
            <a:prstDash val="solid"/>
          </a:ln>
        </p:spPr>
      </p:sp>
      <p:sp>
        <p:nvSpPr>
          <p:cNvPr id="13" name="Text 8"/>
          <p:cNvSpPr txBox="1"/>
          <p:nvPr/>
        </p:nvSpPr>
        <p:spPr>
          <a:xfrm>
            <a:off x="411480" y="374904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近傍の選び方</a:t>
            </a:r>
            <a:endParaRPr lang="ja-JP" sz="1200" dirty="0"/>
          </a:p>
        </p:txBody>
      </p:sp>
      <p:sp>
        <p:nvSpPr>
          <p:cNvPr id="14" name="Text 9"/>
          <p:cNvSpPr txBox="1"/>
          <p:nvPr/>
        </p:nvSpPr>
        <p:spPr>
          <a:xfrm>
            <a:off x="2170684" y="3767328"/>
            <a:ext cx="7323531" cy="566928"/>
          </a:xfrm>
          <a:prstGeom prst="rect">
            <a:avLst/>
          </a:prstGeom>
          <a:noFill/>
          <a:ln/>
        </p:spPr>
        <p:txBody>
          <a:bodyPr wrap="square" lIns="0" tIns="0" rIns="0" bIns="0" rtlCol="0" anchor="t"/>
          <a:lstStyle/>
          <a:p>
            <a:pPr indent="0" marL="0">
              <a:buNone/>
            </a:pPr>
            <a:r>
              <a:rPr lang="ja-JP" altLang="en-US" sz="1050" dirty="0">
                <a:solidFill>
                  <a:srgbClr val="737374"/>
                </a:solidFill>
              </a:rPr>
              <a:t>距離の小さい順に K = 3 局面。終端どうしは 63 営業日以上離す（同じ局面の重複を避ける）</a:t>
            </a:r>
            <a:endParaRPr lang="ja-JP" sz="1050" dirty="0"/>
          </a:p>
        </p:txBody>
      </p:sp>
      <p:sp>
        <p:nvSpPr>
          <p:cNvPr id="15" name="rule"/>
          <p:cNvSpPr/>
          <p:nvPr/>
        </p:nvSpPr>
        <p:spPr>
          <a:xfrm>
            <a:off x="411480" y="4389120"/>
            <a:ext cx="9082735" cy="0"/>
          </a:xfrm>
          <a:prstGeom prst="line">
            <a:avLst/>
          </a:prstGeom>
          <a:noFill/>
          <a:ln w="9525">
            <a:solidFill>
              <a:srgbClr val="D9D9D9"/>
            </a:solidFill>
            <a:prstDash val="solid"/>
          </a:ln>
        </p:spPr>
      </p:sp>
      <p:sp>
        <p:nvSpPr>
          <p:cNvPr id="16" name="Text 11"/>
          <p:cNvSpPr txBox="1"/>
          <p:nvPr/>
        </p:nvSpPr>
        <p:spPr>
          <a:xfrm>
            <a:off x="411480" y="443484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予測</a:t>
            </a:r>
            <a:endParaRPr lang="ja-JP" sz="1200" dirty="0"/>
          </a:p>
        </p:txBody>
      </p:sp>
      <p:pic>
        <p:nvPicPr>
          <p:cNvPr id="17" name="Image 2" descr="eq_mu">    </p:cNvPr>
          <p:cNvPicPr>
            <a:picLocks noChangeAspect="1"/>
          </p:cNvPicPr>
          <p:nvPr/>
        </p:nvPicPr>
        <p:blipFill>
          <a:blip r:embed="rId3"/>
          <a:stretch>
            <a:fillRect/>
          </a:stretch>
        </p:blipFill>
        <p:spPr>
          <a:xfrm>
            <a:off x="2170684" y="4434840"/>
            <a:ext cx="3569208" cy="448056"/>
          </a:xfrm>
          <a:prstGeom prst="rect">
            <a:avLst/>
          </a:prstGeom>
        </p:spPr>
      </p:pic>
      <p:sp>
        <p:nvSpPr>
          <p:cNvPr id="18" name="Text 12"/>
          <p:cNvSpPr txBox="1"/>
          <p:nvPr/>
        </p:nvSpPr>
        <p:spPr>
          <a:xfrm>
            <a:off x="2170684" y="4937760"/>
            <a:ext cx="7323531" cy="493776"/>
          </a:xfrm>
          <a:prstGeom prst="rect">
            <a:avLst/>
          </a:prstGeom>
          <a:noFill/>
          <a:ln/>
        </p:spPr>
        <p:txBody>
          <a:bodyPr wrap="square" lIns="0" tIns="0" rIns="0" bIns="0" rtlCol="0" anchor="t"/>
          <a:lstStyle/>
          <a:p>
            <a:pPr indent="0" marL="0">
              <a:buNone/>
            </a:pPr>
            <a:r>
              <a:rPr lang="ja-JP" altLang="en-US" sz="1050" dirty="0">
                <a:solidFill>
                  <a:srgbClr val="737374"/>
                </a:solidFill>
              </a:rPr>
              <a:t>u_m は選んだ近傍の窓の終端。σ̂ は日次標準偏差（拡大窓）× √H で、スタイル間の大きさをそろえる</a:t>
            </a:r>
            <a:endParaRPr lang="ja-JP"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11480" y="5623560"/>
          <a:ext cx="9082735" cy="914400"/>
        </p:xfrm>
        <a:graphic>
          <a:graphicData uri="http://schemas.openxmlformats.org/drawingml/2006/table">
            <a:tbl>
              <a:tblPr/>
              <a:tblGrid>
                <a:gridCol w="1272616"/>
                <a:gridCol w="1272616"/>
                <a:gridCol w="1122896"/>
                <a:gridCol w="1347476"/>
                <a:gridCol w="1197756"/>
                <a:gridCol w="2869375"/>
              </a:tblGrid>
              <a:tr h="347472">
                <a:tc>
                  <a:txBody>
                    <a:bodyPr/>
                    <a:lstStyle/>
                    <a:p>
                      <a:pPr algn="ctr" indent="0" marL="0">
                        <a:buNone/>
                      </a:pPr>
                      <a:r>
                        <a:rPr lang="ja-JP" altLang="en-US" sz="1050" b="1" dirty="0">
                          <a:solidFill>
                            <a:srgbClr val="FFFFFF"/>
                          </a:solidFill>
                        </a:rPr>
                        <a:t>L（窓）</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H（予測期間）</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K（近傍数）</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G_min（間隔）</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DTW の帯</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050" b="1" dirty="0">
                          <a:solidFill>
                            <a:srgbClr val="FFFFFF"/>
                          </a:solidFill>
                        </a:rPr>
                        <a:t>照合用データ</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347472">
                <a:tc>
                  <a:txBody>
                    <a:bodyPr/>
                    <a:lstStyle/>
                    <a:p>
                      <a:pPr algn="l" indent="0" marL="0">
                        <a:buNone/>
                      </a:pPr>
                      <a:r>
                        <a:rPr lang="ja-JP" altLang="en-US" sz="1050" dirty="0">
                          <a:solidFill>
                            <a:srgbClr val="000000"/>
                          </a:solidFill>
                        </a:rPr>
                        <a:t>63 営業日</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21 営業日</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3</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63 営業日</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6（0.1 L）</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050" dirty="0">
                          <a:solidFill>
                            <a:srgbClr val="000000"/>
                          </a:solidFill>
                        </a:rPr>
                        <a:t>2008-02〜（評価は 2011-01〜）</a:t>
                      </a:r>
                      <a:endParaRPr lang="ja-JP" sz="105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DTW｜手法 3  個別株スコアと比較対象</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予測で重みづけたスタイルスコアの和を個別株スコアにし、静的な等ウェイトと比べる</a:t>
            </a:r>
            <a:endParaRPr lang="ja-JP" sz="1500" dirty="0"/>
          </a:p>
        </p:txBody>
      </p:sp>
      <p:sp>
        <p:nvSpPr>
          <p:cNvPr id="5" name="Text 2"/>
          <p:cNvSpPr txBox="1"/>
          <p:nvPr/>
        </p:nvSpPr>
        <p:spPr>
          <a:xfrm>
            <a:off x="411480" y="1554480"/>
            <a:ext cx="1646915" cy="411480"/>
          </a:xfrm>
          <a:prstGeom prst="rect">
            <a:avLst/>
          </a:prstGeom>
          <a:noFill/>
          <a:ln/>
        </p:spPr>
        <p:txBody>
          <a:bodyPr wrap="square" lIns="0" tIns="0" rIns="0" bIns="0" rtlCol="0" anchor="t"/>
          <a:lstStyle/>
          <a:p>
            <a:pPr indent="0" marL="0">
              <a:buNone/>
            </a:pPr>
            <a:r>
              <a:rPr lang="ja-JP" altLang="en-US" sz="1200" b="1" dirty="0">
                <a:solidFill>
                  <a:srgbClr val="000000"/>
                </a:solidFill>
              </a:rPr>
              <a:t>個別株スコア</a:t>
            </a:r>
            <a:endParaRPr lang="ja-JP" sz="1200" dirty="0"/>
          </a:p>
        </p:txBody>
      </p:sp>
      <p:pic>
        <p:nvPicPr>
          <p:cNvPr id="6" name="Image 0" descr="eq_alpha">    </p:cNvPr>
          <p:cNvPicPr>
            <a:picLocks noChangeAspect="1"/>
          </p:cNvPicPr>
          <p:nvPr/>
        </p:nvPicPr>
        <p:blipFill>
          <a:blip r:embed="rId1"/>
          <a:stretch>
            <a:fillRect/>
          </a:stretch>
        </p:blipFill>
        <p:spPr>
          <a:xfrm>
            <a:off x="2170684" y="1554480"/>
            <a:ext cx="1295400" cy="393192"/>
          </a:xfrm>
          <a:prstGeom prst="rect">
            <a:avLst/>
          </a:prstGeom>
        </p:spPr>
      </p:pic>
      <p:sp>
        <p:nvSpPr>
          <p:cNvPr id="7" name="Text 3"/>
          <p:cNvSpPr txBox="1"/>
          <p:nvPr/>
        </p:nvSpPr>
        <p:spPr>
          <a:xfrm>
            <a:off x="2170684" y="2002536"/>
            <a:ext cx="7323531" cy="411480"/>
          </a:xfrm>
          <a:prstGeom prst="rect">
            <a:avLst/>
          </a:prstGeom>
          <a:noFill/>
          <a:ln/>
        </p:spPr>
        <p:txBody>
          <a:bodyPr wrap="square" lIns="0" tIns="0" rIns="0" bIns="0" rtlCol="0" anchor="t"/>
          <a:lstStyle/>
          <a:p>
            <a:pPr indent="0" marL="0">
              <a:buNone/>
            </a:pPr>
            <a:r>
              <a:rPr lang="ja-JP" altLang="en-US" sz="1050" dirty="0">
                <a:solidFill>
                  <a:srgbClr val="737374"/>
                </a:solidFill>
              </a:rPr>
              <a:t>スタイルスコアの欠損は 0。5 スタイル未満の銘柄は除外。評価は本編と同じ規約（Q5 → IC → Q5−Q1）、税・コストは控除していない</a:t>
            </a:r>
            <a:endParaRPr lang="ja-JP" sz="10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11480" y="2651760"/>
          <a:ext cx="9082735" cy="914400"/>
        </p:xfrm>
        <a:graphic>
          <a:graphicData uri="http://schemas.openxmlformats.org/drawingml/2006/table">
            <a:tbl>
              <a:tblPr/>
              <a:tblGrid>
                <a:gridCol w="1946354"/>
                <a:gridCol w="4042427"/>
                <a:gridCol w="3093954"/>
              </a:tblGrid>
              <a:tr h="438912">
                <a:tc>
                  <a:txBody>
                    <a:bodyPr/>
                    <a:lstStyle/>
                    <a:p>
                      <a:pPr algn="ctr" indent="0" marL="0">
                        <a:buNone/>
                      </a:pPr>
                      <a:r>
                        <a:rPr lang="ja-JP" altLang="en-US" sz="1100" b="1" dirty="0">
                          <a:solidFill>
                            <a:srgbClr val="FFFFFF"/>
                          </a:solidFill>
                        </a:rPr>
                        <a:t>スコア</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スタイルの重み μ̂ / σ̂ の代わりに使うもの</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ねらい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38912">
                <a:tc>
                  <a:txBody>
                    <a:bodyPr/>
                    <a:lstStyle/>
                    <a:p>
                      <a:pPr algn="l" indent="0" marL="0">
                        <a:buNone/>
                      </a:pPr>
                      <a:r>
                        <a:rPr lang="ja-JP" altLang="en-US" sz="1100" b="1" dirty="0">
                          <a:solidFill>
                            <a:srgbClr val="000000"/>
                          </a:solidFill>
                        </a:rPr>
                        <a:t>sdtw（本命）</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100" dirty="0">
                          <a:solidFill>
                            <a:srgbClr val="000000"/>
                          </a:solidFill>
                        </a:rPr>
                        <a:t>DTW 予測 / σ̂</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100" dirty="0">
                          <a:solidFill>
                            <a:srgbClr val="000000"/>
                          </a:solidFill>
                        </a:rPr>
                        <a:t>本命</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438912">
                <a:tc>
                  <a:txBody>
                    <a:bodyPr/>
                    <a:lstStyle/>
                    <a:p>
                      <a:pPr algn="l" indent="0" marL="0">
                        <a:buNone/>
                      </a:pPr>
                      <a:r>
                        <a:rPr lang="ja-JP" altLang="en-US" sz="1100" b="1" dirty="0">
                          <a:solidFill>
                            <a:srgbClr val="000000"/>
                          </a:solidFill>
                        </a:rPr>
                        <a:t>sdtw_pos</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max(DTW 予測, 0) / σ̂</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プラス予測のスタイルだけに賭ける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38912">
                <a:tc>
                  <a:txBody>
                    <a:bodyPr/>
                    <a:lstStyle/>
                    <a:p>
                      <a:pPr algn="l" indent="0" marL="0">
                        <a:buNone/>
                      </a:pPr>
                      <a:r>
                        <a:rPr lang="ja-JP" altLang="en-US" sz="1100" b="1" dirty="0">
                          <a:solidFill>
                            <a:srgbClr val="000000"/>
                          </a:solidFill>
                        </a:rPr>
                        <a:t>sdtw_sign</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sign(DTW 予測)</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大きさを使わない</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38912">
                <a:tc>
                  <a:txBody>
                    <a:bodyPr/>
                    <a:lstStyle/>
                    <a:p>
                      <a:pPr algn="l" indent="0" marL="0">
                        <a:buNone/>
                      </a:pPr>
                      <a:r>
                        <a:rPr lang="ja-JP" altLang="en-US" sz="1100" b="1" dirty="0">
                          <a:solidFill>
                            <a:srgbClr val="000000"/>
                          </a:solidFill>
                        </a:rPr>
                        <a:t>sdtw_z</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窓ごとに標準化した形で DTW 照合 / σ̂</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l" indent="0" marL="0">
                        <a:buNone/>
                      </a:pPr>
                      <a:r>
                        <a:rPr lang="ja-JP" altLang="en-US" sz="1100" dirty="0">
                          <a:solidFill>
                            <a:srgbClr val="000000"/>
                          </a:solidFill>
                        </a:rPr>
                        <a:t>水準でなく形だけを比べる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38912">
                <a:tc>
                  <a:txBody>
                    <a:bodyPr/>
                    <a:lstStyle/>
                    <a:p>
                      <a:pPr algn="l" indent="0" marL="0">
                        <a:buNone/>
                      </a:pPr>
                      <a:r>
                        <a:rPr lang="ja-JP" altLang="en-US" sz="1100" b="1" dirty="0">
                          <a:solidFill>
                            <a:srgbClr val="000000"/>
                          </a:solidFill>
                        </a:rPr>
                        <a:t>sknn_euc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ユークリッド距離の近傍 / σ̂</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時間の伸縮（DTW）の効果を切り分ける</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38912">
                <a:tc>
                  <a:txBody>
                    <a:bodyPr/>
                    <a:lstStyle/>
                    <a:p>
                      <a:pPr algn="l" indent="0" marL="0">
                        <a:buNone/>
                      </a:pPr>
                      <a:r>
                        <a:rPr lang="ja-JP" altLang="en-US" sz="1100" b="1" dirty="0">
                          <a:solidFill>
                            <a:srgbClr val="000000"/>
                          </a:solidFill>
                        </a:rPr>
                        <a:t>base_ew</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100" dirty="0">
                          <a:solidFill>
                            <a:srgbClr val="000000"/>
                          </a:solidFill>
                        </a:rPr>
                        <a:t>1（全スタイル等ウェイト）</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l" indent="0" marL="0">
                        <a:buNone/>
                      </a:pPr>
                      <a:r>
                        <a:rPr lang="ja-JP" altLang="en-US" sz="1100" dirty="0">
                          <a:solidFill>
                            <a:srgbClr val="000000"/>
                          </a:solidFill>
                        </a:rPr>
                        <a:t>静的な基準</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438912">
                <a:tc>
                  <a:txBody>
                    <a:bodyPr/>
                    <a:lstStyle/>
                    <a:p>
                      <a:pPr algn="l" indent="0" marL="0">
                        <a:buNone/>
                      </a:pPr>
                      <a:r>
                        <a:rPr lang="ja-JP" altLang="en-US" sz="1100" b="1" dirty="0">
                          <a:solidFill>
                            <a:srgbClr val="000000"/>
                          </a:solidFill>
                        </a:rPr>
                        <a:t>base_hist / mom12 / mom3</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過去平均（拡大窓）/ 252 日 / 63 日モメンタム / σ̂</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ja-JP" altLang="en-US" sz="1100" dirty="0">
                          <a:solidFill>
                            <a:srgbClr val="000000"/>
                          </a:solidFill>
                        </a:rPr>
                        <a:t>単純な時変ルール</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DTW｜結果 1  スタイル単位の予測</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スタイルの翌月リターンの向きは、単純なモメンタムほども当たらない</a:t>
            </a:r>
            <a:endParaRPr lang="ja-JP" sz="1500" dirty="0"/>
          </a:p>
        </p:txBody>
      </p:sp>
      <p:pic>
        <p:nvPicPr>
          <p:cNvPr id="5" name="Image 0" descr="スタイル予測の符号的中率">    </p:cNvPr>
          <p:cNvPicPr>
            <a:picLocks noChangeAspect="1"/>
          </p:cNvPicPr>
          <p:nvPr/>
        </p:nvPicPr>
        <p:blipFill>
          <a:blip r:embed="rId1"/>
          <a:stretch>
            <a:fillRect/>
          </a:stretch>
        </p:blipFill>
        <p:spPr>
          <a:xfrm>
            <a:off x="411480" y="1508760"/>
            <a:ext cx="5532120" cy="4754880"/>
          </a:xfrm>
          <a:prstGeom prst="rect">
            <a:avLst/>
          </a:prstGeom>
        </p:spPr>
      </p:pic>
      <p:sp>
        <p:nvSpPr>
          <p:cNvPr id="6" name="card"/>
          <p:cNvSpPr/>
          <p:nvPr/>
        </p:nvSpPr>
        <p:spPr>
          <a:xfrm>
            <a:off x="6198140" y="1508760"/>
            <a:ext cx="3296075" cy="1508760"/>
          </a:xfrm>
          <a:prstGeom prst="roundRect">
            <a:avLst>
              <a:gd name="adj" fmla="val 3636"/>
            </a:avLst>
          </a:prstGeom>
          <a:solidFill>
            <a:srgbClr val="F2F2F2"/>
          </a:solidFill>
          <a:ln/>
        </p:spPr>
      </p:sp>
      <p:sp>
        <p:nvSpPr>
          <p:cNvPr id="7" name="Text 3"/>
          <p:cNvSpPr txBox="1"/>
          <p:nvPr/>
        </p:nvSpPr>
        <p:spPr>
          <a:xfrm>
            <a:off x="6385289" y="1691640"/>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単純な方法に負ける</a:t>
            </a:r>
            <a:endParaRPr lang="ja-JP" sz="1400" dirty="0"/>
          </a:p>
        </p:txBody>
      </p:sp>
      <p:sp>
        <p:nvSpPr>
          <p:cNvPr id="8" name="Text 4"/>
          <p:cNvSpPr txBox="1"/>
          <p:nvPr/>
        </p:nvSpPr>
        <p:spPr>
          <a:xfrm>
            <a:off x="6385289" y="2148840"/>
            <a:ext cx="2921777" cy="73152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予測と実現の相関は DTW 0.07、12 か月モメンタム 0.09</a:t>
            </a:r>
            <a:endParaRPr lang="ja-JP" sz="1100" dirty="0"/>
          </a:p>
        </p:txBody>
      </p:sp>
      <p:sp>
        <p:nvSpPr>
          <p:cNvPr id="9" name="card"/>
          <p:cNvSpPr/>
          <p:nvPr/>
        </p:nvSpPr>
        <p:spPr>
          <a:xfrm>
            <a:off x="6198140" y="3182112"/>
            <a:ext cx="3296075" cy="1508760"/>
          </a:xfrm>
          <a:prstGeom prst="roundRect">
            <a:avLst>
              <a:gd name="adj" fmla="val 3636"/>
            </a:avLst>
          </a:prstGeom>
          <a:solidFill>
            <a:srgbClr val="F2F2F2"/>
          </a:solidFill>
          <a:ln/>
        </p:spPr>
      </p:sp>
      <p:sp>
        <p:nvSpPr>
          <p:cNvPr id="10" name="Text 6"/>
          <p:cNvSpPr txBox="1"/>
          <p:nvPr/>
        </p:nvSpPr>
        <p:spPr>
          <a:xfrm>
            <a:off x="6385289" y="3364992"/>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効くのは 2 スタイルだけ</a:t>
            </a:r>
            <a:endParaRPr lang="ja-JP" sz="1400" dirty="0"/>
          </a:p>
        </p:txBody>
      </p:sp>
      <p:sp>
        <p:nvSpPr>
          <p:cNvPr id="11" name="Text 7"/>
          <p:cNvSpPr txBox="1"/>
          <p:nvPr/>
        </p:nvSpPr>
        <p:spPr>
          <a:xfrm>
            <a:off x="6385289" y="3822192"/>
            <a:ext cx="2921777" cy="73152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Size 0.19、Shareholder Return 0.17。Flow Value・Profitability はわずかに負</a:t>
            </a:r>
            <a:endParaRPr lang="ja-JP" sz="1100" dirty="0"/>
          </a:p>
        </p:txBody>
      </p:sp>
      <p:sp>
        <p:nvSpPr>
          <p:cNvPr id="12" name="card"/>
          <p:cNvSpPr/>
          <p:nvPr/>
        </p:nvSpPr>
        <p:spPr>
          <a:xfrm>
            <a:off x="6198140" y="4846320"/>
            <a:ext cx="3296075" cy="1508760"/>
          </a:xfrm>
          <a:prstGeom prst="roundRect">
            <a:avLst>
              <a:gd name="adj" fmla="val 3636"/>
            </a:avLst>
          </a:prstGeom>
          <a:solidFill>
            <a:srgbClr val="F2F2F2"/>
          </a:solidFill>
          <a:ln/>
        </p:spPr>
      </p:sp>
      <p:sp>
        <p:nvSpPr>
          <p:cNvPr id="13" name="Text 9"/>
          <p:cNvSpPr txBox="1"/>
          <p:nvPr/>
        </p:nvSpPr>
        <p:spPr>
          <a:xfrm>
            <a:off x="6385289" y="5029200"/>
            <a:ext cx="2921777" cy="411480"/>
          </a:xfrm>
          <a:prstGeom prst="rect">
            <a:avLst/>
          </a:prstGeom>
          <a:noFill/>
          <a:ln/>
        </p:spPr>
        <p:txBody>
          <a:bodyPr wrap="square" lIns="0" tIns="0" rIns="0" bIns="0" rtlCol="0" anchor="t"/>
          <a:lstStyle/>
          <a:p>
            <a:pPr indent="0" marL="0">
              <a:buNone/>
            </a:pPr>
            <a:r>
              <a:rPr lang="ja-JP" altLang="en-US" sz="1400" b="1" dirty="0">
                <a:solidFill>
                  <a:srgbClr val="000000"/>
                </a:solidFill>
              </a:rPr>
              <a:t>DTW の利点が見えない</a:t>
            </a:r>
            <a:endParaRPr lang="ja-JP" sz="1400" dirty="0"/>
          </a:p>
        </p:txBody>
      </p:sp>
      <p:sp>
        <p:nvSpPr>
          <p:cNvPr id="14" name="Text 10"/>
          <p:cNvSpPr txBox="1"/>
          <p:nvPr/>
        </p:nvSpPr>
        <p:spPr>
          <a:xfrm>
            <a:off x="6385289" y="5486400"/>
            <a:ext cx="2921777" cy="73152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ユークリッド距離とスコアの順位相関 0.74。予測の 5 分位も単調でない</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DTW｜結果 2  個別株スコア</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静的な等ウェイトとほぼ同じで、回転率だけ 3 倍になる</a:t>
            </a:r>
            <a:endParaRPr lang="ja-JP" sz="15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5689342" cy="914400"/>
        </p:xfrm>
        <a:graphic>
          <a:graphicData uri="http://schemas.openxmlformats.org/drawingml/2006/table">
            <a:tbl>
              <a:tblPr/>
              <a:tblGrid>
                <a:gridCol w="1646915"/>
                <a:gridCol w="1010607"/>
                <a:gridCol w="1235186"/>
                <a:gridCol w="898317"/>
                <a:gridCol w="898317"/>
              </a:tblGrid>
              <a:tr h="438912">
                <a:tc>
                  <a:txBody>
                    <a:bodyPr/>
                    <a:lstStyle/>
                    <a:p>
                      <a:pPr algn="ctr" indent="0" marL="0">
                        <a:buNone/>
                      </a:pPr>
                      <a:r>
                        <a:rPr lang="ja-JP" altLang="en-US" sz="1100" b="1" dirty="0">
                          <a:solidFill>
                            <a:srgbClr val="FFFFFF"/>
                          </a:solidFill>
                        </a:rPr>
                        <a:t>スコア</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 EW 超過</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IC（t）</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Q5−Q1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c>
                  <a:txBody>
                    <a:bodyPr/>
                    <a:lstStyle/>
                    <a:p>
                      <a:pPr algn="ctr" indent="0" marL="0">
                        <a:buNone/>
                      </a:pPr>
                      <a:r>
                        <a:rPr lang="ja-JP" altLang="en-US" sz="1100" b="1" dirty="0">
                          <a:solidFill>
                            <a:srgbClr val="FFFFFF"/>
                          </a:solidFill>
                        </a:rPr>
                        <a:t>回転率</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95959"/>
                    </a:solidFill>
                  </a:tcPr>
                </a:tc>
              </a:tr>
              <a:tr h="438912">
                <a:tc>
                  <a:txBody>
                    <a:bodyPr/>
                    <a:lstStyle/>
                    <a:p>
                      <a:pPr algn="l" indent="0" marL="0">
                        <a:buNone/>
                      </a:pPr>
                      <a:r>
                        <a:rPr lang="ja-JP" altLang="en-US" sz="1100" dirty="0">
                          <a:solidFill>
                            <a:srgbClr val="000000"/>
                          </a:solidFill>
                        </a:rPr>
                        <a:t>sdtw（本命）</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6.7%</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0.039（3.7）</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12.4%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8.0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38912">
                <a:tc>
                  <a:txBody>
                    <a:bodyPr/>
                    <a:lstStyle/>
                    <a:p>
                      <a:pPr algn="l" indent="0" marL="0">
                        <a:buNone/>
                      </a:pPr>
                      <a:r>
                        <a:rPr lang="ja-JP" altLang="en-US" sz="1100" dirty="0">
                          <a:solidFill>
                            <a:srgbClr val="000000"/>
                          </a:solidFill>
                        </a:rPr>
                        <a:t>sdtw_pos</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7.1%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0.047（4.4）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14.2%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6.7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38912">
                <a:tc>
                  <a:txBody>
                    <a:bodyPr/>
                    <a:lstStyle/>
                    <a:p>
                      <a:pPr algn="l" indent="0" marL="0">
                        <a:buNone/>
                      </a:pPr>
                      <a:r>
                        <a:rPr lang="ja-JP" altLang="en-US" sz="1100" dirty="0">
                          <a:solidFill>
                            <a:srgbClr val="000000"/>
                          </a:solidFill>
                        </a:rPr>
                        <a:t>sknn_euc</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6.4%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0.036（3.1）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12.1%</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8.3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38912">
                <a:tc>
                  <a:txBody>
                    <a:bodyPr/>
                    <a:lstStyle/>
                    <a:p>
                      <a:pPr algn="l" indent="0" marL="0">
                        <a:buNone/>
                      </a:pPr>
                      <a:r>
                        <a:rPr lang="ja-JP" altLang="en-US" sz="1100" b="1" dirty="0">
                          <a:solidFill>
                            <a:srgbClr val="000000"/>
                          </a:solidFill>
                        </a:rPr>
                        <a:t>base_ew（基準）</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7.5%</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0.040（4.4）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11.0%</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c>
                  <a:txBody>
                    <a:bodyPr/>
                    <a:lstStyle/>
                    <a:p>
                      <a:pPr algn="ctr" indent="0" marL="0">
                        <a:buNone/>
                      </a:pPr>
                      <a:r>
                        <a:rPr lang="ja-JP" altLang="en-US" sz="1100" dirty="0">
                          <a:solidFill>
                            <a:srgbClr val="000000"/>
                          </a:solidFill>
                        </a:rPr>
                        <a:t>2.6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9E8"/>
                    </a:solidFill>
                  </a:tcPr>
                </a:tc>
              </a:tr>
              <a:tr h="438912">
                <a:tc>
                  <a:txBody>
                    <a:bodyPr/>
                    <a:lstStyle/>
                    <a:p>
                      <a:pPr algn="l" indent="0" marL="0">
                        <a:buNone/>
                      </a:pPr>
                      <a:r>
                        <a:rPr lang="ja-JP" altLang="en-US" sz="1100" dirty="0">
                          <a:solidFill>
                            <a:srgbClr val="000000"/>
                          </a:solidFill>
                        </a:rPr>
                        <a:t>base_hist</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5.2%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0.054（4.6）</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10.3%</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2.0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38912">
                <a:tc>
                  <a:txBody>
                    <a:bodyPr/>
                    <a:lstStyle/>
                    <a:p>
                      <a:pPr algn="l" indent="0" marL="0">
                        <a:buNone/>
                      </a:pPr>
                      <a:r>
                        <a:rPr lang="ja-JP" altLang="en-US" sz="1100" dirty="0">
                          <a:solidFill>
                            <a:srgbClr val="000000"/>
                          </a:solidFill>
                        </a:rPr>
                        <a:t>base_mom12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6.2%</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0.037（2.5）</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8.3%</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ja-JP" altLang="en-US" sz="1100" dirty="0">
                          <a:solidFill>
                            <a:srgbClr val="000000"/>
                          </a:solidFill>
                        </a:rPr>
                        <a:t>3.1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438912">
                <a:tc>
                  <a:txBody>
                    <a:bodyPr/>
                    <a:lstStyle/>
                    <a:p>
                      <a:pPr algn="l" indent="0" marL="0">
                        <a:buNone/>
                      </a:pPr>
                      <a:r>
                        <a:rPr lang="ja-JP" altLang="en-US" sz="1100" dirty="0">
                          <a:solidFill>
                            <a:srgbClr val="000000"/>
                          </a:solidFill>
                        </a:rPr>
                        <a:t>comp_ew（参考）</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12.4%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0.063（6.6）</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18.4%</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ja-JP" altLang="en-US" sz="1100" dirty="0">
                          <a:solidFill>
                            <a:srgbClr val="000000"/>
                          </a:solidFill>
                        </a:rPr>
                        <a:t>4.0 倍</a:t>
                      </a:r>
                      <a:endParaRPr lang="ja-JP" sz="1100" dirty="0"/>
                    </a:p>
                  </a:txBody>
                  <a:tcPr marL="64008" marR="64008"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11480" y="5120640"/>
            <a:ext cx="5689342" cy="457200"/>
          </a:xfrm>
          <a:prstGeom prst="rect">
            <a:avLst/>
          </a:prstGeom>
          <a:noFill/>
          <a:ln/>
        </p:spPr>
        <p:txBody>
          <a:bodyPr wrap="square" lIns="0" tIns="0" rIns="0" bIns="0" rtlCol="0" anchor="t"/>
          <a:lstStyle/>
          <a:p>
            <a:pPr indent="0" marL="0">
              <a:buNone/>
            </a:pPr>
            <a:r>
              <a:rPr lang="ja-JP" altLang="en-US" sz="950" dirty="0">
                <a:solidFill>
                  <a:srgbClr val="737374"/>
                </a:solidFill>
              </a:rPr>
              <a:t>drtn、2011-03〜2026-07、税・コスト控除前。期間が違うため comp_ew は本編と数値が異なる</a:t>
            </a:r>
            <a:endParaRPr lang="ja-JP" sz="950" dirty="0"/>
          </a:p>
        </p:txBody>
      </p:sp>
      <p:sp>
        <p:nvSpPr>
          <p:cNvPr id="7" name="card"/>
          <p:cNvSpPr/>
          <p:nvPr/>
        </p:nvSpPr>
        <p:spPr>
          <a:xfrm>
            <a:off x="6347859" y="1508760"/>
            <a:ext cx="3146356" cy="2331720"/>
          </a:xfrm>
          <a:prstGeom prst="roundRect">
            <a:avLst>
              <a:gd name="adj" fmla="val 2353"/>
            </a:avLst>
          </a:prstGeom>
          <a:solidFill>
            <a:srgbClr val="F2F2F2"/>
          </a:solidFill>
          <a:ln/>
        </p:spPr>
      </p:sp>
      <p:sp>
        <p:nvSpPr>
          <p:cNvPr id="8" name="Text 4"/>
          <p:cNvSpPr txBox="1"/>
          <p:nvPr/>
        </p:nvSpPr>
        <p:spPr>
          <a:xfrm>
            <a:off x="6535009" y="1691640"/>
            <a:ext cx="2772057" cy="411480"/>
          </a:xfrm>
          <a:prstGeom prst="rect">
            <a:avLst/>
          </a:prstGeom>
          <a:noFill/>
          <a:ln/>
        </p:spPr>
        <p:txBody>
          <a:bodyPr wrap="square" lIns="0" tIns="0" rIns="0" bIns="0" rtlCol="0" anchor="t"/>
          <a:lstStyle/>
          <a:p>
            <a:pPr indent="0" marL="0">
              <a:buNone/>
            </a:pPr>
            <a:r>
              <a:rPr lang="ja-JP" altLang="en-US" sz="1400" b="1" dirty="0">
                <a:solidFill>
                  <a:srgbClr val="000000"/>
                </a:solidFill>
              </a:rPr>
              <a:t>base_ew との差は 0</a:t>
            </a:r>
            <a:endParaRPr lang="ja-JP" sz="1400" dirty="0"/>
          </a:p>
        </p:txBody>
      </p:sp>
      <p:sp>
        <p:nvSpPr>
          <p:cNvPr id="9" name="Text 5"/>
          <p:cNvSpPr txBox="1"/>
          <p:nvPr/>
        </p:nvSpPr>
        <p:spPr>
          <a:xfrm>
            <a:off x="6535009" y="2148840"/>
            <a:ext cx="2772057"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sdtw − base_ew の月次差の t: Q5 超過 −0.3、IC 0.0、Q5−Q1 +0.3</a:t>
            </a:r>
            <a:endParaRPr lang="ja-JP" sz="1100" dirty="0"/>
          </a:p>
          <a:p>
            <a:pPr marL="152400" indent="-152400">
              <a:spcAft>
                <a:spcPts val="500"/>
              </a:spcAft>
              <a:buSzPct val="100000"/>
              <a:buChar char="•"/>
            </a:pPr>
            <a:r>
              <a:rPr lang="ja-JP" altLang="en-US" sz="1100" dirty="0">
                <a:solidFill>
                  <a:srgbClr val="000000"/>
                </a:solidFill>
              </a:rPr>
              <a:t>最も良い sdtw_pos でも IC +0.007（t 0.9）</a:t>
            </a:r>
            <a:endParaRPr lang="ja-JP" sz="1100" dirty="0"/>
          </a:p>
        </p:txBody>
      </p:sp>
      <p:sp>
        <p:nvSpPr>
          <p:cNvPr id="10" name="card"/>
          <p:cNvSpPr/>
          <p:nvPr/>
        </p:nvSpPr>
        <p:spPr>
          <a:xfrm>
            <a:off x="6347859" y="4023360"/>
            <a:ext cx="3146356" cy="2331720"/>
          </a:xfrm>
          <a:prstGeom prst="roundRect">
            <a:avLst>
              <a:gd name="adj" fmla="val 2353"/>
            </a:avLst>
          </a:prstGeom>
          <a:solidFill>
            <a:srgbClr val="F2F2F2"/>
          </a:solidFill>
          <a:ln/>
        </p:spPr>
      </p:sp>
      <p:sp>
        <p:nvSpPr>
          <p:cNvPr id="11" name="Text 7"/>
          <p:cNvSpPr txBox="1"/>
          <p:nvPr/>
        </p:nvSpPr>
        <p:spPr>
          <a:xfrm>
            <a:off x="6535009" y="4206240"/>
            <a:ext cx="2772057" cy="411480"/>
          </a:xfrm>
          <a:prstGeom prst="rect">
            <a:avLst/>
          </a:prstGeom>
          <a:noFill/>
          <a:ln/>
        </p:spPr>
        <p:txBody>
          <a:bodyPr wrap="square" lIns="0" tIns="0" rIns="0" bIns="0" rtlCol="0" anchor="t"/>
          <a:lstStyle/>
          <a:p>
            <a:pPr indent="0" marL="0">
              <a:buNone/>
            </a:pPr>
            <a:r>
              <a:rPr lang="ja-JP" altLang="en-US" sz="1400" b="1" dirty="0">
                <a:solidFill>
                  <a:srgbClr val="000000"/>
                </a:solidFill>
              </a:rPr>
              <a:t>回転率は 3 倍</a:t>
            </a:r>
            <a:endParaRPr lang="ja-JP" sz="1400" dirty="0"/>
          </a:p>
        </p:txBody>
      </p:sp>
      <p:sp>
        <p:nvSpPr>
          <p:cNvPr id="12" name="Text 8"/>
          <p:cNvSpPr txBox="1"/>
          <p:nvPr/>
        </p:nvSpPr>
        <p:spPr>
          <a:xfrm>
            <a:off x="6535009" y="4663440"/>
            <a:ext cx="2772057"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sdtw 8.0 倍 vs base_ew 2.6 倍</a:t>
            </a:r>
            <a:endParaRPr lang="ja-JP" sz="1100" dirty="0"/>
          </a:p>
          <a:p>
            <a:pPr marL="152400" indent="-152400">
              <a:spcAft>
                <a:spcPts val="500"/>
              </a:spcAft>
              <a:buSzPct val="100000"/>
              <a:buChar char="•"/>
            </a:pPr>
            <a:r>
              <a:rPr lang="ja-JP" altLang="en-US" sz="1100" dirty="0">
                <a:solidFill>
                  <a:srgbClr val="000000"/>
                </a:solidFill>
              </a:rPr>
              <a:t>売買の大半が短期課税（20%）になり、税引後はさらに不利</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DTW｜結果 3  期間別</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上乗せは 2011–2015 年だけで、2020 年以降は等ウェイトを下回る</a:t>
            </a:r>
            <a:endParaRPr lang="ja-JP" sz="1500" dirty="0"/>
          </a:p>
        </p:txBody>
      </p:sp>
      <p:pic>
        <p:nvPicPr>
          <p:cNvPr id="5" name="Image 0" descr="期間別の Q5 超過">    </p:cNvPr>
          <p:cNvPicPr>
            <a:picLocks noChangeAspect="1"/>
          </p:cNvPicPr>
          <p:nvPr/>
        </p:nvPicPr>
        <p:blipFill>
          <a:blip r:embed="rId1"/>
          <a:stretch>
            <a:fillRect/>
          </a:stretch>
        </p:blipFill>
        <p:spPr>
          <a:xfrm>
            <a:off x="411480" y="1508760"/>
            <a:ext cx="5669280" cy="4754880"/>
          </a:xfrm>
          <a:prstGeom prst="rect">
            <a:avLst/>
          </a:prstGeom>
        </p:spPr>
      </p:pic>
      <p:sp>
        <p:nvSpPr>
          <p:cNvPr id="6" name="card"/>
          <p:cNvSpPr/>
          <p:nvPr/>
        </p:nvSpPr>
        <p:spPr>
          <a:xfrm>
            <a:off x="6347859" y="1508760"/>
            <a:ext cx="3146356" cy="2331720"/>
          </a:xfrm>
          <a:prstGeom prst="roundRect">
            <a:avLst>
              <a:gd name="adj" fmla="val 2353"/>
            </a:avLst>
          </a:prstGeom>
          <a:solidFill>
            <a:srgbClr val="F2F2F2"/>
          </a:solidFill>
          <a:ln/>
        </p:spPr>
      </p:sp>
      <p:sp>
        <p:nvSpPr>
          <p:cNvPr id="7" name="Text 3"/>
          <p:cNvSpPr txBox="1"/>
          <p:nvPr/>
        </p:nvSpPr>
        <p:spPr>
          <a:xfrm>
            <a:off x="6535009" y="1691640"/>
            <a:ext cx="2772057" cy="411480"/>
          </a:xfrm>
          <a:prstGeom prst="rect">
            <a:avLst/>
          </a:prstGeom>
          <a:noFill/>
          <a:ln/>
        </p:spPr>
        <p:txBody>
          <a:bodyPr wrap="square" lIns="0" tIns="0" rIns="0" bIns="0" rtlCol="0" anchor="t"/>
          <a:lstStyle/>
          <a:p>
            <a:pPr indent="0" marL="0">
              <a:buNone/>
            </a:pPr>
            <a:r>
              <a:rPr lang="ja-JP" altLang="en-US" sz="1400" b="1" dirty="0">
                <a:solidFill>
                  <a:srgbClr val="000000"/>
                </a:solidFill>
              </a:rPr>
              <a:t>初期だけ効いた</a:t>
            </a:r>
            <a:endParaRPr lang="ja-JP" sz="1400" dirty="0"/>
          </a:p>
        </p:txBody>
      </p:sp>
      <p:sp>
        <p:nvSpPr>
          <p:cNvPr id="8" name="Text 4"/>
          <p:cNvSpPr txBox="1"/>
          <p:nvPr/>
        </p:nvSpPr>
        <p:spPr>
          <a:xfrm>
            <a:off x="6535009" y="2148840"/>
            <a:ext cx="2772057"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2011–2015 年は sdtw 12.3% vs base_ew 8.2%</a:t>
            </a:r>
            <a:endParaRPr lang="ja-JP" sz="1100" dirty="0"/>
          </a:p>
          <a:p>
            <a:pPr marL="152400" indent="-152400">
              <a:spcAft>
                <a:spcPts val="500"/>
              </a:spcAft>
              <a:buSzPct val="100000"/>
              <a:buChar char="•"/>
            </a:pPr>
            <a:r>
              <a:rPr lang="ja-JP" altLang="en-US" sz="1100" dirty="0">
                <a:solidFill>
                  <a:srgbClr val="000000"/>
                </a:solidFill>
              </a:rPr>
              <a:t>IC も 0.078 vs 0.070</a:t>
            </a:r>
            <a:endParaRPr lang="ja-JP" sz="1100" dirty="0"/>
          </a:p>
        </p:txBody>
      </p:sp>
      <p:sp>
        <p:nvSpPr>
          <p:cNvPr id="9" name="card"/>
          <p:cNvSpPr/>
          <p:nvPr/>
        </p:nvSpPr>
        <p:spPr>
          <a:xfrm>
            <a:off x="6347859" y="4023360"/>
            <a:ext cx="3146356" cy="2331720"/>
          </a:xfrm>
          <a:prstGeom prst="roundRect">
            <a:avLst>
              <a:gd name="adj" fmla="val 2353"/>
            </a:avLst>
          </a:prstGeom>
          <a:solidFill>
            <a:srgbClr val="F2F2F2"/>
          </a:solidFill>
          <a:ln/>
        </p:spPr>
      </p:sp>
      <p:sp>
        <p:nvSpPr>
          <p:cNvPr id="10" name="Text 6"/>
          <p:cNvSpPr txBox="1"/>
          <p:nvPr/>
        </p:nvSpPr>
        <p:spPr>
          <a:xfrm>
            <a:off x="6535009" y="4206240"/>
            <a:ext cx="2772057" cy="411480"/>
          </a:xfrm>
          <a:prstGeom prst="rect">
            <a:avLst/>
          </a:prstGeom>
          <a:noFill/>
          <a:ln/>
        </p:spPr>
        <p:txBody>
          <a:bodyPr wrap="square" lIns="0" tIns="0" rIns="0" bIns="0" rtlCol="0" anchor="t"/>
          <a:lstStyle/>
          <a:p>
            <a:pPr indent="0" marL="0">
              <a:buNone/>
            </a:pPr>
            <a:r>
              <a:rPr lang="ja-JP" altLang="en-US" sz="1400" b="1" dirty="0">
                <a:solidFill>
                  <a:srgbClr val="000000"/>
                </a:solidFill>
              </a:rPr>
              <a:t>直近は逆効果</a:t>
            </a:r>
            <a:endParaRPr lang="ja-JP" sz="1400" dirty="0"/>
          </a:p>
        </p:txBody>
      </p:sp>
      <p:sp>
        <p:nvSpPr>
          <p:cNvPr id="11" name="Text 7"/>
          <p:cNvSpPr txBox="1"/>
          <p:nvPr/>
        </p:nvSpPr>
        <p:spPr>
          <a:xfrm>
            <a:off x="6535009" y="4663440"/>
            <a:ext cx="2772057"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100" dirty="0">
                <a:solidFill>
                  <a:srgbClr val="000000"/>
                </a:solidFill>
              </a:rPr>
              <a:t>2020 年以降は 7.0% vs 13.2%</a:t>
            </a:r>
            <a:endParaRPr lang="ja-JP" sz="1100" dirty="0"/>
          </a:p>
          <a:p>
            <a:pPr marL="152400" indent="-152400">
              <a:spcAft>
                <a:spcPts val="500"/>
              </a:spcAft>
              <a:buSzPct val="100000"/>
              <a:buChar char="•"/>
            </a:pPr>
            <a:r>
              <a:rPr lang="ja-JP" altLang="en-US" sz="1100" dirty="0">
                <a:solidFill>
                  <a:srgbClr val="000000"/>
                </a:solidFill>
              </a:rPr>
              <a:t>IC も 0.014 vs 0.027</a:t>
            </a:r>
            <a:endParaRPr lang="ja-JP" sz="11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type="title"/>
          </p:nvPr>
        </p:nvSpPr>
        <p:spPr>
          <a:xfrm>
            <a:off x="1892808" y="54864"/>
            <a:ext cx="6336792" cy="722376"/>
          </a:xfrm>
          <a:prstGeom prst="rect">
            <a:avLst/>
          </a:prstGeom>
          <a:noFill/>
          <a:ln/>
        </p:spPr>
        <p:txBody>
          <a:bodyPr wrap="square" rtlCol="0" anchor="b"/>
          <a:lstStyle/>
          <a:p>
            <a:pPr indent="0" marL="0">
              <a:buNone/>
            </a:pPr>
            <a:r>
              <a:rPr lang="ja-JP" altLang="en-US" sz="1800" b="1" dirty="0">
                <a:solidFill>
                  <a:srgbClr val="000000"/>
                </a:solidFill>
              </a:rPr>
              <a:t>DTW｜判定</a:t>
            </a:r>
            <a:endParaRPr lang="ja-JP" sz="1800" dirty="0"/>
          </a:p>
        </p:txBody>
      </p:sp>
      <p:sp>
        <p:nvSpPr>
          <p:cNvPr id="3" name="lead"/>
          <p:cNvSpPr txBox="1"/>
          <p:nvPr/>
        </p:nvSpPr>
        <p:spPr>
          <a:xfrm>
            <a:off x="411480" y="932688"/>
            <a:ext cx="9082735" cy="457200"/>
          </a:xfrm>
          <a:prstGeom prst="rect">
            <a:avLst/>
          </a:prstGeom>
          <a:noFill/>
          <a:ln/>
        </p:spPr>
        <p:txBody>
          <a:bodyPr wrap="square" lIns="0" tIns="0" rIns="0" bIns="0" rtlCol="0" anchor="ctr"/>
          <a:lstStyle/>
          <a:p>
            <a:pPr indent="0" marL="0">
              <a:buNone/>
            </a:pPr>
            <a:r>
              <a:rPr lang="ja-JP" altLang="en-US" sz="1500" b="1" dirty="0">
                <a:solidFill>
                  <a:srgbClr val="000000"/>
                </a:solidFill>
              </a:rPr>
              <a:t>見送り。スタイルの時変配分は、静的な等ウェイトに勝てなかった</a:t>
            </a:r>
            <a:endParaRPr lang="ja-JP" sz="1500" dirty="0"/>
          </a:p>
        </p:txBody>
      </p:sp>
      <p:sp>
        <p:nvSpPr>
          <p:cNvPr id="5" name="card"/>
          <p:cNvSpPr/>
          <p:nvPr/>
        </p:nvSpPr>
        <p:spPr>
          <a:xfrm>
            <a:off x="411480" y="1508760"/>
            <a:ext cx="2862887" cy="2560320"/>
          </a:xfrm>
          <a:prstGeom prst="roundRect">
            <a:avLst>
              <a:gd name="adj" fmla="val 2143"/>
            </a:avLst>
          </a:prstGeom>
          <a:solidFill>
            <a:srgbClr val="F2F2F2"/>
          </a:solidFill>
          <a:ln/>
        </p:spPr>
      </p:sp>
      <p:sp>
        <p:nvSpPr>
          <p:cNvPr id="6" name="badge"/>
          <p:cNvSpPr/>
          <p:nvPr/>
        </p:nvSpPr>
        <p:spPr>
          <a:xfrm>
            <a:off x="602899" y="1783080"/>
            <a:ext cx="365760" cy="365760"/>
          </a:xfrm>
          <a:prstGeom prst="ellipse">
            <a:avLst/>
          </a:prstGeom>
          <a:solidFill>
            <a:srgbClr val="595959"/>
          </a:solidFill>
          <a:ln/>
        </p:spPr>
      </p:sp>
      <p:sp>
        <p:nvSpPr>
          <p:cNvPr id="7" name="Text 4"/>
          <p:cNvSpPr txBox="1"/>
          <p:nvPr/>
        </p:nvSpPr>
        <p:spPr>
          <a:xfrm>
            <a:off x="602899"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1</a:t>
            </a:r>
            <a:endParaRPr lang="ja-JP" sz="1400" dirty="0"/>
          </a:p>
        </p:txBody>
      </p:sp>
      <p:sp>
        <p:nvSpPr>
          <p:cNvPr id="8" name="Text 5"/>
          <p:cNvSpPr txBox="1"/>
          <p:nvPr/>
        </p:nvSpPr>
        <p:spPr>
          <a:xfrm>
            <a:off x="1085218"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仮説は不支持</a:t>
            </a:r>
            <a:endParaRPr lang="ja-JP" sz="1450" dirty="0"/>
          </a:p>
        </p:txBody>
      </p:sp>
      <p:sp>
        <p:nvSpPr>
          <p:cNvPr id="9" name="Text 6"/>
          <p:cNvSpPr txBox="1"/>
          <p:nvPr/>
        </p:nvSpPr>
        <p:spPr>
          <a:xfrm>
            <a:off x="598629"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スタイル予測の的中率 52%、単純なモメンタム以下</a:t>
            </a:r>
            <a:endParaRPr lang="ja-JP" sz="1200" dirty="0"/>
          </a:p>
          <a:p>
            <a:pPr marL="152400" indent="-152400">
              <a:spcAft>
                <a:spcPts val="500"/>
              </a:spcAft>
              <a:buSzPct val="100000"/>
              <a:buChar char="•"/>
            </a:pPr>
            <a:r>
              <a:rPr lang="ja-JP" altLang="en-US" sz="1300" dirty="0">
                <a:solidFill>
                  <a:srgbClr val="000000"/>
                </a:solidFill>
              </a:rPr>
              <a:t>時間軸の伸縮（DTW）の利点もない</a:t>
            </a:r>
            <a:endParaRPr lang="ja-JP" sz="1200" dirty="0"/>
          </a:p>
        </p:txBody>
      </p:sp>
      <p:sp>
        <p:nvSpPr>
          <p:cNvPr id="10" name="card"/>
          <p:cNvSpPr/>
          <p:nvPr/>
        </p:nvSpPr>
        <p:spPr>
          <a:xfrm>
            <a:off x="3521404" y="1508760"/>
            <a:ext cx="2862887" cy="2560320"/>
          </a:xfrm>
          <a:prstGeom prst="roundRect">
            <a:avLst>
              <a:gd name="adj" fmla="val 2143"/>
            </a:avLst>
          </a:prstGeom>
          <a:solidFill>
            <a:srgbClr val="F2F2F2"/>
          </a:solidFill>
          <a:ln/>
        </p:spPr>
      </p:sp>
      <p:sp>
        <p:nvSpPr>
          <p:cNvPr id="11" name="badge"/>
          <p:cNvSpPr/>
          <p:nvPr/>
        </p:nvSpPr>
        <p:spPr>
          <a:xfrm>
            <a:off x="3712823" y="1783080"/>
            <a:ext cx="365760" cy="365760"/>
          </a:xfrm>
          <a:prstGeom prst="ellipse">
            <a:avLst/>
          </a:prstGeom>
          <a:solidFill>
            <a:srgbClr val="CB2420"/>
          </a:solidFill>
          <a:ln/>
        </p:spPr>
      </p:sp>
      <p:sp>
        <p:nvSpPr>
          <p:cNvPr id="12" name="Text 9"/>
          <p:cNvSpPr txBox="1"/>
          <p:nvPr/>
        </p:nvSpPr>
        <p:spPr>
          <a:xfrm>
            <a:off x="3712823"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2</a:t>
            </a:r>
            <a:endParaRPr lang="ja-JP" sz="1400" dirty="0"/>
          </a:p>
        </p:txBody>
      </p:sp>
      <p:sp>
        <p:nvSpPr>
          <p:cNvPr id="13" name="Text 10"/>
          <p:cNvSpPr txBox="1"/>
          <p:nvPr/>
        </p:nvSpPr>
        <p:spPr>
          <a:xfrm>
            <a:off x="4195142"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上乗せがない</a:t>
            </a:r>
            <a:endParaRPr lang="ja-JP" sz="1450" dirty="0"/>
          </a:p>
        </p:txBody>
      </p:sp>
      <p:sp>
        <p:nvSpPr>
          <p:cNvPr id="14" name="Text 11"/>
          <p:cNvSpPr txBox="1"/>
          <p:nvPr/>
        </p:nvSpPr>
        <p:spPr>
          <a:xfrm>
            <a:off x="3708554"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個別株スコアは base_ew と同じ（差の t &lt; 1）</a:t>
            </a:r>
            <a:endParaRPr lang="ja-JP" sz="1200" dirty="0"/>
          </a:p>
          <a:p>
            <a:pPr marL="152400" indent="-152400">
              <a:spcAft>
                <a:spcPts val="500"/>
              </a:spcAft>
              <a:buSzPct val="100000"/>
              <a:buChar char="•"/>
            </a:pPr>
            <a:r>
              <a:rPr lang="ja-JP" altLang="en-US" sz="1300" dirty="0">
                <a:solidFill>
                  <a:srgbClr val="000000"/>
                </a:solidFill>
              </a:rPr>
              <a:t>効いたのは 2011–2015 年だけ</a:t>
            </a:r>
            <a:endParaRPr lang="ja-JP" sz="1200" dirty="0"/>
          </a:p>
        </p:txBody>
      </p:sp>
      <p:sp>
        <p:nvSpPr>
          <p:cNvPr id="15" name="card"/>
          <p:cNvSpPr/>
          <p:nvPr/>
        </p:nvSpPr>
        <p:spPr>
          <a:xfrm>
            <a:off x="6631328" y="1508760"/>
            <a:ext cx="2862887" cy="2560320"/>
          </a:xfrm>
          <a:prstGeom prst="roundRect">
            <a:avLst>
              <a:gd name="adj" fmla="val 2143"/>
            </a:avLst>
          </a:prstGeom>
          <a:solidFill>
            <a:srgbClr val="F2F2F2"/>
          </a:solidFill>
          <a:ln/>
        </p:spPr>
      </p:sp>
      <p:sp>
        <p:nvSpPr>
          <p:cNvPr id="16" name="badge"/>
          <p:cNvSpPr/>
          <p:nvPr/>
        </p:nvSpPr>
        <p:spPr>
          <a:xfrm>
            <a:off x="6822747" y="1783080"/>
            <a:ext cx="365760" cy="365760"/>
          </a:xfrm>
          <a:prstGeom prst="ellipse">
            <a:avLst/>
          </a:prstGeom>
          <a:solidFill>
            <a:srgbClr val="00305C"/>
          </a:solidFill>
          <a:ln/>
        </p:spPr>
      </p:sp>
      <p:sp>
        <p:nvSpPr>
          <p:cNvPr id="17" name="Text 14"/>
          <p:cNvSpPr txBox="1"/>
          <p:nvPr/>
        </p:nvSpPr>
        <p:spPr>
          <a:xfrm>
            <a:off x="6822747" y="1783080"/>
            <a:ext cx="365760" cy="365760"/>
          </a:xfrm>
          <a:prstGeom prst="rect">
            <a:avLst/>
          </a:prstGeom>
          <a:noFill/>
          <a:ln/>
        </p:spPr>
        <p:txBody>
          <a:bodyPr wrap="square" lIns="0" tIns="0" rIns="0" bIns="0" rtlCol="0" anchor="ctr"/>
          <a:lstStyle/>
          <a:p>
            <a:pPr algn="ctr" indent="0" marL="0">
              <a:buNone/>
            </a:pPr>
            <a:r>
              <a:rPr lang="ja-JP" altLang="en-US" sz="1400" b="1" dirty="0">
                <a:solidFill>
                  <a:srgbClr val="FFFFFF"/>
                </a:solidFill>
              </a:rPr>
              <a:t>3</a:t>
            </a:r>
            <a:endParaRPr lang="ja-JP" sz="1400" dirty="0"/>
          </a:p>
        </p:txBody>
      </p:sp>
      <p:sp>
        <p:nvSpPr>
          <p:cNvPr id="18" name="Text 15"/>
          <p:cNvSpPr txBox="1"/>
          <p:nvPr/>
        </p:nvSpPr>
        <p:spPr>
          <a:xfrm>
            <a:off x="7305066" y="1737360"/>
            <a:ext cx="2039430" cy="457200"/>
          </a:xfrm>
          <a:prstGeom prst="rect">
            <a:avLst/>
          </a:prstGeom>
          <a:noFill/>
          <a:ln/>
        </p:spPr>
        <p:txBody>
          <a:bodyPr wrap="square" lIns="0" tIns="0" rIns="0" bIns="0" rtlCol="0" anchor="ctr"/>
          <a:lstStyle/>
          <a:p>
            <a:pPr indent="0" marL="0">
              <a:buNone/>
            </a:pPr>
            <a:r>
              <a:rPr lang="ja-JP" altLang="en-US" sz="1450" b="1" dirty="0">
                <a:solidFill>
                  <a:srgbClr val="000000"/>
                </a:solidFill>
              </a:rPr>
              <a:t>コストが増える</a:t>
            </a:r>
            <a:endParaRPr lang="ja-JP" sz="1450" dirty="0"/>
          </a:p>
        </p:txBody>
      </p:sp>
      <p:sp>
        <p:nvSpPr>
          <p:cNvPr id="19" name="Text 16"/>
          <p:cNvSpPr txBox="1"/>
          <p:nvPr/>
        </p:nvSpPr>
        <p:spPr>
          <a:xfrm>
            <a:off x="6818478" y="2377440"/>
            <a:ext cx="2488588" cy="1554480"/>
          </a:xfrm>
          <a:prstGeom prst="rect">
            <a:avLst/>
          </a:prstGeom>
          <a:noFill/>
          <a:ln/>
        </p:spPr>
        <p:txBody>
          <a:bodyPr wrap="square" lIns="0" tIns="0" rIns="0" bIns="0" rtlCol="0" anchor="t"/>
          <a:lstStyle/>
          <a:p>
            <a:pPr marL="152400" indent="-152400">
              <a:spcAft>
                <a:spcPts val="500"/>
              </a:spcAft>
              <a:buSzPct val="100000"/>
              <a:buChar char="•"/>
            </a:pPr>
            <a:r>
              <a:rPr lang="ja-JP" altLang="en-US" sz="1300" dirty="0">
                <a:solidFill>
                  <a:srgbClr val="000000"/>
                </a:solidFill>
              </a:rPr>
              <a:t>回転率は base_ew の約 3 倍（8.0 倍）</a:t>
            </a:r>
            <a:endParaRPr lang="ja-JP" sz="1200" dirty="0"/>
          </a:p>
          <a:p>
            <a:pPr marL="152400" indent="-152400">
              <a:spcAft>
                <a:spcPts val="500"/>
              </a:spcAft>
              <a:buSzPct val="100000"/>
              <a:buChar char="•"/>
            </a:pPr>
            <a:r>
              <a:rPr lang="ja-JP" altLang="en-US" sz="1300" dirty="0">
                <a:solidFill>
                  <a:srgbClr val="000000"/>
                </a:solidFill>
              </a:rPr>
              <a:t>税引後はさらに不利</a:t>
            </a:r>
            <a:endParaRPr lang="ja-JP" sz="1200" dirty="0"/>
          </a:p>
        </p:txBody>
      </p:sp>
      <p:sp>
        <p:nvSpPr>
          <p:cNvPr id="20" name="next"/>
          <p:cNvSpPr/>
          <p:nvPr/>
        </p:nvSpPr>
        <p:spPr>
          <a:xfrm>
            <a:off x="411480" y="4343400"/>
            <a:ext cx="9082735" cy="2011680"/>
          </a:xfrm>
          <a:prstGeom prst="roundRect">
            <a:avLst>
              <a:gd name="adj" fmla="val 2727"/>
            </a:avLst>
          </a:prstGeom>
          <a:ln w="12700">
            <a:solidFill>
              <a:srgbClr val="BFBFBF"/>
            </a:solidFill>
            <a:prstDash val="solid"/>
          </a:ln>
        </p:spPr>
      </p:sp>
      <p:sp>
        <p:nvSpPr>
          <p:cNvPr id="21" name="Text 18"/>
          <p:cNvSpPr txBox="1"/>
          <p:nvPr/>
        </p:nvSpPr>
        <p:spPr>
          <a:xfrm>
            <a:off x="598629" y="4498848"/>
            <a:ext cx="8708436" cy="365760"/>
          </a:xfrm>
          <a:prstGeom prst="rect">
            <a:avLst/>
          </a:prstGeom>
          <a:noFill/>
          <a:ln/>
        </p:spPr>
        <p:txBody>
          <a:bodyPr wrap="square" lIns="0" tIns="0" rIns="0" bIns="0" rtlCol="0" anchor="t"/>
          <a:lstStyle/>
          <a:p>
            <a:pPr indent="0" marL="0">
              <a:buNone/>
            </a:pPr>
            <a:r>
              <a:rPr lang="ja-JP" altLang="en-US" sz="1300" b="1" dirty="0">
                <a:solidFill>
                  <a:srgbClr val="000000"/>
                </a:solidFill>
              </a:rPr>
              <a:t>再開するなら（パラメータを探るほどデータマイニングの危険が増える点に注意）</a:t>
            </a:r>
            <a:endParaRPr lang="ja-JP" sz="1300" dirty="0"/>
          </a:p>
        </p:txBody>
      </p:sp>
      <p:sp>
        <p:nvSpPr>
          <p:cNvPr id="22" name="Text 19"/>
          <p:cNvSpPr txBox="1"/>
          <p:nvPr/>
        </p:nvSpPr>
        <p:spPr>
          <a:xfrm>
            <a:off x="598629" y="4937760"/>
            <a:ext cx="8708436" cy="1325880"/>
          </a:xfrm>
          <a:prstGeom prst="rect">
            <a:avLst/>
          </a:prstGeom>
          <a:noFill/>
          <a:ln/>
        </p:spPr>
        <p:txBody>
          <a:bodyPr wrap="square" lIns="0" tIns="0" rIns="0" bIns="0" rtlCol="0" anchor="t"/>
          <a:lstStyle/>
          <a:p>
            <a:pPr marL="152400" indent="-152400">
              <a:spcAft>
                <a:spcPts val="500"/>
              </a:spcAft>
              <a:buSzPct val="100000"/>
              <a:buChar char="•"/>
            </a:pPr>
            <a:r>
              <a:rPr lang="ja-JP" altLang="en-US" sz="1200" dirty="0">
                <a:solidFill>
                  <a:srgbClr val="000000"/>
                </a:solidFill>
              </a:rPr>
              <a:t>予測が効いて見える Size・Shareholder Return だけに DTW を使い、他は静的ウェイトにする</a:t>
            </a:r>
            <a:endParaRPr lang="ja-JP" sz="1200" dirty="0"/>
          </a:p>
          <a:p>
            <a:pPr marL="152400" indent="-152400">
              <a:spcAft>
                <a:spcPts val="500"/>
              </a:spcAft>
              <a:buSzPct val="100000"/>
              <a:buChar char="•"/>
            </a:pPr>
            <a:r>
              <a:rPr lang="ja-JP" altLang="en-US" sz="1200" dirty="0">
                <a:solidFill>
                  <a:srgbClr val="000000"/>
                </a:solidFill>
              </a:rPr>
              <a:t>予測が極端なときだけ傾ける（野村資料の「最上位分位だけ効く」に対応）。回転率も抑えられる</a:t>
            </a:r>
            <a:endParaRPr lang="ja-JP" sz="1200" dirty="0"/>
          </a:p>
          <a:p>
            <a:pPr marL="152400" indent="-152400">
              <a:spcAft>
                <a:spcPts val="500"/>
              </a:spcAft>
              <a:buSzPct val="100000"/>
              <a:buChar char="•"/>
            </a:pPr>
            <a:r>
              <a:rPr lang="ja-JP" altLang="en-US" sz="1200" dirty="0">
                <a:solidFill>
                  <a:srgbClr val="000000"/>
                </a:solidFill>
              </a:rPr>
              <a:t>mscore の符号を見直したうえで、窓の長さ（63 → 126 日）や近傍数（3 → 5）への感度を確認する</a:t>
            </a:r>
            <a:endParaRPr lang="ja-JP" sz="1200" dirty="0"/>
          </a:p>
        </p:txBody>
      </p:sp>
      <p:sp>
        <p:nvSpPr>
          <p:cNvPr id="9002" name="Slide Number"/>
          <p:cNvSpPr txBox="1"/>
          <p:nvPr>
            <p:ph idx="12" type="sldNum"/>
          </p:nvPr>
        </p:nvSpPr>
        <p:spPr>
          <a:xfrm>
            <a:off x="9380538" y="6580188"/>
            <a:ext cx="795337" cy="2301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ja-JP">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Nomura 2013 v11jp">
  <a:themeElements>
    <a:clrScheme name="Main Nomura Global Color">
      <a:dk1>
        <a:srgbClr val="000000"/>
      </a:dk1>
      <a:lt1>
        <a:srgbClr val="FFFFFF"/>
      </a:lt1>
      <a:dk2>
        <a:srgbClr val="000000"/>
      </a:dk2>
      <a:lt2>
        <a:srgbClr val="FFFFFF"/>
      </a:lt2>
      <a:accent1>
        <a:srgbClr val="CB2420"/>
      </a:accent1>
      <a:accent2>
        <a:srgbClr val="737374"/>
      </a:accent2>
      <a:accent3>
        <a:srgbClr val="80A9AE"/>
      </a:accent3>
      <a:accent4>
        <a:srgbClr val="00305C"/>
      </a:accent4>
      <a:accent5>
        <a:srgbClr val="80003F"/>
      </a:accent5>
      <a:accent6>
        <a:srgbClr val="CC8D19"/>
      </a:accent6>
      <a:hlink>
        <a:srgbClr val="B1B1B0"/>
      </a:hlink>
      <a:folHlink>
        <a:srgbClr val="B1B1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