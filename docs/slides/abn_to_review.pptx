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ContentType="application/vnd.openxmlformats-officedocument.presentationml.notesSlide+xml" PartName="/ppt/notesSlides/notesSlide1.xml"/>
  <Override ContentType="application/vnd.openxmlformats-officedocument.presentationml.slide+xml" PartName="/ppt/slides/slide1.xml"/>
  <Override ContentType="application/vnd.openxmlformats-officedocument.presentationml.notesSlide+xml" PartName="/ppt/notesSlides/notesSlide2.xml"/>
  <Override ContentType="application/vnd.openxmlformats-officedocument.presentationml.slide+xml" PartName="/ppt/slides/slide2.xml"/>
  <Override ContentType="application/vnd.openxmlformats-officedocument.presentationml.notesSlide+xml" PartName="/ppt/notesSlides/notesSlide3.xml"/>
  <Override ContentType="application/vnd.openxmlformats-officedocument.presentationml.slide+xml" PartName="/ppt/slides/slide3.xml"/>
  <Override ContentType="application/vnd.openxmlformats-officedocument.presentationml.notesSlide+xml" PartName="/ppt/notesSlides/notesSlide4.xml"/>
  <Override ContentType="application/vnd.openxmlformats-officedocument.presentationml.slide+xml" PartName="/ppt/slides/slide4.xml"/>
  <Override ContentType="application/vnd.openxmlformats-officedocument.presentationml.notesSlide+xml" PartName="/ppt/notesSlides/notesSlide5.xml"/>
  <Override ContentType="application/vnd.openxmlformats-officedocument.presentationml.slide+xml" PartName="/ppt/slides/slide5.xml"/>
  <Override ContentType="application/vnd.openxmlformats-officedocument.presentationml.notesSlide+xml" PartName="/ppt/notesSlides/notesSlide6.xml"/>
  <Override ContentType="application/vnd.openxmlformats-officedocument.presentationml.slide+xml" PartName="/ppt/slides/slide6.xml"/>
  <Override ContentType="application/vnd.openxmlformats-officedocument.presentationml.notesSlide+xml" PartName="/ppt/notesSlides/notesSlide7.xml"/>
  <Override ContentType="application/vnd.openxmlformats-officedocument.presentationml.slide+xml" PartName="/ppt/slides/slide7.xml"/>
  <Override ContentType="application/vnd.openxmlformats-officedocument.presentationml.notesSlide+xml" PartName="/ppt/notesSlides/notesSlide8.xml"/>
  <Override ContentType="application/vnd.openxmlformats-officedocument.presentationml.slide+xml" PartName="/ppt/slides/slide8.xml"/>
  <Override ContentType="application/vnd.openxmlformats-officedocument.presentationml.notesSlide+xml" PartName="/ppt/notesSlides/notesSlide9.xml"/>
  <Override ContentType="application/vnd.openxmlformats-officedocument.presentationml.slide+xml" PartName="/ppt/slides/slide9.xml"/>
  <Override ContentType="application/vnd.openxmlformats-officedocument.presentationml.notesSlide+xml" PartName="/ppt/notesSlides/notesSlide10.xml"/>
  <Override ContentType="application/vnd.openxmlformats-officedocument.presentationml.slide+xml" PartName="/ppt/slides/slide10.xml"/>
  <Override ContentType="application/vnd.openxmlformats-officedocument.presentationml.notesSlide+xml" PartName="/ppt/notesSlides/notesSlide11.xml"/>
  <Override ContentType="application/vnd.openxmlformats-officedocument.presentationml.slide+xml" PartName="/ppt/slides/slide11.xml"/>
  <Override ContentType="application/vnd.openxmlformats-officedocument.presentationml.notesSlide+xml" PartName="/ppt/notesSlides/notesSlide12.xml"/>
  <Override ContentType="application/vnd.openxmlformats-officedocument.presentationml.slide+xml" PartName="/ppt/slides/slide12.xml"/>
  <Override ContentType="application/vnd.openxmlformats-officedocument.presentationml.notesSlide+xml" PartName="/ppt/notesSlides/notesSlide13.xml"/>
  <Override ContentType="application/vnd.openxmlformats-officedocument.presentationml.slide+xml" PartName="/ppt/slides/slide13.xml"/>
  <Override ContentType="application/vnd.openxmlformats-officedocument.presentationml.notesSlide+xml" PartName="/ppt/notesSlides/notesSlide14.xml"/>
  <Override ContentType="application/vnd.openxmlformats-officedocument.presentationml.slide+xml" PartName="/ppt/slides/slide14.xml"/>
  <Override ContentType="application/vnd.openxmlformats-officedocument.presentationml.notesSlide+xml" PartName="/ppt/notesSlides/notesSlide15.xml"/>
  <Override ContentType="application/vnd.openxmlformats-officedocument.presentationml.slide+xml" PartName="/ppt/slides/slide15.xml"/>
  <Override ContentType="application/vnd.openxmlformats-officedocument.presentationml.notesSlide+xml" PartName="/ppt/notesSlides/notesSlide16.xml"/>
  <Override ContentType="application/vnd.openxmlformats-officedocument.presentationml.slide+xml" PartName="/ppt/slides/slide16.xml"/>
  <Override ContentType="application/vnd.openxmlformats-officedocument.presentationml.notesSlide+xml" PartName="/ppt/notesSlides/notesSlide17.xml"/>
  <Override ContentType="application/vnd.openxmlformats-officedocument.presentationml.slide+xml" PartName="/ppt/slides/slide17.xml"/>
  <Override ContentType="application/vnd.openxmlformats-officedocument.presentationml.notesSlide+xml" PartName="/ppt/notesSlides/notesSlide18.xml"/>
  <Override ContentType="application/vnd.openxmlformats-officedocument.presentationml.slide+xml" PartName="/ppt/slides/slide18.xml"/>
  <Override ContentType="application/vnd.openxmlformats-officedocument.presentationml.notesSlide+xml" PartName="/ppt/notesSlides/notesSlide19.xml"/>
  <Override ContentType="application/vnd.openxmlformats-officedocument.presentationml.slide+xml" PartName="/ppt/slides/slide19.xml"/>
  <Override ContentType="application/vnd.openxmlformats-officedocument.presentationml.notesSlide+xml" PartName="/ppt/notesSlides/notesSlide20.xml"/>
  <Override ContentType="application/vnd.openxmlformats-officedocument.presentationml.slide+xml" PartName="/ppt/slides/slide20.xml"/>
  <Override ContentType="application/vnd.openxmlformats-officedocument.presentationml.notesSlide+xml" PartName="/ppt/notesSlides/notesSlide21.xml"/>
  <Override ContentType="application/vnd.openxmlformats-officedocument.presentationml.slide+xml" PartName="/ppt/slides/slide21.xml"/>
  <Override ContentType="application/vnd.openxmlformats-officedocument.presentationml.notesSlide+xml" PartName="/ppt/notesSlides/notesSlide22.xml"/>
  <Override ContentType="application/vnd.openxmlformats-officedocument.presentationml.slide+xml" PartName="/ppt/slides/slide22.xml"/>
  <Override ContentType="application/vnd.openxmlformats-officedocument.presentationml.notesSlide+xml" PartName="/ppt/notesSlides/notesSlide23.xml"/>
  <Override ContentType="application/vnd.openxmlformats-officedocument.presentationml.slide+xml" PartName="/ppt/slides/slide23.xml"/>
  <Override ContentType="application/vnd.openxmlformats-officedocument.presentationml.notesSlide+xml" PartName="/ppt/notesSlides/notesSlide24.xml"/>
  <Override ContentType="application/vnd.openxmlformats-officedocument.presentationml.slide+xml" PartName="/ppt/slides/slide24.xml"/>
  <Override ContentType="application/vnd.openxmlformats-officedocument.presentationml.notesSlide+xml" PartName="/ppt/notesSlides/notesSlide25.xml"/>
  <Override ContentType="application/vnd.openxmlformats-officedocument.presentationml.slide+xml" PartName="/ppt/slides/slide25.xml"/>
  <Override ContentType="application/vnd.openxmlformats-officedocument.presentationml.notesSlide+xml" PartName="/ppt/notesSlides/notesSlide26.xml"/>
  <Override ContentType="application/vnd.openxmlformats-officedocument.presentationml.slide+xml" PartName="/ppt/slides/slide26.xml"/>
  <Override ContentType="application/vnd.openxmlformats-officedocument.presentationml.notesSlide+xml" PartName="/ppt/notesSlides/notesSlide27.xml"/>
  <Override ContentType="application/vnd.openxmlformats-officedocument.presentationml.slide+xml" PartName="/ppt/slides/slide27.xml"/>
  <Override ContentType="application/vnd.openxmlformats-officedocument.presentationml.notesSlide+xml" PartName="/ppt/notesSlides/notesSlide28.xml"/>
  <Override ContentType="application/vnd.openxmlformats-officedocument.presentationml.slide+xml" PartName="/ppt/slides/slide28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firstSlideNum="0" strictFirstAndLastChars="0" saveSubsetFonts="1">
  <p:sldMasterIdLst>
    <p:sldMasterId id="2147483687" r:id="rId5"/>
  </p:sldMasterIdLst>
  <p:notesMasterIdLst>
    <p:notesMasterId r:id="rId6"/>
  </p:notesMasterIdLst>
  <p:sldIdLst>
    <p:sldId id="256" r:id="rId1001"/>
    <p:sldId id="257" r:id="rId1002"/>
    <p:sldId id="258" r:id="rId1003"/>
    <p:sldId id="259" r:id="rId1004"/>
    <p:sldId id="260" r:id="rId1005"/>
    <p:sldId id="261" r:id="rId1006"/>
    <p:sldId id="262" r:id="rId1007"/>
    <p:sldId id="263" r:id="rId1008"/>
    <p:sldId id="264" r:id="rId1009"/>
    <p:sldId id="265" r:id="rId1010"/>
    <p:sldId id="266" r:id="rId1011"/>
    <p:sldId id="267" r:id="rId1012"/>
    <p:sldId id="268" r:id="rId1013"/>
    <p:sldId id="269" r:id="rId1014"/>
    <p:sldId id="270" r:id="rId1015"/>
    <p:sldId id="271" r:id="rId1016"/>
    <p:sldId id="272" r:id="rId1017"/>
    <p:sldId id="273" r:id="rId1018"/>
    <p:sldId id="274" r:id="rId1019"/>
    <p:sldId id="275" r:id="rId1020"/>
    <p:sldId id="276" r:id="rId1021"/>
    <p:sldId id="277" r:id="rId1022"/>
    <p:sldId id="278" r:id="rId1023"/>
    <p:sldId id="279" r:id="rId1024"/>
    <p:sldId id="280" r:id="rId1025"/>
    <p:sldId id="281" r:id="rId1026"/>
    <p:sldId id="282" r:id="rId1027"/>
    <p:sldId id="283" r:id="rId1028"/>
  </p:sldIdLst>
  <p:sldSz cy="6858000" cx="9906000"/>
  <p:notesSz cx="6797675" cy="99266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はじめに" id="{ec96b394-18a1-0ec6-fffb-7d70463ac25b}">
          <p14:sldIdLst>
            <p14:sldId id="256"/>
            <p14:sldId id="257"/>
            <p14:sldId id="258"/>
            <p14:sldId id="259"/>
            <p14:sldId id="260"/>
          </p14:sldIdLst>
        </p14:section>
        <p14:section name="01 市場分析" id="{6239ca82-4780-b6a5-7a3c-be8b8f95b1b1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02 abn_to の検証" id="{bf6a4ee4-bba8-06f9-5552-b441ae193d8b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03 まとめ" id="{dd45b230-4dfa-0948-3270-19d34587b1b0}">
          <p14:sldIdLst>
            <p14:sldId id="282"/>
            <p14:sldId id="283"/>
          </p14:sldIdLst>
        </p14:section>
      </p14:sectionLst>
    </p:ext>
    <p:ext uri="{EFAFB233-063F-42B5-8137-9DF3F51BA10A}">
      <p15:sldGuideLst>
        <p15:guide id="1" orient="horz" pos="2160">
          <p15:clr>
            <a:srgbClr val="A4A3A4"/>
          </p15:clr>
        </p15:guide>
        <p15:guide id="2" pos="3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C6982A-73C6-48C2-B484-0F0B99748F75}">
  <a:tblStyle styleId="{61C6982A-73C6-48C2-B484-0F0B99748F7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001" Type="http://schemas.openxmlformats.org/officeDocument/2006/relationships/slide" Target="slides/slide1.xml"/><Relationship Id="rId1002" Type="http://schemas.openxmlformats.org/officeDocument/2006/relationships/slide" Target="slides/slide2.xml"/><Relationship Id="rId1003" Type="http://schemas.openxmlformats.org/officeDocument/2006/relationships/slide" Target="slides/slide3.xml"/><Relationship Id="rId1004" Type="http://schemas.openxmlformats.org/officeDocument/2006/relationships/slide" Target="slides/slide4.xml"/><Relationship Id="rId1005" Type="http://schemas.openxmlformats.org/officeDocument/2006/relationships/slide" Target="slides/slide5.xml"/><Relationship Id="rId1006" Type="http://schemas.openxmlformats.org/officeDocument/2006/relationships/slide" Target="slides/slide6.xml"/><Relationship Id="rId1007" Type="http://schemas.openxmlformats.org/officeDocument/2006/relationships/slide" Target="slides/slide7.xml"/><Relationship Id="rId1008" Type="http://schemas.openxmlformats.org/officeDocument/2006/relationships/slide" Target="slides/slide8.xml"/><Relationship Id="rId1009" Type="http://schemas.openxmlformats.org/officeDocument/2006/relationships/slide" Target="slides/slide9.xml"/><Relationship Id="rId1010" Type="http://schemas.openxmlformats.org/officeDocument/2006/relationships/slide" Target="slides/slide10.xml"/><Relationship Id="rId1011" Type="http://schemas.openxmlformats.org/officeDocument/2006/relationships/slide" Target="slides/slide11.xml"/><Relationship Id="rId1012" Type="http://schemas.openxmlformats.org/officeDocument/2006/relationships/slide" Target="slides/slide12.xml"/><Relationship Id="rId1013" Type="http://schemas.openxmlformats.org/officeDocument/2006/relationships/slide" Target="slides/slide13.xml"/><Relationship Id="rId1014" Type="http://schemas.openxmlformats.org/officeDocument/2006/relationships/slide" Target="slides/slide14.xml"/><Relationship Id="rId1015" Type="http://schemas.openxmlformats.org/officeDocument/2006/relationships/slide" Target="slides/slide15.xml"/><Relationship Id="rId1016" Type="http://schemas.openxmlformats.org/officeDocument/2006/relationships/slide" Target="slides/slide16.xml"/><Relationship Id="rId1017" Type="http://schemas.openxmlformats.org/officeDocument/2006/relationships/slide" Target="slides/slide17.xml"/><Relationship Id="rId1018" Type="http://schemas.openxmlformats.org/officeDocument/2006/relationships/slide" Target="slides/slide18.xml"/><Relationship Id="rId1019" Type="http://schemas.openxmlformats.org/officeDocument/2006/relationships/slide" Target="slides/slide19.xml"/><Relationship Id="rId1020" Type="http://schemas.openxmlformats.org/officeDocument/2006/relationships/slide" Target="slides/slide20.xml"/><Relationship Id="rId1021" Type="http://schemas.openxmlformats.org/officeDocument/2006/relationships/slide" Target="slides/slide21.xml"/><Relationship Id="rId1022" Type="http://schemas.openxmlformats.org/officeDocument/2006/relationships/slide" Target="slides/slide22.xml"/><Relationship Id="rId1023" Type="http://schemas.openxmlformats.org/officeDocument/2006/relationships/slide" Target="slides/slide23.xml"/><Relationship Id="rId1024" Type="http://schemas.openxmlformats.org/officeDocument/2006/relationships/slide" Target="slides/slide24.xml"/><Relationship Id="rId1025" Type="http://schemas.openxmlformats.org/officeDocument/2006/relationships/slide" Target="slides/slide25.xml"/><Relationship Id="rId1026" Type="http://schemas.openxmlformats.org/officeDocument/2006/relationships/slide" Target="slides/slide26.xml"/><Relationship Id="rId1027" Type="http://schemas.openxmlformats.org/officeDocument/2006/relationships/slide" Target="slides/slide27.xml"/><Relationship Id="rId1028" Type="http://schemas.openxmlformats.org/officeDocument/2006/relationships/slide" Target="slides/slide2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79488" y="1241425"/>
            <a:ext cx="48387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市場の基礎分析で見つけた「出来高の変化」という特性を、暫定スコア（現行の複合スコア）に足す素材として検証した結果のまとめ。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市場分析 → 発見 → 検証 → 判定の流れで一枚にまとめた。結論は見送り。使うなら暫定スコアの Q5 で出来高が細った銘柄を新規に買わない、という小さな使い方。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暫定スコアは現行の複合スコア（コード上の名前は comp_ew）。最終的に効くかどうかは 4 段目の税引後ロングオンリーで判断する。指標の定義は次のスライド。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後で見返したときのための定義集。超過リターンは月次差の算術平均 × 12 で、複利ではない。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税は月次の近似ではなく、ロットごとの取得日と取得単価を追って計算している。損益は税務年度内で通算し、損失は 8 年繰り越す。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ユニバース（MSCI India IMI のプロキシ）の銘柄数の推移。2021 年以降に急増し、増えたのはほぼ小型株と新規上場。集中度も大きく下がった。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日次の売買代金（USD 換算）。小型株の中央値が大きく伸び、大型との流動性の差が縮んだ。国内個人・積立投資（SIP）の資金流入と整合する。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各月、ユニバース内の異常回転率の中央値。急増するのは大きなイベントの時だけ。スコアは月ごとの横断面の順位で使うので、市場全体の水準は打ち消される。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市場の基礎分析 5 本（構造、指数の時系列、状態変数、銘柄の時系列、ファクターの時系列）の結論。abn_to は 4 番目の「新しい銘柄特性の候補」として出てきた。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銘柄レベルの時系列特性を、月次の Fama–MacBeth 回帰で一斉に調べた。多重検定を考え、|t| ≥ 3 かつ前半・後半で同符号のものだけを候補とした。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市場分析で見つかった特性。既存の特性を同時に入れた回帰でも残ったので、暫定スコアにない情報かもしれないと考えた。仮説は 3 つ立て、データを見る前に予測を置いた。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データの使い方とスコアの定義。変形を増やすほど偶然の当たりを拾うので、データを見る前に 4 本に決めた。中立化版は既存の価格系特性で説明できる部分を除いたもの。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仮説ごとに結果の出方が違う点を 5 つ選び、それぞれを測る方法を決めてから計算した。判定は後のスライド。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定義の変形は事前に決めた 4 本だけ。どれも IC は正だが、回転率が高く税引後はほぼ残らない。暫定スコアと比べると規模は 1/4 程度。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Q5−Q1（等ウェイト、翌月 drtn）の月次の単純和。グラフは同じデータからの再計算で、年率の水準は表と少しずれる。中立化版だけが後半も同じペースで伸びている。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年ごとの IC の平均。本命は年による振れが大きく、中立化版の方が安定している。2012 年は両方とも負。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分位で見ると、Q5 が勝つより Q1（出来高が細った銘柄）が負ける形。空売りできないロングオンリーでは取りにくい側。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MSCI のサイズ区分の中で順位を付け直した IC の t 値。小型株はユニバースの 3/4（約 290 銘柄）を占める。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か月前のスコアで当月のリターンを予測した IC。abn_to は 2 か月目まで、暫定スコアは 12 か月先でも半分残る。寿命が一桁違う。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前月リターンの 3 分位ごとに abn_to の分位を付け直した Q5−Q1。注目度説なら上昇・下落とも正、情報イベント説（好材料）なら上昇で強い。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事前に置いた予測と結果の対応。結果と合う予測を色付けした。情報イベント説は残差 IC が残ることで、過剰反応説は反転しないことで否定。注目度説に一番近いが、寿命は想定より短い。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素材として足す価値の前提になる独立性。相関はほぼ 0、残差 IC とスパニング回帰の α も有意。リビジョンや決算の言い換えではない。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独立なので、混ぜればロングショートの Q5−Q1 は少し上がる。しかし Q5 超過と税引後は下がり、回転率が増える。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側の情報をロングオンリーで使う方法。暫定スコアの Q5 に入った銘柄のうち、出来高が細ったものは翌月負ける。外すと税引前は有意に改善するが、税引後は有意でない。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情報としては本物だが、小さく、短く、ロングオンリーで取りにくい側にある。素材として暫定スコアに混ぜるのは見送り。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市場分析で見つけた特性は検証でも再現したが、効き方の形（短命・小型・Q1 側）が税引後のロングオンリーに合わなかった。業種追随 × 銘柄反転でも同じ構図だった。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mura Standard Cover" showMasterSp="0">
  <p:cSld name="Nomura Standard Cov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2"/>
          <p:cNvGrpSpPr/>
          <p:nvPr/>
        </p:nvGrpSpPr>
        <p:grpSpPr>
          <a:xfrm>
            <a:off x="272750" y="-10800"/>
            <a:ext cx="9633285" cy="2528888"/>
            <a:chOff x="272750" y="-15875"/>
            <a:chExt cx="9633285" cy="2528888"/>
          </a:xfrm>
        </p:grpSpPr>
        <p:sp>
          <p:nvSpPr>
            <p:cNvPr id="38" name="Google Shape;38;p2"/>
            <p:cNvSpPr/>
            <p:nvPr/>
          </p:nvSpPr>
          <p:spPr>
            <a:xfrm>
              <a:off x="294975" y="-15875"/>
              <a:ext cx="9563100" cy="2509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294975" y="-12700"/>
              <a:ext cx="2370138" cy="2509838"/>
            </a:xfrm>
            <a:custGeom>
              <a:rect b="b" l="l" r="r" t="t"/>
              <a:pathLst>
                <a:path extrusionOk="0" h="1581" w="1493">
                  <a:moveTo>
                    <a:pt x="1493" y="0"/>
                  </a:moveTo>
                  <a:lnTo>
                    <a:pt x="663" y="0"/>
                  </a:lnTo>
                  <a:lnTo>
                    <a:pt x="0" y="1581"/>
                  </a:lnTo>
                  <a:lnTo>
                    <a:pt x="832" y="1581"/>
                  </a:lnTo>
                  <a:lnTo>
                    <a:pt x="14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997025" y="-3175"/>
              <a:ext cx="5909010" cy="2516188"/>
            </a:xfrm>
            <a:custGeom>
              <a:rect b="b" l="l" r="r" t="t"/>
              <a:pathLst>
                <a:path extrusionOk="0" h="10000" w="10328">
                  <a:moveTo>
                    <a:pt x="0" y="3129"/>
                  </a:moveTo>
                  <a:lnTo>
                    <a:pt x="1340" y="10000"/>
                  </a:lnTo>
                  <a:lnTo>
                    <a:pt x="10328" y="10000"/>
                  </a:lnTo>
                  <a:lnTo>
                    <a:pt x="10328" y="0"/>
                  </a:lnTo>
                  <a:lnTo>
                    <a:pt x="594" y="0"/>
                  </a:lnTo>
                  <a:lnTo>
                    <a:pt x="0" y="3129"/>
                  </a:lnTo>
                  <a:close/>
                </a:path>
              </a:pathLst>
            </a:custGeom>
            <a:solidFill>
              <a:srgbClr val="CA242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481088" y="1169988"/>
              <a:ext cx="963613" cy="1343025"/>
            </a:xfrm>
            <a:custGeom>
              <a:rect b="b" l="l" r="r" t="t"/>
              <a:pathLst>
                <a:path extrusionOk="0" h="846" w="607">
                  <a:moveTo>
                    <a:pt x="135" y="846"/>
                  </a:moveTo>
                  <a:lnTo>
                    <a:pt x="607" y="846"/>
                  </a:lnTo>
                  <a:lnTo>
                    <a:pt x="230" y="0"/>
                  </a:lnTo>
                  <a:lnTo>
                    <a:pt x="0" y="532"/>
                  </a:lnTo>
                  <a:lnTo>
                    <a:pt x="135" y="846"/>
                  </a:lnTo>
                  <a:close/>
                </a:path>
              </a:pathLst>
            </a:custGeom>
            <a:solidFill>
              <a:srgbClr val="CA242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261888" y="827088"/>
              <a:ext cx="1241425" cy="1685925"/>
            </a:xfrm>
            <a:custGeom>
              <a:rect b="b" l="l" r="r" t="t"/>
              <a:pathLst>
                <a:path extrusionOk="0" h="1062" w="782">
                  <a:moveTo>
                    <a:pt x="0" y="1062"/>
                  </a:moveTo>
                  <a:lnTo>
                    <a:pt x="647" y="1062"/>
                  </a:lnTo>
                  <a:lnTo>
                    <a:pt x="782" y="748"/>
                  </a:lnTo>
                  <a:lnTo>
                    <a:pt x="459" y="0"/>
                  </a:lnTo>
                  <a:lnTo>
                    <a:pt x="0" y="1062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3330275" y="-3175"/>
              <a:ext cx="685800" cy="1173163"/>
            </a:xfrm>
            <a:custGeom>
              <a:rect b="b" l="l" r="r" t="t"/>
              <a:pathLst>
                <a:path extrusionOk="0" h="739" w="432">
                  <a:moveTo>
                    <a:pt x="0" y="0"/>
                  </a:moveTo>
                  <a:lnTo>
                    <a:pt x="0" y="0"/>
                  </a:lnTo>
                  <a:lnTo>
                    <a:pt x="327" y="739"/>
                  </a:lnTo>
                  <a:lnTo>
                    <a:pt x="432" y="496"/>
                  </a:lnTo>
                  <a:lnTo>
                    <a:pt x="2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654125" y="-3175"/>
              <a:ext cx="692150" cy="787400"/>
            </a:xfrm>
            <a:custGeom>
              <a:rect b="b" l="l" r="r" t="t"/>
              <a:pathLst>
                <a:path extrusionOk="0" h="496" w="436">
                  <a:moveTo>
                    <a:pt x="0" y="0"/>
                  </a:moveTo>
                  <a:lnTo>
                    <a:pt x="222" y="496"/>
                  </a:lnTo>
                  <a:lnTo>
                    <a:pt x="4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81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981025" y="-3175"/>
              <a:ext cx="877888" cy="2017713"/>
            </a:xfrm>
            <a:custGeom>
              <a:rect b="b" l="l" r="r" t="t"/>
              <a:pathLst>
                <a:path extrusionOk="0" h="1271" w="553">
                  <a:moveTo>
                    <a:pt x="0" y="523"/>
                  </a:moveTo>
                  <a:lnTo>
                    <a:pt x="323" y="1271"/>
                  </a:lnTo>
                  <a:lnTo>
                    <a:pt x="553" y="739"/>
                  </a:lnTo>
                  <a:lnTo>
                    <a:pt x="226" y="0"/>
                  </a:lnTo>
                  <a:lnTo>
                    <a:pt x="0" y="523"/>
                  </a:lnTo>
                  <a:close/>
                </a:path>
              </a:pathLst>
            </a:custGeom>
            <a:solidFill>
              <a:srgbClr val="AF1B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631775" y="-3175"/>
              <a:ext cx="717550" cy="830263"/>
            </a:xfrm>
            <a:custGeom>
              <a:rect b="b" l="l" r="r" t="t"/>
              <a:pathLst>
                <a:path extrusionOk="0" h="523" w="452">
                  <a:moveTo>
                    <a:pt x="452" y="0"/>
                  </a:moveTo>
                  <a:lnTo>
                    <a:pt x="452" y="0"/>
                  </a:lnTo>
                  <a:lnTo>
                    <a:pt x="0" y="0"/>
                  </a:lnTo>
                  <a:lnTo>
                    <a:pt x="226" y="523"/>
                  </a:lnTo>
                  <a:lnTo>
                    <a:pt x="447" y="7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rgbClr val="A217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585613" y="-3175"/>
              <a:ext cx="1414463" cy="2516188"/>
            </a:xfrm>
            <a:custGeom>
              <a:rect b="b" l="l" r="r" t="t"/>
              <a:pathLst>
                <a:path extrusionOk="0" h="1585" w="891">
                  <a:moveTo>
                    <a:pt x="667" y="7"/>
                  </a:moveTo>
                  <a:lnTo>
                    <a:pt x="665" y="0"/>
                  </a:lnTo>
                  <a:lnTo>
                    <a:pt x="0" y="1585"/>
                  </a:lnTo>
                  <a:lnTo>
                    <a:pt x="432" y="1585"/>
                  </a:lnTo>
                  <a:lnTo>
                    <a:pt x="891" y="523"/>
                  </a:lnTo>
                  <a:lnTo>
                    <a:pt x="667" y="7"/>
                  </a:lnTo>
                  <a:close/>
                </a:path>
              </a:pathLst>
            </a:custGeom>
            <a:solidFill>
              <a:srgbClr val="AF1B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72750" y="-3175"/>
              <a:ext cx="2381250" cy="2516188"/>
            </a:xfrm>
            <a:custGeom>
              <a:rect b="b" l="l" r="r" t="t"/>
              <a:pathLst>
                <a:path extrusionOk="0" h="1585" w="1500">
                  <a:moveTo>
                    <a:pt x="667" y="0"/>
                  </a:moveTo>
                  <a:lnTo>
                    <a:pt x="0" y="1585"/>
                  </a:lnTo>
                  <a:lnTo>
                    <a:pt x="833" y="1585"/>
                  </a:lnTo>
                  <a:lnTo>
                    <a:pt x="1500" y="0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" name="Google Shape;49;p2"/>
          <p:cNvGrpSpPr/>
          <p:nvPr/>
        </p:nvGrpSpPr>
        <p:grpSpPr>
          <a:xfrm>
            <a:off x="7786024" y="310690"/>
            <a:ext cx="1839368" cy="386336"/>
            <a:chOff x="7740649" y="378000"/>
            <a:chExt cx="1839368" cy="386336"/>
          </a:xfrm>
        </p:grpSpPr>
        <p:pic>
          <p:nvPicPr>
            <p:cNvPr descr="O:\Logo_Library\N\NOMURA\A4\NOMURA_A4_CMYK_WHITE.emf" id="50" name="Google Shape;50;p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319877" y="378000"/>
              <a:ext cx="1260140" cy="2160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" name="Google Shape;51;p2"/>
            <p:cNvSpPr txBox="1"/>
            <p:nvPr/>
          </p:nvSpPr>
          <p:spPr>
            <a:xfrm>
              <a:off x="7740649" y="625837"/>
              <a:ext cx="1809115" cy="138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ja-JP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Connecting</a:t>
              </a:r>
              <a:r>
                <a:rPr i="1" lang="ja-JP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Markets East &amp; West</a:t>
              </a:r>
              <a:endParaRPr i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2"/>
          <p:cNvSpPr txBox="1"/>
          <p:nvPr>
            <p:ph idx="1" type="body"/>
          </p:nvPr>
        </p:nvSpPr>
        <p:spPr>
          <a:xfrm>
            <a:off x="266400" y="3888000"/>
            <a:ext cx="72000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2"/>
          <p:cNvSpPr txBox="1"/>
          <p:nvPr>
            <p:ph idx="2" type="body"/>
          </p:nvPr>
        </p:nvSpPr>
        <p:spPr>
          <a:xfrm>
            <a:off x="266400" y="6453336"/>
            <a:ext cx="3960440" cy="239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2"/>
          <p:cNvSpPr txBox="1"/>
          <p:nvPr>
            <p:ph idx="3" type="body"/>
          </p:nvPr>
        </p:nvSpPr>
        <p:spPr>
          <a:xfrm>
            <a:off x="7164466" y="4869160"/>
            <a:ext cx="2448272" cy="122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spcBef>
                <a:spcPts val="5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2"/>
          <p:cNvSpPr txBox="1"/>
          <p:nvPr/>
        </p:nvSpPr>
        <p:spPr>
          <a:xfrm>
            <a:off x="7374363" y="6315223"/>
            <a:ext cx="2238375" cy="1381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PRIVATE AND CONFIDENTIAL</a:t>
            </a:r>
            <a:endParaRPr/>
          </a:p>
        </p:txBody>
      </p:sp>
      <p:sp>
        <p:nvSpPr>
          <p:cNvPr id="56" name="Google Shape;56;p2"/>
          <p:cNvSpPr txBox="1"/>
          <p:nvPr>
            <p:ph type="title"/>
          </p:nvPr>
        </p:nvSpPr>
        <p:spPr>
          <a:xfrm>
            <a:off x="266400" y="2880000"/>
            <a:ext cx="7200000" cy="85895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2"/>
          <p:cNvSpPr txBox="1"/>
          <p:nvPr>
            <p:ph idx="4" type="body"/>
          </p:nvPr>
        </p:nvSpPr>
        <p:spPr>
          <a:xfrm>
            <a:off x="266400" y="4869160"/>
            <a:ext cx="3960440" cy="792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0830" lvl="1" marL="914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2"/>
          <p:cNvSpPr txBox="1"/>
          <p:nvPr>
            <p:ph idx="5" type="body"/>
          </p:nvPr>
        </p:nvSpPr>
        <p:spPr>
          <a:xfrm>
            <a:off x="266400" y="5821288"/>
            <a:ext cx="3960440" cy="472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0830" lvl="1" marL="914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2"/>
          <p:cNvSpPr txBox="1"/>
          <p:nvPr/>
        </p:nvSpPr>
        <p:spPr>
          <a:xfrm>
            <a:off x="9085350" y="6577299"/>
            <a:ext cx="52738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Nomura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" showMasterSp="0">
  <p:cSld name="Tab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3"/>
          <p:cNvGrpSpPr/>
          <p:nvPr/>
        </p:nvGrpSpPr>
        <p:grpSpPr>
          <a:xfrm>
            <a:off x="228599" y="-3600"/>
            <a:ext cx="9676800" cy="3555366"/>
            <a:chOff x="266700" y="0"/>
            <a:chExt cx="9647238" cy="3540126"/>
          </a:xfrm>
        </p:grpSpPr>
        <p:sp>
          <p:nvSpPr>
            <p:cNvPr id="62" name="Google Shape;62;p3"/>
            <p:cNvSpPr/>
            <p:nvPr/>
          </p:nvSpPr>
          <p:spPr>
            <a:xfrm>
              <a:off x="266700" y="0"/>
              <a:ext cx="9647238" cy="3540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5572125" y="3175"/>
              <a:ext cx="4341813" cy="3536950"/>
            </a:xfrm>
            <a:custGeom>
              <a:rect b="b" l="l" r="r" t="t"/>
              <a:pathLst>
                <a:path extrusionOk="0" h="2228" w="2735">
                  <a:moveTo>
                    <a:pt x="0" y="704"/>
                  </a:moveTo>
                  <a:lnTo>
                    <a:pt x="679" y="2228"/>
                  </a:lnTo>
                  <a:lnTo>
                    <a:pt x="2735" y="2228"/>
                  </a:lnTo>
                  <a:lnTo>
                    <a:pt x="2735" y="0"/>
                  </a:lnTo>
                  <a:lnTo>
                    <a:pt x="306" y="0"/>
                  </a:lnTo>
                  <a:lnTo>
                    <a:pt x="0" y="704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5572125" y="3175"/>
              <a:ext cx="4341813" cy="3536950"/>
            </a:xfrm>
            <a:custGeom>
              <a:rect b="b" l="l" r="r" t="t"/>
              <a:pathLst>
                <a:path extrusionOk="0" h="2228" w="2735">
                  <a:moveTo>
                    <a:pt x="0" y="704"/>
                  </a:moveTo>
                  <a:lnTo>
                    <a:pt x="679" y="2228"/>
                  </a:lnTo>
                  <a:lnTo>
                    <a:pt x="2735" y="2228"/>
                  </a:lnTo>
                  <a:lnTo>
                    <a:pt x="2735" y="0"/>
                  </a:lnTo>
                  <a:lnTo>
                    <a:pt x="306" y="0"/>
                  </a:lnTo>
                  <a:lnTo>
                    <a:pt x="0" y="70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4842828" y="1652588"/>
              <a:ext cx="1352550" cy="1887538"/>
            </a:xfrm>
            <a:custGeom>
              <a:rect b="b" l="l" r="r" t="t"/>
              <a:pathLst>
                <a:path extrusionOk="0" h="1189" w="852">
                  <a:moveTo>
                    <a:pt x="325" y="0"/>
                  </a:moveTo>
                  <a:lnTo>
                    <a:pt x="0" y="749"/>
                  </a:lnTo>
                  <a:lnTo>
                    <a:pt x="190" y="1189"/>
                  </a:lnTo>
                  <a:lnTo>
                    <a:pt x="852" y="1189"/>
                  </a:lnTo>
                  <a:lnTo>
                    <a:pt x="325" y="0"/>
                  </a:ln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4827588" y="1652588"/>
              <a:ext cx="1352550" cy="1887538"/>
            </a:xfrm>
            <a:custGeom>
              <a:rect b="b" l="l" r="r" t="t"/>
              <a:pathLst>
                <a:path extrusionOk="0" h="1189" w="852">
                  <a:moveTo>
                    <a:pt x="325" y="0"/>
                  </a:moveTo>
                  <a:lnTo>
                    <a:pt x="0" y="749"/>
                  </a:lnTo>
                  <a:lnTo>
                    <a:pt x="190" y="1189"/>
                  </a:lnTo>
                  <a:lnTo>
                    <a:pt x="852" y="1189"/>
                  </a:lnTo>
                  <a:lnTo>
                    <a:pt x="32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4626928" y="3175"/>
              <a:ext cx="960438" cy="1649413"/>
            </a:xfrm>
            <a:custGeom>
              <a:rect b="b" l="l" r="r" t="t"/>
              <a:pathLst>
                <a:path extrusionOk="0" h="1039" w="605">
                  <a:moveTo>
                    <a:pt x="294" y="0"/>
                  </a:moveTo>
                  <a:lnTo>
                    <a:pt x="0" y="0"/>
                  </a:lnTo>
                  <a:lnTo>
                    <a:pt x="461" y="1039"/>
                  </a:lnTo>
                  <a:lnTo>
                    <a:pt x="605" y="704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4611688" y="3175"/>
              <a:ext cx="960438" cy="1649413"/>
            </a:xfrm>
            <a:custGeom>
              <a:rect b="b" l="l" r="r" t="t"/>
              <a:pathLst>
                <a:path extrusionOk="0" h="1039" w="605">
                  <a:moveTo>
                    <a:pt x="294" y="0"/>
                  </a:moveTo>
                  <a:lnTo>
                    <a:pt x="0" y="0"/>
                  </a:lnTo>
                  <a:lnTo>
                    <a:pt x="461" y="1039"/>
                  </a:lnTo>
                  <a:lnTo>
                    <a:pt x="605" y="704"/>
                  </a:lnTo>
                  <a:lnTo>
                    <a:pt x="29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3116580" y="1171575"/>
              <a:ext cx="1741488" cy="2368550"/>
            </a:xfrm>
            <a:custGeom>
              <a:rect b="b" l="l" r="r" t="t"/>
              <a:pathLst>
                <a:path extrusionOk="0" h="1492" w="1097">
                  <a:moveTo>
                    <a:pt x="644" y="0"/>
                  </a:moveTo>
                  <a:lnTo>
                    <a:pt x="0" y="1492"/>
                  </a:lnTo>
                  <a:lnTo>
                    <a:pt x="906" y="1492"/>
                  </a:lnTo>
                  <a:lnTo>
                    <a:pt x="1097" y="1052"/>
                  </a:lnTo>
                  <a:lnTo>
                    <a:pt x="64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3086100" y="1171575"/>
              <a:ext cx="1741488" cy="2368550"/>
            </a:xfrm>
            <a:custGeom>
              <a:rect b="b" l="l" r="r" t="t"/>
              <a:pathLst>
                <a:path extrusionOk="0" h="1492" w="1097">
                  <a:moveTo>
                    <a:pt x="644" y="0"/>
                  </a:moveTo>
                  <a:lnTo>
                    <a:pt x="0" y="1492"/>
                  </a:lnTo>
                  <a:lnTo>
                    <a:pt x="906" y="1492"/>
                  </a:lnTo>
                  <a:lnTo>
                    <a:pt x="1097" y="1052"/>
                  </a:lnTo>
                  <a:lnTo>
                    <a:pt x="64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5078413" y="3175"/>
              <a:ext cx="979488" cy="1117600"/>
            </a:xfrm>
            <a:custGeom>
              <a:rect b="b" l="l" r="r" t="t"/>
              <a:pathLst>
                <a:path extrusionOk="0" h="704" w="617">
                  <a:moveTo>
                    <a:pt x="0" y="0"/>
                  </a:moveTo>
                  <a:lnTo>
                    <a:pt x="311" y="704"/>
                  </a:lnTo>
                  <a:lnTo>
                    <a:pt x="6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5078413" y="3175"/>
              <a:ext cx="979488" cy="1117600"/>
            </a:xfrm>
            <a:custGeom>
              <a:rect b="b" l="l" r="r" t="t"/>
              <a:pathLst>
                <a:path extrusionOk="0" h="704" w="617">
                  <a:moveTo>
                    <a:pt x="0" y="0"/>
                  </a:moveTo>
                  <a:lnTo>
                    <a:pt x="311" y="704"/>
                  </a:lnTo>
                  <a:lnTo>
                    <a:pt x="617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5086033" y="3175"/>
              <a:ext cx="979488" cy="1117600"/>
            </a:xfrm>
            <a:custGeom>
              <a:rect b="b" l="l" r="r" t="t"/>
              <a:pathLst>
                <a:path extrusionOk="0" h="704" w="617">
                  <a:moveTo>
                    <a:pt x="617" y="0"/>
                  </a:moveTo>
                  <a:lnTo>
                    <a:pt x="0" y="0"/>
                  </a:lnTo>
                  <a:lnTo>
                    <a:pt x="311" y="704"/>
                  </a:lnTo>
                  <a:lnTo>
                    <a:pt x="617" y="0"/>
                  </a:ln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5078413" y="3175"/>
              <a:ext cx="979488" cy="1117600"/>
            </a:xfrm>
            <a:custGeom>
              <a:rect b="b" l="l" r="r" t="t"/>
              <a:pathLst>
                <a:path extrusionOk="0" h="704" w="617">
                  <a:moveTo>
                    <a:pt x="617" y="0"/>
                  </a:moveTo>
                  <a:lnTo>
                    <a:pt x="0" y="0"/>
                  </a:lnTo>
                  <a:lnTo>
                    <a:pt x="311" y="704"/>
                  </a:lnTo>
                  <a:lnTo>
                    <a:pt x="61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4131310" y="3175"/>
              <a:ext cx="1235075" cy="2838450"/>
            </a:xfrm>
            <a:custGeom>
              <a:rect b="b" l="l" r="r" t="t"/>
              <a:pathLst>
                <a:path extrusionOk="0" h="1788" w="778">
                  <a:moveTo>
                    <a:pt x="317" y="0"/>
                  </a:moveTo>
                  <a:lnTo>
                    <a:pt x="0" y="736"/>
                  </a:lnTo>
                  <a:lnTo>
                    <a:pt x="453" y="1788"/>
                  </a:lnTo>
                  <a:lnTo>
                    <a:pt x="778" y="103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4108450" y="3175"/>
              <a:ext cx="1235075" cy="2838450"/>
            </a:xfrm>
            <a:custGeom>
              <a:rect b="b" l="l" r="r" t="t"/>
              <a:pathLst>
                <a:path extrusionOk="0" h="1788" w="778">
                  <a:moveTo>
                    <a:pt x="317" y="0"/>
                  </a:moveTo>
                  <a:lnTo>
                    <a:pt x="0" y="736"/>
                  </a:lnTo>
                  <a:lnTo>
                    <a:pt x="453" y="1788"/>
                  </a:lnTo>
                  <a:lnTo>
                    <a:pt x="778" y="1039"/>
                  </a:lnTo>
                  <a:lnTo>
                    <a:pt x="31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3635693" y="3175"/>
              <a:ext cx="1006475" cy="1168400"/>
            </a:xfrm>
            <a:custGeom>
              <a:rect b="b" l="l" r="r" t="t"/>
              <a:pathLst>
                <a:path extrusionOk="0" h="736" w="634">
                  <a:moveTo>
                    <a:pt x="634" y="0"/>
                  </a:moveTo>
                  <a:lnTo>
                    <a:pt x="0" y="0"/>
                  </a:lnTo>
                  <a:lnTo>
                    <a:pt x="317" y="736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90909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3605213" y="3175"/>
              <a:ext cx="1006475" cy="1168400"/>
            </a:xfrm>
            <a:custGeom>
              <a:rect b="b" l="l" r="r" t="t"/>
              <a:pathLst>
                <a:path extrusionOk="0" h="736" w="634">
                  <a:moveTo>
                    <a:pt x="634" y="0"/>
                  </a:moveTo>
                  <a:lnTo>
                    <a:pt x="0" y="0"/>
                  </a:lnTo>
                  <a:lnTo>
                    <a:pt x="317" y="736"/>
                  </a:lnTo>
                  <a:lnTo>
                    <a:pt x="63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2157413" y="3175"/>
              <a:ext cx="1989138" cy="3536950"/>
            </a:xfrm>
            <a:custGeom>
              <a:rect b="b" l="l" r="r" t="t"/>
              <a:pathLst>
                <a:path extrusionOk="0" h="2228" w="1253">
                  <a:moveTo>
                    <a:pt x="936" y="0"/>
                  </a:moveTo>
                  <a:lnTo>
                    <a:pt x="936" y="0"/>
                  </a:lnTo>
                  <a:lnTo>
                    <a:pt x="0" y="2228"/>
                  </a:lnTo>
                  <a:lnTo>
                    <a:pt x="609" y="2228"/>
                  </a:lnTo>
                  <a:lnTo>
                    <a:pt x="1253" y="736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2119313" y="3175"/>
              <a:ext cx="1989138" cy="3536950"/>
            </a:xfrm>
            <a:custGeom>
              <a:rect b="b" l="l" r="r" t="t"/>
              <a:pathLst>
                <a:path extrusionOk="0" h="2228" w="1253">
                  <a:moveTo>
                    <a:pt x="936" y="0"/>
                  </a:moveTo>
                  <a:lnTo>
                    <a:pt x="936" y="0"/>
                  </a:lnTo>
                  <a:lnTo>
                    <a:pt x="0" y="2228"/>
                  </a:lnTo>
                  <a:lnTo>
                    <a:pt x="609" y="2228"/>
                  </a:lnTo>
                  <a:lnTo>
                    <a:pt x="1253" y="736"/>
                  </a:lnTo>
                  <a:lnTo>
                    <a:pt x="9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312420" y="3175"/>
              <a:ext cx="3338513" cy="3536950"/>
            </a:xfrm>
            <a:custGeom>
              <a:rect b="b" l="l" r="r" t="t"/>
              <a:pathLst>
                <a:path extrusionOk="0" h="2228" w="2103">
                  <a:moveTo>
                    <a:pt x="2103" y="0"/>
                  </a:moveTo>
                  <a:lnTo>
                    <a:pt x="940" y="0"/>
                  </a:lnTo>
                  <a:lnTo>
                    <a:pt x="0" y="2228"/>
                  </a:lnTo>
                  <a:lnTo>
                    <a:pt x="1167" y="2228"/>
                  </a:lnTo>
                  <a:lnTo>
                    <a:pt x="2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266700" y="3175"/>
              <a:ext cx="3338513" cy="3536950"/>
            </a:xfrm>
            <a:custGeom>
              <a:rect b="b" l="l" r="r" t="t"/>
              <a:pathLst>
                <a:path extrusionOk="0" h="2228" w="2103">
                  <a:moveTo>
                    <a:pt x="2103" y="0"/>
                  </a:moveTo>
                  <a:lnTo>
                    <a:pt x="940" y="0"/>
                  </a:lnTo>
                  <a:lnTo>
                    <a:pt x="0" y="2228"/>
                  </a:lnTo>
                  <a:lnTo>
                    <a:pt x="1167" y="2228"/>
                  </a:lnTo>
                  <a:lnTo>
                    <a:pt x="210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3"/>
          <p:cNvSpPr txBox="1"/>
          <p:nvPr>
            <p:ph idx="1" type="body"/>
          </p:nvPr>
        </p:nvSpPr>
        <p:spPr>
          <a:xfrm>
            <a:off x="266400" y="3600000"/>
            <a:ext cx="7821613" cy="86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3"/>
          <p:cNvSpPr txBox="1"/>
          <p:nvPr>
            <p:ph type="title"/>
          </p:nvPr>
        </p:nvSpPr>
        <p:spPr>
          <a:xfrm>
            <a:off x="266400" y="4608000"/>
            <a:ext cx="7821613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NOMURA_A4_PMS_1797.emf" id="85" name="Google Shape;8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55804" y="306904"/>
            <a:ext cx="1260000" cy="222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>
  <p:cSld name="タイトルのみ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9001" name="Title"/>
          <p:cNvSpPr>
            <a:spLocks noGrp="1"/>
          </p:cNvSpPr>
          <p:nvPr>
            <p:ph type="title"/>
          </p:nvPr>
        </p:nvSpPr>
        <p:spPr>
          <a:xfrm>
            <a:off x="1897202" y="57600"/>
            <a:ext cx="6336000" cy="720000"/>
          </a:xfrm>
          <a:prstGeom prst="rect">
            <a:avLst/>
          </a:prstGeom>
        </p:spPr>
        <p:txBody>
          <a:bodyPr wrap="square" lIns="91425" tIns="45700" rIns="91425" bIns="45700" anchor="b">
            <a:noAutofit/>
          </a:bodyPr>
          <a:lstStyle>
            <a:lvl1pPr algn="l">
              <a:defRPr sz="1800" b="1">
                <a:solidFill>
                  <a:schemeClr val="dk1"/>
                </a:solidFill>
              </a:defRPr>
            </a:lvl1pPr>
          </a:lstStyle>
          <a:p>
            <a:r>
              <a:rPr lang="ja-JP"/>
              <a:t>タイトル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">
  <p:cSld name="Content 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idx="11" type="ftr"/>
          </p:nvPr>
        </p:nvSpPr>
        <p:spPr>
          <a:xfrm>
            <a:off x="8834400" y="6523049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5"/>
          <p:cNvSpPr txBox="1"/>
          <p:nvPr>
            <p:ph idx="2" type="body"/>
          </p:nvPr>
        </p:nvSpPr>
        <p:spPr>
          <a:xfrm>
            <a:off x="266400" y="1025041"/>
            <a:ext cx="9360000" cy="473622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648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⮚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⮚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5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 showMasterSp="0">
  <p:cSld name="Appendix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6"/>
          <p:cNvGrpSpPr/>
          <p:nvPr/>
        </p:nvGrpSpPr>
        <p:grpSpPr>
          <a:xfrm>
            <a:off x="228599" y="-3600"/>
            <a:ext cx="9676800" cy="3555366"/>
            <a:chOff x="266700" y="0"/>
            <a:chExt cx="9647238" cy="3540126"/>
          </a:xfrm>
        </p:grpSpPr>
        <p:sp>
          <p:nvSpPr>
            <p:cNvPr id="95" name="Google Shape;95;p6"/>
            <p:cNvSpPr/>
            <p:nvPr/>
          </p:nvSpPr>
          <p:spPr>
            <a:xfrm>
              <a:off x="266700" y="0"/>
              <a:ext cx="9647238" cy="3540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5572125" y="3175"/>
              <a:ext cx="4341813" cy="3536950"/>
            </a:xfrm>
            <a:custGeom>
              <a:rect b="b" l="l" r="r" t="t"/>
              <a:pathLst>
                <a:path extrusionOk="0" h="2228" w="2735">
                  <a:moveTo>
                    <a:pt x="0" y="704"/>
                  </a:moveTo>
                  <a:lnTo>
                    <a:pt x="679" y="2228"/>
                  </a:lnTo>
                  <a:lnTo>
                    <a:pt x="2735" y="2228"/>
                  </a:lnTo>
                  <a:lnTo>
                    <a:pt x="2735" y="0"/>
                  </a:lnTo>
                  <a:lnTo>
                    <a:pt x="306" y="0"/>
                  </a:lnTo>
                  <a:lnTo>
                    <a:pt x="0" y="704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5572125" y="3175"/>
              <a:ext cx="4341813" cy="3536950"/>
            </a:xfrm>
            <a:custGeom>
              <a:rect b="b" l="l" r="r" t="t"/>
              <a:pathLst>
                <a:path extrusionOk="0" h="2228" w="2735">
                  <a:moveTo>
                    <a:pt x="0" y="704"/>
                  </a:moveTo>
                  <a:lnTo>
                    <a:pt x="679" y="2228"/>
                  </a:lnTo>
                  <a:lnTo>
                    <a:pt x="2735" y="2228"/>
                  </a:lnTo>
                  <a:lnTo>
                    <a:pt x="2735" y="0"/>
                  </a:lnTo>
                  <a:lnTo>
                    <a:pt x="306" y="0"/>
                  </a:lnTo>
                  <a:lnTo>
                    <a:pt x="0" y="70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4842828" y="1652588"/>
              <a:ext cx="1352550" cy="1887538"/>
            </a:xfrm>
            <a:custGeom>
              <a:rect b="b" l="l" r="r" t="t"/>
              <a:pathLst>
                <a:path extrusionOk="0" h="1189" w="852">
                  <a:moveTo>
                    <a:pt x="325" y="0"/>
                  </a:moveTo>
                  <a:lnTo>
                    <a:pt x="0" y="749"/>
                  </a:lnTo>
                  <a:lnTo>
                    <a:pt x="190" y="1189"/>
                  </a:lnTo>
                  <a:lnTo>
                    <a:pt x="852" y="1189"/>
                  </a:lnTo>
                  <a:lnTo>
                    <a:pt x="325" y="0"/>
                  </a:ln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4827588" y="1652588"/>
              <a:ext cx="1352550" cy="1887538"/>
            </a:xfrm>
            <a:custGeom>
              <a:rect b="b" l="l" r="r" t="t"/>
              <a:pathLst>
                <a:path extrusionOk="0" h="1189" w="852">
                  <a:moveTo>
                    <a:pt x="325" y="0"/>
                  </a:moveTo>
                  <a:lnTo>
                    <a:pt x="0" y="749"/>
                  </a:lnTo>
                  <a:lnTo>
                    <a:pt x="190" y="1189"/>
                  </a:lnTo>
                  <a:lnTo>
                    <a:pt x="852" y="1189"/>
                  </a:lnTo>
                  <a:lnTo>
                    <a:pt x="32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4626928" y="3175"/>
              <a:ext cx="960438" cy="1649413"/>
            </a:xfrm>
            <a:custGeom>
              <a:rect b="b" l="l" r="r" t="t"/>
              <a:pathLst>
                <a:path extrusionOk="0" h="1039" w="605">
                  <a:moveTo>
                    <a:pt x="294" y="0"/>
                  </a:moveTo>
                  <a:lnTo>
                    <a:pt x="0" y="0"/>
                  </a:lnTo>
                  <a:lnTo>
                    <a:pt x="461" y="1039"/>
                  </a:lnTo>
                  <a:lnTo>
                    <a:pt x="605" y="704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4611688" y="3175"/>
              <a:ext cx="960438" cy="1649413"/>
            </a:xfrm>
            <a:custGeom>
              <a:rect b="b" l="l" r="r" t="t"/>
              <a:pathLst>
                <a:path extrusionOk="0" h="1039" w="605">
                  <a:moveTo>
                    <a:pt x="294" y="0"/>
                  </a:moveTo>
                  <a:lnTo>
                    <a:pt x="0" y="0"/>
                  </a:lnTo>
                  <a:lnTo>
                    <a:pt x="461" y="1039"/>
                  </a:lnTo>
                  <a:lnTo>
                    <a:pt x="605" y="704"/>
                  </a:lnTo>
                  <a:lnTo>
                    <a:pt x="29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3116580" y="1171575"/>
              <a:ext cx="1741488" cy="2368550"/>
            </a:xfrm>
            <a:custGeom>
              <a:rect b="b" l="l" r="r" t="t"/>
              <a:pathLst>
                <a:path extrusionOk="0" h="1492" w="1097">
                  <a:moveTo>
                    <a:pt x="644" y="0"/>
                  </a:moveTo>
                  <a:lnTo>
                    <a:pt x="0" y="1492"/>
                  </a:lnTo>
                  <a:lnTo>
                    <a:pt x="906" y="1492"/>
                  </a:lnTo>
                  <a:lnTo>
                    <a:pt x="1097" y="1052"/>
                  </a:lnTo>
                  <a:lnTo>
                    <a:pt x="64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3086100" y="1171575"/>
              <a:ext cx="1741488" cy="2368550"/>
            </a:xfrm>
            <a:custGeom>
              <a:rect b="b" l="l" r="r" t="t"/>
              <a:pathLst>
                <a:path extrusionOk="0" h="1492" w="1097">
                  <a:moveTo>
                    <a:pt x="644" y="0"/>
                  </a:moveTo>
                  <a:lnTo>
                    <a:pt x="0" y="1492"/>
                  </a:lnTo>
                  <a:lnTo>
                    <a:pt x="906" y="1492"/>
                  </a:lnTo>
                  <a:lnTo>
                    <a:pt x="1097" y="1052"/>
                  </a:lnTo>
                  <a:lnTo>
                    <a:pt x="64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5078413" y="3175"/>
              <a:ext cx="979488" cy="1117600"/>
            </a:xfrm>
            <a:custGeom>
              <a:rect b="b" l="l" r="r" t="t"/>
              <a:pathLst>
                <a:path extrusionOk="0" h="704" w="617">
                  <a:moveTo>
                    <a:pt x="0" y="0"/>
                  </a:moveTo>
                  <a:lnTo>
                    <a:pt x="311" y="704"/>
                  </a:lnTo>
                  <a:lnTo>
                    <a:pt x="6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5078413" y="3175"/>
              <a:ext cx="979488" cy="1117600"/>
            </a:xfrm>
            <a:custGeom>
              <a:rect b="b" l="l" r="r" t="t"/>
              <a:pathLst>
                <a:path extrusionOk="0" h="704" w="617">
                  <a:moveTo>
                    <a:pt x="0" y="0"/>
                  </a:moveTo>
                  <a:lnTo>
                    <a:pt x="311" y="704"/>
                  </a:lnTo>
                  <a:lnTo>
                    <a:pt x="617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5086033" y="3175"/>
              <a:ext cx="979488" cy="1117600"/>
            </a:xfrm>
            <a:custGeom>
              <a:rect b="b" l="l" r="r" t="t"/>
              <a:pathLst>
                <a:path extrusionOk="0" h="704" w="617">
                  <a:moveTo>
                    <a:pt x="617" y="0"/>
                  </a:moveTo>
                  <a:lnTo>
                    <a:pt x="0" y="0"/>
                  </a:lnTo>
                  <a:lnTo>
                    <a:pt x="311" y="704"/>
                  </a:lnTo>
                  <a:lnTo>
                    <a:pt x="617" y="0"/>
                  </a:ln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5078413" y="3175"/>
              <a:ext cx="979488" cy="1117600"/>
            </a:xfrm>
            <a:custGeom>
              <a:rect b="b" l="l" r="r" t="t"/>
              <a:pathLst>
                <a:path extrusionOk="0" h="704" w="617">
                  <a:moveTo>
                    <a:pt x="617" y="0"/>
                  </a:moveTo>
                  <a:lnTo>
                    <a:pt x="0" y="0"/>
                  </a:lnTo>
                  <a:lnTo>
                    <a:pt x="311" y="704"/>
                  </a:lnTo>
                  <a:lnTo>
                    <a:pt x="61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4131310" y="3175"/>
              <a:ext cx="1235075" cy="2838450"/>
            </a:xfrm>
            <a:custGeom>
              <a:rect b="b" l="l" r="r" t="t"/>
              <a:pathLst>
                <a:path extrusionOk="0" h="1788" w="778">
                  <a:moveTo>
                    <a:pt x="317" y="0"/>
                  </a:moveTo>
                  <a:lnTo>
                    <a:pt x="0" y="736"/>
                  </a:lnTo>
                  <a:lnTo>
                    <a:pt x="453" y="1788"/>
                  </a:lnTo>
                  <a:lnTo>
                    <a:pt x="778" y="103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4108450" y="3175"/>
              <a:ext cx="1235075" cy="2838450"/>
            </a:xfrm>
            <a:custGeom>
              <a:rect b="b" l="l" r="r" t="t"/>
              <a:pathLst>
                <a:path extrusionOk="0" h="1788" w="778">
                  <a:moveTo>
                    <a:pt x="317" y="0"/>
                  </a:moveTo>
                  <a:lnTo>
                    <a:pt x="0" y="736"/>
                  </a:lnTo>
                  <a:lnTo>
                    <a:pt x="453" y="1788"/>
                  </a:lnTo>
                  <a:lnTo>
                    <a:pt x="778" y="1039"/>
                  </a:lnTo>
                  <a:lnTo>
                    <a:pt x="31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3635693" y="3175"/>
              <a:ext cx="1006475" cy="1168400"/>
            </a:xfrm>
            <a:custGeom>
              <a:rect b="b" l="l" r="r" t="t"/>
              <a:pathLst>
                <a:path extrusionOk="0" h="736" w="634">
                  <a:moveTo>
                    <a:pt x="634" y="0"/>
                  </a:moveTo>
                  <a:lnTo>
                    <a:pt x="0" y="0"/>
                  </a:lnTo>
                  <a:lnTo>
                    <a:pt x="317" y="736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90909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3605213" y="3175"/>
              <a:ext cx="1006475" cy="1168400"/>
            </a:xfrm>
            <a:custGeom>
              <a:rect b="b" l="l" r="r" t="t"/>
              <a:pathLst>
                <a:path extrusionOk="0" h="736" w="634">
                  <a:moveTo>
                    <a:pt x="634" y="0"/>
                  </a:moveTo>
                  <a:lnTo>
                    <a:pt x="0" y="0"/>
                  </a:lnTo>
                  <a:lnTo>
                    <a:pt x="317" y="736"/>
                  </a:lnTo>
                  <a:lnTo>
                    <a:pt x="63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2157413" y="3175"/>
              <a:ext cx="1989138" cy="3536950"/>
            </a:xfrm>
            <a:custGeom>
              <a:rect b="b" l="l" r="r" t="t"/>
              <a:pathLst>
                <a:path extrusionOk="0" h="2228" w="1253">
                  <a:moveTo>
                    <a:pt x="936" y="0"/>
                  </a:moveTo>
                  <a:lnTo>
                    <a:pt x="936" y="0"/>
                  </a:lnTo>
                  <a:lnTo>
                    <a:pt x="0" y="2228"/>
                  </a:lnTo>
                  <a:lnTo>
                    <a:pt x="609" y="2228"/>
                  </a:lnTo>
                  <a:lnTo>
                    <a:pt x="1253" y="736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2119313" y="3175"/>
              <a:ext cx="1989138" cy="3536950"/>
            </a:xfrm>
            <a:custGeom>
              <a:rect b="b" l="l" r="r" t="t"/>
              <a:pathLst>
                <a:path extrusionOk="0" h="2228" w="1253">
                  <a:moveTo>
                    <a:pt x="936" y="0"/>
                  </a:moveTo>
                  <a:lnTo>
                    <a:pt x="936" y="0"/>
                  </a:lnTo>
                  <a:lnTo>
                    <a:pt x="0" y="2228"/>
                  </a:lnTo>
                  <a:lnTo>
                    <a:pt x="609" y="2228"/>
                  </a:lnTo>
                  <a:lnTo>
                    <a:pt x="1253" y="736"/>
                  </a:lnTo>
                  <a:lnTo>
                    <a:pt x="9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312420" y="3175"/>
              <a:ext cx="3338513" cy="3536950"/>
            </a:xfrm>
            <a:custGeom>
              <a:rect b="b" l="l" r="r" t="t"/>
              <a:pathLst>
                <a:path extrusionOk="0" h="2228" w="2103">
                  <a:moveTo>
                    <a:pt x="2103" y="0"/>
                  </a:moveTo>
                  <a:lnTo>
                    <a:pt x="940" y="0"/>
                  </a:lnTo>
                  <a:lnTo>
                    <a:pt x="0" y="2228"/>
                  </a:lnTo>
                  <a:lnTo>
                    <a:pt x="1167" y="2228"/>
                  </a:lnTo>
                  <a:lnTo>
                    <a:pt x="2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266700" y="3175"/>
              <a:ext cx="3338513" cy="3536950"/>
            </a:xfrm>
            <a:custGeom>
              <a:rect b="b" l="l" r="r" t="t"/>
              <a:pathLst>
                <a:path extrusionOk="0" h="2228" w="2103">
                  <a:moveTo>
                    <a:pt x="2103" y="0"/>
                  </a:moveTo>
                  <a:lnTo>
                    <a:pt x="940" y="0"/>
                  </a:lnTo>
                  <a:lnTo>
                    <a:pt x="0" y="2228"/>
                  </a:lnTo>
                  <a:lnTo>
                    <a:pt x="1167" y="2228"/>
                  </a:lnTo>
                  <a:lnTo>
                    <a:pt x="210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6"/>
          <p:cNvSpPr/>
          <p:nvPr/>
        </p:nvSpPr>
        <p:spPr>
          <a:xfrm>
            <a:off x="-4" y="-1"/>
            <a:ext cx="9906004" cy="3495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205921" y="3165"/>
            <a:ext cx="4700079" cy="3495684"/>
          </a:xfrm>
          <a:custGeom>
            <a:rect b="b" l="l" r="r" t="t"/>
            <a:pathLst>
              <a:path extrusionOk="0" h="2208" w="2964">
                <a:moveTo>
                  <a:pt x="2964" y="2208"/>
                </a:moveTo>
                <a:lnTo>
                  <a:pt x="980" y="2208"/>
                </a:lnTo>
                <a:lnTo>
                  <a:pt x="0" y="0"/>
                </a:lnTo>
                <a:lnTo>
                  <a:pt x="2964" y="0"/>
                </a:lnTo>
                <a:lnTo>
                  <a:pt x="2964" y="2208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947448" y="1622769"/>
            <a:ext cx="1344692" cy="1876081"/>
          </a:xfrm>
          <a:custGeom>
            <a:rect b="b" l="l" r="r" t="t"/>
            <a:pathLst>
              <a:path extrusionOk="0" h="1185" w="848">
                <a:moveTo>
                  <a:pt x="321" y="0"/>
                </a:moveTo>
                <a:lnTo>
                  <a:pt x="0" y="746"/>
                </a:lnTo>
                <a:lnTo>
                  <a:pt x="189" y="1185"/>
                </a:lnTo>
                <a:lnTo>
                  <a:pt x="848" y="1185"/>
                </a:lnTo>
                <a:lnTo>
                  <a:pt x="321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-3175" y="3165"/>
            <a:ext cx="6160529" cy="3495684"/>
          </a:xfrm>
          <a:custGeom>
            <a:rect b="b" l="l" r="r" t="t"/>
            <a:pathLst>
              <a:path extrusionOk="0" h="2208" w="3885">
                <a:moveTo>
                  <a:pt x="2327" y="0"/>
                </a:moveTo>
                <a:lnTo>
                  <a:pt x="0" y="0"/>
                </a:lnTo>
                <a:lnTo>
                  <a:pt x="0" y="2208"/>
                </a:lnTo>
                <a:lnTo>
                  <a:pt x="2932" y="2208"/>
                </a:lnTo>
                <a:lnTo>
                  <a:pt x="3122" y="1769"/>
                </a:lnTo>
                <a:lnTo>
                  <a:pt x="2669" y="721"/>
                </a:lnTo>
                <a:lnTo>
                  <a:pt x="2027" y="2208"/>
                </a:lnTo>
                <a:lnTo>
                  <a:pt x="1400" y="2208"/>
                </a:lnTo>
                <a:lnTo>
                  <a:pt x="2327" y="0"/>
                </a:lnTo>
                <a:moveTo>
                  <a:pt x="3885" y="0"/>
                </a:moveTo>
                <a:lnTo>
                  <a:pt x="2981" y="0"/>
                </a:lnTo>
                <a:lnTo>
                  <a:pt x="2988" y="0"/>
                </a:lnTo>
                <a:lnTo>
                  <a:pt x="3443" y="1023"/>
                </a:lnTo>
                <a:lnTo>
                  <a:pt x="3589" y="686"/>
                </a:lnTo>
                <a:lnTo>
                  <a:pt x="3285" y="0"/>
                </a:lnTo>
                <a:lnTo>
                  <a:pt x="3885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205921" y="3165"/>
            <a:ext cx="951433" cy="1086068"/>
          </a:xfrm>
          <a:custGeom>
            <a:rect b="b" l="l" r="r" t="t"/>
            <a:pathLst>
              <a:path extrusionOk="0" h="686" w="600">
                <a:moveTo>
                  <a:pt x="600" y="0"/>
                </a:moveTo>
                <a:lnTo>
                  <a:pt x="0" y="0"/>
                </a:lnTo>
                <a:lnTo>
                  <a:pt x="304" y="686"/>
                </a:lnTo>
                <a:lnTo>
                  <a:pt x="600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229117" y="3165"/>
            <a:ext cx="1227349" cy="2800664"/>
          </a:xfrm>
          <a:custGeom>
            <a:rect b="b" l="l" r="r" t="t"/>
            <a:pathLst>
              <a:path extrusionOk="0" h="1769" w="774">
                <a:moveTo>
                  <a:pt x="319" y="0"/>
                </a:moveTo>
                <a:lnTo>
                  <a:pt x="312" y="0"/>
                </a:lnTo>
                <a:lnTo>
                  <a:pt x="0" y="721"/>
                </a:lnTo>
                <a:lnTo>
                  <a:pt x="453" y="1769"/>
                </a:lnTo>
                <a:lnTo>
                  <a:pt x="774" y="1023"/>
                </a:lnTo>
                <a:lnTo>
                  <a:pt x="319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2216835" y="3165"/>
            <a:ext cx="2507026" cy="3495684"/>
          </a:xfrm>
          <a:custGeom>
            <a:rect b="b" l="l" r="r" t="t"/>
            <a:pathLst>
              <a:path extrusionOk="0" h="2208" w="1581">
                <a:moveTo>
                  <a:pt x="1581" y="0"/>
                </a:moveTo>
                <a:lnTo>
                  <a:pt x="927" y="0"/>
                </a:lnTo>
                <a:lnTo>
                  <a:pt x="0" y="2208"/>
                </a:lnTo>
                <a:lnTo>
                  <a:pt x="627" y="2208"/>
                </a:lnTo>
                <a:lnTo>
                  <a:pt x="1269" y="721"/>
                </a:lnTo>
                <a:lnTo>
                  <a:pt x="957" y="0"/>
                </a:lnTo>
                <a:lnTo>
                  <a:pt x="1581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3734371" y="3165"/>
            <a:ext cx="989490" cy="1141481"/>
          </a:xfrm>
          <a:custGeom>
            <a:rect b="b" l="l" r="r" t="t"/>
            <a:pathLst>
              <a:path extrusionOk="0" h="721" w="624">
                <a:moveTo>
                  <a:pt x="624" y="0"/>
                </a:moveTo>
                <a:lnTo>
                  <a:pt x="0" y="0"/>
                </a:lnTo>
                <a:lnTo>
                  <a:pt x="312" y="721"/>
                </a:lnTo>
                <a:lnTo>
                  <a:pt x="624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 txBox="1"/>
          <p:nvPr>
            <p:ph idx="1" type="body"/>
          </p:nvPr>
        </p:nvSpPr>
        <p:spPr>
          <a:xfrm>
            <a:off x="266400" y="3600000"/>
            <a:ext cx="7821613" cy="86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6"/>
          <p:cNvSpPr txBox="1"/>
          <p:nvPr>
            <p:ph type="title"/>
          </p:nvPr>
        </p:nvSpPr>
        <p:spPr>
          <a:xfrm>
            <a:off x="266400" y="4608000"/>
            <a:ext cx="7821613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NOMURA_A4_PMS_1797.emf" id="126" name="Google Shape;12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55804" y="306904"/>
            <a:ext cx="1260000" cy="222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p_Nomura Standard Cover" showMasterSp="0">
  <p:cSld name="jp_Nomura Standard Cov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7"/>
          <p:cNvGrpSpPr/>
          <p:nvPr/>
        </p:nvGrpSpPr>
        <p:grpSpPr>
          <a:xfrm>
            <a:off x="272750" y="-10800"/>
            <a:ext cx="9633285" cy="2528888"/>
            <a:chOff x="272750" y="-15875"/>
            <a:chExt cx="9633285" cy="2528888"/>
          </a:xfrm>
        </p:grpSpPr>
        <p:sp>
          <p:nvSpPr>
            <p:cNvPr id="129" name="Google Shape;129;p7"/>
            <p:cNvSpPr/>
            <p:nvPr/>
          </p:nvSpPr>
          <p:spPr>
            <a:xfrm>
              <a:off x="294975" y="-15875"/>
              <a:ext cx="9563100" cy="2509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294975" y="-12700"/>
              <a:ext cx="2370138" cy="2509838"/>
            </a:xfrm>
            <a:custGeom>
              <a:rect b="b" l="l" r="r" t="t"/>
              <a:pathLst>
                <a:path extrusionOk="0" h="1581" w="1493">
                  <a:moveTo>
                    <a:pt x="1493" y="0"/>
                  </a:moveTo>
                  <a:lnTo>
                    <a:pt x="663" y="0"/>
                  </a:lnTo>
                  <a:lnTo>
                    <a:pt x="0" y="1581"/>
                  </a:lnTo>
                  <a:lnTo>
                    <a:pt x="832" y="1581"/>
                  </a:lnTo>
                  <a:lnTo>
                    <a:pt x="14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3997025" y="-3175"/>
              <a:ext cx="5909010" cy="2516188"/>
            </a:xfrm>
            <a:custGeom>
              <a:rect b="b" l="l" r="r" t="t"/>
              <a:pathLst>
                <a:path extrusionOk="0" h="10000" w="10328">
                  <a:moveTo>
                    <a:pt x="0" y="3129"/>
                  </a:moveTo>
                  <a:lnTo>
                    <a:pt x="1340" y="10000"/>
                  </a:lnTo>
                  <a:lnTo>
                    <a:pt x="10328" y="10000"/>
                  </a:lnTo>
                  <a:lnTo>
                    <a:pt x="10328" y="0"/>
                  </a:lnTo>
                  <a:lnTo>
                    <a:pt x="594" y="0"/>
                  </a:lnTo>
                  <a:lnTo>
                    <a:pt x="0" y="3129"/>
                  </a:lnTo>
                  <a:close/>
                </a:path>
              </a:pathLst>
            </a:custGeom>
            <a:solidFill>
              <a:srgbClr val="CA242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3481088" y="1169988"/>
              <a:ext cx="963613" cy="1343025"/>
            </a:xfrm>
            <a:custGeom>
              <a:rect b="b" l="l" r="r" t="t"/>
              <a:pathLst>
                <a:path extrusionOk="0" h="846" w="607">
                  <a:moveTo>
                    <a:pt x="135" y="846"/>
                  </a:moveTo>
                  <a:lnTo>
                    <a:pt x="607" y="846"/>
                  </a:lnTo>
                  <a:lnTo>
                    <a:pt x="230" y="0"/>
                  </a:lnTo>
                  <a:lnTo>
                    <a:pt x="0" y="532"/>
                  </a:lnTo>
                  <a:lnTo>
                    <a:pt x="135" y="846"/>
                  </a:lnTo>
                  <a:close/>
                </a:path>
              </a:pathLst>
            </a:custGeom>
            <a:solidFill>
              <a:srgbClr val="CA242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2261888" y="827088"/>
              <a:ext cx="1241425" cy="1685925"/>
            </a:xfrm>
            <a:custGeom>
              <a:rect b="b" l="l" r="r" t="t"/>
              <a:pathLst>
                <a:path extrusionOk="0" h="1062" w="782">
                  <a:moveTo>
                    <a:pt x="0" y="1062"/>
                  </a:moveTo>
                  <a:lnTo>
                    <a:pt x="647" y="1062"/>
                  </a:lnTo>
                  <a:lnTo>
                    <a:pt x="782" y="748"/>
                  </a:lnTo>
                  <a:lnTo>
                    <a:pt x="459" y="0"/>
                  </a:lnTo>
                  <a:lnTo>
                    <a:pt x="0" y="1062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3330275" y="-3175"/>
              <a:ext cx="685800" cy="1173163"/>
            </a:xfrm>
            <a:custGeom>
              <a:rect b="b" l="l" r="r" t="t"/>
              <a:pathLst>
                <a:path extrusionOk="0" h="739" w="432">
                  <a:moveTo>
                    <a:pt x="0" y="0"/>
                  </a:moveTo>
                  <a:lnTo>
                    <a:pt x="0" y="0"/>
                  </a:lnTo>
                  <a:lnTo>
                    <a:pt x="327" y="739"/>
                  </a:lnTo>
                  <a:lnTo>
                    <a:pt x="432" y="496"/>
                  </a:lnTo>
                  <a:lnTo>
                    <a:pt x="2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3654125" y="-3175"/>
              <a:ext cx="692150" cy="787400"/>
            </a:xfrm>
            <a:custGeom>
              <a:rect b="b" l="l" r="r" t="t"/>
              <a:pathLst>
                <a:path extrusionOk="0" h="496" w="436">
                  <a:moveTo>
                    <a:pt x="0" y="0"/>
                  </a:moveTo>
                  <a:lnTo>
                    <a:pt x="222" y="496"/>
                  </a:lnTo>
                  <a:lnTo>
                    <a:pt x="4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81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2981025" y="-3175"/>
              <a:ext cx="877888" cy="2017713"/>
            </a:xfrm>
            <a:custGeom>
              <a:rect b="b" l="l" r="r" t="t"/>
              <a:pathLst>
                <a:path extrusionOk="0" h="1271" w="553">
                  <a:moveTo>
                    <a:pt x="0" y="523"/>
                  </a:moveTo>
                  <a:lnTo>
                    <a:pt x="323" y="1271"/>
                  </a:lnTo>
                  <a:lnTo>
                    <a:pt x="553" y="739"/>
                  </a:lnTo>
                  <a:lnTo>
                    <a:pt x="226" y="0"/>
                  </a:lnTo>
                  <a:lnTo>
                    <a:pt x="0" y="523"/>
                  </a:lnTo>
                  <a:close/>
                </a:path>
              </a:pathLst>
            </a:custGeom>
            <a:solidFill>
              <a:srgbClr val="AF1B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2631775" y="-3175"/>
              <a:ext cx="717550" cy="830263"/>
            </a:xfrm>
            <a:custGeom>
              <a:rect b="b" l="l" r="r" t="t"/>
              <a:pathLst>
                <a:path extrusionOk="0" h="523" w="452">
                  <a:moveTo>
                    <a:pt x="452" y="0"/>
                  </a:moveTo>
                  <a:lnTo>
                    <a:pt x="452" y="0"/>
                  </a:lnTo>
                  <a:lnTo>
                    <a:pt x="0" y="0"/>
                  </a:lnTo>
                  <a:lnTo>
                    <a:pt x="226" y="523"/>
                  </a:lnTo>
                  <a:lnTo>
                    <a:pt x="447" y="7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rgbClr val="A217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1585613" y="-3175"/>
              <a:ext cx="1414463" cy="2516188"/>
            </a:xfrm>
            <a:custGeom>
              <a:rect b="b" l="l" r="r" t="t"/>
              <a:pathLst>
                <a:path extrusionOk="0" h="1585" w="891">
                  <a:moveTo>
                    <a:pt x="667" y="7"/>
                  </a:moveTo>
                  <a:lnTo>
                    <a:pt x="665" y="0"/>
                  </a:lnTo>
                  <a:lnTo>
                    <a:pt x="0" y="1585"/>
                  </a:lnTo>
                  <a:lnTo>
                    <a:pt x="432" y="1585"/>
                  </a:lnTo>
                  <a:lnTo>
                    <a:pt x="891" y="523"/>
                  </a:lnTo>
                  <a:lnTo>
                    <a:pt x="667" y="7"/>
                  </a:lnTo>
                  <a:close/>
                </a:path>
              </a:pathLst>
            </a:custGeom>
            <a:solidFill>
              <a:srgbClr val="AF1B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272750" y="-3175"/>
              <a:ext cx="2381250" cy="2516188"/>
            </a:xfrm>
            <a:custGeom>
              <a:rect b="b" l="l" r="r" t="t"/>
              <a:pathLst>
                <a:path extrusionOk="0" h="1585" w="1500">
                  <a:moveTo>
                    <a:pt x="667" y="0"/>
                  </a:moveTo>
                  <a:lnTo>
                    <a:pt x="0" y="1585"/>
                  </a:lnTo>
                  <a:lnTo>
                    <a:pt x="833" y="1585"/>
                  </a:lnTo>
                  <a:lnTo>
                    <a:pt x="1500" y="0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" name="Google Shape;140;p7"/>
          <p:cNvGrpSpPr/>
          <p:nvPr/>
        </p:nvGrpSpPr>
        <p:grpSpPr>
          <a:xfrm>
            <a:off x="7786024" y="310690"/>
            <a:ext cx="1839368" cy="386336"/>
            <a:chOff x="7740649" y="378000"/>
            <a:chExt cx="1839368" cy="386336"/>
          </a:xfrm>
        </p:grpSpPr>
        <p:pic>
          <p:nvPicPr>
            <p:cNvPr descr="O:\Logo_Library\N\NOMURA\A4\NOMURA_A4_CMYK_WHITE.emf" id="141" name="Google Shape;141;p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319877" y="378000"/>
              <a:ext cx="1260140" cy="2160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7"/>
            <p:cNvSpPr txBox="1"/>
            <p:nvPr/>
          </p:nvSpPr>
          <p:spPr>
            <a:xfrm>
              <a:off x="7740649" y="625837"/>
              <a:ext cx="1809115" cy="138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ja-JP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Connecting</a:t>
              </a:r>
              <a:r>
                <a:rPr i="1" lang="ja-JP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Markets East &amp; West</a:t>
              </a:r>
              <a:endParaRPr i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7"/>
          <p:cNvSpPr txBox="1"/>
          <p:nvPr>
            <p:ph idx="1" type="body"/>
          </p:nvPr>
        </p:nvSpPr>
        <p:spPr>
          <a:xfrm>
            <a:off x="266400" y="6453336"/>
            <a:ext cx="3960440" cy="239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" name="Google Shape;144;p7"/>
          <p:cNvSpPr txBox="1"/>
          <p:nvPr>
            <p:ph idx="2" type="body"/>
          </p:nvPr>
        </p:nvSpPr>
        <p:spPr>
          <a:xfrm>
            <a:off x="7164466" y="4869160"/>
            <a:ext cx="2448272" cy="122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spcBef>
                <a:spcPts val="5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7"/>
          <p:cNvSpPr txBox="1"/>
          <p:nvPr>
            <p:ph idx="3" type="body"/>
          </p:nvPr>
        </p:nvSpPr>
        <p:spPr>
          <a:xfrm>
            <a:off x="266400" y="4869160"/>
            <a:ext cx="3960440" cy="792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0830" lvl="1" marL="914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7"/>
          <p:cNvSpPr txBox="1"/>
          <p:nvPr>
            <p:ph idx="4" type="body"/>
          </p:nvPr>
        </p:nvSpPr>
        <p:spPr>
          <a:xfrm>
            <a:off x="266400" y="5821288"/>
            <a:ext cx="3960440" cy="472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0830" lvl="1" marL="914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7"/>
          <p:cNvSpPr txBox="1"/>
          <p:nvPr>
            <p:ph idx="5" type="body"/>
          </p:nvPr>
        </p:nvSpPr>
        <p:spPr>
          <a:xfrm>
            <a:off x="273050" y="3935952"/>
            <a:ext cx="72000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72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7"/>
          <p:cNvSpPr txBox="1"/>
          <p:nvPr>
            <p:ph type="title"/>
          </p:nvPr>
        </p:nvSpPr>
        <p:spPr>
          <a:xfrm>
            <a:off x="273050" y="3002400"/>
            <a:ext cx="7200000" cy="85895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7"/>
          <p:cNvSpPr txBox="1"/>
          <p:nvPr>
            <p:ph idx="6" type="body"/>
          </p:nvPr>
        </p:nvSpPr>
        <p:spPr>
          <a:xfrm>
            <a:off x="273050" y="2590800"/>
            <a:ext cx="720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SzPts val="1400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99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50" name="Google Shape;150;p7"/>
          <p:cNvGrpSpPr/>
          <p:nvPr/>
        </p:nvGrpSpPr>
        <p:grpSpPr>
          <a:xfrm>
            <a:off x="8091510" y="6507956"/>
            <a:ext cx="1517201" cy="178851"/>
            <a:chOff x="3884613" y="4575175"/>
            <a:chExt cx="1589087" cy="187325"/>
          </a:xfrm>
        </p:grpSpPr>
        <p:sp>
          <p:nvSpPr>
            <p:cNvPr id="151" name="Google Shape;151;p7"/>
            <p:cNvSpPr/>
            <p:nvPr/>
          </p:nvSpPr>
          <p:spPr>
            <a:xfrm>
              <a:off x="4991100" y="4578350"/>
              <a:ext cx="87312" cy="184150"/>
            </a:xfrm>
            <a:custGeom>
              <a:rect b="b" l="l" r="r" t="t"/>
              <a:pathLst>
                <a:path extrusionOk="0" h="116" w="55">
                  <a:moveTo>
                    <a:pt x="52" y="102"/>
                  </a:moveTo>
                  <a:lnTo>
                    <a:pt x="52" y="102"/>
                  </a:lnTo>
                  <a:lnTo>
                    <a:pt x="54" y="106"/>
                  </a:lnTo>
                  <a:lnTo>
                    <a:pt x="55" y="109"/>
                  </a:lnTo>
                  <a:lnTo>
                    <a:pt x="55" y="113"/>
                  </a:lnTo>
                  <a:lnTo>
                    <a:pt x="54" y="115"/>
                  </a:lnTo>
                  <a:lnTo>
                    <a:pt x="54" y="115"/>
                  </a:lnTo>
                  <a:lnTo>
                    <a:pt x="51" y="116"/>
                  </a:lnTo>
                  <a:lnTo>
                    <a:pt x="46" y="116"/>
                  </a:lnTo>
                  <a:lnTo>
                    <a:pt x="40" y="114"/>
                  </a:lnTo>
                  <a:lnTo>
                    <a:pt x="35" y="112"/>
                  </a:lnTo>
                  <a:lnTo>
                    <a:pt x="35" y="112"/>
                  </a:lnTo>
                  <a:lnTo>
                    <a:pt x="32" y="108"/>
                  </a:lnTo>
                  <a:lnTo>
                    <a:pt x="28" y="105"/>
                  </a:lnTo>
                  <a:lnTo>
                    <a:pt x="20" y="96"/>
                  </a:lnTo>
                  <a:lnTo>
                    <a:pt x="14" y="84"/>
                  </a:lnTo>
                  <a:lnTo>
                    <a:pt x="9" y="70"/>
                  </a:lnTo>
                  <a:lnTo>
                    <a:pt x="9" y="70"/>
                  </a:lnTo>
                  <a:lnTo>
                    <a:pt x="5" y="55"/>
                  </a:lnTo>
                  <a:lnTo>
                    <a:pt x="2" y="39"/>
                  </a:lnTo>
                  <a:lnTo>
                    <a:pt x="1" y="21"/>
                  </a:lnTo>
                  <a:lnTo>
                    <a:pt x="0" y="0"/>
                  </a:lnTo>
                  <a:lnTo>
                    <a:pt x="21" y="6"/>
                  </a:lnTo>
                  <a:lnTo>
                    <a:pt x="19" y="9"/>
                  </a:lnTo>
                  <a:lnTo>
                    <a:pt x="19" y="9"/>
                  </a:lnTo>
                  <a:lnTo>
                    <a:pt x="20" y="25"/>
                  </a:lnTo>
                  <a:lnTo>
                    <a:pt x="21" y="38"/>
                  </a:lnTo>
                  <a:lnTo>
                    <a:pt x="23" y="51"/>
                  </a:lnTo>
                  <a:lnTo>
                    <a:pt x="25" y="60"/>
                  </a:lnTo>
                  <a:lnTo>
                    <a:pt x="29" y="70"/>
                  </a:lnTo>
                  <a:lnTo>
                    <a:pt x="32" y="77"/>
                  </a:lnTo>
                  <a:lnTo>
                    <a:pt x="36" y="85"/>
                  </a:lnTo>
                  <a:lnTo>
                    <a:pt x="40" y="90"/>
                  </a:lnTo>
                  <a:lnTo>
                    <a:pt x="40" y="90"/>
                  </a:lnTo>
                  <a:lnTo>
                    <a:pt x="44" y="88"/>
                  </a:lnTo>
                  <a:lnTo>
                    <a:pt x="46" y="84"/>
                  </a:lnTo>
                  <a:lnTo>
                    <a:pt x="51" y="73"/>
                  </a:lnTo>
                  <a:lnTo>
                    <a:pt x="51" y="73"/>
                  </a:lnTo>
                  <a:lnTo>
                    <a:pt x="51" y="90"/>
                  </a:lnTo>
                  <a:lnTo>
                    <a:pt x="51" y="97"/>
                  </a:lnTo>
                  <a:lnTo>
                    <a:pt x="52" y="102"/>
                  </a:lnTo>
                  <a:lnTo>
                    <a:pt x="52" y="1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4518025" y="4581525"/>
              <a:ext cx="139700" cy="176213"/>
            </a:xfrm>
            <a:custGeom>
              <a:rect b="b" l="l" r="r" t="t"/>
              <a:pathLst>
                <a:path extrusionOk="0" h="111" w="88">
                  <a:moveTo>
                    <a:pt x="88" y="10"/>
                  </a:moveTo>
                  <a:lnTo>
                    <a:pt x="72" y="0"/>
                  </a:lnTo>
                  <a:lnTo>
                    <a:pt x="72" y="0"/>
                  </a:lnTo>
                  <a:lnTo>
                    <a:pt x="63" y="14"/>
                  </a:lnTo>
                  <a:lnTo>
                    <a:pt x="55" y="25"/>
                  </a:lnTo>
                  <a:lnTo>
                    <a:pt x="62" y="25"/>
                  </a:lnTo>
                  <a:lnTo>
                    <a:pt x="62" y="25"/>
                  </a:lnTo>
                  <a:lnTo>
                    <a:pt x="81" y="12"/>
                  </a:lnTo>
                  <a:lnTo>
                    <a:pt x="88" y="10"/>
                  </a:lnTo>
                  <a:close/>
                  <a:moveTo>
                    <a:pt x="46" y="67"/>
                  </a:moveTo>
                  <a:lnTo>
                    <a:pt x="59" y="67"/>
                  </a:lnTo>
                  <a:lnTo>
                    <a:pt x="64" y="62"/>
                  </a:lnTo>
                  <a:lnTo>
                    <a:pt x="75" y="72"/>
                  </a:lnTo>
                  <a:lnTo>
                    <a:pt x="72" y="96"/>
                  </a:lnTo>
                  <a:lnTo>
                    <a:pt x="72" y="96"/>
                  </a:lnTo>
                  <a:lnTo>
                    <a:pt x="69" y="101"/>
                  </a:lnTo>
                  <a:lnTo>
                    <a:pt x="65" y="105"/>
                  </a:lnTo>
                  <a:lnTo>
                    <a:pt x="61" y="110"/>
                  </a:lnTo>
                  <a:lnTo>
                    <a:pt x="58" y="110"/>
                  </a:lnTo>
                  <a:lnTo>
                    <a:pt x="55" y="111"/>
                  </a:lnTo>
                  <a:lnTo>
                    <a:pt x="50" y="111"/>
                  </a:lnTo>
                  <a:lnTo>
                    <a:pt x="50" y="109"/>
                  </a:lnTo>
                  <a:lnTo>
                    <a:pt x="50" y="109"/>
                  </a:lnTo>
                  <a:lnTo>
                    <a:pt x="49" y="105"/>
                  </a:lnTo>
                  <a:lnTo>
                    <a:pt x="48" y="102"/>
                  </a:lnTo>
                  <a:lnTo>
                    <a:pt x="48" y="101"/>
                  </a:lnTo>
                  <a:lnTo>
                    <a:pt x="48" y="101"/>
                  </a:lnTo>
                  <a:lnTo>
                    <a:pt x="48" y="101"/>
                  </a:lnTo>
                  <a:lnTo>
                    <a:pt x="44" y="95"/>
                  </a:lnTo>
                  <a:lnTo>
                    <a:pt x="52" y="95"/>
                  </a:lnTo>
                  <a:lnTo>
                    <a:pt x="52" y="95"/>
                  </a:lnTo>
                  <a:lnTo>
                    <a:pt x="55" y="94"/>
                  </a:lnTo>
                  <a:lnTo>
                    <a:pt x="56" y="92"/>
                  </a:lnTo>
                  <a:lnTo>
                    <a:pt x="57" y="91"/>
                  </a:lnTo>
                  <a:lnTo>
                    <a:pt x="58" y="89"/>
                  </a:lnTo>
                  <a:lnTo>
                    <a:pt x="60" y="76"/>
                  </a:lnTo>
                  <a:lnTo>
                    <a:pt x="60" y="75"/>
                  </a:lnTo>
                  <a:lnTo>
                    <a:pt x="59" y="75"/>
                  </a:lnTo>
                  <a:lnTo>
                    <a:pt x="42" y="75"/>
                  </a:lnTo>
                  <a:lnTo>
                    <a:pt x="41" y="75"/>
                  </a:lnTo>
                  <a:lnTo>
                    <a:pt x="41" y="76"/>
                  </a:lnTo>
                  <a:lnTo>
                    <a:pt x="41" y="76"/>
                  </a:lnTo>
                  <a:lnTo>
                    <a:pt x="39" y="83"/>
                  </a:lnTo>
                  <a:lnTo>
                    <a:pt x="34" y="89"/>
                  </a:lnTo>
                  <a:lnTo>
                    <a:pt x="30" y="96"/>
                  </a:lnTo>
                  <a:lnTo>
                    <a:pt x="25" y="101"/>
                  </a:lnTo>
                  <a:lnTo>
                    <a:pt x="25" y="101"/>
                  </a:lnTo>
                  <a:lnTo>
                    <a:pt x="19" y="104"/>
                  </a:lnTo>
                  <a:lnTo>
                    <a:pt x="13" y="106"/>
                  </a:lnTo>
                  <a:lnTo>
                    <a:pt x="7" y="10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8" y="104"/>
                  </a:lnTo>
                  <a:lnTo>
                    <a:pt x="13" y="99"/>
                  </a:lnTo>
                  <a:lnTo>
                    <a:pt x="13" y="99"/>
                  </a:lnTo>
                  <a:lnTo>
                    <a:pt x="17" y="95"/>
                  </a:lnTo>
                  <a:lnTo>
                    <a:pt x="20" y="89"/>
                  </a:lnTo>
                  <a:lnTo>
                    <a:pt x="24" y="83"/>
                  </a:lnTo>
                  <a:lnTo>
                    <a:pt x="26" y="76"/>
                  </a:lnTo>
                  <a:lnTo>
                    <a:pt x="26" y="75"/>
                  </a:lnTo>
                  <a:lnTo>
                    <a:pt x="25" y="75"/>
                  </a:lnTo>
                  <a:lnTo>
                    <a:pt x="17" y="75"/>
                  </a:lnTo>
                  <a:lnTo>
                    <a:pt x="14" y="67"/>
                  </a:lnTo>
                  <a:lnTo>
                    <a:pt x="46" y="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3979863" y="4578350"/>
              <a:ext cx="90487" cy="115888"/>
            </a:xfrm>
            <a:custGeom>
              <a:rect b="b" l="l" r="r" t="t"/>
              <a:pathLst>
                <a:path extrusionOk="0" h="73" w="57">
                  <a:moveTo>
                    <a:pt x="24" y="29"/>
                  </a:moveTo>
                  <a:lnTo>
                    <a:pt x="24" y="29"/>
                  </a:lnTo>
                  <a:lnTo>
                    <a:pt x="38" y="21"/>
                  </a:lnTo>
                  <a:lnTo>
                    <a:pt x="53" y="10"/>
                  </a:lnTo>
                  <a:lnTo>
                    <a:pt x="40" y="0"/>
                  </a:lnTo>
                  <a:lnTo>
                    <a:pt x="34" y="5"/>
                  </a:lnTo>
                  <a:lnTo>
                    <a:pt x="0" y="5"/>
                  </a:lnTo>
                  <a:lnTo>
                    <a:pt x="2" y="13"/>
                  </a:lnTo>
                  <a:lnTo>
                    <a:pt x="32" y="13"/>
                  </a:lnTo>
                  <a:lnTo>
                    <a:pt x="32" y="13"/>
                  </a:lnTo>
                  <a:lnTo>
                    <a:pt x="27" y="20"/>
                  </a:lnTo>
                  <a:lnTo>
                    <a:pt x="21" y="26"/>
                  </a:lnTo>
                  <a:lnTo>
                    <a:pt x="24" y="29"/>
                  </a:lnTo>
                  <a:close/>
                  <a:moveTo>
                    <a:pt x="30" y="73"/>
                  </a:moveTo>
                  <a:lnTo>
                    <a:pt x="30" y="73"/>
                  </a:lnTo>
                  <a:lnTo>
                    <a:pt x="36" y="70"/>
                  </a:lnTo>
                  <a:lnTo>
                    <a:pt x="44" y="64"/>
                  </a:lnTo>
                  <a:lnTo>
                    <a:pt x="57" y="53"/>
                  </a:lnTo>
                  <a:lnTo>
                    <a:pt x="44" y="43"/>
                  </a:lnTo>
                  <a:lnTo>
                    <a:pt x="39" y="47"/>
                  </a:lnTo>
                  <a:lnTo>
                    <a:pt x="2" y="47"/>
                  </a:lnTo>
                  <a:lnTo>
                    <a:pt x="3" y="55"/>
                  </a:lnTo>
                  <a:lnTo>
                    <a:pt x="38" y="55"/>
                  </a:lnTo>
                  <a:lnTo>
                    <a:pt x="38" y="55"/>
                  </a:lnTo>
                  <a:lnTo>
                    <a:pt x="35" y="62"/>
                  </a:lnTo>
                  <a:lnTo>
                    <a:pt x="30" y="69"/>
                  </a:lnTo>
                  <a:lnTo>
                    <a:pt x="30" y="7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4178300" y="4648200"/>
              <a:ext cx="30162" cy="50800"/>
            </a:xfrm>
            <a:custGeom>
              <a:rect b="b" l="l" r="r" t="t"/>
              <a:pathLst>
                <a:path extrusionOk="0" h="32" w="19">
                  <a:moveTo>
                    <a:pt x="3" y="19"/>
                  </a:moveTo>
                  <a:lnTo>
                    <a:pt x="3" y="19"/>
                  </a:lnTo>
                  <a:lnTo>
                    <a:pt x="4" y="26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8" y="31"/>
                  </a:lnTo>
                  <a:lnTo>
                    <a:pt x="11" y="32"/>
                  </a:lnTo>
                  <a:lnTo>
                    <a:pt x="11" y="32"/>
                  </a:lnTo>
                  <a:lnTo>
                    <a:pt x="15" y="31"/>
                  </a:lnTo>
                  <a:lnTo>
                    <a:pt x="17" y="29"/>
                  </a:lnTo>
                  <a:lnTo>
                    <a:pt x="18" y="26"/>
                  </a:lnTo>
                  <a:lnTo>
                    <a:pt x="19" y="22"/>
                  </a:lnTo>
                  <a:lnTo>
                    <a:pt x="19" y="22"/>
                  </a:lnTo>
                  <a:lnTo>
                    <a:pt x="18" y="18"/>
                  </a:lnTo>
                  <a:lnTo>
                    <a:pt x="17" y="15"/>
                  </a:lnTo>
                  <a:lnTo>
                    <a:pt x="13" y="9"/>
                  </a:lnTo>
                  <a:lnTo>
                    <a:pt x="7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6"/>
                  </a:lnTo>
                  <a:lnTo>
                    <a:pt x="3" y="11"/>
                  </a:lnTo>
                  <a:lnTo>
                    <a:pt x="3" y="19"/>
                  </a:lnTo>
                  <a:lnTo>
                    <a:pt x="3" y="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4424363" y="4586288"/>
              <a:ext cx="36512" cy="20638"/>
            </a:xfrm>
            <a:custGeom>
              <a:rect b="b" l="l" r="r" t="t"/>
              <a:pathLst>
                <a:path extrusionOk="0" h="13" w="23">
                  <a:moveTo>
                    <a:pt x="4" y="13"/>
                  </a:moveTo>
                  <a:lnTo>
                    <a:pt x="4" y="13"/>
                  </a:lnTo>
                  <a:lnTo>
                    <a:pt x="13" y="11"/>
                  </a:lnTo>
                  <a:lnTo>
                    <a:pt x="23" y="8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0" y="6"/>
                  </a:lnTo>
                  <a:lnTo>
                    <a:pt x="0" y="12"/>
                  </a:lnTo>
                  <a:lnTo>
                    <a:pt x="4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7"/>
            <p:cNvSpPr/>
            <p:nvPr/>
          </p:nvSpPr>
          <p:spPr>
            <a:xfrm>
              <a:off x="4440238" y="4598988"/>
              <a:ext cx="34925" cy="19050"/>
            </a:xfrm>
            <a:custGeom>
              <a:rect b="b" l="l" r="r" t="t"/>
              <a:pathLst>
                <a:path extrusionOk="0" h="12" w="22">
                  <a:moveTo>
                    <a:pt x="5" y="12"/>
                  </a:moveTo>
                  <a:lnTo>
                    <a:pt x="5" y="12"/>
                  </a:lnTo>
                  <a:lnTo>
                    <a:pt x="22" y="8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2" y="3"/>
                  </a:lnTo>
                  <a:lnTo>
                    <a:pt x="8" y="7"/>
                  </a:lnTo>
                  <a:lnTo>
                    <a:pt x="0" y="12"/>
                  </a:lnTo>
                  <a:lnTo>
                    <a:pt x="5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7"/>
            <p:cNvSpPr/>
            <p:nvPr/>
          </p:nvSpPr>
          <p:spPr>
            <a:xfrm>
              <a:off x="4765675" y="4668838"/>
              <a:ext cx="119062" cy="76200"/>
            </a:xfrm>
            <a:custGeom>
              <a:rect b="b" l="l" r="r" t="t"/>
              <a:pathLst>
                <a:path extrusionOk="0" h="48" w="75">
                  <a:moveTo>
                    <a:pt x="45" y="20"/>
                  </a:moveTo>
                  <a:lnTo>
                    <a:pt x="45" y="20"/>
                  </a:lnTo>
                  <a:lnTo>
                    <a:pt x="54" y="34"/>
                  </a:lnTo>
                  <a:lnTo>
                    <a:pt x="61" y="42"/>
                  </a:lnTo>
                  <a:lnTo>
                    <a:pt x="68" y="48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67" y="25"/>
                  </a:lnTo>
                  <a:lnTo>
                    <a:pt x="59" y="18"/>
                  </a:lnTo>
                  <a:lnTo>
                    <a:pt x="51" y="10"/>
                  </a:lnTo>
                  <a:lnTo>
                    <a:pt x="45" y="0"/>
                  </a:lnTo>
                  <a:lnTo>
                    <a:pt x="45" y="20"/>
                  </a:lnTo>
                  <a:close/>
                  <a:moveTo>
                    <a:pt x="30" y="0"/>
                  </a:moveTo>
                  <a:lnTo>
                    <a:pt x="27" y="0"/>
                  </a:lnTo>
                  <a:lnTo>
                    <a:pt x="27" y="0"/>
                  </a:lnTo>
                  <a:lnTo>
                    <a:pt x="14" y="24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6" y="33"/>
                  </a:lnTo>
                  <a:lnTo>
                    <a:pt x="30" y="2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5402263" y="4578350"/>
              <a:ext cx="30162" cy="168275"/>
            </a:xfrm>
            <a:custGeom>
              <a:rect b="b" l="l" r="r" t="t"/>
              <a:pathLst>
                <a:path extrusionOk="0" h="106" w="19">
                  <a:moveTo>
                    <a:pt x="17" y="106"/>
                  </a:moveTo>
                  <a:lnTo>
                    <a:pt x="17" y="10"/>
                  </a:lnTo>
                  <a:lnTo>
                    <a:pt x="17" y="9"/>
                  </a:lnTo>
                  <a:lnTo>
                    <a:pt x="17" y="9"/>
                  </a:lnTo>
                  <a:lnTo>
                    <a:pt x="19" y="6"/>
                  </a:lnTo>
                  <a:lnTo>
                    <a:pt x="0" y="0"/>
                  </a:lnTo>
                  <a:lnTo>
                    <a:pt x="0" y="106"/>
                  </a:lnTo>
                  <a:lnTo>
                    <a:pt x="17" y="1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5376863" y="4633913"/>
              <a:ext cx="84137" cy="15875"/>
            </a:xfrm>
            <a:custGeom>
              <a:rect b="b" l="l" r="r" t="t"/>
              <a:pathLst>
                <a:path extrusionOk="0" h="10" w="53">
                  <a:moveTo>
                    <a:pt x="41" y="3"/>
                  </a:moveTo>
                  <a:lnTo>
                    <a:pt x="44" y="0"/>
                  </a:lnTo>
                  <a:lnTo>
                    <a:pt x="53" y="7"/>
                  </a:lnTo>
                  <a:lnTo>
                    <a:pt x="49" y="10"/>
                  </a:lnTo>
                  <a:lnTo>
                    <a:pt x="2" y="10"/>
                  </a:lnTo>
                  <a:lnTo>
                    <a:pt x="0" y="3"/>
                  </a:lnTo>
                  <a:lnTo>
                    <a:pt x="41" y="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7"/>
            <p:cNvSpPr/>
            <p:nvPr/>
          </p:nvSpPr>
          <p:spPr>
            <a:xfrm>
              <a:off x="5360988" y="4740275"/>
              <a:ext cx="112712" cy="17463"/>
            </a:xfrm>
            <a:custGeom>
              <a:rect b="b" l="l" r="r" t="t"/>
              <a:pathLst>
                <a:path extrusionOk="0" h="11" w="71">
                  <a:moveTo>
                    <a:pt x="58" y="2"/>
                  </a:moveTo>
                  <a:lnTo>
                    <a:pt x="61" y="0"/>
                  </a:lnTo>
                  <a:lnTo>
                    <a:pt x="71" y="6"/>
                  </a:lnTo>
                  <a:lnTo>
                    <a:pt x="67" y="11"/>
                  </a:lnTo>
                  <a:lnTo>
                    <a:pt x="3" y="11"/>
                  </a:lnTo>
                  <a:lnTo>
                    <a:pt x="0" y="2"/>
                  </a:lnTo>
                  <a:lnTo>
                    <a:pt x="58" y="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7"/>
            <p:cNvSpPr/>
            <p:nvPr/>
          </p:nvSpPr>
          <p:spPr>
            <a:xfrm>
              <a:off x="5322888" y="4659313"/>
              <a:ext cx="25400" cy="98425"/>
            </a:xfrm>
            <a:custGeom>
              <a:rect b="b" l="l" r="r" t="t"/>
              <a:pathLst>
                <a:path extrusionOk="0" h="62" w="16">
                  <a:moveTo>
                    <a:pt x="16" y="0"/>
                  </a:moveTo>
                  <a:lnTo>
                    <a:pt x="16" y="62"/>
                  </a:lnTo>
                  <a:lnTo>
                    <a:pt x="0" y="62"/>
                  </a:lnTo>
                  <a:lnTo>
                    <a:pt x="0" y="1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5284788" y="4578350"/>
              <a:ext cx="92075" cy="138113"/>
            </a:xfrm>
            <a:custGeom>
              <a:rect b="b" l="l" r="r" t="t"/>
              <a:pathLst>
                <a:path extrusionOk="0" h="87" w="58">
                  <a:moveTo>
                    <a:pt x="43" y="26"/>
                  </a:moveTo>
                  <a:lnTo>
                    <a:pt x="40" y="26"/>
                  </a:lnTo>
                  <a:lnTo>
                    <a:pt x="40" y="9"/>
                  </a:lnTo>
                  <a:lnTo>
                    <a:pt x="42" y="6"/>
                  </a:lnTo>
                  <a:lnTo>
                    <a:pt x="24" y="0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8" y="35"/>
                  </a:lnTo>
                  <a:lnTo>
                    <a:pt x="35" y="35"/>
                  </a:lnTo>
                  <a:lnTo>
                    <a:pt x="35" y="35"/>
                  </a:lnTo>
                  <a:lnTo>
                    <a:pt x="28" y="47"/>
                  </a:lnTo>
                  <a:lnTo>
                    <a:pt x="21" y="60"/>
                  </a:lnTo>
                  <a:lnTo>
                    <a:pt x="11" y="74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2" y="81"/>
                  </a:lnTo>
                  <a:lnTo>
                    <a:pt x="23" y="73"/>
                  </a:lnTo>
                  <a:lnTo>
                    <a:pt x="32" y="63"/>
                  </a:lnTo>
                  <a:lnTo>
                    <a:pt x="41" y="54"/>
                  </a:lnTo>
                  <a:lnTo>
                    <a:pt x="41" y="54"/>
                  </a:lnTo>
                  <a:lnTo>
                    <a:pt x="47" y="44"/>
                  </a:lnTo>
                  <a:lnTo>
                    <a:pt x="54" y="35"/>
                  </a:lnTo>
                  <a:lnTo>
                    <a:pt x="54" y="35"/>
                  </a:lnTo>
                  <a:lnTo>
                    <a:pt x="54" y="35"/>
                  </a:lnTo>
                  <a:lnTo>
                    <a:pt x="58" y="29"/>
                  </a:lnTo>
                  <a:lnTo>
                    <a:pt x="48" y="22"/>
                  </a:lnTo>
                  <a:lnTo>
                    <a:pt x="43" y="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7"/>
            <p:cNvSpPr/>
            <p:nvPr/>
          </p:nvSpPr>
          <p:spPr>
            <a:xfrm>
              <a:off x="5343525" y="4665663"/>
              <a:ext cx="36512" cy="38100"/>
            </a:xfrm>
            <a:custGeom>
              <a:rect b="b" l="l" r="r" t="t"/>
              <a:pathLst>
                <a:path extrusionOk="0" h="24" w="23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13" y="2"/>
                  </a:lnTo>
                  <a:lnTo>
                    <a:pt x="17" y="5"/>
                  </a:lnTo>
                  <a:lnTo>
                    <a:pt x="21" y="9"/>
                  </a:lnTo>
                  <a:lnTo>
                    <a:pt x="21" y="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22" y="18"/>
                  </a:lnTo>
                  <a:lnTo>
                    <a:pt x="21" y="20"/>
                  </a:lnTo>
                  <a:lnTo>
                    <a:pt x="21" y="20"/>
                  </a:lnTo>
                  <a:lnTo>
                    <a:pt x="18" y="23"/>
                  </a:lnTo>
                  <a:lnTo>
                    <a:pt x="15" y="24"/>
                  </a:lnTo>
                  <a:lnTo>
                    <a:pt x="13" y="22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5" y="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7"/>
            <p:cNvSpPr/>
            <p:nvPr/>
          </p:nvSpPr>
          <p:spPr>
            <a:xfrm>
              <a:off x="4749800" y="4640263"/>
              <a:ext cx="34925" cy="39688"/>
            </a:xfrm>
            <a:custGeom>
              <a:rect b="b" l="l" r="r" t="t"/>
              <a:pathLst>
                <a:path extrusionOk="0" h="25" w="22">
                  <a:moveTo>
                    <a:pt x="0" y="0"/>
                  </a:moveTo>
                  <a:lnTo>
                    <a:pt x="0" y="0"/>
                  </a:lnTo>
                  <a:lnTo>
                    <a:pt x="7" y="1"/>
                  </a:lnTo>
                  <a:lnTo>
                    <a:pt x="12" y="3"/>
                  </a:lnTo>
                  <a:lnTo>
                    <a:pt x="16" y="6"/>
                  </a:lnTo>
                  <a:lnTo>
                    <a:pt x="21" y="11"/>
                  </a:lnTo>
                  <a:lnTo>
                    <a:pt x="21" y="11"/>
                  </a:lnTo>
                  <a:lnTo>
                    <a:pt x="22" y="15"/>
                  </a:lnTo>
                  <a:lnTo>
                    <a:pt x="22" y="17"/>
                  </a:lnTo>
                  <a:lnTo>
                    <a:pt x="21" y="20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16" y="25"/>
                  </a:lnTo>
                  <a:lnTo>
                    <a:pt x="13" y="25"/>
                  </a:lnTo>
                  <a:lnTo>
                    <a:pt x="10" y="23"/>
                  </a:lnTo>
                  <a:lnTo>
                    <a:pt x="8" y="19"/>
                  </a:lnTo>
                  <a:lnTo>
                    <a:pt x="8" y="19"/>
                  </a:lnTo>
                  <a:lnTo>
                    <a:pt x="5" y="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7"/>
            <p:cNvSpPr/>
            <p:nvPr/>
          </p:nvSpPr>
          <p:spPr>
            <a:xfrm>
              <a:off x="5024438" y="4575175"/>
              <a:ext cx="39687" cy="34925"/>
            </a:xfrm>
            <a:custGeom>
              <a:rect b="b" l="l" r="r" t="t"/>
              <a:pathLst>
                <a:path extrusionOk="0" h="22" w="25">
                  <a:moveTo>
                    <a:pt x="0" y="0"/>
                  </a:moveTo>
                  <a:lnTo>
                    <a:pt x="0" y="0"/>
                  </a:lnTo>
                  <a:lnTo>
                    <a:pt x="9" y="0"/>
                  </a:lnTo>
                  <a:lnTo>
                    <a:pt x="15" y="1"/>
                  </a:lnTo>
                  <a:lnTo>
                    <a:pt x="19" y="3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25" y="11"/>
                  </a:lnTo>
                  <a:lnTo>
                    <a:pt x="25" y="14"/>
                  </a:lnTo>
                  <a:lnTo>
                    <a:pt x="25" y="16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18" y="20"/>
                  </a:lnTo>
                  <a:lnTo>
                    <a:pt x="15" y="22"/>
                  </a:lnTo>
                  <a:lnTo>
                    <a:pt x="12" y="19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5" y="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5094288" y="4576763"/>
              <a:ext cx="100012" cy="84138"/>
            </a:xfrm>
            <a:custGeom>
              <a:rect b="b" l="l" r="r" t="t"/>
              <a:pathLst>
                <a:path extrusionOk="0" h="53" w="63">
                  <a:moveTo>
                    <a:pt x="63" y="4"/>
                  </a:moveTo>
                  <a:lnTo>
                    <a:pt x="63" y="4"/>
                  </a:lnTo>
                  <a:lnTo>
                    <a:pt x="47" y="23"/>
                  </a:lnTo>
                  <a:lnTo>
                    <a:pt x="33" y="37"/>
                  </a:lnTo>
                  <a:lnTo>
                    <a:pt x="33" y="37"/>
                  </a:lnTo>
                  <a:lnTo>
                    <a:pt x="24" y="42"/>
                  </a:lnTo>
                  <a:lnTo>
                    <a:pt x="16" y="47"/>
                  </a:lnTo>
                  <a:lnTo>
                    <a:pt x="8" y="51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15" y="38"/>
                  </a:lnTo>
                  <a:lnTo>
                    <a:pt x="27" y="25"/>
                  </a:lnTo>
                  <a:lnTo>
                    <a:pt x="27" y="25"/>
                  </a:lnTo>
                  <a:lnTo>
                    <a:pt x="35" y="13"/>
                  </a:lnTo>
                  <a:lnTo>
                    <a:pt x="43" y="0"/>
                  </a:lnTo>
                  <a:lnTo>
                    <a:pt x="63" y="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5181600" y="4586288"/>
              <a:ext cx="96837" cy="77788"/>
            </a:xfrm>
            <a:custGeom>
              <a:rect b="b" l="l" r="r" t="t"/>
              <a:pathLst>
                <a:path extrusionOk="0" h="49" w="61">
                  <a:moveTo>
                    <a:pt x="4" y="0"/>
                  </a:moveTo>
                  <a:lnTo>
                    <a:pt x="4" y="0"/>
                  </a:lnTo>
                  <a:lnTo>
                    <a:pt x="17" y="10"/>
                  </a:lnTo>
                  <a:lnTo>
                    <a:pt x="32" y="19"/>
                  </a:lnTo>
                  <a:lnTo>
                    <a:pt x="46" y="27"/>
                  </a:lnTo>
                  <a:lnTo>
                    <a:pt x="61" y="34"/>
                  </a:lnTo>
                  <a:lnTo>
                    <a:pt x="61" y="34"/>
                  </a:lnTo>
                  <a:lnTo>
                    <a:pt x="56" y="41"/>
                  </a:lnTo>
                  <a:lnTo>
                    <a:pt x="52" y="49"/>
                  </a:lnTo>
                  <a:lnTo>
                    <a:pt x="52" y="49"/>
                  </a:lnTo>
                  <a:lnTo>
                    <a:pt x="35" y="38"/>
                  </a:lnTo>
                  <a:lnTo>
                    <a:pt x="21" y="27"/>
                  </a:lnTo>
                  <a:lnTo>
                    <a:pt x="9" y="16"/>
                  </a:lnTo>
                  <a:lnTo>
                    <a:pt x="5" y="9"/>
                  </a:lnTo>
                  <a:lnTo>
                    <a:pt x="0" y="3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4905375" y="4652963"/>
              <a:ext cx="90487" cy="20638"/>
            </a:xfrm>
            <a:custGeom>
              <a:rect b="b" l="l" r="r" t="t"/>
              <a:pathLst>
                <a:path extrusionOk="0" h="13" w="57">
                  <a:moveTo>
                    <a:pt x="3" y="13"/>
                  </a:moveTo>
                  <a:lnTo>
                    <a:pt x="53" y="13"/>
                  </a:lnTo>
                  <a:lnTo>
                    <a:pt x="57" y="9"/>
                  </a:lnTo>
                  <a:lnTo>
                    <a:pt x="47" y="0"/>
                  </a:lnTo>
                  <a:lnTo>
                    <a:pt x="42" y="5"/>
                  </a:lnTo>
                  <a:lnTo>
                    <a:pt x="0" y="5"/>
                  </a:lnTo>
                  <a:lnTo>
                    <a:pt x="3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4787900" y="4616450"/>
              <a:ext cx="85725" cy="17463"/>
            </a:xfrm>
            <a:custGeom>
              <a:rect b="b" l="l" r="r" t="t"/>
              <a:pathLst>
                <a:path extrusionOk="0" h="11" w="54">
                  <a:moveTo>
                    <a:pt x="0" y="11"/>
                  </a:moveTo>
                  <a:lnTo>
                    <a:pt x="50" y="11"/>
                  </a:lnTo>
                  <a:lnTo>
                    <a:pt x="54" y="6"/>
                  </a:lnTo>
                  <a:lnTo>
                    <a:pt x="45" y="0"/>
                  </a:lnTo>
                  <a:lnTo>
                    <a:pt x="41" y="2"/>
                  </a:lnTo>
                  <a:lnTo>
                    <a:pt x="1" y="2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4699000" y="4616450"/>
              <a:ext cx="82550" cy="17463"/>
            </a:xfrm>
            <a:custGeom>
              <a:rect b="b" l="l" r="r" t="t"/>
              <a:pathLst>
                <a:path extrusionOk="0" h="11" w="52">
                  <a:moveTo>
                    <a:pt x="2" y="11"/>
                  </a:moveTo>
                  <a:lnTo>
                    <a:pt x="47" y="11"/>
                  </a:lnTo>
                  <a:lnTo>
                    <a:pt x="52" y="6"/>
                  </a:lnTo>
                  <a:lnTo>
                    <a:pt x="42" y="0"/>
                  </a:lnTo>
                  <a:lnTo>
                    <a:pt x="39" y="2"/>
                  </a:lnTo>
                  <a:lnTo>
                    <a:pt x="0" y="2"/>
                  </a:lnTo>
                  <a:lnTo>
                    <a:pt x="2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4510088" y="4614863"/>
              <a:ext cx="155575" cy="19050"/>
            </a:xfrm>
            <a:custGeom>
              <a:rect b="b" l="l" r="r" t="t"/>
              <a:pathLst>
                <a:path extrusionOk="0" h="12" w="98">
                  <a:moveTo>
                    <a:pt x="2" y="12"/>
                  </a:moveTo>
                  <a:lnTo>
                    <a:pt x="94" y="12"/>
                  </a:lnTo>
                  <a:lnTo>
                    <a:pt x="98" y="7"/>
                  </a:lnTo>
                  <a:lnTo>
                    <a:pt x="88" y="0"/>
                  </a:lnTo>
                  <a:lnTo>
                    <a:pt x="83" y="3"/>
                  </a:lnTo>
                  <a:lnTo>
                    <a:pt x="0" y="3"/>
                  </a:lnTo>
                  <a:lnTo>
                    <a:pt x="2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4498975" y="4648200"/>
              <a:ext cx="180975" cy="20638"/>
            </a:xfrm>
            <a:custGeom>
              <a:rect b="b" l="l" r="r" t="t"/>
              <a:pathLst>
                <a:path extrusionOk="0" h="13" w="114">
                  <a:moveTo>
                    <a:pt x="3" y="13"/>
                  </a:moveTo>
                  <a:lnTo>
                    <a:pt x="109" y="13"/>
                  </a:lnTo>
                  <a:lnTo>
                    <a:pt x="114" y="9"/>
                  </a:lnTo>
                  <a:lnTo>
                    <a:pt x="104" y="0"/>
                  </a:lnTo>
                  <a:lnTo>
                    <a:pt x="99" y="4"/>
                  </a:lnTo>
                  <a:lnTo>
                    <a:pt x="0" y="4"/>
                  </a:lnTo>
                  <a:lnTo>
                    <a:pt x="3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4510088" y="4614863"/>
              <a:ext cx="155575" cy="19050"/>
            </a:xfrm>
            <a:custGeom>
              <a:rect b="b" l="l" r="r" t="t"/>
              <a:pathLst>
                <a:path extrusionOk="0" h="12" w="98">
                  <a:moveTo>
                    <a:pt x="2" y="12"/>
                  </a:moveTo>
                  <a:lnTo>
                    <a:pt x="94" y="12"/>
                  </a:lnTo>
                  <a:lnTo>
                    <a:pt x="98" y="7"/>
                  </a:lnTo>
                  <a:lnTo>
                    <a:pt x="88" y="0"/>
                  </a:lnTo>
                  <a:lnTo>
                    <a:pt x="83" y="3"/>
                  </a:lnTo>
                  <a:lnTo>
                    <a:pt x="0" y="3"/>
                  </a:lnTo>
                  <a:lnTo>
                    <a:pt x="2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4295775" y="4586288"/>
              <a:ext cx="65087" cy="15875"/>
            </a:xfrm>
            <a:custGeom>
              <a:rect b="b" l="l" r="r" t="t"/>
              <a:pathLst>
                <a:path extrusionOk="0" h="10" w="41">
                  <a:moveTo>
                    <a:pt x="4" y="10"/>
                  </a:moveTo>
                  <a:lnTo>
                    <a:pt x="38" y="10"/>
                  </a:lnTo>
                  <a:lnTo>
                    <a:pt x="41" y="6"/>
                  </a:lnTo>
                  <a:lnTo>
                    <a:pt x="32" y="0"/>
                  </a:lnTo>
                  <a:lnTo>
                    <a:pt x="29" y="2"/>
                  </a:lnTo>
                  <a:lnTo>
                    <a:pt x="0" y="2"/>
                  </a:lnTo>
                  <a:lnTo>
                    <a:pt x="4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4386263" y="4637088"/>
              <a:ext cx="63500" cy="15875"/>
            </a:xfrm>
            <a:custGeom>
              <a:rect b="b" l="l" r="r" t="t"/>
              <a:pathLst>
                <a:path extrusionOk="0" h="10" w="40">
                  <a:moveTo>
                    <a:pt x="2" y="10"/>
                  </a:moveTo>
                  <a:lnTo>
                    <a:pt x="36" y="10"/>
                  </a:lnTo>
                  <a:lnTo>
                    <a:pt x="40" y="6"/>
                  </a:lnTo>
                  <a:lnTo>
                    <a:pt x="31" y="0"/>
                  </a:lnTo>
                  <a:lnTo>
                    <a:pt x="28" y="2"/>
                  </a:lnTo>
                  <a:lnTo>
                    <a:pt x="0" y="2"/>
                  </a:lnTo>
                  <a:lnTo>
                    <a:pt x="2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4370388" y="4583113"/>
              <a:ext cx="49212" cy="14288"/>
            </a:xfrm>
            <a:custGeom>
              <a:rect b="b" l="l" r="r" t="t"/>
              <a:pathLst>
                <a:path extrusionOk="0" h="9" w="31">
                  <a:moveTo>
                    <a:pt x="28" y="0"/>
                  </a:moveTo>
                  <a:lnTo>
                    <a:pt x="0" y="0"/>
                  </a:lnTo>
                  <a:lnTo>
                    <a:pt x="2" y="9"/>
                  </a:lnTo>
                  <a:lnTo>
                    <a:pt x="31" y="9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4370388" y="4583113"/>
              <a:ext cx="49212" cy="14288"/>
            </a:xfrm>
            <a:custGeom>
              <a:rect b="b" l="l" r="r" t="t"/>
              <a:pathLst>
                <a:path extrusionOk="0" h="9" w="31">
                  <a:moveTo>
                    <a:pt x="28" y="0"/>
                  </a:moveTo>
                  <a:lnTo>
                    <a:pt x="0" y="0"/>
                  </a:lnTo>
                  <a:lnTo>
                    <a:pt x="2" y="9"/>
                  </a:lnTo>
                  <a:lnTo>
                    <a:pt x="31" y="9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4295775" y="4641850"/>
              <a:ext cx="69850" cy="17463"/>
            </a:xfrm>
            <a:custGeom>
              <a:rect b="b" l="l" r="r" t="t"/>
              <a:pathLst>
                <a:path extrusionOk="0" h="11" w="44">
                  <a:moveTo>
                    <a:pt x="4" y="11"/>
                  </a:moveTo>
                  <a:lnTo>
                    <a:pt x="40" y="11"/>
                  </a:lnTo>
                  <a:lnTo>
                    <a:pt x="44" y="7"/>
                  </a:lnTo>
                  <a:lnTo>
                    <a:pt x="35" y="0"/>
                  </a:lnTo>
                  <a:lnTo>
                    <a:pt x="31" y="3"/>
                  </a:lnTo>
                  <a:lnTo>
                    <a:pt x="0" y="3"/>
                  </a:lnTo>
                  <a:lnTo>
                    <a:pt x="4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4295775" y="4668838"/>
              <a:ext cx="69850" cy="17463"/>
            </a:xfrm>
            <a:custGeom>
              <a:rect b="b" l="l" r="r" t="t"/>
              <a:pathLst>
                <a:path extrusionOk="0" h="11" w="44">
                  <a:moveTo>
                    <a:pt x="4" y="11"/>
                  </a:moveTo>
                  <a:lnTo>
                    <a:pt x="40" y="11"/>
                  </a:lnTo>
                  <a:lnTo>
                    <a:pt x="44" y="7"/>
                  </a:lnTo>
                  <a:lnTo>
                    <a:pt x="35" y="0"/>
                  </a:lnTo>
                  <a:lnTo>
                    <a:pt x="31" y="3"/>
                  </a:lnTo>
                  <a:lnTo>
                    <a:pt x="0" y="3"/>
                  </a:lnTo>
                  <a:lnTo>
                    <a:pt x="4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4370388" y="4737100"/>
              <a:ext cx="104775" cy="19050"/>
            </a:xfrm>
            <a:custGeom>
              <a:rect b="b" l="l" r="r" t="t"/>
              <a:pathLst>
                <a:path extrusionOk="0" h="12" w="66">
                  <a:moveTo>
                    <a:pt x="4" y="12"/>
                  </a:moveTo>
                  <a:lnTo>
                    <a:pt x="64" y="12"/>
                  </a:lnTo>
                  <a:lnTo>
                    <a:pt x="66" y="9"/>
                  </a:lnTo>
                  <a:lnTo>
                    <a:pt x="55" y="0"/>
                  </a:lnTo>
                  <a:lnTo>
                    <a:pt x="50" y="4"/>
                  </a:lnTo>
                  <a:lnTo>
                    <a:pt x="0" y="4"/>
                  </a:lnTo>
                  <a:lnTo>
                    <a:pt x="4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4291013" y="4611688"/>
              <a:ext cx="77787" cy="19050"/>
            </a:xfrm>
            <a:custGeom>
              <a:rect b="b" l="l" r="r" t="t"/>
              <a:pathLst>
                <a:path extrusionOk="0" h="12" w="49">
                  <a:moveTo>
                    <a:pt x="2" y="12"/>
                  </a:moveTo>
                  <a:lnTo>
                    <a:pt x="45" y="12"/>
                  </a:lnTo>
                  <a:lnTo>
                    <a:pt x="49" y="8"/>
                  </a:lnTo>
                  <a:lnTo>
                    <a:pt x="39" y="0"/>
                  </a:lnTo>
                  <a:lnTo>
                    <a:pt x="33" y="4"/>
                  </a:lnTo>
                  <a:lnTo>
                    <a:pt x="0" y="4"/>
                  </a:lnTo>
                  <a:lnTo>
                    <a:pt x="2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4775200" y="4654550"/>
              <a:ext cx="104775" cy="19050"/>
            </a:xfrm>
            <a:custGeom>
              <a:rect b="b" l="l" r="r" t="t"/>
              <a:pathLst>
                <a:path extrusionOk="0" h="12" w="66">
                  <a:moveTo>
                    <a:pt x="0" y="12"/>
                  </a:moveTo>
                  <a:lnTo>
                    <a:pt x="62" y="12"/>
                  </a:lnTo>
                  <a:lnTo>
                    <a:pt x="66" y="8"/>
                  </a:lnTo>
                  <a:lnTo>
                    <a:pt x="57" y="0"/>
                  </a:lnTo>
                  <a:lnTo>
                    <a:pt x="54" y="4"/>
                  </a:lnTo>
                  <a:lnTo>
                    <a:pt x="1" y="4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4902200" y="4611688"/>
              <a:ext cx="169862" cy="22225"/>
            </a:xfrm>
            <a:custGeom>
              <a:rect b="b" l="l" r="r" t="t"/>
              <a:pathLst>
                <a:path extrusionOk="0" h="14" w="107">
                  <a:moveTo>
                    <a:pt x="2" y="14"/>
                  </a:moveTo>
                  <a:lnTo>
                    <a:pt x="102" y="14"/>
                  </a:lnTo>
                  <a:lnTo>
                    <a:pt x="107" y="8"/>
                  </a:lnTo>
                  <a:lnTo>
                    <a:pt x="92" y="0"/>
                  </a:lnTo>
                  <a:lnTo>
                    <a:pt x="86" y="5"/>
                  </a:lnTo>
                  <a:lnTo>
                    <a:pt x="0" y="5"/>
                  </a:lnTo>
                  <a:lnTo>
                    <a:pt x="2" y="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5113338" y="4667250"/>
              <a:ext cx="144462" cy="19050"/>
            </a:xfrm>
            <a:custGeom>
              <a:rect b="b" l="l" r="r" t="t"/>
              <a:pathLst>
                <a:path extrusionOk="0" h="12" w="91">
                  <a:moveTo>
                    <a:pt x="2" y="12"/>
                  </a:moveTo>
                  <a:lnTo>
                    <a:pt x="87" y="12"/>
                  </a:lnTo>
                  <a:lnTo>
                    <a:pt x="91" y="7"/>
                  </a:lnTo>
                  <a:lnTo>
                    <a:pt x="81" y="0"/>
                  </a:lnTo>
                  <a:lnTo>
                    <a:pt x="76" y="4"/>
                  </a:lnTo>
                  <a:lnTo>
                    <a:pt x="0" y="4"/>
                  </a:lnTo>
                  <a:lnTo>
                    <a:pt x="2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5133975" y="4635500"/>
              <a:ext cx="104775" cy="17463"/>
            </a:xfrm>
            <a:custGeom>
              <a:rect b="b" l="l" r="r" t="t"/>
              <a:pathLst>
                <a:path extrusionOk="0" h="11" w="66">
                  <a:moveTo>
                    <a:pt x="3" y="11"/>
                  </a:moveTo>
                  <a:lnTo>
                    <a:pt x="61" y="11"/>
                  </a:lnTo>
                  <a:lnTo>
                    <a:pt x="66" y="6"/>
                  </a:lnTo>
                  <a:lnTo>
                    <a:pt x="56" y="0"/>
                  </a:lnTo>
                  <a:lnTo>
                    <a:pt x="52" y="3"/>
                  </a:lnTo>
                  <a:lnTo>
                    <a:pt x="0" y="3"/>
                  </a:lnTo>
                  <a:lnTo>
                    <a:pt x="3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5127625" y="4679950"/>
              <a:ext cx="52387" cy="57150"/>
            </a:xfrm>
            <a:custGeom>
              <a:rect b="b" l="l" r="r" t="t"/>
              <a:pathLst>
                <a:path extrusionOk="0" h="36" w="33">
                  <a:moveTo>
                    <a:pt x="12" y="3"/>
                  </a:moveTo>
                  <a:lnTo>
                    <a:pt x="12" y="3"/>
                  </a:lnTo>
                  <a:lnTo>
                    <a:pt x="8" y="18"/>
                  </a:lnTo>
                  <a:lnTo>
                    <a:pt x="4" y="26"/>
                  </a:lnTo>
                  <a:lnTo>
                    <a:pt x="0" y="34"/>
                  </a:lnTo>
                  <a:lnTo>
                    <a:pt x="13" y="36"/>
                  </a:lnTo>
                  <a:lnTo>
                    <a:pt x="13" y="36"/>
                  </a:lnTo>
                  <a:lnTo>
                    <a:pt x="25" y="18"/>
                  </a:lnTo>
                  <a:lnTo>
                    <a:pt x="33" y="0"/>
                  </a:lnTo>
                  <a:lnTo>
                    <a:pt x="12" y="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5106988" y="4727575"/>
              <a:ext cx="134937" cy="30163"/>
            </a:xfrm>
            <a:custGeom>
              <a:rect b="b" l="l" r="r" t="t"/>
              <a:pathLst>
                <a:path extrusionOk="0" h="19" w="85">
                  <a:moveTo>
                    <a:pt x="6" y="19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41" y="3"/>
                  </a:lnTo>
                  <a:lnTo>
                    <a:pt x="80" y="0"/>
                  </a:lnTo>
                  <a:lnTo>
                    <a:pt x="85" y="7"/>
                  </a:lnTo>
                  <a:lnTo>
                    <a:pt x="85" y="7"/>
                  </a:lnTo>
                  <a:lnTo>
                    <a:pt x="45" y="13"/>
                  </a:lnTo>
                  <a:lnTo>
                    <a:pt x="6" y="19"/>
                  </a:lnTo>
                  <a:lnTo>
                    <a:pt x="6" y="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5211763" y="4697413"/>
              <a:ext cx="58737" cy="60325"/>
            </a:xfrm>
            <a:custGeom>
              <a:rect b="b" l="l" r="r" t="t"/>
              <a:pathLst>
                <a:path extrusionOk="0" h="38" w="37">
                  <a:moveTo>
                    <a:pt x="0" y="0"/>
                  </a:moveTo>
                  <a:lnTo>
                    <a:pt x="0" y="0"/>
                  </a:lnTo>
                  <a:lnTo>
                    <a:pt x="6" y="9"/>
                  </a:lnTo>
                  <a:lnTo>
                    <a:pt x="11" y="18"/>
                  </a:lnTo>
                  <a:lnTo>
                    <a:pt x="17" y="29"/>
                  </a:lnTo>
                  <a:lnTo>
                    <a:pt x="21" y="38"/>
                  </a:lnTo>
                  <a:lnTo>
                    <a:pt x="21" y="38"/>
                  </a:lnTo>
                  <a:lnTo>
                    <a:pt x="29" y="31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30" y="17"/>
                  </a:lnTo>
                  <a:lnTo>
                    <a:pt x="22" y="10"/>
                  </a:lnTo>
                  <a:lnTo>
                    <a:pt x="11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4900613" y="4716463"/>
              <a:ext cx="104775" cy="39688"/>
            </a:xfrm>
            <a:custGeom>
              <a:rect b="b" l="l" r="r" t="t"/>
              <a:pathLst>
                <a:path extrusionOk="0" h="25" w="66">
                  <a:moveTo>
                    <a:pt x="8" y="25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17" y="7"/>
                  </a:lnTo>
                  <a:lnTo>
                    <a:pt x="34" y="5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54" y="7"/>
                  </a:lnTo>
                  <a:lnTo>
                    <a:pt x="39" y="15"/>
                  </a:lnTo>
                  <a:lnTo>
                    <a:pt x="24" y="20"/>
                  </a:lnTo>
                  <a:lnTo>
                    <a:pt x="8" y="25"/>
                  </a:lnTo>
                  <a:lnTo>
                    <a:pt x="8" y="2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4938713" y="4672013"/>
              <a:ext cx="25400" cy="5873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4811713" y="4578350"/>
              <a:ext cx="30162" cy="179388"/>
            </a:xfrm>
            <a:custGeom>
              <a:rect b="b" l="l" r="r" t="t"/>
              <a:pathLst>
                <a:path extrusionOk="0" h="113" w="19">
                  <a:moveTo>
                    <a:pt x="0" y="113"/>
                  </a:moveTo>
                  <a:lnTo>
                    <a:pt x="0" y="0"/>
                  </a:lnTo>
                  <a:lnTo>
                    <a:pt x="19" y="6"/>
                  </a:lnTo>
                  <a:lnTo>
                    <a:pt x="17" y="9"/>
                  </a:lnTo>
                  <a:lnTo>
                    <a:pt x="17" y="11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4727575" y="4578350"/>
              <a:ext cx="30162" cy="179388"/>
            </a:xfrm>
            <a:custGeom>
              <a:rect b="b" l="l" r="r" t="t"/>
              <a:pathLst>
                <a:path extrusionOk="0" h="113" w="19">
                  <a:moveTo>
                    <a:pt x="0" y="113"/>
                  </a:moveTo>
                  <a:lnTo>
                    <a:pt x="0" y="0"/>
                  </a:lnTo>
                  <a:lnTo>
                    <a:pt x="19" y="6"/>
                  </a:lnTo>
                  <a:lnTo>
                    <a:pt x="16" y="9"/>
                  </a:lnTo>
                  <a:lnTo>
                    <a:pt x="16" y="11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4699000" y="4630738"/>
              <a:ext cx="34925" cy="80963"/>
            </a:xfrm>
            <a:custGeom>
              <a:rect b="b" l="l" r="r" t="t"/>
              <a:pathLst>
                <a:path extrusionOk="0" h="51" w="22">
                  <a:moveTo>
                    <a:pt x="0" y="51"/>
                  </a:moveTo>
                  <a:lnTo>
                    <a:pt x="0" y="51"/>
                  </a:lnTo>
                  <a:lnTo>
                    <a:pt x="5" y="41"/>
                  </a:lnTo>
                  <a:lnTo>
                    <a:pt x="10" y="29"/>
                  </a:lnTo>
                  <a:lnTo>
                    <a:pt x="14" y="17"/>
                  </a:lnTo>
                  <a:lnTo>
                    <a:pt x="17" y="0"/>
                  </a:lnTo>
                  <a:lnTo>
                    <a:pt x="22" y="0"/>
                  </a:lnTo>
                  <a:lnTo>
                    <a:pt x="22" y="34"/>
                  </a:lnTo>
                  <a:lnTo>
                    <a:pt x="22" y="34"/>
                  </a:lnTo>
                  <a:lnTo>
                    <a:pt x="11" y="43"/>
                  </a:lnTo>
                  <a:lnTo>
                    <a:pt x="6" y="48"/>
                  </a:lnTo>
                  <a:lnTo>
                    <a:pt x="0" y="51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4138613" y="4638675"/>
              <a:ext cx="34925" cy="41275"/>
            </a:xfrm>
            <a:custGeom>
              <a:rect b="b" l="l" r="r" t="t"/>
              <a:pathLst>
                <a:path extrusionOk="0" h="26" w="22">
                  <a:moveTo>
                    <a:pt x="0" y="0"/>
                  </a:moveTo>
                  <a:lnTo>
                    <a:pt x="0" y="0"/>
                  </a:lnTo>
                  <a:lnTo>
                    <a:pt x="8" y="2"/>
                  </a:lnTo>
                  <a:lnTo>
                    <a:pt x="14" y="5"/>
                  </a:lnTo>
                  <a:lnTo>
                    <a:pt x="18" y="8"/>
                  </a:lnTo>
                  <a:lnTo>
                    <a:pt x="20" y="14"/>
                  </a:lnTo>
                  <a:lnTo>
                    <a:pt x="20" y="14"/>
                  </a:lnTo>
                  <a:lnTo>
                    <a:pt x="22" y="17"/>
                  </a:lnTo>
                  <a:lnTo>
                    <a:pt x="22" y="20"/>
                  </a:lnTo>
                  <a:lnTo>
                    <a:pt x="20" y="23"/>
                  </a:lnTo>
                  <a:lnTo>
                    <a:pt x="18" y="25"/>
                  </a:lnTo>
                  <a:lnTo>
                    <a:pt x="18" y="25"/>
                  </a:lnTo>
                  <a:lnTo>
                    <a:pt x="15" y="26"/>
                  </a:lnTo>
                  <a:lnTo>
                    <a:pt x="11" y="26"/>
                  </a:lnTo>
                  <a:lnTo>
                    <a:pt x="9" y="24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4" y="1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4087813" y="4616450"/>
              <a:ext cx="85725" cy="17463"/>
            </a:xfrm>
            <a:custGeom>
              <a:rect b="b" l="l" r="r" t="t"/>
              <a:pathLst>
                <a:path extrusionOk="0" h="11" w="54">
                  <a:moveTo>
                    <a:pt x="2" y="11"/>
                  </a:moveTo>
                  <a:lnTo>
                    <a:pt x="49" y="11"/>
                  </a:lnTo>
                  <a:lnTo>
                    <a:pt x="54" y="6"/>
                  </a:lnTo>
                  <a:lnTo>
                    <a:pt x="44" y="0"/>
                  </a:lnTo>
                  <a:lnTo>
                    <a:pt x="41" y="2"/>
                  </a:lnTo>
                  <a:lnTo>
                    <a:pt x="0" y="2"/>
                  </a:lnTo>
                  <a:lnTo>
                    <a:pt x="2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3884613" y="4683125"/>
              <a:ext cx="98425" cy="17463"/>
            </a:xfrm>
            <a:custGeom>
              <a:rect b="b" l="l" r="r" t="t"/>
              <a:pathLst>
                <a:path extrusionOk="0" h="11" w="62">
                  <a:moveTo>
                    <a:pt x="2" y="11"/>
                  </a:moveTo>
                  <a:lnTo>
                    <a:pt x="58" y="11"/>
                  </a:lnTo>
                  <a:lnTo>
                    <a:pt x="62" y="8"/>
                  </a:lnTo>
                  <a:lnTo>
                    <a:pt x="51" y="0"/>
                  </a:lnTo>
                  <a:lnTo>
                    <a:pt x="47" y="4"/>
                  </a:lnTo>
                  <a:lnTo>
                    <a:pt x="0" y="4"/>
                  </a:lnTo>
                  <a:lnTo>
                    <a:pt x="2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4175125" y="4616450"/>
              <a:ext cx="92075" cy="17463"/>
            </a:xfrm>
            <a:custGeom>
              <a:rect b="b" l="l" r="r" t="t"/>
              <a:pathLst>
                <a:path extrusionOk="0" h="11" w="58">
                  <a:moveTo>
                    <a:pt x="2" y="11"/>
                  </a:moveTo>
                  <a:lnTo>
                    <a:pt x="55" y="11"/>
                  </a:lnTo>
                  <a:lnTo>
                    <a:pt x="58" y="6"/>
                  </a:lnTo>
                  <a:lnTo>
                    <a:pt x="50" y="0"/>
                  </a:lnTo>
                  <a:lnTo>
                    <a:pt x="47" y="2"/>
                  </a:lnTo>
                  <a:lnTo>
                    <a:pt x="0" y="2"/>
                  </a:lnTo>
                  <a:lnTo>
                    <a:pt x="2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4116388" y="4578350"/>
              <a:ext cx="28575" cy="179388"/>
            </a:xfrm>
            <a:custGeom>
              <a:rect b="b" l="l" r="r" t="t"/>
              <a:pathLst>
                <a:path extrusionOk="0" h="113" w="18">
                  <a:moveTo>
                    <a:pt x="0" y="113"/>
                  </a:moveTo>
                  <a:lnTo>
                    <a:pt x="0" y="0"/>
                  </a:lnTo>
                  <a:lnTo>
                    <a:pt x="18" y="6"/>
                  </a:lnTo>
                  <a:lnTo>
                    <a:pt x="16" y="9"/>
                  </a:lnTo>
                  <a:lnTo>
                    <a:pt x="16" y="11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4086225" y="4630738"/>
              <a:ext cx="33337" cy="80963"/>
            </a:xfrm>
            <a:custGeom>
              <a:rect b="b" l="l" r="r" t="t"/>
              <a:pathLst>
                <a:path extrusionOk="0" h="51" w="21">
                  <a:moveTo>
                    <a:pt x="0" y="51"/>
                  </a:moveTo>
                  <a:lnTo>
                    <a:pt x="0" y="51"/>
                  </a:lnTo>
                  <a:lnTo>
                    <a:pt x="5" y="41"/>
                  </a:lnTo>
                  <a:lnTo>
                    <a:pt x="11" y="29"/>
                  </a:lnTo>
                  <a:lnTo>
                    <a:pt x="15" y="17"/>
                  </a:lnTo>
                  <a:lnTo>
                    <a:pt x="18" y="0"/>
                  </a:lnTo>
                  <a:lnTo>
                    <a:pt x="21" y="0"/>
                  </a:lnTo>
                  <a:lnTo>
                    <a:pt x="21" y="34"/>
                  </a:lnTo>
                  <a:lnTo>
                    <a:pt x="21" y="34"/>
                  </a:lnTo>
                  <a:lnTo>
                    <a:pt x="12" y="43"/>
                  </a:lnTo>
                  <a:lnTo>
                    <a:pt x="6" y="48"/>
                  </a:lnTo>
                  <a:lnTo>
                    <a:pt x="0" y="51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4775200" y="4586288"/>
              <a:ext cx="31750" cy="60325"/>
            </a:xfrm>
            <a:custGeom>
              <a:rect b="b" l="l" r="r" t="t"/>
              <a:pathLst>
                <a:path extrusionOk="0" h="38" w="20">
                  <a:moveTo>
                    <a:pt x="18" y="7"/>
                  </a:moveTo>
                  <a:lnTo>
                    <a:pt x="18" y="7"/>
                  </a:lnTo>
                  <a:lnTo>
                    <a:pt x="16" y="17"/>
                  </a:lnTo>
                  <a:lnTo>
                    <a:pt x="13" y="25"/>
                  </a:lnTo>
                  <a:lnTo>
                    <a:pt x="8" y="32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2" y="30"/>
                  </a:lnTo>
                  <a:lnTo>
                    <a:pt x="2" y="20"/>
                  </a:lnTo>
                  <a:lnTo>
                    <a:pt x="4" y="0"/>
                  </a:lnTo>
                  <a:lnTo>
                    <a:pt x="20" y="5"/>
                  </a:lnTo>
                  <a:lnTo>
                    <a:pt x="18" y="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4503738" y="4578350"/>
              <a:ext cx="104775" cy="134938"/>
            </a:xfrm>
            <a:custGeom>
              <a:rect b="b" l="l" r="r" t="t"/>
              <a:pathLst>
                <a:path extrusionOk="0" h="85" w="66">
                  <a:moveTo>
                    <a:pt x="62" y="10"/>
                  </a:moveTo>
                  <a:lnTo>
                    <a:pt x="62" y="10"/>
                  </a:lnTo>
                  <a:lnTo>
                    <a:pt x="57" y="27"/>
                  </a:lnTo>
                  <a:lnTo>
                    <a:pt x="52" y="41"/>
                  </a:lnTo>
                  <a:lnTo>
                    <a:pt x="44" y="54"/>
                  </a:lnTo>
                  <a:lnTo>
                    <a:pt x="37" y="63"/>
                  </a:lnTo>
                  <a:lnTo>
                    <a:pt x="29" y="72"/>
                  </a:lnTo>
                  <a:lnTo>
                    <a:pt x="20" y="77"/>
                  </a:lnTo>
                  <a:lnTo>
                    <a:pt x="10" y="82"/>
                  </a:lnTo>
                  <a:lnTo>
                    <a:pt x="0" y="85"/>
                  </a:lnTo>
                  <a:lnTo>
                    <a:pt x="0" y="85"/>
                  </a:lnTo>
                  <a:lnTo>
                    <a:pt x="11" y="74"/>
                  </a:lnTo>
                  <a:lnTo>
                    <a:pt x="20" y="64"/>
                  </a:lnTo>
                  <a:lnTo>
                    <a:pt x="27" y="55"/>
                  </a:lnTo>
                  <a:lnTo>
                    <a:pt x="33" y="45"/>
                  </a:lnTo>
                  <a:lnTo>
                    <a:pt x="36" y="36"/>
                  </a:lnTo>
                  <a:lnTo>
                    <a:pt x="39" y="24"/>
                  </a:lnTo>
                  <a:lnTo>
                    <a:pt x="44" y="0"/>
                  </a:lnTo>
                  <a:lnTo>
                    <a:pt x="66" y="6"/>
                  </a:lnTo>
                  <a:lnTo>
                    <a:pt x="62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4584700" y="4630738"/>
              <a:ext cx="98425" cy="90488"/>
            </a:xfrm>
            <a:custGeom>
              <a:rect b="b" l="l" r="r" t="t"/>
              <a:pathLst>
                <a:path extrusionOk="0" h="57" w="62">
                  <a:moveTo>
                    <a:pt x="5" y="0"/>
                  </a:moveTo>
                  <a:lnTo>
                    <a:pt x="5" y="0"/>
                  </a:lnTo>
                  <a:lnTo>
                    <a:pt x="18" y="14"/>
                  </a:lnTo>
                  <a:lnTo>
                    <a:pt x="32" y="26"/>
                  </a:lnTo>
                  <a:lnTo>
                    <a:pt x="46" y="35"/>
                  </a:lnTo>
                  <a:lnTo>
                    <a:pt x="62" y="42"/>
                  </a:lnTo>
                  <a:lnTo>
                    <a:pt x="52" y="57"/>
                  </a:lnTo>
                  <a:lnTo>
                    <a:pt x="52" y="57"/>
                  </a:lnTo>
                  <a:lnTo>
                    <a:pt x="36" y="48"/>
                  </a:lnTo>
                  <a:lnTo>
                    <a:pt x="30" y="42"/>
                  </a:lnTo>
                  <a:lnTo>
                    <a:pt x="23" y="37"/>
                  </a:lnTo>
                  <a:lnTo>
                    <a:pt x="17" y="29"/>
                  </a:lnTo>
                  <a:lnTo>
                    <a:pt x="11" y="22"/>
                  </a:lnTo>
                  <a:lnTo>
                    <a:pt x="5" y="13"/>
                  </a:lnTo>
                  <a:lnTo>
                    <a:pt x="0" y="3"/>
                  </a:lnTo>
                  <a:lnTo>
                    <a:pt x="1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4519613" y="4586288"/>
              <a:ext cx="38100" cy="36513"/>
            </a:xfrm>
            <a:custGeom>
              <a:rect b="b" l="l" r="r" t="t"/>
              <a:pathLst>
                <a:path extrusionOk="0" h="23" w="24">
                  <a:moveTo>
                    <a:pt x="0" y="0"/>
                  </a:moveTo>
                  <a:lnTo>
                    <a:pt x="0" y="0"/>
                  </a:lnTo>
                  <a:lnTo>
                    <a:pt x="8" y="2"/>
                  </a:lnTo>
                  <a:lnTo>
                    <a:pt x="14" y="4"/>
                  </a:lnTo>
                  <a:lnTo>
                    <a:pt x="19" y="8"/>
                  </a:lnTo>
                  <a:lnTo>
                    <a:pt x="22" y="12"/>
                  </a:lnTo>
                  <a:lnTo>
                    <a:pt x="22" y="12"/>
                  </a:lnTo>
                  <a:lnTo>
                    <a:pt x="24" y="18"/>
                  </a:lnTo>
                  <a:lnTo>
                    <a:pt x="23" y="23"/>
                  </a:lnTo>
                  <a:lnTo>
                    <a:pt x="11" y="23"/>
                  </a:lnTo>
                  <a:lnTo>
                    <a:pt x="11" y="23"/>
                  </a:lnTo>
                  <a:lnTo>
                    <a:pt x="9" y="19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6" y="7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4300538" y="4695825"/>
              <a:ext cx="66675" cy="61913"/>
            </a:xfrm>
            <a:custGeom>
              <a:rect b="b" l="l" r="r" t="t"/>
              <a:pathLst>
                <a:path extrusionOk="0" h="39" w="42">
                  <a:moveTo>
                    <a:pt x="34" y="0"/>
                  </a:moveTo>
                  <a:lnTo>
                    <a:pt x="26" y="5"/>
                  </a:lnTo>
                  <a:lnTo>
                    <a:pt x="13" y="5"/>
                  </a:lnTo>
                  <a:lnTo>
                    <a:pt x="0" y="2"/>
                  </a:lnTo>
                  <a:lnTo>
                    <a:pt x="0" y="39"/>
                  </a:lnTo>
                  <a:lnTo>
                    <a:pt x="13" y="39"/>
                  </a:lnTo>
                  <a:lnTo>
                    <a:pt x="13" y="35"/>
                  </a:lnTo>
                  <a:lnTo>
                    <a:pt x="27" y="35"/>
                  </a:lnTo>
                  <a:lnTo>
                    <a:pt x="27" y="39"/>
                  </a:lnTo>
                  <a:lnTo>
                    <a:pt x="40" y="39"/>
                  </a:lnTo>
                  <a:lnTo>
                    <a:pt x="40" y="10"/>
                  </a:lnTo>
                  <a:lnTo>
                    <a:pt x="42" y="7"/>
                  </a:lnTo>
                  <a:lnTo>
                    <a:pt x="34" y="0"/>
                  </a:lnTo>
                  <a:close/>
                  <a:moveTo>
                    <a:pt x="27" y="27"/>
                  </a:moveTo>
                  <a:lnTo>
                    <a:pt x="13" y="27"/>
                  </a:lnTo>
                  <a:lnTo>
                    <a:pt x="13" y="14"/>
                  </a:lnTo>
                  <a:lnTo>
                    <a:pt x="27" y="14"/>
                  </a:lnTo>
                  <a:lnTo>
                    <a:pt x="27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4365625" y="4575175"/>
              <a:ext cx="74612" cy="73025"/>
            </a:xfrm>
            <a:custGeom>
              <a:rect b="b" l="l" r="r" t="t"/>
              <a:pathLst>
                <a:path extrusionOk="0" h="46" w="47">
                  <a:moveTo>
                    <a:pt x="42" y="11"/>
                  </a:moveTo>
                  <a:lnTo>
                    <a:pt x="42" y="11"/>
                  </a:lnTo>
                  <a:lnTo>
                    <a:pt x="31" y="24"/>
                  </a:lnTo>
                  <a:lnTo>
                    <a:pt x="21" y="33"/>
                  </a:lnTo>
                  <a:lnTo>
                    <a:pt x="11" y="41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10" y="37"/>
                  </a:lnTo>
                  <a:lnTo>
                    <a:pt x="17" y="25"/>
                  </a:lnTo>
                  <a:lnTo>
                    <a:pt x="24" y="13"/>
                  </a:lnTo>
                  <a:lnTo>
                    <a:pt x="29" y="0"/>
                  </a:lnTo>
                  <a:lnTo>
                    <a:pt x="47" y="7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4416425" y="4598988"/>
              <a:ext cx="63500" cy="50800"/>
            </a:xfrm>
            <a:custGeom>
              <a:rect b="b" l="l" r="r" t="t"/>
              <a:pathLst>
                <a:path extrusionOk="0" h="32" w="40">
                  <a:moveTo>
                    <a:pt x="4" y="0"/>
                  </a:moveTo>
                  <a:lnTo>
                    <a:pt x="4" y="0"/>
                  </a:lnTo>
                  <a:lnTo>
                    <a:pt x="13" y="8"/>
                  </a:lnTo>
                  <a:lnTo>
                    <a:pt x="21" y="13"/>
                  </a:lnTo>
                  <a:lnTo>
                    <a:pt x="31" y="16"/>
                  </a:lnTo>
                  <a:lnTo>
                    <a:pt x="40" y="18"/>
                  </a:lnTo>
                  <a:lnTo>
                    <a:pt x="32" y="32"/>
                  </a:lnTo>
                  <a:lnTo>
                    <a:pt x="32" y="32"/>
                  </a:lnTo>
                  <a:lnTo>
                    <a:pt x="23" y="27"/>
                  </a:lnTo>
                  <a:lnTo>
                    <a:pt x="14" y="20"/>
                  </a:lnTo>
                  <a:lnTo>
                    <a:pt x="7" y="13"/>
                  </a:lnTo>
                  <a:lnTo>
                    <a:pt x="0" y="5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4367213" y="4605338"/>
              <a:ext cx="25400" cy="23813"/>
            </a:xfrm>
            <a:custGeom>
              <a:rect b="b" l="l" r="r" t="t"/>
              <a:pathLst>
                <a:path extrusionOk="0" h="15" w="16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9" y="1"/>
                  </a:lnTo>
                  <a:lnTo>
                    <a:pt x="13" y="4"/>
                  </a:lnTo>
                  <a:lnTo>
                    <a:pt x="16" y="6"/>
                  </a:lnTo>
                  <a:lnTo>
                    <a:pt x="10" y="15"/>
                  </a:lnTo>
                  <a:lnTo>
                    <a:pt x="10" y="15"/>
                  </a:lnTo>
                  <a:lnTo>
                    <a:pt x="8" y="12"/>
                  </a:lnTo>
                  <a:lnTo>
                    <a:pt x="6" y="8"/>
                  </a:lnTo>
                  <a:lnTo>
                    <a:pt x="6" y="8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4378325" y="4659313"/>
              <a:ext cx="88900" cy="50800"/>
            </a:xfrm>
            <a:custGeom>
              <a:rect b="b" l="l" r="r" t="t"/>
              <a:pathLst>
                <a:path extrusionOk="0" h="32" w="56">
                  <a:moveTo>
                    <a:pt x="45" y="0"/>
                  </a:moveTo>
                  <a:lnTo>
                    <a:pt x="38" y="6"/>
                  </a:lnTo>
                  <a:lnTo>
                    <a:pt x="17" y="6"/>
                  </a:lnTo>
                  <a:lnTo>
                    <a:pt x="0" y="3"/>
                  </a:lnTo>
                  <a:lnTo>
                    <a:pt x="0" y="32"/>
                  </a:lnTo>
                  <a:lnTo>
                    <a:pt x="16" y="32"/>
                  </a:lnTo>
                  <a:lnTo>
                    <a:pt x="16" y="28"/>
                  </a:lnTo>
                  <a:lnTo>
                    <a:pt x="38" y="28"/>
                  </a:lnTo>
                  <a:lnTo>
                    <a:pt x="38" y="32"/>
                  </a:lnTo>
                  <a:lnTo>
                    <a:pt x="54" y="32"/>
                  </a:lnTo>
                  <a:lnTo>
                    <a:pt x="54" y="10"/>
                  </a:lnTo>
                  <a:lnTo>
                    <a:pt x="56" y="6"/>
                  </a:lnTo>
                  <a:lnTo>
                    <a:pt x="45" y="0"/>
                  </a:lnTo>
                  <a:close/>
                  <a:moveTo>
                    <a:pt x="38" y="22"/>
                  </a:moveTo>
                  <a:lnTo>
                    <a:pt x="16" y="22"/>
                  </a:lnTo>
                  <a:lnTo>
                    <a:pt x="16" y="12"/>
                  </a:lnTo>
                  <a:lnTo>
                    <a:pt x="38" y="12"/>
                  </a:lnTo>
                  <a:lnTo>
                    <a:pt x="38" y="2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4421188" y="4703763"/>
              <a:ext cx="41275" cy="41275"/>
            </a:xfrm>
            <a:custGeom>
              <a:rect b="b" l="l" r="r" t="t"/>
              <a:pathLst>
                <a:path extrusionOk="0" h="26" w="26">
                  <a:moveTo>
                    <a:pt x="26" y="11"/>
                  </a:moveTo>
                  <a:lnTo>
                    <a:pt x="11" y="0"/>
                  </a:lnTo>
                  <a:lnTo>
                    <a:pt x="11" y="0"/>
                  </a:lnTo>
                  <a:lnTo>
                    <a:pt x="7" y="14"/>
                  </a:lnTo>
                  <a:lnTo>
                    <a:pt x="4" y="20"/>
                  </a:lnTo>
                  <a:lnTo>
                    <a:pt x="0" y="25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15" y="20"/>
                  </a:lnTo>
                  <a:lnTo>
                    <a:pt x="26" y="11"/>
                  </a:lnTo>
                  <a:lnTo>
                    <a:pt x="26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4376738" y="4710113"/>
              <a:ext cx="34925" cy="38100"/>
            </a:xfrm>
            <a:custGeom>
              <a:rect b="b" l="l" r="r" t="t"/>
              <a:pathLst>
                <a:path extrusionOk="0" h="24" w="22">
                  <a:moveTo>
                    <a:pt x="0" y="0"/>
                  </a:moveTo>
                  <a:lnTo>
                    <a:pt x="0" y="0"/>
                  </a:lnTo>
                  <a:lnTo>
                    <a:pt x="8" y="1"/>
                  </a:lnTo>
                  <a:lnTo>
                    <a:pt x="13" y="4"/>
                  </a:lnTo>
                  <a:lnTo>
                    <a:pt x="19" y="8"/>
                  </a:lnTo>
                  <a:lnTo>
                    <a:pt x="21" y="14"/>
                  </a:lnTo>
                  <a:lnTo>
                    <a:pt x="21" y="14"/>
                  </a:lnTo>
                  <a:lnTo>
                    <a:pt x="22" y="18"/>
                  </a:lnTo>
                  <a:lnTo>
                    <a:pt x="21" y="21"/>
                  </a:lnTo>
                  <a:lnTo>
                    <a:pt x="19" y="23"/>
                  </a:lnTo>
                  <a:lnTo>
                    <a:pt x="14" y="24"/>
                  </a:lnTo>
                  <a:lnTo>
                    <a:pt x="14" y="24"/>
                  </a:lnTo>
                  <a:lnTo>
                    <a:pt x="12" y="23"/>
                  </a:lnTo>
                  <a:lnTo>
                    <a:pt x="11" y="21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5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4195763" y="4578350"/>
              <a:ext cx="53975" cy="179388"/>
            </a:xfrm>
            <a:custGeom>
              <a:rect b="b" l="l" r="r" t="t"/>
              <a:pathLst>
                <a:path extrusionOk="0" h="113" w="34">
                  <a:moveTo>
                    <a:pt x="14" y="91"/>
                  </a:moveTo>
                  <a:lnTo>
                    <a:pt x="14" y="0"/>
                  </a:lnTo>
                  <a:lnTo>
                    <a:pt x="34" y="6"/>
                  </a:lnTo>
                  <a:lnTo>
                    <a:pt x="31" y="10"/>
                  </a:lnTo>
                  <a:lnTo>
                    <a:pt x="31" y="98"/>
                  </a:lnTo>
                  <a:lnTo>
                    <a:pt x="31" y="98"/>
                  </a:lnTo>
                  <a:lnTo>
                    <a:pt x="30" y="101"/>
                  </a:lnTo>
                  <a:lnTo>
                    <a:pt x="30" y="103"/>
                  </a:lnTo>
                  <a:lnTo>
                    <a:pt x="26" y="108"/>
                  </a:lnTo>
                  <a:lnTo>
                    <a:pt x="22" y="112"/>
                  </a:lnTo>
                  <a:lnTo>
                    <a:pt x="15" y="113"/>
                  </a:lnTo>
                  <a:lnTo>
                    <a:pt x="8" y="113"/>
                  </a:lnTo>
                  <a:lnTo>
                    <a:pt x="8" y="113"/>
                  </a:lnTo>
                  <a:lnTo>
                    <a:pt x="7" y="108"/>
                  </a:lnTo>
                  <a:lnTo>
                    <a:pt x="7" y="108"/>
                  </a:lnTo>
                  <a:lnTo>
                    <a:pt x="5" y="103"/>
                  </a:lnTo>
                  <a:lnTo>
                    <a:pt x="0" y="97"/>
                  </a:lnTo>
                  <a:lnTo>
                    <a:pt x="10" y="97"/>
                  </a:lnTo>
                  <a:lnTo>
                    <a:pt x="10" y="97"/>
                  </a:lnTo>
                  <a:lnTo>
                    <a:pt x="12" y="96"/>
                  </a:lnTo>
                  <a:lnTo>
                    <a:pt x="13" y="96"/>
                  </a:lnTo>
                  <a:lnTo>
                    <a:pt x="14" y="93"/>
                  </a:lnTo>
                  <a:lnTo>
                    <a:pt x="14" y="91"/>
                  </a:lnTo>
                  <a:lnTo>
                    <a:pt x="14" y="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3984625" y="4672013"/>
              <a:ext cx="44450" cy="85725"/>
            </a:xfrm>
            <a:custGeom>
              <a:rect b="b" l="l" r="r" t="t"/>
              <a:pathLst>
                <a:path extrusionOk="0" h="54" w="28">
                  <a:moveTo>
                    <a:pt x="28" y="4"/>
                  </a:moveTo>
                  <a:lnTo>
                    <a:pt x="28" y="39"/>
                  </a:lnTo>
                  <a:lnTo>
                    <a:pt x="28" y="39"/>
                  </a:lnTo>
                  <a:lnTo>
                    <a:pt x="27" y="45"/>
                  </a:lnTo>
                  <a:lnTo>
                    <a:pt x="25" y="49"/>
                  </a:lnTo>
                  <a:lnTo>
                    <a:pt x="20" y="53"/>
                  </a:lnTo>
                  <a:lnTo>
                    <a:pt x="15" y="54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6" y="49"/>
                  </a:lnTo>
                  <a:lnTo>
                    <a:pt x="6" y="49"/>
                  </a:lnTo>
                  <a:lnTo>
                    <a:pt x="3" y="44"/>
                  </a:lnTo>
                  <a:lnTo>
                    <a:pt x="0" y="38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11" y="37"/>
                  </a:lnTo>
                  <a:lnTo>
                    <a:pt x="12" y="37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3" y="0"/>
                  </a:lnTo>
                  <a:lnTo>
                    <a:pt x="28" y="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3990975" y="4605338"/>
              <a:ext cx="39687" cy="49213"/>
            </a:xfrm>
            <a:custGeom>
              <a:rect b="b" l="l" r="r" t="t"/>
              <a:pathLst>
                <a:path extrusionOk="0" h="31" w="25">
                  <a:moveTo>
                    <a:pt x="0" y="0"/>
                  </a:moveTo>
                  <a:lnTo>
                    <a:pt x="0" y="0"/>
                  </a:lnTo>
                  <a:lnTo>
                    <a:pt x="7" y="3"/>
                  </a:lnTo>
                  <a:lnTo>
                    <a:pt x="13" y="6"/>
                  </a:lnTo>
                  <a:lnTo>
                    <a:pt x="18" y="11"/>
                  </a:lnTo>
                  <a:lnTo>
                    <a:pt x="22" y="15"/>
                  </a:lnTo>
                  <a:lnTo>
                    <a:pt x="22" y="15"/>
                  </a:lnTo>
                  <a:lnTo>
                    <a:pt x="24" y="21"/>
                  </a:lnTo>
                  <a:lnTo>
                    <a:pt x="25" y="25"/>
                  </a:lnTo>
                  <a:lnTo>
                    <a:pt x="24" y="28"/>
                  </a:lnTo>
                  <a:lnTo>
                    <a:pt x="22" y="31"/>
                  </a:lnTo>
                  <a:lnTo>
                    <a:pt x="13" y="31"/>
                  </a:lnTo>
                  <a:lnTo>
                    <a:pt x="13" y="31"/>
                  </a:lnTo>
                  <a:lnTo>
                    <a:pt x="11" y="27"/>
                  </a:lnTo>
                  <a:lnTo>
                    <a:pt x="9" y="24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7" y="11"/>
                  </a:lnTo>
                  <a:lnTo>
                    <a:pt x="5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3886200" y="4713288"/>
              <a:ext cx="103187" cy="42863"/>
            </a:xfrm>
            <a:custGeom>
              <a:rect b="b" l="l" r="r" t="t"/>
              <a:pathLst>
                <a:path extrusionOk="0" h="27" w="65">
                  <a:moveTo>
                    <a:pt x="0" y="11"/>
                  </a:moveTo>
                  <a:lnTo>
                    <a:pt x="7" y="27"/>
                  </a:lnTo>
                  <a:lnTo>
                    <a:pt x="7" y="27"/>
                  </a:lnTo>
                  <a:lnTo>
                    <a:pt x="23" y="22"/>
                  </a:lnTo>
                  <a:lnTo>
                    <a:pt x="38" y="16"/>
                  </a:lnTo>
                  <a:lnTo>
                    <a:pt x="51" y="8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32" y="6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3890963" y="4576763"/>
              <a:ext cx="92075" cy="155575"/>
            </a:xfrm>
            <a:custGeom>
              <a:rect b="b" l="l" r="r" t="t"/>
              <a:pathLst>
                <a:path extrusionOk="0" h="98" w="58">
                  <a:moveTo>
                    <a:pt x="47" y="0"/>
                  </a:moveTo>
                  <a:lnTo>
                    <a:pt x="41" y="6"/>
                  </a:lnTo>
                  <a:lnTo>
                    <a:pt x="15" y="6"/>
                  </a:lnTo>
                  <a:lnTo>
                    <a:pt x="0" y="2"/>
                  </a:lnTo>
                  <a:lnTo>
                    <a:pt x="0" y="58"/>
                  </a:lnTo>
                  <a:lnTo>
                    <a:pt x="14" y="58"/>
                  </a:lnTo>
                  <a:lnTo>
                    <a:pt x="14" y="56"/>
                  </a:lnTo>
                  <a:lnTo>
                    <a:pt x="21" y="56"/>
                  </a:lnTo>
                  <a:lnTo>
                    <a:pt x="21" y="71"/>
                  </a:lnTo>
                  <a:lnTo>
                    <a:pt x="21" y="98"/>
                  </a:lnTo>
                  <a:lnTo>
                    <a:pt x="35" y="93"/>
                  </a:lnTo>
                  <a:lnTo>
                    <a:pt x="35" y="56"/>
                  </a:lnTo>
                  <a:lnTo>
                    <a:pt x="41" y="56"/>
                  </a:lnTo>
                  <a:lnTo>
                    <a:pt x="41" y="58"/>
                  </a:lnTo>
                  <a:lnTo>
                    <a:pt x="55" y="58"/>
                  </a:lnTo>
                  <a:lnTo>
                    <a:pt x="55" y="12"/>
                  </a:lnTo>
                  <a:lnTo>
                    <a:pt x="58" y="7"/>
                  </a:lnTo>
                  <a:lnTo>
                    <a:pt x="47" y="0"/>
                  </a:lnTo>
                  <a:close/>
                  <a:moveTo>
                    <a:pt x="21" y="47"/>
                  </a:moveTo>
                  <a:lnTo>
                    <a:pt x="14" y="47"/>
                  </a:lnTo>
                  <a:lnTo>
                    <a:pt x="14" y="34"/>
                  </a:lnTo>
                  <a:lnTo>
                    <a:pt x="21" y="34"/>
                  </a:lnTo>
                  <a:lnTo>
                    <a:pt x="21" y="47"/>
                  </a:lnTo>
                  <a:close/>
                  <a:moveTo>
                    <a:pt x="21" y="27"/>
                  </a:moveTo>
                  <a:lnTo>
                    <a:pt x="14" y="27"/>
                  </a:lnTo>
                  <a:lnTo>
                    <a:pt x="14" y="14"/>
                  </a:lnTo>
                  <a:lnTo>
                    <a:pt x="21" y="14"/>
                  </a:lnTo>
                  <a:lnTo>
                    <a:pt x="21" y="27"/>
                  </a:lnTo>
                  <a:close/>
                  <a:moveTo>
                    <a:pt x="41" y="47"/>
                  </a:moveTo>
                  <a:lnTo>
                    <a:pt x="35" y="47"/>
                  </a:lnTo>
                  <a:lnTo>
                    <a:pt x="35" y="34"/>
                  </a:lnTo>
                  <a:lnTo>
                    <a:pt x="41" y="34"/>
                  </a:lnTo>
                  <a:lnTo>
                    <a:pt x="41" y="47"/>
                  </a:lnTo>
                  <a:close/>
                  <a:moveTo>
                    <a:pt x="41" y="27"/>
                  </a:moveTo>
                  <a:lnTo>
                    <a:pt x="35" y="27"/>
                  </a:lnTo>
                  <a:lnTo>
                    <a:pt x="35" y="14"/>
                  </a:lnTo>
                  <a:lnTo>
                    <a:pt x="41" y="14"/>
                  </a:lnTo>
                  <a:lnTo>
                    <a:pt x="41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mura Standard Part Image Cover" showMasterSp="0">
  <p:cSld name="Nomura Standard Part Image Cover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Europe\Data\Creative_Media\02001-03000\02154 Landor Project\PowerPoint Template\Assets\200339868_PPT.jpg" id="217" name="Google Shape;217;p8"/>
          <p:cNvPicPr preferRelativeResize="0"/>
          <p:nvPr/>
        </p:nvPicPr>
        <p:blipFill rotWithShape="1">
          <a:blip r:embed="rId2">
            <a:alphaModFix/>
          </a:blip>
          <a:srcRect b="7581" l="0" r="0" t="0"/>
          <a:stretch/>
        </p:blipFill>
        <p:spPr>
          <a:xfrm>
            <a:off x="1" y="0"/>
            <a:ext cx="3919070" cy="251424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8"/>
          <p:cNvSpPr txBox="1"/>
          <p:nvPr>
            <p:ph idx="1" type="body"/>
          </p:nvPr>
        </p:nvSpPr>
        <p:spPr>
          <a:xfrm>
            <a:off x="266400" y="3888000"/>
            <a:ext cx="72000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9" name="Google Shape;219;p8"/>
          <p:cNvSpPr txBox="1"/>
          <p:nvPr>
            <p:ph type="title"/>
          </p:nvPr>
        </p:nvSpPr>
        <p:spPr>
          <a:xfrm>
            <a:off x="266400" y="2880000"/>
            <a:ext cx="7200000" cy="85895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0" name="Google Shape;220;p8"/>
          <p:cNvSpPr txBox="1"/>
          <p:nvPr>
            <p:ph idx="2" type="body"/>
          </p:nvPr>
        </p:nvSpPr>
        <p:spPr>
          <a:xfrm>
            <a:off x="266400" y="6453336"/>
            <a:ext cx="3960440" cy="239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1" name="Google Shape;221;p8"/>
          <p:cNvSpPr txBox="1"/>
          <p:nvPr>
            <p:ph idx="3" type="body"/>
          </p:nvPr>
        </p:nvSpPr>
        <p:spPr>
          <a:xfrm>
            <a:off x="7164466" y="4869160"/>
            <a:ext cx="2448272" cy="122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spcBef>
                <a:spcPts val="5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2" name="Google Shape;222;p8"/>
          <p:cNvSpPr txBox="1"/>
          <p:nvPr/>
        </p:nvSpPr>
        <p:spPr>
          <a:xfrm>
            <a:off x="7374363" y="6315223"/>
            <a:ext cx="2238375" cy="1381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PRIVATE AND CONFIDENTIAL</a:t>
            </a:r>
            <a:endParaRPr/>
          </a:p>
        </p:txBody>
      </p:sp>
      <p:sp>
        <p:nvSpPr>
          <p:cNvPr id="223" name="Google Shape;223;p8"/>
          <p:cNvSpPr txBox="1"/>
          <p:nvPr>
            <p:ph idx="4" type="body"/>
          </p:nvPr>
        </p:nvSpPr>
        <p:spPr>
          <a:xfrm>
            <a:off x="266400" y="4869160"/>
            <a:ext cx="3960440" cy="792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0830" lvl="1" marL="914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4" name="Google Shape;224;p8"/>
          <p:cNvSpPr txBox="1"/>
          <p:nvPr>
            <p:ph idx="5" type="body"/>
          </p:nvPr>
        </p:nvSpPr>
        <p:spPr>
          <a:xfrm>
            <a:off x="266400" y="5821288"/>
            <a:ext cx="3960440" cy="472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0830" lvl="1" marL="914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5" name="Google Shape;225;p8"/>
          <p:cNvSpPr txBox="1"/>
          <p:nvPr/>
        </p:nvSpPr>
        <p:spPr>
          <a:xfrm>
            <a:off x="9085350" y="6577299"/>
            <a:ext cx="52738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Nomura</a:t>
            </a:r>
            <a:endParaRPr/>
          </a:p>
        </p:txBody>
      </p:sp>
      <p:grpSp>
        <p:nvGrpSpPr>
          <p:cNvPr id="226" name="Google Shape;226;p8"/>
          <p:cNvGrpSpPr/>
          <p:nvPr/>
        </p:nvGrpSpPr>
        <p:grpSpPr>
          <a:xfrm>
            <a:off x="2606208" y="-10800"/>
            <a:ext cx="7299545" cy="2525713"/>
            <a:chOff x="2606208" y="-12700"/>
            <a:chExt cx="7299545" cy="2525713"/>
          </a:xfrm>
        </p:grpSpPr>
        <p:sp>
          <p:nvSpPr>
            <p:cNvPr id="227" name="Google Shape;227;p8"/>
            <p:cNvSpPr/>
            <p:nvPr/>
          </p:nvSpPr>
          <p:spPr>
            <a:xfrm>
              <a:off x="2628433" y="-12700"/>
              <a:ext cx="2370138" cy="2509838"/>
            </a:xfrm>
            <a:custGeom>
              <a:rect b="b" l="l" r="r" t="t"/>
              <a:pathLst>
                <a:path extrusionOk="0" h="1581" w="1493">
                  <a:moveTo>
                    <a:pt x="1493" y="0"/>
                  </a:moveTo>
                  <a:lnTo>
                    <a:pt x="663" y="0"/>
                  </a:lnTo>
                  <a:lnTo>
                    <a:pt x="0" y="1581"/>
                  </a:lnTo>
                  <a:lnTo>
                    <a:pt x="832" y="1581"/>
                  </a:lnTo>
                  <a:lnTo>
                    <a:pt x="14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6330482" y="-3175"/>
              <a:ext cx="3575271" cy="2516188"/>
            </a:xfrm>
            <a:custGeom>
              <a:rect b="b" l="l" r="r" t="t"/>
              <a:pathLst>
                <a:path extrusionOk="0" h="10000" w="10000">
                  <a:moveTo>
                    <a:pt x="0" y="3129"/>
                  </a:moveTo>
                  <a:lnTo>
                    <a:pt x="2144" y="10000"/>
                  </a:lnTo>
                  <a:lnTo>
                    <a:pt x="10000" y="10000"/>
                  </a:lnTo>
                  <a:lnTo>
                    <a:pt x="10000" y="0"/>
                  </a:lnTo>
                  <a:lnTo>
                    <a:pt x="951" y="0"/>
                  </a:lnTo>
                  <a:lnTo>
                    <a:pt x="0" y="3129"/>
                  </a:lnTo>
                  <a:close/>
                </a:path>
              </a:pathLst>
            </a:custGeom>
            <a:solidFill>
              <a:srgbClr val="CA242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5824071" y="1169988"/>
              <a:ext cx="963613" cy="1343025"/>
            </a:xfrm>
            <a:custGeom>
              <a:rect b="b" l="l" r="r" t="t"/>
              <a:pathLst>
                <a:path extrusionOk="0" h="846" w="607">
                  <a:moveTo>
                    <a:pt x="135" y="846"/>
                  </a:moveTo>
                  <a:lnTo>
                    <a:pt x="607" y="846"/>
                  </a:lnTo>
                  <a:lnTo>
                    <a:pt x="230" y="0"/>
                  </a:lnTo>
                  <a:lnTo>
                    <a:pt x="0" y="532"/>
                  </a:lnTo>
                  <a:lnTo>
                    <a:pt x="135" y="846"/>
                  </a:lnTo>
                  <a:close/>
                </a:path>
              </a:pathLst>
            </a:custGeom>
            <a:solidFill>
              <a:srgbClr val="CA242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4595346" y="827088"/>
              <a:ext cx="1241425" cy="1685925"/>
            </a:xfrm>
            <a:custGeom>
              <a:rect b="b" l="l" r="r" t="t"/>
              <a:pathLst>
                <a:path extrusionOk="0" h="1062" w="782">
                  <a:moveTo>
                    <a:pt x="0" y="1062"/>
                  </a:moveTo>
                  <a:lnTo>
                    <a:pt x="647" y="1062"/>
                  </a:lnTo>
                  <a:lnTo>
                    <a:pt x="782" y="748"/>
                  </a:lnTo>
                  <a:lnTo>
                    <a:pt x="459" y="0"/>
                  </a:lnTo>
                  <a:lnTo>
                    <a:pt x="0" y="1062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5663733" y="-3175"/>
              <a:ext cx="685800" cy="1173163"/>
            </a:xfrm>
            <a:custGeom>
              <a:rect b="b" l="l" r="r" t="t"/>
              <a:pathLst>
                <a:path extrusionOk="0" h="739" w="432">
                  <a:moveTo>
                    <a:pt x="0" y="0"/>
                  </a:moveTo>
                  <a:lnTo>
                    <a:pt x="0" y="0"/>
                  </a:lnTo>
                  <a:lnTo>
                    <a:pt x="327" y="739"/>
                  </a:lnTo>
                  <a:lnTo>
                    <a:pt x="432" y="496"/>
                  </a:lnTo>
                  <a:lnTo>
                    <a:pt x="2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5987583" y="-3175"/>
              <a:ext cx="692150" cy="787400"/>
            </a:xfrm>
            <a:custGeom>
              <a:rect b="b" l="l" r="r" t="t"/>
              <a:pathLst>
                <a:path extrusionOk="0" h="496" w="436">
                  <a:moveTo>
                    <a:pt x="0" y="0"/>
                  </a:moveTo>
                  <a:lnTo>
                    <a:pt x="222" y="496"/>
                  </a:lnTo>
                  <a:lnTo>
                    <a:pt x="4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81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5314483" y="-3175"/>
              <a:ext cx="877888" cy="2017713"/>
            </a:xfrm>
            <a:custGeom>
              <a:rect b="b" l="l" r="r" t="t"/>
              <a:pathLst>
                <a:path extrusionOk="0" h="1271" w="553">
                  <a:moveTo>
                    <a:pt x="0" y="523"/>
                  </a:moveTo>
                  <a:lnTo>
                    <a:pt x="323" y="1271"/>
                  </a:lnTo>
                  <a:lnTo>
                    <a:pt x="553" y="739"/>
                  </a:lnTo>
                  <a:lnTo>
                    <a:pt x="226" y="0"/>
                  </a:lnTo>
                  <a:lnTo>
                    <a:pt x="0" y="523"/>
                  </a:lnTo>
                  <a:close/>
                </a:path>
              </a:pathLst>
            </a:custGeom>
            <a:solidFill>
              <a:srgbClr val="AF1B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4965233" y="-3175"/>
              <a:ext cx="717550" cy="830263"/>
            </a:xfrm>
            <a:custGeom>
              <a:rect b="b" l="l" r="r" t="t"/>
              <a:pathLst>
                <a:path extrusionOk="0" h="523" w="452">
                  <a:moveTo>
                    <a:pt x="452" y="0"/>
                  </a:moveTo>
                  <a:lnTo>
                    <a:pt x="452" y="0"/>
                  </a:lnTo>
                  <a:lnTo>
                    <a:pt x="0" y="0"/>
                  </a:lnTo>
                  <a:lnTo>
                    <a:pt x="226" y="523"/>
                  </a:lnTo>
                  <a:lnTo>
                    <a:pt x="447" y="7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rgbClr val="A217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3919071" y="-3175"/>
              <a:ext cx="1414463" cy="2516188"/>
            </a:xfrm>
            <a:custGeom>
              <a:rect b="b" l="l" r="r" t="t"/>
              <a:pathLst>
                <a:path extrusionOk="0" h="1585" w="891">
                  <a:moveTo>
                    <a:pt x="667" y="7"/>
                  </a:moveTo>
                  <a:lnTo>
                    <a:pt x="665" y="0"/>
                  </a:lnTo>
                  <a:lnTo>
                    <a:pt x="0" y="1585"/>
                  </a:lnTo>
                  <a:lnTo>
                    <a:pt x="432" y="1585"/>
                  </a:lnTo>
                  <a:lnTo>
                    <a:pt x="891" y="523"/>
                  </a:lnTo>
                  <a:lnTo>
                    <a:pt x="667" y="7"/>
                  </a:lnTo>
                  <a:close/>
                </a:path>
              </a:pathLst>
            </a:custGeom>
            <a:solidFill>
              <a:srgbClr val="AF1B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2606208" y="-3175"/>
              <a:ext cx="2381250" cy="2516188"/>
            </a:xfrm>
            <a:custGeom>
              <a:rect b="b" l="l" r="r" t="t"/>
              <a:pathLst>
                <a:path extrusionOk="0" h="1585" w="1500">
                  <a:moveTo>
                    <a:pt x="667" y="0"/>
                  </a:moveTo>
                  <a:lnTo>
                    <a:pt x="0" y="1585"/>
                  </a:lnTo>
                  <a:lnTo>
                    <a:pt x="833" y="1585"/>
                  </a:lnTo>
                  <a:lnTo>
                    <a:pt x="1500" y="0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7" name="Google Shape;237;p8"/>
          <p:cNvGrpSpPr/>
          <p:nvPr/>
        </p:nvGrpSpPr>
        <p:grpSpPr>
          <a:xfrm>
            <a:off x="7786024" y="310690"/>
            <a:ext cx="1839368" cy="386336"/>
            <a:chOff x="7740649" y="378000"/>
            <a:chExt cx="1839368" cy="386336"/>
          </a:xfrm>
        </p:grpSpPr>
        <p:pic>
          <p:nvPicPr>
            <p:cNvPr descr="O:\Logo_Library\N\NOMURA\A4\NOMURA_A4_CMYK_WHITE.emf" id="238" name="Google Shape;238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19877" y="378000"/>
              <a:ext cx="1260140" cy="2160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8"/>
            <p:cNvSpPr txBox="1"/>
            <p:nvPr/>
          </p:nvSpPr>
          <p:spPr>
            <a:xfrm>
              <a:off x="7740649" y="625837"/>
              <a:ext cx="1809115" cy="138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ja-JP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Connecting</a:t>
              </a:r>
              <a:r>
                <a:rPr i="1" lang="ja-JP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Markets East &amp; West</a:t>
              </a:r>
              <a:endParaRPr i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mura Standard Full Image Cover" showMasterSp="0">
  <p:cSld name="Nomura Standard Full Image Cov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Europe\Data\Creative_Media\02001-03000\02154 Landor Project\PowerPoint Template\Assets\200339868_PPT.jpg" id="241" name="Google Shape;24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57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9"/>
          <p:cNvSpPr txBox="1"/>
          <p:nvPr>
            <p:ph idx="1" type="body"/>
          </p:nvPr>
        </p:nvSpPr>
        <p:spPr>
          <a:xfrm>
            <a:off x="266400" y="3888000"/>
            <a:ext cx="72000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3" name="Google Shape;243;p9"/>
          <p:cNvSpPr txBox="1"/>
          <p:nvPr>
            <p:ph type="title"/>
          </p:nvPr>
        </p:nvSpPr>
        <p:spPr>
          <a:xfrm>
            <a:off x="266400" y="2880000"/>
            <a:ext cx="7200000" cy="85895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4" name="Google Shape;244;p9"/>
          <p:cNvSpPr txBox="1"/>
          <p:nvPr>
            <p:ph idx="2" type="body"/>
          </p:nvPr>
        </p:nvSpPr>
        <p:spPr>
          <a:xfrm>
            <a:off x="266400" y="6453336"/>
            <a:ext cx="3960440" cy="239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5" name="Google Shape;245;p9"/>
          <p:cNvSpPr txBox="1"/>
          <p:nvPr>
            <p:ph idx="3" type="body"/>
          </p:nvPr>
        </p:nvSpPr>
        <p:spPr>
          <a:xfrm>
            <a:off x="7164466" y="4869160"/>
            <a:ext cx="2448272" cy="122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spcBef>
                <a:spcPts val="5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6" name="Google Shape;246;p9"/>
          <p:cNvSpPr txBox="1"/>
          <p:nvPr/>
        </p:nvSpPr>
        <p:spPr>
          <a:xfrm>
            <a:off x="7374363" y="6315223"/>
            <a:ext cx="2238375" cy="1381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PRIVATE AND CONFIDENTIAL</a:t>
            </a:r>
            <a:endParaRPr/>
          </a:p>
        </p:txBody>
      </p:sp>
      <p:sp>
        <p:nvSpPr>
          <p:cNvPr id="247" name="Google Shape;247;p9"/>
          <p:cNvSpPr txBox="1"/>
          <p:nvPr>
            <p:ph idx="4" type="body"/>
          </p:nvPr>
        </p:nvSpPr>
        <p:spPr>
          <a:xfrm>
            <a:off x="266400" y="4869160"/>
            <a:ext cx="3960440" cy="792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0830" lvl="1" marL="914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8" name="Google Shape;248;p9"/>
          <p:cNvSpPr txBox="1"/>
          <p:nvPr>
            <p:ph idx="5" type="body"/>
          </p:nvPr>
        </p:nvSpPr>
        <p:spPr>
          <a:xfrm>
            <a:off x="266400" y="5821288"/>
            <a:ext cx="3960440" cy="472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0830" lvl="1" marL="914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Noto Sans Symbols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9" name="Google Shape;249;p9"/>
          <p:cNvSpPr txBox="1"/>
          <p:nvPr/>
        </p:nvSpPr>
        <p:spPr>
          <a:xfrm>
            <a:off x="9085350" y="6577299"/>
            <a:ext cx="52738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Nomura</a:t>
            </a:r>
            <a:endParaRPr/>
          </a:p>
        </p:txBody>
      </p:sp>
      <p:grpSp>
        <p:nvGrpSpPr>
          <p:cNvPr id="250" name="Google Shape;250;p9"/>
          <p:cNvGrpSpPr/>
          <p:nvPr/>
        </p:nvGrpSpPr>
        <p:grpSpPr>
          <a:xfrm>
            <a:off x="2606208" y="-7200"/>
            <a:ext cx="7299545" cy="2525713"/>
            <a:chOff x="2606208" y="0"/>
            <a:chExt cx="7299545" cy="2525713"/>
          </a:xfrm>
        </p:grpSpPr>
        <p:sp>
          <p:nvSpPr>
            <p:cNvPr id="251" name="Google Shape;251;p9"/>
            <p:cNvSpPr/>
            <p:nvPr/>
          </p:nvSpPr>
          <p:spPr>
            <a:xfrm>
              <a:off x="2628433" y="0"/>
              <a:ext cx="2370138" cy="2509838"/>
            </a:xfrm>
            <a:custGeom>
              <a:rect b="b" l="l" r="r" t="t"/>
              <a:pathLst>
                <a:path extrusionOk="0" h="1581" w="1493">
                  <a:moveTo>
                    <a:pt x="1493" y="0"/>
                  </a:moveTo>
                  <a:lnTo>
                    <a:pt x="663" y="0"/>
                  </a:lnTo>
                  <a:lnTo>
                    <a:pt x="0" y="1581"/>
                  </a:lnTo>
                  <a:lnTo>
                    <a:pt x="832" y="1581"/>
                  </a:lnTo>
                  <a:lnTo>
                    <a:pt x="149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9"/>
            <p:cNvSpPr/>
            <p:nvPr/>
          </p:nvSpPr>
          <p:spPr>
            <a:xfrm>
              <a:off x="6330482" y="9525"/>
              <a:ext cx="3575271" cy="2516188"/>
            </a:xfrm>
            <a:custGeom>
              <a:rect b="b" l="l" r="r" t="t"/>
              <a:pathLst>
                <a:path extrusionOk="0" h="10000" w="10000">
                  <a:moveTo>
                    <a:pt x="0" y="3129"/>
                  </a:moveTo>
                  <a:lnTo>
                    <a:pt x="2144" y="10000"/>
                  </a:lnTo>
                  <a:lnTo>
                    <a:pt x="10000" y="10000"/>
                  </a:lnTo>
                  <a:lnTo>
                    <a:pt x="10000" y="0"/>
                  </a:lnTo>
                  <a:lnTo>
                    <a:pt x="951" y="0"/>
                  </a:lnTo>
                  <a:lnTo>
                    <a:pt x="0" y="3129"/>
                  </a:lnTo>
                  <a:close/>
                </a:path>
              </a:pathLst>
            </a:custGeom>
            <a:solidFill>
              <a:srgbClr val="CA242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9"/>
            <p:cNvSpPr/>
            <p:nvPr/>
          </p:nvSpPr>
          <p:spPr>
            <a:xfrm>
              <a:off x="5824071" y="1182688"/>
              <a:ext cx="963613" cy="1343025"/>
            </a:xfrm>
            <a:custGeom>
              <a:rect b="b" l="l" r="r" t="t"/>
              <a:pathLst>
                <a:path extrusionOk="0" h="846" w="607">
                  <a:moveTo>
                    <a:pt x="135" y="846"/>
                  </a:moveTo>
                  <a:lnTo>
                    <a:pt x="607" y="846"/>
                  </a:lnTo>
                  <a:lnTo>
                    <a:pt x="230" y="0"/>
                  </a:lnTo>
                  <a:lnTo>
                    <a:pt x="0" y="532"/>
                  </a:lnTo>
                  <a:lnTo>
                    <a:pt x="135" y="846"/>
                  </a:lnTo>
                  <a:close/>
                </a:path>
              </a:pathLst>
            </a:custGeom>
            <a:solidFill>
              <a:srgbClr val="CA242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9"/>
            <p:cNvSpPr/>
            <p:nvPr/>
          </p:nvSpPr>
          <p:spPr>
            <a:xfrm>
              <a:off x="4595346" y="839788"/>
              <a:ext cx="1241425" cy="1685925"/>
            </a:xfrm>
            <a:custGeom>
              <a:rect b="b" l="l" r="r" t="t"/>
              <a:pathLst>
                <a:path extrusionOk="0" h="1062" w="782">
                  <a:moveTo>
                    <a:pt x="0" y="1062"/>
                  </a:moveTo>
                  <a:lnTo>
                    <a:pt x="647" y="1062"/>
                  </a:lnTo>
                  <a:lnTo>
                    <a:pt x="782" y="748"/>
                  </a:lnTo>
                  <a:lnTo>
                    <a:pt x="459" y="0"/>
                  </a:lnTo>
                  <a:lnTo>
                    <a:pt x="0" y="1062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9"/>
            <p:cNvSpPr/>
            <p:nvPr/>
          </p:nvSpPr>
          <p:spPr>
            <a:xfrm>
              <a:off x="5663733" y="9525"/>
              <a:ext cx="685800" cy="1173163"/>
            </a:xfrm>
            <a:custGeom>
              <a:rect b="b" l="l" r="r" t="t"/>
              <a:pathLst>
                <a:path extrusionOk="0" h="739" w="432">
                  <a:moveTo>
                    <a:pt x="0" y="0"/>
                  </a:moveTo>
                  <a:lnTo>
                    <a:pt x="0" y="0"/>
                  </a:lnTo>
                  <a:lnTo>
                    <a:pt x="327" y="739"/>
                  </a:lnTo>
                  <a:lnTo>
                    <a:pt x="432" y="496"/>
                  </a:lnTo>
                  <a:lnTo>
                    <a:pt x="2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9"/>
            <p:cNvSpPr/>
            <p:nvPr/>
          </p:nvSpPr>
          <p:spPr>
            <a:xfrm>
              <a:off x="5987583" y="9525"/>
              <a:ext cx="692150" cy="787400"/>
            </a:xfrm>
            <a:custGeom>
              <a:rect b="b" l="l" r="r" t="t"/>
              <a:pathLst>
                <a:path extrusionOk="0" h="496" w="436">
                  <a:moveTo>
                    <a:pt x="0" y="0"/>
                  </a:moveTo>
                  <a:lnTo>
                    <a:pt x="222" y="496"/>
                  </a:lnTo>
                  <a:lnTo>
                    <a:pt x="4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81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9"/>
            <p:cNvSpPr/>
            <p:nvPr/>
          </p:nvSpPr>
          <p:spPr>
            <a:xfrm>
              <a:off x="5314483" y="9525"/>
              <a:ext cx="877888" cy="2017713"/>
            </a:xfrm>
            <a:custGeom>
              <a:rect b="b" l="l" r="r" t="t"/>
              <a:pathLst>
                <a:path extrusionOk="0" h="1271" w="553">
                  <a:moveTo>
                    <a:pt x="0" y="523"/>
                  </a:moveTo>
                  <a:lnTo>
                    <a:pt x="323" y="1271"/>
                  </a:lnTo>
                  <a:lnTo>
                    <a:pt x="553" y="739"/>
                  </a:lnTo>
                  <a:lnTo>
                    <a:pt x="226" y="0"/>
                  </a:lnTo>
                  <a:lnTo>
                    <a:pt x="0" y="523"/>
                  </a:lnTo>
                  <a:close/>
                </a:path>
              </a:pathLst>
            </a:custGeom>
            <a:solidFill>
              <a:srgbClr val="AF1B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9"/>
            <p:cNvSpPr/>
            <p:nvPr/>
          </p:nvSpPr>
          <p:spPr>
            <a:xfrm>
              <a:off x="4965233" y="9525"/>
              <a:ext cx="717550" cy="830263"/>
            </a:xfrm>
            <a:custGeom>
              <a:rect b="b" l="l" r="r" t="t"/>
              <a:pathLst>
                <a:path extrusionOk="0" h="523" w="452">
                  <a:moveTo>
                    <a:pt x="452" y="0"/>
                  </a:moveTo>
                  <a:lnTo>
                    <a:pt x="452" y="0"/>
                  </a:lnTo>
                  <a:lnTo>
                    <a:pt x="0" y="0"/>
                  </a:lnTo>
                  <a:lnTo>
                    <a:pt x="226" y="523"/>
                  </a:lnTo>
                  <a:lnTo>
                    <a:pt x="447" y="7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rgbClr val="A217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3919071" y="9525"/>
              <a:ext cx="1414463" cy="2516188"/>
            </a:xfrm>
            <a:custGeom>
              <a:rect b="b" l="l" r="r" t="t"/>
              <a:pathLst>
                <a:path extrusionOk="0" h="1585" w="891">
                  <a:moveTo>
                    <a:pt x="667" y="7"/>
                  </a:moveTo>
                  <a:lnTo>
                    <a:pt x="665" y="0"/>
                  </a:lnTo>
                  <a:lnTo>
                    <a:pt x="0" y="1585"/>
                  </a:lnTo>
                  <a:lnTo>
                    <a:pt x="432" y="1585"/>
                  </a:lnTo>
                  <a:lnTo>
                    <a:pt x="891" y="523"/>
                  </a:lnTo>
                  <a:lnTo>
                    <a:pt x="667" y="7"/>
                  </a:lnTo>
                  <a:close/>
                </a:path>
              </a:pathLst>
            </a:custGeom>
            <a:solidFill>
              <a:srgbClr val="AF1B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9"/>
            <p:cNvSpPr/>
            <p:nvPr/>
          </p:nvSpPr>
          <p:spPr>
            <a:xfrm>
              <a:off x="2606208" y="9525"/>
              <a:ext cx="2381250" cy="2516188"/>
            </a:xfrm>
            <a:custGeom>
              <a:rect b="b" l="l" r="r" t="t"/>
              <a:pathLst>
                <a:path extrusionOk="0" h="1585" w="1500">
                  <a:moveTo>
                    <a:pt x="667" y="0"/>
                  </a:moveTo>
                  <a:lnTo>
                    <a:pt x="0" y="1585"/>
                  </a:lnTo>
                  <a:lnTo>
                    <a:pt x="833" y="1585"/>
                  </a:lnTo>
                  <a:lnTo>
                    <a:pt x="1500" y="0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rgbClr val="CF39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" name="Google Shape;261;p9"/>
          <p:cNvGrpSpPr/>
          <p:nvPr/>
        </p:nvGrpSpPr>
        <p:grpSpPr>
          <a:xfrm>
            <a:off x="7786024" y="310690"/>
            <a:ext cx="1839368" cy="386336"/>
            <a:chOff x="7740649" y="378000"/>
            <a:chExt cx="1839368" cy="386336"/>
          </a:xfrm>
        </p:grpSpPr>
        <p:pic>
          <p:nvPicPr>
            <p:cNvPr descr="O:\Logo_Library\N\NOMURA\A4\NOMURA_A4_CMYK_WHITE.emf" id="262" name="Google Shape;262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19877" y="378000"/>
              <a:ext cx="1260140" cy="2160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p9"/>
            <p:cNvSpPr txBox="1"/>
            <p:nvPr/>
          </p:nvSpPr>
          <p:spPr>
            <a:xfrm>
              <a:off x="7740649" y="625837"/>
              <a:ext cx="1809115" cy="138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ja-JP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Connecting</a:t>
              </a:r>
              <a:r>
                <a:rPr i="1" lang="ja-JP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Markets East &amp; West</a:t>
              </a:r>
              <a:endParaRPr i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"/>
          <p:cNvSpPr txBox="1"/>
          <p:nvPr/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">
  <p:cSld name="Content 2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 txBox="1"/>
          <p:nvPr>
            <p:ph idx="1" type="body"/>
          </p:nvPr>
        </p:nvSpPr>
        <p:spPr>
          <a:xfrm>
            <a:off x="266400" y="1900799"/>
            <a:ext cx="9360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–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8" name="Google Shape;268;p11"/>
          <p:cNvSpPr txBox="1"/>
          <p:nvPr>
            <p:ph idx="2" type="body"/>
          </p:nvPr>
        </p:nvSpPr>
        <p:spPr>
          <a:xfrm>
            <a:off x="266400" y="1684068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9" name="Google Shape;269;p11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3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1" name="Google Shape;271;p11"/>
          <p:cNvSpPr txBox="1"/>
          <p:nvPr>
            <p:ph idx="4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2" name="Google Shape;272;p11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">
  <p:cSld name="Content 3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"/>
          <p:cNvSpPr txBox="1"/>
          <p:nvPr>
            <p:ph idx="1" type="body"/>
          </p:nvPr>
        </p:nvSpPr>
        <p:spPr>
          <a:xfrm>
            <a:off x="266400" y="1900801"/>
            <a:ext cx="4608000" cy="45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2" type="body"/>
          </p:nvPr>
        </p:nvSpPr>
        <p:spPr>
          <a:xfrm>
            <a:off x="5022000" y="1900801"/>
            <a:ext cx="4608160" cy="45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6" name="Google Shape;276;p12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7" name="Google Shape;277;p12"/>
          <p:cNvSpPr txBox="1"/>
          <p:nvPr>
            <p:ph idx="3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8" name="Google Shape;278;p12"/>
          <p:cNvSpPr txBox="1"/>
          <p:nvPr>
            <p:ph idx="4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9" name="Google Shape;279;p12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12"/>
          <p:cNvSpPr txBox="1"/>
          <p:nvPr>
            <p:ph idx="5" type="body"/>
          </p:nvPr>
        </p:nvSpPr>
        <p:spPr>
          <a:xfrm>
            <a:off x="266400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1" name="Google Shape;281;p12"/>
          <p:cNvSpPr txBox="1"/>
          <p:nvPr>
            <p:ph idx="6" type="body"/>
          </p:nvPr>
        </p:nvSpPr>
        <p:spPr>
          <a:xfrm>
            <a:off x="5022024" y="1684068"/>
            <a:ext cx="460816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4">
  <p:cSld name="Content 4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 txBox="1"/>
          <p:nvPr>
            <p:ph idx="1" type="body"/>
          </p:nvPr>
        </p:nvSpPr>
        <p:spPr>
          <a:xfrm>
            <a:off x="266400" y="1900800"/>
            <a:ext cx="9360000" cy="212593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2" type="body"/>
          </p:nvPr>
        </p:nvSpPr>
        <p:spPr>
          <a:xfrm>
            <a:off x="266400" y="4305599"/>
            <a:ext cx="9360000" cy="21333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3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4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8" name="Google Shape;288;p13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13"/>
          <p:cNvSpPr txBox="1"/>
          <p:nvPr>
            <p:ph idx="5" type="body"/>
          </p:nvPr>
        </p:nvSpPr>
        <p:spPr>
          <a:xfrm>
            <a:off x="266400" y="1684068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0" name="Google Shape;290;p13"/>
          <p:cNvSpPr txBox="1"/>
          <p:nvPr>
            <p:ph idx="6" type="body"/>
          </p:nvPr>
        </p:nvSpPr>
        <p:spPr>
          <a:xfrm>
            <a:off x="266400" y="4091964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5">
  <p:cSld name="Content 5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"/>
          <p:cNvSpPr txBox="1"/>
          <p:nvPr>
            <p:ph idx="1" type="body"/>
          </p:nvPr>
        </p:nvSpPr>
        <p:spPr>
          <a:xfrm>
            <a:off x="266400" y="3511116"/>
            <a:ext cx="93600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3" name="Google Shape;293;p14"/>
          <p:cNvSpPr txBox="1"/>
          <p:nvPr>
            <p:ph idx="2" type="body"/>
          </p:nvPr>
        </p:nvSpPr>
        <p:spPr>
          <a:xfrm>
            <a:off x="266400" y="5111751"/>
            <a:ext cx="9360000" cy="1327149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4" name="Google Shape;294;p14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5" name="Google Shape;295;p14"/>
          <p:cNvSpPr txBox="1"/>
          <p:nvPr>
            <p:ph idx="3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6" name="Google Shape;296;p14"/>
          <p:cNvSpPr txBox="1"/>
          <p:nvPr>
            <p:ph idx="4" type="body"/>
          </p:nvPr>
        </p:nvSpPr>
        <p:spPr>
          <a:xfrm>
            <a:off x="266400" y="1900800"/>
            <a:ext cx="93600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7" name="Google Shape;297;p14"/>
          <p:cNvSpPr txBox="1"/>
          <p:nvPr>
            <p:ph idx="5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8" name="Google Shape;298;p14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14"/>
          <p:cNvSpPr txBox="1"/>
          <p:nvPr>
            <p:ph idx="6" type="body"/>
          </p:nvPr>
        </p:nvSpPr>
        <p:spPr>
          <a:xfrm>
            <a:off x="266400" y="1684068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0" name="Google Shape;300;p14"/>
          <p:cNvSpPr txBox="1"/>
          <p:nvPr>
            <p:ph idx="7" type="body"/>
          </p:nvPr>
        </p:nvSpPr>
        <p:spPr>
          <a:xfrm>
            <a:off x="266400" y="3296436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1" name="Google Shape;301;p14"/>
          <p:cNvSpPr txBox="1"/>
          <p:nvPr>
            <p:ph idx="8" type="body"/>
          </p:nvPr>
        </p:nvSpPr>
        <p:spPr>
          <a:xfrm>
            <a:off x="266400" y="4900828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6">
  <p:cSld name="Content 6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4" name="Google Shape;304;p15"/>
          <p:cNvSpPr txBox="1"/>
          <p:nvPr>
            <p:ph idx="1" type="body"/>
          </p:nvPr>
        </p:nvSpPr>
        <p:spPr>
          <a:xfrm>
            <a:off x="266400" y="6525344"/>
            <a:ext cx="85680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5" name="Google Shape;305;p15"/>
          <p:cNvSpPr txBox="1"/>
          <p:nvPr>
            <p:ph idx="2" type="body"/>
          </p:nvPr>
        </p:nvSpPr>
        <p:spPr>
          <a:xfrm>
            <a:off x="266400" y="1900800"/>
            <a:ext cx="46080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6" name="Google Shape;306;p15"/>
          <p:cNvSpPr txBox="1"/>
          <p:nvPr>
            <p:ph idx="3" type="body"/>
          </p:nvPr>
        </p:nvSpPr>
        <p:spPr>
          <a:xfrm>
            <a:off x="5025600" y="1900800"/>
            <a:ext cx="46080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7" name="Google Shape;307;p15"/>
          <p:cNvSpPr txBox="1"/>
          <p:nvPr>
            <p:ph idx="4" type="body"/>
          </p:nvPr>
        </p:nvSpPr>
        <p:spPr>
          <a:xfrm>
            <a:off x="266400" y="3510477"/>
            <a:ext cx="46080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8" name="Google Shape;308;p15"/>
          <p:cNvSpPr txBox="1"/>
          <p:nvPr>
            <p:ph idx="5" type="body"/>
          </p:nvPr>
        </p:nvSpPr>
        <p:spPr>
          <a:xfrm>
            <a:off x="5025600" y="3510477"/>
            <a:ext cx="46080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9" name="Google Shape;309;p15"/>
          <p:cNvSpPr txBox="1"/>
          <p:nvPr>
            <p:ph idx="6" type="body"/>
          </p:nvPr>
        </p:nvSpPr>
        <p:spPr>
          <a:xfrm>
            <a:off x="266400" y="5108240"/>
            <a:ext cx="46080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0" name="Google Shape;310;p15"/>
          <p:cNvSpPr txBox="1"/>
          <p:nvPr>
            <p:ph idx="7" type="body"/>
          </p:nvPr>
        </p:nvSpPr>
        <p:spPr>
          <a:xfrm>
            <a:off x="5025600" y="5108240"/>
            <a:ext cx="46080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1" name="Google Shape;311;p15"/>
          <p:cNvSpPr txBox="1"/>
          <p:nvPr>
            <p:ph idx="8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2" name="Google Shape;312;p15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15"/>
          <p:cNvSpPr txBox="1"/>
          <p:nvPr>
            <p:ph idx="9" type="body"/>
          </p:nvPr>
        </p:nvSpPr>
        <p:spPr>
          <a:xfrm>
            <a:off x="266400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4" name="Google Shape;314;p15"/>
          <p:cNvSpPr txBox="1"/>
          <p:nvPr>
            <p:ph idx="13" type="body"/>
          </p:nvPr>
        </p:nvSpPr>
        <p:spPr>
          <a:xfrm>
            <a:off x="266400" y="3296436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5" name="Google Shape;315;p15"/>
          <p:cNvSpPr txBox="1"/>
          <p:nvPr>
            <p:ph idx="14" type="body"/>
          </p:nvPr>
        </p:nvSpPr>
        <p:spPr>
          <a:xfrm>
            <a:off x="266400" y="4897780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15" type="body"/>
          </p:nvPr>
        </p:nvSpPr>
        <p:spPr>
          <a:xfrm>
            <a:off x="5026176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7" name="Google Shape;317;p15"/>
          <p:cNvSpPr txBox="1"/>
          <p:nvPr>
            <p:ph idx="16" type="body"/>
          </p:nvPr>
        </p:nvSpPr>
        <p:spPr>
          <a:xfrm>
            <a:off x="5026176" y="3296436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8" name="Google Shape;318;p15"/>
          <p:cNvSpPr txBox="1"/>
          <p:nvPr>
            <p:ph idx="17" type="body"/>
          </p:nvPr>
        </p:nvSpPr>
        <p:spPr>
          <a:xfrm>
            <a:off x="5026176" y="4897780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7">
  <p:cSld name="Content 7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"/>
          <p:cNvSpPr txBox="1"/>
          <p:nvPr>
            <p:ph idx="1" type="body"/>
          </p:nvPr>
        </p:nvSpPr>
        <p:spPr>
          <a:xfrm>
            <a:off x="266400" y="1900799"/>
            <a:ext cx="3024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body"/>
          </p:nvPr>
        </p:nvSpPr>
        <p:spPr>
          <a:xfrm>
            <a:off x="6606000" y="1900800"/>
            <a:ext cx="3024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body"/>
          </p:nvPr>
        </p:nvSpPr>
        <p:spPr>
          <a:xfrm>
            <a:off x="3439800" y="1900799"/>
            <a:ext cx="3024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4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5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16"/>
          <p:cNvSpPr txBox="1"/>
          <p:nvPr>
            <p:ph idx="6" type="body"/>
          </p:nvPr>
        </p:nvSpPr>
        <p:spPr>
          <a:xfrm>
            <a:off x="266400" y="1684068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8" name="Google Shape;328;p16"/>
          <p:cNvSpPr txBox="1"/>
          <p:nvPr>
            <p:ph idx="7" type="body"/>
          </p:nvPr>
        </p:nvSpPr>
        <p:spPr>
          <a:xfrm>
            <a:off x="3440856" y="1684068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9" name="Google Shape;329;p16"/>
          <p:cNvSpPr txBox="1"/>
          <p:nvPr>
            <p:ph idx="8" type="body"/>
          </p:nvPr>
        </p:nvSpPr>
        <p:spPr>
          <a:xfrm>
            <a:off x="6605440" y="1684068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8">
  <p:cSld name="Content 8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7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2" name="Google Shape;332;p17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3" name="Google Shape;333;p17"/>
          <p:cNvSpPr txBox="1"/>
          <p:nvPr>
            <p:ph idx="2" type="body"/>
          </p:nvPr>
        </p:nvSpPr>
        <p:spPr>
          <a:xfrm>
            <a:off x="266400" y="1900799"/>
            <a:ext cx="302416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4" name="Google Shape;334;p17"/>
          <p:cNvSpPr txBox="1"/>
          <p:nvPr>
            <p:ph idx="3" type="body"/>
          </p:nvPr>
        </p:nvSpPr>
        <p:spPr>
          <a:xfrm>
            <a:off x="6606000" y="1900799"/>
            <a:ext cx="302416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5" name="Google Shape;335;p17"/>
          <p:cNvSpPr txBox="1"/>
          <p:nvPr>
            <p:ph idx="4" type="body"/>
          </p:nvPr>
        </p:nvSpPr>
        <p:spPr>
          <a:xfrm>
            <a:off x="3439800" y="1900799"/>
            <a:ext cx="302416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6" name="Google Shape;336;p17"/>
          <p:cNvSpPr txBox="1"/>
          <p:nvPr>
            <p:ph idx="5" type="body"/>
          </p:nvPr>
        </p:nvSpPr>
        <p:spPr>
          <a:xfrm>
            <a:off x="266400" y="4324854"/>
            <a:ext cx="3024160" cy="2114046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7" name="Google Shape;337;p17"/>
          <p:cNvSpPr txBox="1"/>
          <p:nvPr>
            <p:ph idx="6" type="body"/>
          </p:nvPr>
        </p:nvSpPr>
        <p:spPr>
          <a:xfrm>
            <a:off x="6606000" y="4324854"/>
            <a:ext cx="3024160" cy="2114046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8" name="Google Shape;338;p17"/>
          <p:cNvSpPr txBox="1"/>
          <p:nvPr>
            <p:ph idx="7" type="body"/>
          </p:nvPr>
        </p:nvSpPr>
        <p:spPr>
          <a:xfrm>
            <a:off x="3439800" y="4324854"/>
            <a:ext cx="3024160" cy="2114046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9" name="Google Shape;339;p17"/>
          <p:cNvSpPr txBox="1"/>
          <p:nvPr>
            <p:ph idx="8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0" name="Google Shape;340;p17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17"/>
          <p:cNvSpPr txBox="1"/>
          <p:nvPr>
            <p:ph idx="9" type="body"/>
          </p:nvPr>
        </p:nvSpPr>
        <p:spPr>
          <a:xfrm>
            <a:off x="266400" y="1684068"/>
            <a:ext cx="302416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2" name="Google Shape;342;p17"/>
          <p:cNvSpPr txBox="1"/>
          <p:nvPr>
            <p:ph idx="13" type="body"/>
          </p:nvPr>
        </p:nvSpPr>
        <p:spPr>
          <a:xfrm>
            <a:off x="3440856" y="1684068"/>
            <a:ext cx="302416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14" type="body"/>
          </p:nvPr>
        </p:nvSpPr>
        <p:spPr>
          <a:xfrm>
            <a:off x="6605440" y="1684068"/>
            <a:ext cx="302416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15" type="body"/>
          </p:nvPr>
        </p:nvSpPr>
        <p:spPr>
          <a:xfrm>
            <a:off x="266400" y="4116348"/>
            <a:ext cx="302416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16" type="body"/>
          </p:nvPr>
        </p:nvSpPr>
        <p:spPr>
          <a:xfrm>
            <a:off x="3440856" y="4116348"/>
            <a:ext cx="302416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17" type="body"/>
          </p:nvPr>
        </p:nvSpPr>
        <p:spPr>
          <a:xfrm>
            <a:off x="6605440" y="4116348"/>
            <a:ext cx="302416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9">
  <p:cSld name="Content 9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8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9" name="Google Shape;349;p18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0" name="Google Shape;350;p18"/>
          <p:cNvSpPr txBox="1"/>
          <p:nvPr>
            <p:ph idx="2" type="body"/>
          </p:nvPr>
        </p:nvSpPr>
        <p:spPr>
          <a:xfrm>
            <a:off x="266400" y="1900800"/>
            <a:ext cx="4608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1" name="Google Shape;351;p18"/>
          <p:cNvSpPr txBox="1"/>
          <p:nvPr>
            <p:ph idx="3" type="body"/>
          </p:nvPr>
        </p:nvSpPr>
        <p:spPr>
          <a:xfrm>
            <a:off x="5018400" y="1900800"/>
            <a:ext cx="4608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2" name="Google Shape;352;p18"/>
          <p:cNvSpPr txBox="1"/>
          <p:nvPr>
            <p:ph idx="4" type="body"/>
          </p:nvPr>
        </p:nvSpPr>
        <p:spPr>
          <a:xfrm>
            <a:off x="266400" y="4322070"/>
            <a:ext cx="4608000" cy="211683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3" name="Google Shape;353;p18"/>
          <p:cNvSpPr txBox="1"/>
          <p:nvPr>
            <p:ph idx="5" type="body"/>
          </p:nvPr>
        </p:nvSpPr>
        <p:spPr>
          <a:xfrm>
            <a:off x="5018400" y="4322070"/>
            <a:ext cx="4608000" cy="211683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4" name="Google Shape;354;p18"/>
          <p:cNvSpPr txBox="1"/>
          <p:nvPr>
            <p:ph idx="6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5" name="Google Shape;355;p18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18"/>
          <p:cNvSpPr txBox="1"/>
          <p:nvPr>
            <p:ph idx="7" type="body"/>
          </p:nvPr>
        </p:nvSpPr>
        <p:spPr>
          <a:xfrm>
            <a:off x="266400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7" name="Google Shape;357;p18"/>
          <p:cNvSpPr txBox="1"/>
          <p:nvPr>
            <p:ph idx="8" type="body"/>
          </p:nvPr>
        </p:nvSpPr>
        <p:spPr>
          <a:xfrm>
            <a:off x="5017088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8" name="Google Shape;358;p18"/>
          <p:cNvSpPr txBox="1"/>
          <p:nvPr>
            <p:ph idx="9" type="body"/>
          </p:nvPr>
        </p:nvSpPr>
        <p:spPr>
          <a:xfrm>
            <a:off x="266400" y="4111214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9" name="Google Shape;359;p18"/>
          <p:cNvSpPr txBox="1"/>
          <p:nvPr>
            <p:ph idx="13" type="body"/>
          </p:nvPr>
        </p:nvSpPr>
        <p:spPr>
          <a:xfrm>
            <a:off x="5017088" y="4111214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0">
  <p:cSld name="Content 10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9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2" name="Google Shape;362;p19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3" name="Google Shape;363;p19"/>
          <p:cNvSpPr txBox="1"/>
          <p:nvPr>
            <p:ph idx="2" type="body"/>
          </p:nvPr>
        </p:nvSpPr>
        <p:spPr>
          <a:xfrm>
            <a:off x="266400" y="1900799"/>
            <a:ext cx="6192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4" name="Google Shape;364;p19"/>
          <p:cNvSpPr txBox="1"/>
          <p:nvPr>
            <p:ph idx="3" type="body"/>
          </p:nvPr>
        </p:nvSpPr>
        <p:spPr>
          <a:xfrm>
            <a:off x="6609600" y="1900799"/>
            <a:ext cx="3024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5" name="Google Shape;365;p19"/>
          <p:cNvSpPr txBox="1"/>
          <p:nvPr>
            <p:ph idx="4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6" name="Google Shape;366;p19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19"/>
          <p:cNvSpPr txBox="1"/>
          <p:nvPr>
            <p:ph idx="5" type="body"/>
          </p:nvPr>
        </p:nvSpPr>
        <p:spPr>
          <a:xfrm>
            <a:off x="266400" y="1684068"/>
            <a:ext cx="619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8" name="Google Shape;368;p19"/>
          <p:cNvSpPr txBox="1"/>
          <p:nvPr>
            <p:ph idx="6" type="body"/>
          </p:nvPr>
        </p:nvSpPr>
        <p:spPr>
          <a:xfrm>
            <a:off x="6609184" y="1684068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1">
  <p:cSld name="Content 1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0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1" name="Google Shape;371;p20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2" name="Google Shape;372;p20"/>
          <p:cNvSpPr txBox="1"/>
          <p:nvPr>
            <p:ph idx="2" type="body"/>
          </p:nvPr>
        </p:nvSpPr>
        <p:spPr>
          <a:xfrm>
            <a:off x="3441600" y="1900799"/>
            <a:ext cx="6192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3" name="Google Shape;373;p20"/>
          <p:cNvSpPr txBox="1"/>
          <p:nvPr>
            <p:ph idx="3" type="body"/>
          </p:nvPr>
        </p:nvSpPr>
        <p:spPr>
          <a:xfrm>
            <a:off x="266400" y="1900799"/>
            <a:ext cx="3024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4" name="Google Shape;374;p20"/>
          <p:cNvSpPr txBox="1"/>
          <p:nvPr>
            <p:ph idx="4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5" name="Google Shape;375;p20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20"/>
          <p:cNvSpPr txBox="1"/>
          <p:nvPr>
            <p:ph idx="5" type="body"/>
          </p:nvPr>
        </p:nvSpPr>
        <p:spPr>
          <a:xfrm>
            <a:off x="266400" y="1684068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7" name="Google Shape;377;p20"/>
          <p:cNvSpPr txBox="1"/>
          <p:nvPr>
            <p:ph idx="6" type="body"/>
          </p:nvPr>
        </p:nvSpPr>
        <p:spPr>
          <a:xfrm>
            <a:off x="3440831" y="1684068"/>
            <a:ext cx="619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2">
  <p:cSld name="Content 12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1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0" name="Google Shape;380;p21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1" name="Google Shape;381;p21"/>
          <p:cNvSpPr txBox="1"/>
          <p:nvPr>
            <p:ph idx="2" type="body"/>
          </p:nvPr>
        </p:nvSpPr>
        <p:spPr>
          <a:xfrm>
            <a:off x="3441600" y="1900799"/>
            <a:ext cx="6192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2" name="Google Shape;382;p21"/>
          <p:cNvSpPr txBox="1"/>
          <p:nvPr>
            <p:ph idx="3" type="body"/>
          </p:nvPr>
        </p:nvSpPr>
        <p:spPr>
          <a:xfrm>
            <a:off x="266400" y="1900799"/>
            <a:ext cx="3024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3" name="Google Shape;383;p21"/>
          <p:cNvSpPr txBox="1"/>
          <p:nvPr>
            <p:ph idx="4" type="body"/>
          </p:nvPr>
        </p:nvSpPr>
        <p:spPr>
          <a:xfrm>
            <a:off x="3441600" y="4310016"/>
            <a:ext cx="6192000" cy="212888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4" name="Google Shape;384;p21"/>
          <p:cNvSpPr txBox="1"/>
          <p:nvPr>
            <p:ph idx="5" type="body"/>
          </p:nvPr>
        </p:nvSpPr>
        <p:spPr>
          <a:xfrm>
            <a:off x="266400" y="4310016"/>
            <a:ext cx="3024000" cy="212888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5" name="Google Shape;385;p21"/>
          <p:cNvSpPr txBox="1"/>
          <p:nvPr>
            <p:ph idx="6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6" name="Google Shape;386;p21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21"/>
          <p:cNvSpPr txBox="1"/>
          <p:nvPr>
            <p:ph idx="7" type="body"/>
          </p:nvPr>
        </p:nvSpPr>
        <p:spPr>
          <a:xfrm>
            <a:off x="266400" y="1684068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8" name="Google Shape;388;p21"/>
          <p:cNvSpPr txBox="1"/>
          <p:nvPr>
            <p:ph idx="8" type="body"/>
          </p:nvPr>
        </p:nvSpPr>
        <p:spPr>
          <a:xfrm>
            <a:off x="3440831" y="1684068"/>
            <a:ext cx="619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9" name="Google Shape;389;p21"/>
          <p:cNvSpPr txBox="1"/>
          <p:nvPr>
            <p:ph idx="9" type="body"/>
          </p:nvPr>
        </p:nvSpPr>
        <p:spPr>
          <a:xfrm>
            <a:off x="266400" y="4117492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0" name="Google Shape;390;p21"/>
          <p:cNvSpPr txBox="1"/>
          <p:nvPr>
            <p:ph idx="13" type="body"/>
          </p:nvPr>
        </p:nvSpPr>
        <p:spPr>
          <a:xfrm>
            <a:off x="3440831" y="4117492"/>
            <a:ext cx="619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3">
  <p:cSld name="Content 13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2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3" name="Google Shape;393;p22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4" name="Google Shape;394;p22"/>
          <p:cNvSpPr txBox="1"/>
          <p:nvPr>
            <p:ph idx="2" type="body"/>
          </p:nvPr>
        </p:nvSpPr>
        <p:spPr>
          <a:xfrm>
            <a:off x="266400" y="1900799"/>
            <a:ext cx="6192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5" name="Google Shape;395;p22"/>
          <p:cNvSpPr txBox="1"/>
          <p:nvPr>
            <p:ph idx="3" type="body"/>
          </p:nvPr>
        </p:nvSpPr>
        <p:spPr>
          <a:xfrm>
            <a:off x="6609600" y="1900799"/>
            <a:ext cx="3024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6" name="Google Shape;396;p22"/>
          <p:cNvSpPr txBox="1"/>
          <p:nvPr>
            <p:ph idx="4" type="body"/>
          </p:nvPr>
        </p:nvSpPr>
        <p:spPr>
          <a:xfrm>
            <a:off x="266400" y="4338891"/>
            <a:ext cx="6192000" cy="2100009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7" name="Google Shape;397;p22"/>
          <p:cNvSpPr txBox="1"/>
          <p:nvPr>
            <p:ph idx="5" type="body"/>
          </p:nvPr>
        </p:nvSpPr>
        <p:spPr>
          <a:xfrm>
            <a:off x="6609600" y="4338891"/>
            <a:ext cx="3024000" cy="2100009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8" name="Google Shape;398;p22"/>
          <p:cNvSpPr txBox="1"/>
          <p:nvPr>
            <p:ph idx="6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9" name="Google Shape;399;p22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22"/>
          <p:cNvSpPr txBox="1"/>
          <p:nvPr>
            <p:ph idx="7" type="body"/>
          </p:nvPr>
        </p:nvSpPr>
        <p:spPr>
          <a:xfrm>
            <a:off x="266400" y="1684068"/>
            <a:ext cx="619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1" name="Google Shape;401;p22"/>
          <p:cNvSpPr txBox="1"/>
          <p:nvPr>
            <p:ph idx="8" type="body"/>
          </p:nvPr>
        </p:nvSpPr>
        <p:spPr>
          <a:xfrm>
            <a:off x="6609184" y="1684068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2" name="Google Shape;402;p22"/>
          <p:cNvSpPr txBox="1"/>
          <p:nvPr>
            <p:ph idx="9" type="body"/>
          </p:nvPr>
        </p:nvSpPr>
        <p:spPr>
          <a:xfrm>
            <a:off x="266400" y="4112498"/>
            <a:ext cx="619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3" name="Google Shape;403;p22"/>
          <p:cNvSpPr txBox="1"/>
          <p:nvPr>
            <p:ph idx="13" type="body"/>
          </p:nvPr>
        </p:nvSpPr>
        <p:spPr>
          <a:xfrm>
            <a:off x="6609184" y="4112498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4">
  <p:cSld name="Content 14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3"/>
          <p:cNvSpPr txBox="1"/>
          <p:nvPr>
            <p:ph idx="1" type="body"/>
          </p:nvPr>
        </p:nvSpPr>
        <p:spPr>
          <a:xfrm>
            <a:off x="266400" y="1900799"/>
            <a:ext cx="2232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6" name="Google Shape;406;p23"/>
          <p:cNvSpPr txBox="1"/>
          <p:nvPr>
            <p:ph idx="2" type="body"/>
          </p:nvPr>
        </p:nvSpPr>
        <p:spPr>
          <a:xfrm>
            <a:off x="2642400" y="1900799"/>
            <a:ext cx="2232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7" name="Google Shape;407;p23"/>
          <p:cNvSpPr txBox="1"/>
          <p:nvPr>
            <p:ph idx="3" type="body"/>
          </p:nvPr>
        </p:nvSpPr>
        <p:spPr>
          <a:xfrm>
            <a:off x="5025600" y="1900799"/>
            <a:ext cx="2232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8" name="Google Shape;408;p23"/>
          <p:cNvSpPr txBox="1"/>
          <p:nvPr>
            <p:ph idx="4" type="body"/>
          </p:nvPr>
        </p:nvSpPr>
        <p:spPr>
          <a:xfrm>
            <a:off x="7401600" y="1900799"/>
            <a:ext cx="2232000" cy="45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9" name="Google Shape;409;p23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0" name="Google Shape;410;p23"/>
          <p:cNvSpPr txBox="1"/>
          <p:nvPr>
            <p:ph idx="5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1" name="Google Shape;411;p23"/>
          <p:cNvSpPr txBox="1"/>
          <p:nvPr>
            <p:ph idx="6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2" name="Google Shape;412;p23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23"/>
          <p:cNvSpPr txBox="1"/>
          <p:nvPr>
            <p:ph idx="7" type="body"/>
          </p:nvPr>
        </p:nvSpPr>
        <p:spPr>
          <a:xfrm>
            <a:off x="266400" y="1684068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4" name="Google Shape;414;p23"/>
          <p:cNvSpPr txBox="1"/>
          <p:nvPr>
            <p:ph idx="8" type="body"/>
          </p:nvPr>
        </p:nvSpPr>
        <p:spPr>
          <a:xfrm>
            <a:off x="2641512" y="1684068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5" name="Google Shape;415;p23"/>
          <p:cNvSpPr txBox="1"/>
          <p:nvPr>
            <p:ph idx="9" type="body"/>
          </p:nvPr>
        </p:nvSpPr>
        <p:spPr>
          <a:xfrm>
            <a:off x="5025600" y="1684068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6" name="Google Shape;416;p23"/>
          <p:cNvSpPr txBox="1"/>
          <p:nvPr>
            <p:ph idx="13" type="body"/>
          </p:nvPr>
        </p:nvSpPr>
        <p:spPr>
          <a:xfrm>
            <a:off x="7401600" y="1684068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5">
  <p:cSld name="Content 15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4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9" name="Google Shape;419;p24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0" name="Google Shape;420;p24"/>
          <p:cNvSpPr txBox="1"/>
          <p:nvPr>
            <p:ph idx="2" type="body"/>
          </p:nvPr>
        </p:nvSpPr>
        <p:spPr>
          <a:xfrm>
            <a:off x="266400" y="1900799"/>
            <a:ext cx="2232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1" name="Google Shape;421;p24"/>
          <p:cNvSpPr txBox="1"/>
          <p:nvPr>
            <p:ph idx="3" type="body"/>
          </p:nvPr>
        </p:nvSpPr>
        <p:spPr>
          <a:xfrm>
            <a:off x="2642400" y="1900799"/>
            <a:ext cx="2232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2" name="Google Shape;422;p24"/>
          <p:cNvSpPr txBox="1"/>
          <p:nvPr>
            <p:ph idx="4" type="body"/>
          </p:nvPr>
        </p:nvSpPr>
        <p:spPr>
          <a:xfrm>
            <a:off x="5025600" y="1900799"/>
            <a:ext cx="2232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3" name="Google Shape;423;p24"/>
          <p:cNvSpPr txBox="1"/>
          <p:nvPr>
            <p:ph idx="5" type="body"/>
          </p:nvPr>
        </p:nvSpPr>
        <p:spPr>
          <a:xfrm>
            <a:off x="7401600" y="1900799"/>
            <a:ext cx="2232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4" name="Google Shape;424;p24"/>
          <p:cNvSpPr txBox="1"/>
          <p:nvPr>
            <p:ph idx="6" type="body"/>
          </p:nvPr>
        </p:nvSpPr>
        <p:spPr>
          <a:xfrm>
            <a:off x="266400" y="4310016"/>
            <a:ext cx="2232000" cy="212888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5" name="Google Shape;425;p24"/>
          <p:cNvSpPr txBox="1"/>
          <p:nvPr>
            <p:ph idx="7" type="body"/>
          </p:nvPr>
        </p:nvSpPr>
        <p:spPr>
          <a:xfrm>
            <a:off x="2642400" y="4310016"/>
            <a:ext cx="2232000" cy="212888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6" name="Google Shape;426;p24"/>
          <p:cNvSpPr txBox="1"/>
          <p:nvPr>
            <p:ph idx="8" type="body"/>
          </p:nvPr>
        </p:nvSpPr>
        <p:spPr>
          <a:xfrm>
            <a:off x="5025600" y="4310016"/>
            <a:ext cx="2232000" cy="212888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7" name="Google Shape;427;p24"/>
          <p:cNvSpPr txBox="1"/>
          <p:nvPr>
            <p:ph idx="9" type="body"/>
          </p:nvPr>
        </p:nvSpPr>
        <p:spPr>
          <a:xfrm>
            <a:off x="7401600" y="4310016"/>
            <a:ext cx="2232000" cy="212888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8" name="Google Shape;428;p24"/>
          <p:cNvSpPr txBox="1"/>
          <p:nvPr>
            <p:ph idx="13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9" name="Google Shape;429;p24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24"/>
          <p:cNvSpPr txBox="1"/>
          <p:nvPr>
            <p:ph idx="14" type="body"/>
          </p:nvPr>
        </p:nvSpPr>
        <p:spPr>
          <a:xfrm>
            <a:off x="266400" y="1684068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1" name="Google Shape;431;p24"/>
          <p:cNvSpPr txBox="1"/>
          <p:nvPr>
            <p:ph idx="15" type="body"/>
          </p:nvPr>
        </p:nvSpPr>
        <p:spPr>
          <a:xfrm>
            <a:off x="2641512" y="1684068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2" name="Google Shape;432;p24"/>
          <p:cNvSpPr txBox="1"/>
          <p:nvPr>
            <p:ph idx="16" type="body"/>
          </p:nvPr>
        </p:nvSpPr>
        <p:spPr>
          <a:xfrm>
            <a:off x="5025600" y="1684068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3" name="Google Shape;433;p24"/>
          <p:cNvSpPr txBox="1"/>
          <p:nvPr>
            <p:ph idx="17" type="body"/>
          </p:nvPr>
        </p:nvSpPr>
        <p:spPr>
          <a:xfrm>
            <a:off x="7401600" y="1684068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4" name="Google Shape;434;p24"/>
          <p:cNvSpPr txBox="1"/>
          <p:nvPr>
            <p:ph idx="18" type="body"/>
          </p:nvPr>
        </p:nvSpPr>
        <p:spPr>
          <a:xfrm>
            <a:off x="266400" y="4104156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5" name="Google Shape;435;p24"/>
          <p:cNvSpPr txBox="1"/>
          <p:nvPr>
            <p:ph idx="19" type="body"/>
          </p:nvPr>
        </p:nvSpPr>
        <p:spPr>
          <a:xfrm>
            <a:off x="2641512" y="4104156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6" name="Google Shape;436;p24"/>
          <p:cNvSpPr txBox="1"/>
          <p:nvPr>
            <p:ph idx="20" type="body"/>
          </p:nvPr>
        </p:nvSpPr>
        <p:spPr>
          <a:xfrm>
            <a:off x="5025600" y="4104156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7" name="Google Shape;437;p24"/>
          <p:cNvSpPr txBox="1"/>
          <p:nvPr>
            <p:ph idx="21" type="body"/>
          </p:nvPr>
        </p:nvSpPr>
        <p:spPr>
          <a:xfrm>
            <a:off x="7401600" y="4104156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6">
  <p:cSld name="Content 16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5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0" name="Google Shape;440;p25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1" name="Google Shape;441;p25"/>
          <p:cNvSpPr txBox="1"/>
          <p:nvPr>
            <p:ph idx="2" type="body"/>
          </p:nvPr>
        </p:nvSpPr>
        <p:spPr>
          <a:xfrm>
            <a:off x="5025600" y="1900800"/>
            <a:ext cx="4608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2" name="Google Shape;442;p25"/>
          <p:cNvSpPr txBox="1"/>
          <p:nvPr>
            <p:ph idx="3" type="body"/>
          </p:nvPr>
        </p:nvSpPr>
        <p:spPr>
          <a:xfrm>
            <a:off x="5025600" y="4302820"/>
            <a:ext cx="4608000" cy="213608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3" name="Google Shape;443;p25"/>
          <p:cNvSpPr txBox="1"/>
          <p:nvPr>
            <p:ph idx="4" type="body"/>
          </p:nvPr>
        </p:nvSpPr>
        <p:spPr>
          <a:xfrm>
            <a:off x="266400" y="1900801"/>
            <a:ext cx="4608000" cy="45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4" name="Google Shape;444;p25"/>
          <p:cNvSpPr txBox="1"/>
          <p:nvPr>
            <p:ph idx="5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5" name="Google Shape;445;p25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25"/>
          <p:cNvSpPr txBox="1"/>
          <p:nvPr>
            <p:ph idx="6" type="body"/>
          </p:nvPr>
        </p:nvSpPr>
        <p:spPr>
          <a:xfrm>
            <a:off x="266400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7" name="Google Shape;447;p25"/>
          <p:cNvSpPr txBox="1"/>
          <p:nvPr>
            <p:ph idx="7" type="body"/>
          </p:nvPr>
        </p:nvSpPr>
        <p:spPr>
          <a:xfrm>
            <a:off x="5025600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8" name="Google Shape;448;p25"/>
          <p:cNvSpPr txBox="1"/>
          <p:nvPr>
            <p:ph idx="8" type="body"/>
          </p:nvPr>
        </p:nvSpPr>
        <p:spPr>
          <a:xfrm>
            <a:off x="5025600" y="4091964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7">
  <p:cSld name="Content 17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6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1" name="Google Shape;451;p26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2" name="Google Shape;452;p26"/>
          <p:cNvSpPr txBox="1"/>
          <p:nvPr>
            <p:ph idx="2" type="body"/>
          </p:nvPr>
        </p:nvSpPr>
        <p:spPr>
          <a:xfrm>
            <a:off x="266400" y="1900800"/>
            <a:ext cx="4608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3" name="Google Shape;453;p26"/>
          <p:cNvSpPr txBox="1"/>
          <p:nvPr>
            <p:ph idx="3" type="body"/>
          </p:nvPr>
        </p:nvSpPr>
        <p:spPr>
          <a:xfrm>
            <a:off x="266400" y="4302820"/>
            <a:ext cx="4608000" cy="213608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4" name="Google Shape;454;p26"/>
          <p:cNvSpPr txBox="1"/>
          <p:nvPr>
            <p:ph idx="4" type="body"/>
          </p:nvPr>
        </p:nvSpPr>
        <p:spPr>
          <a:xfrm>
            <a:off x="5025600" y="1900801"/>
            <a:ext cx="4608000" cy="45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5" name="Google Shape;455;p26"/>
          <p:cNvSpPr txBox="1"/>
          <p:nvPr>
            <p:ph idx="5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6" name="Google Shape;456;p26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26"/>
          <p:cNvSpPr txBox="1"/>
          <p:nvPr>
            <p:ph idx="6" type="body"/>
          </p:nvPr>
        </p:nvSpPr>
        <p:spPr>
          <a:xfrm>
            <a:off x="266400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8" name="Google Shape;458;p26"/>
          <p:cNvSpPr txBox="1"/>
          <p:nvPr>
            <p:ph idx="7" type="body"/>
          </p:nvPr>
        </p:nvSpPr>
        <p:spPr>
          <a:xfrm>
            <a:off x="5017088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9" name="Google Shape;459;p26"/>
          <p:cNvSpPr txBox="1"/>
          <p:nvPr>
            <p:ph idx="8" type="body"/>
          </p:nvPr>
        </p:nvSpPr>
        <p:spPr>
          <a:xfrm>
            <a:off x="266400" y="409310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8">
  <p:cSld name="Content 18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7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2" name="Google Shape;462;p27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3" name="Google Shape;463;p27"/>
          <p:cNvSpPr txBox="1"/>
          <p:nvPr>
            <p:ph idx="2" type="body"/>
          </p:nvPr>
        </p:nvSpPr>
        <p:spPr>
          <a:xfrm>
            <a:off x="266400" y="4302820"/>
            <a:ext cx="4608000" cy="213608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4" name="Google Shape;464;p27"/>
          <p:cNvSpPr txBox="1"/>
          <p:nvPr>
            <p:ph idx="3" type="body"/>
          </p:nvPr>
        </p:nvSpPr>
        <p:spPr>
          <a:xfrm>
            <a:off x="5018400" y="4302820"/>
            <a:ext cx="4608000" cy="213608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5" name="Google Shape;465;p27"/>
          <p:cNvSpPr txBox="1"/>
          <p:nvPr>
            <p:ph idx="4" type="body"/>
          </p:nvPr>
        </p:nvSpPr>
        <p:spPr>
          <a:xfrm>
            <a:off x="266400" y="1900800"/>
            <a:ext cx="9360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6" name="Google Shape;466;p27"/>
          <p:cNvSpPr txBox="1"/>
          <p:nvPr>
            <p:ph idx="5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7" name="Google Shape;467;p27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27"/>
          <p:cNvSpPr txBox="1"/>
          <p:nvPr>
            <p:ph idx="6" type="body"/>
          </p:nvPr>
        </p:nvSpPr>
        <p:spPr>
          <a:xfrm>
            <a:off x="266400" y="1684068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9" name="Google Shape;469;p27"/>
          <p:cNvSpPr txBox="1"/>
          <p:nvPr>
            <p:ph idx="7" type="body"/>
          </p:nvPr>
        </p:nvSpPr>
        <p:spPr>
          <a:xfrm>
            <a:off x="266400" y="4091964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0" name="Google Shape;470;p27"/>
          <p:cNvSpPr txBox="1"/>
          <p:nvPr>
            <p:ph idx="8" type="body"/>
          </p:nvPr>
        </p:nvSpPr>
        <p:spPr>
          <a:xfrm>
            <a:off x="5017088" y="4091964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9">
  <p:cSld name="Content 19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8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3" name="Google Shape;473;p28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4" name="Google Shape;474;p28"/>
          <p:cNvSpPr txBox="1"/>
          <p:nvPr>
            <p:ph idx="2" type="body"/>
          </p:nvPr>
        </p:nvSpPr>
        <p:spPr>
          <a:xfrm>
            <a:off x="266400" y="1900800"/>
            <a:ext cx="4608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5" name="Google Shape;475;p28"/>
          <p:cNvSpPr txBox="1"/>
          <p:nvPr>
            <p:ph idx="3" type="body"/>
          </p:nvPr>
        </p:nvSpPr>
        <p:spPr>
          <a:xfrm>
            <a:off x="5025600" y="1900800"/>
            <a:ext cx="4608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6" name="Google Shape;476;p28"/>
          <p:cNvSpPr txBox="1"/>
          <p:nvPr>
            <p:ph idx="4" type="body"/>
          </p:nvPr>
        </p:nvSpPr>
        <p:spPr>
          <a:xfrm>
            <a:off x="266400" y="4317475"/>
            <a:ext cx="9360000" cy="2121426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7" name="Google Shape;477;p28"/>
          <p:cNvSpPr txBox="1"/>
          <p:nvPr>
            <p:ph idx="5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8" name="Google Shape;478;p28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28"/>
          <p:cNvSpPr txBox="1"/>
          <p:nvPr>
            <p:ph idx="6" type="body"/>
          </p:nvPr>
        </p:nvSpPr>
        <p:spPr>
          <a:xfrm>
            <a:off x="266400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0" name="Google Shape;480;p28"/>
          <p:cNvSpPr txBox="1"/>
          <p:nvPr>
            <p:ph idx="7" type="body"/>
          </p:nvPr>
        </p:nvSpPr>
        <p:spPr>
          <a:xfrm>
            <a:off x="266400" y="4104156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1" name="Google Shape;481;p28"/>
          <p:cNvSpPr txBox="1"/>
          <p:nvPr>
            <p:ph idx="8" type="body"/>
          </p:nvPr>
        </p:nvSpPr>
        <p:spPr>
          <a:xfrm>
            <a:off x="5024312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0">
  <p:cSld name="Content 20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9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4" name="Google Shape;484;p29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5" name="Google Shape;485;p29"/>
          <p:cNvSpPr txBox="1"/>
          <p:nvPr>
            <p:ph idx="2" type="body"/>
          </p:nvPr>
        </p:nvSpPr>
        <p:spPr>
          <a:xfrm>
            <a:off x="266400" y="1900800"/>
            <a:ext cx="9360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6" name="Google Shape;486;p29"/>
          <p:cNvSpPr txBox="1"/>
          <p:nvPr>
            <p:ph idx="3" type="body"/>
          </p:nvPr>
        </p:nvSpPr>
        <p:spPr>
          <a:xfrm>
            <a:off x="266400" y="4313837"/>
            <a:ext cx="3024000" cy="2125063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7" name="Google Shape;487;p29"/>
          <p:cNvSpPr txBox="1"/>
          <p:nvPr>
            <p:ph idx="4" type="body"/>
          </p:nvPr>
        </p:nvSpPr>
        <p:spPr>
          <a:xfrm>
            <a:off x="6609600" y="4313837"/>
            <a:ext cx="3024000" cy="2125063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8" name="Google Shape;488;p29"/>
          <p:cNvSpPr txBox="1"/>
          <p:nvPr>
            <p:ph idx="5" type="body"/>
          </p:nvPr>
        </p:nvSpPr>
        <p:spPr>
          <a:xfrm>
            <a:off x="3439800" y="4313837"/>
            <a:ext cx="3024000" cy="2125063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9" name="Google Shape;489;p29"/>
          <p:cNvSpPr txBox="1"/>
          <p:nvPr>
            <p:ph idx="6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0" name="Google Shape;490;p29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1" name="Google Shape;491;p29"/>
          <p:cNvSpPr txBox="1"/>
          <p:nvPr>
            <p:ph idx="7" type="body"/>
          </p:nvPr>
        </p:nvSpPr>
        <p:spPr>
          <a:xfrm>
            <a:off x="266400" y="1684068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2" name="Google Shape;492;p29"/>
          <p:cNvSpPr txBox="1"/>
          <p:nvPr>
            <p:ph idx="8" type="body"/>
          </p:nvPr>
        </p:nvSpPr>
        <p:spPr>
          <a:xfrm>
            <a:off x="266400" y="4104156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3" name="Google Shape;493;p29"/>
          <p:cNvSpPr txBox="1"/>
          <p:nvPr>
            <p:ph idx="9" type="body"/>
          </p:nvPr>
        </p:nvSpPr>
        <p:spPr>
          <a:xfrm>
            <a:off x="3441600" y="4104156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4" name="Google Shape;494;p29"/>
          <p:cNvSpPr txBox="1"/>
          <p:nvPr>
            <p:ph idx="13" type="body"/>
          </p:nvPr>
        </p:nvSpPr>
        <p:spPr>
          <a:xfrm>
            <a:off x="6610048" y="4104156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1">
  <p:cSld name="Content 21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0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7" name="Google Shape;497;p30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8" name="Google Shape;498;p30"/>
          <p:cNvSpPr txBox="1"/>
          <p:nvPr>
            <p:ph idx="2" type="body"/>
          </p:nvPr>
        </p:nvSpPr>
        <p:spPr>
          <a:xfrm>
            <a:off x="266400" y="1900800"/>
            <a:ext cx="9360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9" name="Google Shape;499;p30"/>
          <p:cNvSpPr txBox="1"/>
          <p:nvPr>
            <p:ph idx="3" type="body"/>
          </p:nvPr>
        </p:nvSpPr>
        <p:spPr>
          <a:xfrm>
            <a:off x="266400" y="4310016"/>
            <a:ext cx="2232000" cy="212888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0" name="Google Shape;500;p30"/>
          <p:cNvSpPr txBox="1"/>
          <p:nvPr>
            <p:ph idx="4" type="body"/>
          </p:nvPr>
        </p:nvSpPr>
        <p:spPr>
          <a:xfrm>
            <a:off x="2649600" y="4310016"/>
            <a:ext cx="2232000" cy="212888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1" name="Google Shape;501;p30"/>
          <p:cNvSpPr txBox="1"/>
          <p:nvPr>
            <p:ph idx="5" type="body"/>
          </p:nvPr>
        </p:nvSpPr>
        <p:spPr>
          <a:xfrm>
            <a:off x="5025600" y="4310016"/>
            <a:ext cx="2232000" cy="212888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2" name="Google Shape;502;p30"/>
          <p:cNvSpPr txBox="1"/>
          <p:nvPr>
            <p:ph idx="6" type="body"/>
          </p:nvPr>
        </p:nvSpPr>
        <p:spPr>
          <a:xfrm>
            <a:off x="7401600" y="4310016"/>
            <a:ext cx="2232000" cy="212888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3" name="Google Shape;503;p30"/>
          <p:cNvSpPr txBox="1"/>
          <p:nvPr>
            <p:ph idx="7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4" name="Google Shape;504;p30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p30"/>
          <p:cNvSpPr txBox="1"/>
          <p:nvPr>
            <p:ph idx="8" type="body"/>
          </p:nvPr>
        </p:nvSpPr>
        <p:spPr>
          <a:xfrm>
            <a:off x="266400" y="1684068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6" name="Google Shape;506;p30"/>
          <p:cNvSpPr txBox="1"/>
          <p:nvPr>
            <p:ph idx="9" type="body"/>
          </p:nvPr>
        </p:nvSpPr>
        <p:spPr>
          <a:xfrm>
            <a:off x="266400" y="4104156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7" name="Google Shape;507;p30"/>
          <p:cNvSpPr txBox="1"/>
          <p:nvPr>
            <p:ph idx="13" type="body"/>
          </p:nvPr>
        </p:nvSpPr>
        <p:spPr>
          <a:xfrm>
            <a:off x="2649600" y="4104156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8" name="Google Shape;508;p30"/>
          <p:cNvSpPr txBox="1"/>
          <p:nvPr>
            <p:ph idx="14" type="body"/>
          </p:nvPr>
        </p:nvSpPr>
        <p:spPr>
          <a:xfrm>
            <a:off x="5023912" y="4104156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9" name="Google Shape;509;p30"/>
          <p:cNvSpPr txBox="1"/>
          <p:nvPr>
            <p:ph idx="15" type="body"/>
          </p:nvPr>
        </p:nvSpPr>
        <p:spPr>
          <a:xfrm>
            <a:off x="7401600" y="4104156"/>
            <a:ext cx="2232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2">
  <p:cSld name="Content 22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1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2" name="Google Shape;512;p31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3" name="Google Shape;513;p31"/>
          <p:cNvSpPr txBox="1"/>
          <p:nvPr>
            <p:ph idx="2" type="body"/>
          </p:nvPr>
        </p:nvSpPr>
        <p:spPr>
          <a:xfrm>
            <a:off x="266400" y="1900800"/>
            <a:ext cx="4608000" cy="45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4" name="Google Shape;514;p31"/>
          <p:cNvSpPr txBox="1"/>
          <p:nvPr>
            <p:ph idx="3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5" name="Google Shape;515;p31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6" name="Google Shape;516;p31"/>
          <p:cNvSpPr txBox="1"/>
          <p:nvPr>
            <p:ph idx="4" type="body"/>
          </p:nvPr>
        </p:nvSpPr>
        <p:spPr>
          <a:xfrm>
            <a:off x="266400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7" name="Google Shape;517;p31"/>
          <p:cNvSpPr txBox="1"/>
          <p:nvPr>
            <p:ph idx="5" type="body"/>
          </p:nvPr>
        </p:nvSpPr>
        <p:spPr>
          <a:xfrm>
            <a:off x="5020296" y="1900800"/>
            <a:ext cx="4608000" cy="1312176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8" name="Google Shape;518;p31"/>
          <p:cNvSpPr txBox="1"/>
          <p:nvPr>
            <p:ph idx="6" type="body"/>
          </p:nvPr>
        </p:nvSpPr>
        <p:spPr>
          <a:xfrm>
            <a:off x="5020296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9" name="Google Shape;519;p31"/>
          <p:cNvSpPr txBox="1"/>
          <p:nvPr>
            <p:ph idx="7" type="body"/>
          </p:nvPr>
        </p:nvSpPr>
        <p:spPr>
          <a:xfrm>
            <a:off x="5020296" y="3556984"/>
            <a:ext cx="4608000" cy="1312176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0" name="Google Shape;520;p31"/>
          <p:cNvSpPr txBox="1"/>
          <p:nvPr>
            <p:ph idx="8" type="body"/>
          </p:nvPr>
        </p:nvSpPr>
        <p:spPr>
          <a:xfrm>
            <a:off x="5020296" y="3340252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1" name="Google Shape;521;p31"/>
          <p:cNvSpPr txBox="1"/>
          <p:nvPr>
            <p:ph idx="9" type="body"/>
          </p:nvPr>
        </p:nvSpPr>
        <p:spPr>
          <a:xfrm>
            <a:off x="5020296" y="5213168"/>
            <a:ext cx="4608000" cy="1225732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2" name="Google Shape;522;p31"/>
          <p:cNvSpPr txBox="1"/>
          <p:nvPr>
            <p:ph idx="13" type="body"/>
          </p:nvPr>
        </p:nvSpPr>
        <p:spPr>
          <a:xfrm>
            <a:off x="5020296" y="4996436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3">
  <p:cSld name="Content 23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2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5" name="Google Shape;525;p32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6" name="Google Shape;526;p32"/>
          <p:cNvSpPr txBox="1"/>
          <p:nvPr>
            <p:ph idx="2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7" name="Google Shape;527;p32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8" name="Google Shape;528;p32"/>
          <p:cNvSpPr txBox="1"/>
          <p:nvPr>
            <p:ph idx="3" type="body"/>
          </p:nvPr>
        </p:nvSpPr>
        <p:spPr>
          <a:xfrm>
            <a:off x="266400" y="1900800"/>
            <a:ext cx="4608000" cy="1312176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9" name="Google Shape;529;p32"/>
          <p:cNvSpPr txBox="1"/>
          <p:nvPr>
            <p:ph idx="4" type="body"/>
          </p:nvPr>
        </p:nvSpPr>
        <p:spPr>
          <a:xfrm>
            <a:off x="266400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0" name="Google Shape;530;p32"/>
          <p:cNvSpPr txBox="1"/>
          <p:nvPr>
            <p:ph idx="5" type="body"/>
          </p:nvPr>
        </p:nvSpPr>
        <p:spPr>
          <a:xfrm>
            <a:off x="266400" y="3556984"/>
            <a:ext cx="4608000" cy="1312176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1" name="Google Shape;531;p32"/>
          <p:cNvSpPr txBox="1"/>
          <p:nvPr>
            <p:ph idx="6" type="body"/>
          </p:nvPr>
        </p:nvSpPr>
        <p:spPr>
          <a:xfrm>
            <a:off x="266400" y="3340252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2" name="Google Shape;532;p32"/>
          <p:cNvSpPr txBox="1"/>
          <p:nvPr>
            <p:ph idx="7" type="body"/>
          </p:nvPr>
        </p:nvSpPr>
        <p:spPr>
          <a:xfrm>
            <a:off x="266400" y="5213168"/>
            <a:ext cx="4608000" cy="1225732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3" name="Google Shape;533;p32"/>
          <p:cNvSpPr txBox="1"/>
          <p:nvPr>
            <p:ph idx="8" type="body"/>
          </p:nvPr>
        </p:nvSpPr>
        <p:spPr>
          <a:xfrm>
            <a:off x="266400" y="4996436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4" name="Google Shape;534;p32"/>
          <p:cNvSpPr txBox="1"/>
          <p:nvPr>
            <p:ph idx="9" type="body"/>
          </p:nvPr>
        </p:nvSpPr>
        <p:spPr>
          <a:xfrm>
            <a:off x="5025008" y="1900800"/>
            <a:ext cx="4608000" cy="45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5" name="Google Shape;535;p32"/>
          <p:cNvSpPr txBox="1"/>
          <p:nvPr>
            <p:ph idx="13" type="body"/>
          </p:nvPr>
        </p:nvSpPr>
        <p:spPr>
          <a:xfrm>
            <a:off x="5025008" y="1684068"/>
            <a:ext cx="4608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4">
  <p:cSld name="Content 24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3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8" name="Google Shape;538;p33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9" name="Google Shape;539;p33"/>
          <p:cNvSpPr txBox="1"/>
          <p:nvPr>
            <p:ph idx="2" type="body"/>
          </p:nvPr>
        </p:nvSpPr>
        <p:spPr>
          <a:xfrm>
            <a:off x="266400" y="1900799"/>
            <a:ext cx="9360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0" name="Google Shape;540;p33"/>
          <p:cNvSpPr txBox="1"/>
          <p:nvPr>
            <p:ph idx="3" type="body"/>
          </p:nvPr>
        </p:nvSpPr>
        <p:spPr>
          <a:xfrm>
            <a:off x="266400" y="4324854"/>
            <a:ext cx="3023057" cy="2114046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1" name="Google Shape;541;p33"/>
          <p:cNvSpPr txBox="1"/>
          <p:nvPr>
            <p:ph idx="4" type="body"/>
          </p:nvPr>
        </p:nvSpPr>
        <p:spPr>
          <a:xfrm>
            <a:off x="6609600" y="4324854"/>
            <a:ext cx="3023057" cy="2114046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2" name="Google Shape;542;p33"/>
          <p:cNvSpPr txBox="1"/>
          <p:nvPr>
            <p:ph idx="5" type="body"/>
          </p:nvPr>
        </p:nvSpPr>
        <p:spPr>
          <a:xfrm>
            <a:off x="3439800" y="4324854"/>
            <a:ext cx="3023057" cy="2114046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3" name="Google Shape;543;p33"/>
          <p:cNvSpPr txBox="1"/>
          <p:nvPr>
            <p:ph idx="6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4" name="Google Shape;544;p33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5" name="Google Shape;545;p33"/>
          <p:cNvSpPr txBox="1"/>
          <p:nvPr>
            <p:ph idx="7" type="body"/>
          </p:nvPr>
        </p:nvSpPr>
        <p:spPr>
          <a:xfrm>
            <a:off x="266400" y="1684068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6" name="Google Shape;546;p33"/>
          <p:cNvSpPr txBox="1"/>
          <p:nvPr>
            <p:ph idx="8" type="body"/>
          </p:nvPr>
        </p:nvSpPr>
        <p:spPr>
          <a:xfrm>
            <a:off x="266400" y="4116348"/>
            <a:ext cx="3023057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7" name="Google Shape;547;p33"/>
          <p:cNvSpPr txBox="1"/>
          <p:nvPr>
            <p:ph idx="9" type="body"/>
          </p:nvPr>
        </p:nvSpPr>
        <p:spPr>
          <a:xfrm>
            <a:off x="3440856" y="4116348"/>
            <a:ext cx="3023057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8" name="Google Shape;548;p33"/>
          <p:cNvSpPr txBox="1"/>
          <p:nvPr>
            <p:ph idx="13" type="body"/>
          </p:nvPr>
        </p:nvSpPr>
        <p:spPr>
          <a:xfrm>
            <a:off x="6609600" y="4116348"/>
            <a:ext cx="3023057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5">
  <p:cSld name="Content 25"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4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1" name="Google Shape;551;p34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2" name="Google Shape;552;p34"/>
          <p:cNvSpPr txBox="1"/>
          <p:nvPr>
            <p:ph idx="2" type="body"/>
          </p:nvPr>
        </p:nvSpPr>
        <p:spPr>
          <a:xfrm>
            <a:off x="266400" y="1899072"/>
            <a:ext cx="3024000" cy="21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3" name="Google Shape;553;p34"/>
          <p:cNvSpPr txBox="1"/>
          <p:nvPr>
            <p:ph idx="3" type="body"/>
          </p:nvPr>
        </p:nvSpPr>
        <p:spPr>
          <a:xfrm>
            <a:off x="6609600" y="1899072"/>
            <a:ext cx="3024000" cy="21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4" name="Google Shape;554;p34"/>
          <p:cNvSpPr txBox="1"/>
          <p:nvPr>
            <p:ph idx="4" type="body"/>
          </p:nvPr>
        </p:nvSpPr>
        <p:spPr>
          <a:xfrm>
            <a:off x="3439800" y="1899072"/>
            <a:ext cx="3024000" cy="21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5" name="Google Shape;555;p34"/>
          <p:cNvSpPr txBox="1"/>
          <p:nvPr>
            <p:ph idx="5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6" name="Google Shape;556;p34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7" name="Google Shape;557;p34"/>
          <p:cNvSpPr txBox="1"/>
          <p:nvPr>
            <p:ph idx="6" type="body"/>
          </p:nvPr>
        </p:nvSpPr>
        <p:spPr>
          <a:xfrm>
            <a:off x="266400" y="1684800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8" name="Google Shape;558;p34"/>
          <p:cNvSpPr txBox="1"/>
          <p:nvPr>
            <p:ph idx="7" type="body"/>
          </p:nvPr>
        </p:nvSpPr>
        <p:spPr>
          <a:xfrm>
            <a:off x="3440856" y="1684800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9" name="Google Shape;559;p34"/>
          <p:cNvSpPr txBox="1"/>
          <p:nvPr>
            <p:ph idx="8" type="body"/>
          </p:nvPr>
        </p:nvSpPr>
        <p:spPr>
          <a:xfrm>
            <a:off x="6609600" y="1684800"/>
            <a:ext cx="3024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0" name="Google Shape;560;p34"/>
          <p:cNvSpPr txBox="1"/>
          <p:nvPr>
            <p:ph idx="9" type="body"/>
          </p:nvPr>
        </p:nvSpPr>
        <p:spPr>
          <a:xfrm>
            <a:off x="266400" y="4351553"/>
            <a:ext cx="9360000" cy="2087347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1" name="Google Shape;561;p34"/>
          <p:cNvSpPr txBox="1"/>
          <p:nvPr>
            <p:ph idx="13" type="body"/>
          </p:nvPr>
        </p:nvSpPr>
        <p:spPr>
          <a:xfrm>
            <a:off x="266400" y="4134822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6">
  <p:cSld name="Content 26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5"/>
          <p:cNvSpPr txBox="1"/>
          <p:nvPr>
            <p:ph idx="1" type="body"/>
          </p:nvPr>
        </p:nvSpPr>
        <p:spPr>
          <a:xfrm>
            <a:off x="266400" y="4624482"/>
            <a:ext cx="4608000" cy="1814418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4" name="Google Shape;564;p35"/>
          <p:cNvSpPr txBox="1"/>
          <p:nvPr>
            <p:ph idx="2" type="body"/>
          </p:nvPr>
        </p:nvSpPr>
        <p:spPr>
          <a:xfrm>
            <a:off x="5016751" y="4624482"/>
            <a:ext cx="4608000" cy="1814418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5" name="Google Shape;565;p35"/>
          <p:cNvSpPr txBox="1"/>
          <p:nvPr>
            <p:ph idx="3" type="body"/>
          </p:nvPr>
        </p:nvSpPr>
        <p:spPr>
          <a:xfrm>
            <a:off x="266400" y="2204864"/>
            <a:ext cx="4608000" cy="174422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6" name="Google Shape;566;p35"/>
          <p:cNvSpPr txBox="1"/>
          <p:nvPr>
            <p:ph idx="4" type="body"/>
          </p:nvPr>
        </p:nvSpPr>
        <p:spPr>
          <a:xfrm>
            <a:off x="5016751" y="2204864"/>
            <a:ext cx="4608000" cy="174422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7" name="Google Shape;567;p35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8" name="Google Shape;568;p35"/>
          <p:cNvSpPr txBox="1"/>
          <p:nvPr>
            <p:ph idx="5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9" name="Google Shape;569;p35"/>
          <p:cNvSpPr txBox="1"/>
          <p:nvPr>
            <p:ph idx="6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0" name="Google Shape;570;p35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1" name="Google Shape;571;p35"/>
          <p:cNvSpPr txBox="1"/>
          <p:nvPr>
            <p:ph idx="7" type="body"/>
          </p:nvPr>
        </p:nvSpPr>
        <p:spPr>
          <a:xfrm>
            <a:off x="266400" y="1684068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2" name="Google Shape;572;p35"/>
          <p:cNvSpPr txBox="1"/>
          <p:nvPr>
            <p:ph idx="8" type="body"/>
          </p:nvPr>
        </p:nvSpPr>
        <p:spPr>
          <a:xfrm>
            <a:off x="266400" y="4091964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3" name="Google Shape;573;p35"/>
          <p:cNvSpPr txBox="1"/>
          <p:nvPr>
            <p:ph idx="9" type="body"/>
          </p:nvPr>
        </p:nvSpPr>
        <p:spPr>
          <a:xfrm>
            <a:off x="266400" y="1988864"/>
            <a:ext cx="4608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4" name="Google Shape;574;p35"/>
          <p:cNvSpPr txBox="1"/>
          <p:nvPr>
            <p:ph idx="13" type="body"/>
          </p:nvPr>
        </p:nvSpPr>
        <p:spPr>
          <a:xfrm>
            <a:off x="5018400" y="1988864"/>
            <a:ext cx="4608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5" name="Google Shape;575;p35"/>
          <p:cNvSpPr txBox="1"/>
          <p:nvPr>
            <p:ph idx="14" type="body"/>
          </p:nvPr>
        </p:nvSpPr>
        <p:spPr>
          <a:xfrm>
            <a:off x="266400" y="4406522"/>
            <a:ext cx="4608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6" name="Google Shape;576;p35"/>
          <p:cNvSpPr txBox="1"/>
          <p:nvPr>
            <p:ph idx="15" type="body"/>
          </p:nvPr>
        </p:nvSpPr>
        <p:spPr>
          <a:xfrm>
            <a:off x="5018400" y="4406522"/>
            <a:ext cx="4608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7">
  <p:cSld name="Content 27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6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9" name="Google Shape;579;p36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0" name="Google Shape;580;p36"/>
          <p:cNvSpPr txBox="1"/>
          <p:nvPr>
            <p:ph idx="2" type="body"/>
          </p:nvPr>
        </p:nvSpPr>
        <p:spPr>
          <a:xfrm>
            <a:off x="266400" y="2187104"/>
            <a:ext cx="3024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1" name="Google Shape;581;p36"/>
          <p:cNvSpPr txBox="1"/>
          <p:nvPr>
            <p:ph idx="3" type="body"/>
          </p:nvPr>
        </p:nvSpPr>
        <p:spPr>
          <a:xfrm>
            <a:off x="6609600" y="2187104"/>
            <a:ext cx="3024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2" name="Google Shape;582;p36"/>
          <p:cNvSpPr txBox="1"/>
          <p:nvPr>
            <p:ph idx="4" type="body"/>
          </p:nvPr>
        </p:nvSpPr>
        <p:spPr>
          <a:xfrm>
            <a:off x="3439800" y="2187104"/>
            <a:ext cx="3024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3" name="Google Shape;583;p36"/>
          <p:cNvSpPr txBox="1"/>
          <p:nvPr>
            <p:ph idx="5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4" name="Google Shape;584;p36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5" name="Google Shape;585;p36"/>
          <p:cNvSpPr txBox="1"/>
          <p:nvPr>
            <p:ph idx="6" type="body"/>
          </p:nvPr>
        </p:nvSpPr>
        <p:spPr>
          <a:xfrm>
            <a:off x="266400" y="1684068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6" name="Google Shape;586;p36"/>
          <p:cNvSpPr txBox="1"/>
          <p:nvPr>
            <p:ph idx="7" type="body"/>
          </p:nvPr>
        </p:nvSpPr>
        <p:spPr>
          <a:xfrm>
            <a:off x="266400" y="1978598"/>
            <a:ext cx="3024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7" name="Google Shape;587;p36"/>
          <p:cNvSpPr txBox="1"/>
          <p:nvPr>
            <p:ph idx="8" type="body"/>
          </p:nvPr>
        </p:nvSpPr>
        <p:spPr>
          <a:xfrm>
            <a:off x="3440856" y="1978598"/>
            <a:ext cx="3024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8" name="Google Shape;588;p36"/>
          <p:cNvSpPr txBox="1"/>
          <p:nvPr>
            <p:ph idx="9" type="body"/>
          </p:nvPr>
        </p:nvSpPr>
        <p:spPr>
          <a:xfrm>
            <a:off x="6609600" y="1978598"/>
            <a:ext cx="3024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9" name="Google Shape;589;p36"/>
          <p:cNvSpPr txBox="1"/>
          <p:nvPr>
            <p:ph idx="13" type="body"/>
          </p:nvPr>
        </p:nvSpPr>
        <p:spPr>
          <a:xfrm>
            <a:off x="266400" y="4653336"/>
            <a:ext cx="3024000" cy="178556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0" name="Google Shape;590;p36"/>
          <p:cNvSpPr txBox="1"/>
          <p:nvPr>
            <p:ph idx="14" type="body"/>
          </p:nvPr>
        </p:nvSpPr>
        <p:spPr>
          <a:xfrm>
            <a:off x="6609600" y="4653336"/>
            <a:ext cx="3024000" cy="178556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1" name="Google Shape;591;p36"/>
          <p:cNvSpPr txBox="1"/>
          <p:nvPr>
            <p:ph idx="15" type="body"/>
          </p:nvPr>
        </p:nvSpPr>
        <p:spPr>
          <a:xfrm>
            <a:off x="3439800" y="4653336"/>
            <a:ext cx="3024000" cy="1785564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2" name="Google Shape;592;p36"/>
          <p:cNvSpPr txBox="1"/>
          <p:nvPr>
            <p:ph idx="16" type="body"/>
          </p:nvPr>
        </p:nvSpPr>
        <p:spPr>
          <a:xfrm>
            <a:off x="266400" y="4150300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3" name="Google Shape;593;p36"/>
          <p:cNvSpPr txBox="1"/>
          <p:nvPr>
            <p:ph idx="17" type="body"/>
          </p:nvPr>
        </p:nvSpPr>
        <p:spPr>
          <a:xfrm>
            <a:off x="266400" y="4444830"/>
            <a:ext cx="3024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4" name="Google Shape;594;p36"/>
          <p:cNvSpPr txBox="1"/>
          <p:nvPr>
            <p:ph idx="18" type="body"/>
          </p:nvPr>
        </p:nvSpPr>
        <p:spPr>
          <a:xfrm>
            <a:off x="3440856" y="4444830"/>
            <a:ext cx="3024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5" name="Google Shape;595;p36"/>
          <p:cNvSpPr txBox="1"/>
          <p:nvPr>
            <p:ph idx="19" type="body"/>
          </p:nvPr>
        </p:nvSpPr>
        <p:spPr>
          <a:xfrm>
            <a:off x="6609600" y="4444830"/>
            <a:ext cx="3024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8">
  <p:cSld name="Content 28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7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8" name="Google Shape;598;p37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9" name="Google Shape;599;p37"/>
          <p:cNvSpPr txBox="1"/>
          <p:nvPr>
            <p:ph idx="2" type="body"/>
          </p:nvPr>
        </p:nvSpPr>
        <p:spPr>
          <a:xfrm>
            <a:off x="266400" y="2185814"/>
            <a:ext cx="2232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0" name="Google Shape;600;p37"/>
          <p:cNvSpPr txBox="1"/>
          <p:nvPr>
            <p:ph idx="3" type="body"/>
          </p:nvPr>
        </p:nvSpPr>
        <p:spPr>
          <a:xfrm>
            <a:off x="2655300" y="2185814"/>
            <a:ext cx="2232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1" name="Google Shape;601;p37"/>
          <p:cNvSpPr txBox="1"/>
          <p:nvPr>
            <p:ph idx="4" type="body"/>
          </p:nvPr>
        </p:nvSpPr>
        <p:spPr>
          <a:xfrm>
            <a:off x="5031300" y="2185814"/>
            <a:ext cx="2232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2" name="Google Shape;602;p37"/>
          <p:cNvSpPr txBox="1"/>
          <p:nvPr>
            <p:ph idx="5" type="body"/>
          </p:nvPr>
        </p:nvSpPr>
        <p:spPr>
          <a:xfrm>
            <a:off x="7407300" y="2185814"/>
            <a:ext cx="2232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3" name="Google Shape;603;p37"/>
          <p:cNvSpPr txBox="1"/>
          <p:nvPr>
            <p:ph idx="6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4" name="Google Shape;604;p37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5" name="Google Shape;605;p37"/>
          <p:cNvSpPr txBox="1"/>
          <p:nvPr>
            <p:ph idx="7" type="body"/>
          </p:nvPr>
        </p:nvSpPr>
        <p:spPr>
          <a:xfrm>
            <a:off x="266400" y="1684068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6" name="Google Shape;606;p37"/>
          <p:cNvSpPr txBox="1"/>
          <p:nvPr>
            <p:ph idx="8" type="body"/>
          </p:nvPr>
        </p:nvSpPr>
        <p:spPr>
          <a:xfrm>
            <a:off x="266400" y="1979954"/>
            <a:ext cx="2232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7" name="Google Shape;607;p37"/>
          <p:cNvSpPr txBox="1"/>
          <p:nvPr>
            <p:ph idx="9" type="body"/>
          </p:nvPr>
        </p:nvSpPr>
        <p:spPr>
          <a:xfrm>
            <a:off x="2655300" y="1979954"/>
            <a:ext cx="2232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8" name="Google Shape;608;p37"/>
          <p:cNvSpPr txBox="1"/>
          <p:nvPr>
            <p:ph idx="13" type="body"/>
          </p:nvPr>
        </p:nvSpPr>
        <p:spPr>
          <a:xfrm>
            <a:off x="5029612" y="1979954"/>
            <a:ext cx="2232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9" name="Google Shape;609;p37"/>
          <p:cNvSpPr txBox="1"/>
          <p:nvPr>
            <p:ph idx="14" type="body"/>
          </p:nvPr>
        </p:nvSpPr>
        <p:spPr>
          <a:xfrm>
            <a:off x="7401600" y="1979954"/>
            <a:ext cx="2232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0" name="Google Shape;610;p37"/>
          <p:cNvSpPr txBox="1"/>
          <p:nvPr>
            <p:ph idx="15" type="body"/>
          </p:nvPr>
        </p:nvSpPr>
        <p:spPr>
          <a:xfrm>
            <a:off x="266400" y="4578818"/>
            <a:ext cx="2232000" cy="1860082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1" name="Google Shape;611;p37"/>
          <p:cNvSpPr txBox="1"/>
          <p:nvPr>
            <p:ph idx="16" type="body"/>
          </p:nvPr>
        </p:nvSpPr>
        <p:spPr>
          <a:xfrm>
            <a:off x="2655300" y="4578818"/>
            <a:ext cx="2232000" cy="1860082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2" name="Google Shape;612;p37"/>
          <p:cNvSpPr txBox="1"/>
          <p:nvPr>
            <p:ph idx="17" type="body"/>
          </p:nvPr>
        </p:nvSpPr>
        <p:spPr>
          <a:xfrm>
            <a:off x="5031300" y="4578818"/>
            <a:ext cx="2232000" cy="1860082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3" name="Google Shape;613;p37"/>
          <p:cNvSpPr txBox="1"/>
          <p:nvPr>
            <p:ph idx="18" type="body"/>
          </p:nvPr>
        </p:nvSpPr>
        <p:spPr>
          <a:xfrm>
            <a:off x="7401600" y="4578818"/>
            <a:ext cx="2232000" cy="1860082"/>
          </a:xfrm>
          <a:prstGeom prst="rect">
            <a:avLst/>
          </a:prstGeom>
          <a:noFill/>
          <a:ln>
            <a:noFill/>
          </a:ln>
        </p:spPr>
        <p:txBody>
          <a:bodyPr anchorCtr="0" anchor="t" bIns="64800" lIns="0" spcFirstLastPara="1" rIns="46800" wrap="square" tIns="1080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C33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■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4" name="Google Shape;614;p37"/>
          <p:cNvSpPr txBox="1"/>
          <p:nvPr>
            <p:ph idx="19" type="body"/>
          </p:nvPr>
        </p:nvSpPr>
        <p:spPr>
          <a:xfrm>
            <a:off x="266400" y="4077072"/>
            <a:ext cx="9360000" cy="216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60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5" name="Google Shape;615;p37"/>
          <p:cNvSpPr txBox="1"/>
          <p:nvPr>
            <p:ph idx="20" type="body"/>
          </p:nvPr>
        </p:nvSpPr>
        <p:spPr>
          <a:xfrm>
            <a:off x="266400" y="4372958"/>
            <a:ext cx="2232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6" name="Google Shape;616;p37"/>
          <p:cNvSpPr txBox="1"/>
          <p:nvPr>
            <p:ph idx="21" type="body"/>
          </p:nvPr>
        </p:nvSpPr>
        <p:spPr>
          <a:xfrm>
            <a:off x="2655300" y="4372958"/>
            <a:ext cx="2232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7" name="Google Shape;617;p37"/>
          <p:cNvSpPr txBox="1"/>
          <p:nvPr>
            <p:ph idx="22" type="body"/>
          </p:nvPr>
        </p:nvSpPr>
        <p:spPr>
          <a:xfrm>
            <a:off x="5029612" y="4372958"/>
            <a:ext cx="2232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8" name="Google Shape;618;p37"/>
          <p:cNvSpPr txBox="1"/>
          <p:nvPr>
            <p:ph idx="23" type="body"/>
          </p:nvPr>
        </p:nvSpPr>
        <p:spPr>
          <a:xfrm>
            <a:off x="7401600" y="4372958"/>
            <a:ext cx="2232000" cy="2160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b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  <a:defRPr b="1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5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10"/>
              </a:spcBef>
              <a:spcAft>
                <a:spcPts val="21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9">
  <p:cSld name="Content 29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8"/>
          <p:cNvSpPr txBox="1"/>
          <p:nvPr>
            <p:ph type="title"/>
          </p:nvPr>
        </p:nvSpPr>
        <p:spPr>
          <a:xfrm>
            <a:off x="1897200" y="57600"/>
            <a:ext cx="633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1" name="Google Shape;621;p38"/>
          <p:cNvSpPr txBox="1"/>
          <p:nvPr>
            <p:ph idx="1" type="body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1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2" name="Google Shape;622;p38"/>
          <p:cNvSpPr txBox="1"/>
          <p:nvPr>
            <p:ph idx="2" type="body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194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3" name="Google Shape;623;p38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0_Blank">
  <p:cSld name="Content 30_Blank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9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1_Complete Blank" showMasterSp="0">
  <p:cSld name="Content 31_Complete Blank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0"/>
          <p:cNvSpPr txBox="1"/>
          <p:nvPr>
            <p:ph idx="11" type="ftr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19.xml"/><Relationship Id="rId41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39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15.xml"/><Relationship Id="rId3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522729" y="0"/>
            <a:ext cx="8383423" cy="842963"/>
          </a:xfrm>
          <a:custGeom>
            <a:rect b="b" l="l" r="r" t="t"/>
            <a:pathLst>
              <a:path extrusionOk="0" h="10000" w="9982">
                <a:moveTo>
                  <a:pt x="0" y="3202"/>
                </a:moveTo>
                <a:cubicBezTo>
                  <a:pt x="102" y="5468"/>
                  <a:pt x="206" y="7734"/>
                  <a:pt x="308" y="10000"/>
                </a:cubicBezTo>
                <a:lnTo>
                  <a:pt x="9982" y="10000"/>
                </a:lnTo>
                <a:lnTo>
                  <a:pt x="9982" y="0"/>
                </a:lnTo>
                <a:lnTo>
                  <a:pt x="139" y="0"/>
                </a:lnTo>
                <a:cubicBezTo>
                  <a:pt x="93" y="1067"/>
                  <a:pt x="46" y="2135"/>
                  <a:pt x="0" y="3202"/>
                </a:cubicBez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8834400" y="6580800"/>
            <a:ext cx="79576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0" spcFirstLastPara="1" rIns="1800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NOMURA_A4_PMS_1797.emf" id="12" name="Google Shape;12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55804" y="306904"/>
            <a:ext cx="1260000" cy="22280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1522730" y="0"/>
            <a:ext cx="8428038" cy="842963"/>
          </a:xfrm>
          <a:custGeom>
            <a:rect b="b" l="l" r="r" t="t"/>
            <a:pathLst>
              <a:path extrusionOk="0" h="531" w="5309">
                <a:moveTo>
                  <a:pt x="0" y="170"/>
                </a:moveTo>
                <a:lnTo>
                  <a:pt x="163" y="531"/>
                </a:lnTo>
                <a:lnTo>
                  <a:pt x="5309" y="531"/>
                </a:lnTo>
                <a:lnTo>
                  <a:pt x="5309" y="0"/>
                </a:lnTo>
                <a:lnTo>
                  <a:pt x="74" y="0"/>
                </a:lnTo>
                <a:lnTo>
                  <a:pt x="0" y="17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1349692" y="396875"/>
            <a:ext cx="325438" cy="446088"/>
          </a:xfrm>
          <a:custGeom>
            <a:rect b="b" l="l" r="r" t="t"/>
            <a:pathLst>
              <a:path extrusionOk="0" h="281" w="205">
                <a:moveTo>
                  <a:pt x="77" y="0"/>
                </a:moveTo>
                <a:lnTo>
                  <a:pt x="0" y="179"/>
                </a:lnTo>
                <a:lnTo>
                  <a:pt x="48" y="281"/>
                </a:lnTo>
                <a:lnTo>
                  <a:pt x="205" y="281"/>
                </a:lnTo>
                <a:lnTo>
                  <a:pt x="77" y="0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1344930" y="396875"/>
            <a:ext cx="325438" cy="446088"/>
          </a:xfrm>
          <a:custGeom>
            <a:rect b="b" l="l" r="r" t="t"/>
            <a:pathLst>
              <a:path extrusionOk="0" h="281" w="205">
                <a:moveTo>
                  <a:pt x="77" y="0"/>
                </a:moveTo>
                <a:lnTo>
                  <a:pt x="0" y="179"/>
                </a:lnTo>
                <a:lnTo>
                  <a:pt x="48" y="281"/>
                </a:lnTo>
                <a:lnTo>
                  <a:pt x="205" y="281"/>
                </a:lnTo>
                <a:lnTo>
                  <a:pt x="77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1305242" y="0"/>
            <a:ext cx="222250" cy="396875"/>
          </a:xfrm>
          <a:custGeom>
            <a:rect b="b" l="l" r="r" t="t"/>
            <a:pathLst>
              <a:path extrusionOk="0" h="250" w="140">
                <a:moveTo>
                  <a:pt x="67" y="0"/>
                </a:moveTo>
                <a:lnTo>
                  <a:pt x="0" y="0"/>
                </a:lnTo>
                <a:lnTo>
                  <a:pt x="0" y="6"/>
                </a:lnTo>
                <a:lnTo>
                  <a:pt x="105" y="250"/>
                </a:lnTo>
                <a:lnTo>
                  <a:pt x="140" y="170"/>
                </a:lnTo>
                <a:lnTo>
                  <a:pt x="67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300480" y="0"/>
            <a:ext cx="222250" cy="396875"/>
          </a:xfrm>
          <a:custGeom>
            <a:rect b="b" l="l" r="r" t="t"/>
            <a:pathLst>
              <a:path extrusionOk="0" h="250" w="140">
                <a:moveTo>
                  <a:pt x="67" y="0"/>
                </a:moveTo>
                <a:lnTo>
                  <a:pt x="0" y="0"/>
                </a:lnTo>
                <a:lnTo>
                  <a:pt x="0" y="6"/>
                </a:lnTo>
                <a:lnTo>
                  <a:pt x="105" y="250"/>
                </a:lnTo>
                <a:lnTo>
                  <a:pt x="140" y="170"/>
                </a:lnTo>
                <a:lnTo>
                  <a:pt x="67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943292" y="284163"/>
            <a:ext cx="411163" cy="558800"/>
          </a:xfrm>
          <a:custGeom>
            <a:rect b="b" l="l" r="r" t="t"/>
            <a:pathLst>
              <a:path extrusionOk="0" h="352" w="259">
                <a:moveTo>
                  <a:pt x="154" y="0"/>
                </a:moveTo>
                <a:lnTo>
                  <a:pt x="0" y="352"/>
                </a:lnTo>
                <a:lnTo>
                  <a:pt x="215" y="352"/>
                </a:lnTo>
                <a:lnTo>
                  <a:pt x="259" y="250"/>
                </a:lnTo>
                <a:lnTo>
                  <a:pt x="154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933768" y="284163"/>
            <a:ext cx="411163" cy="558800"/>
          </a:xfrm>
          <a:custGeom>
            <a:rect b="b" l="l" r="r" t="t"/>
            <a:pathLst>
              <a:path extrusionOk="0" h="352" w="259">
                <a:moveTo>
                  <a:pt x="154" y="0"/>
                </a:moveTo>
                <a:lnTo>
                  <a:pt x="0" y="352"/>
                </a:lnTo>
                <a:lnTo>
                  <a:pt x="215" y="352"/>
                </a:lnTo>
                <a:lnTo>
                  <a:pt x="259" y="250"/>
                </a:lnTo>
                <a:lnTo>
                  <a:pt x="154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73366" y="0"/>
            <a:ext cx="796925" cy="842963"/>
          </a:xfrm>
          <a:custGeom>
            <a:rect b="b" l="l" r="r" t="t"/>
            <a:pathLst>
              <a:path extrusionOk="0" h="531" w="502">
                <a:moveTo>
                  <a:pt x="502" y="0"/>
                </a:moveTo>
                <a:lnTo>
                  <a:pt x="224" y="0"/>
                </a:lnTo>
                <a:lnTo>
                  <a:pt x="0" y="531"/>
                </a:lnTo>
                <a:lnTo>
                  <a:pt x="275" y="531"/>
                </a:lnTo>
                <a:lnTo>
                  <a:pt x="502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59080" y="0"/>
            <a:ext cx="796925" cy="842963"/>
          </a:xfrm>
          <a:custGeom>
            <a:rect b="b" l="l" r="r" t="t"/>
            <a:pathLst>
              <a:path extrusionOk="0" h="531" w="502">
                <a:moveTo>
                  <a:pt x="502" y="0"/>
                </a:moveTo>
                <a:lnTo>
                  <a:pt x="224" y="0"/>
                </a:lnTo>
                <a:lnTo>
                  <a:pt x="0" y="531"/>
                </a:lnTo>
                <a:lnTo>
                  <a:pt x="275" y="531"/>
                </a:lnTo>
                <a:lnTo>
                  <a:pt x="502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406843" y="0"/>
            <a:ext cx="233363" cy="269875"/>
          </a:xfrm>
          <a:custGeom>
            <a:rect b="b" l="l" r="r" t="t"/>
            <a:pathLst>
              <a:path extrusionOk="0" h="170" w="147">
                <a:moveTo>
                  <a:pt x="0" y="0"/>
                </a:moveTo>
                <a:lnTo>
                  <a:pt x="73" y="170"/>
                </a:lnTo>
                <a:lnTo>
                  <a:pt x="147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406843" y="0"/>
            <a:ext cx="233363" cy="269875"/>
          </a:xfrm>
          <a:custGeom>
            <a:rect b="b" l="l" r="r" t="t"/>
            <a:pathLst>
              <a:path extrusionOk="0" h="170" w="147">
                <a:moveTo>
                  <a:pt x="0" y="0"/>
                </a:moveTo>
                <a:lnTo>
                  <a:pt x="73" y="170"/>
                </a:lnTo>
                <a:lnTo>
                  <a:pt x="147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409224" y="0"/>
            <a:ext cx="233363" cy="269875"/>
          </a:xfrm>
          <a:custGeom>
            <a:rect b="b" l="l" r="r" t="t"/>
            <a:pathLst>
              <a:path extrusionOk="0" h="170" w="147">
                <a:moveTo>
                  <a:pt x="147" y="0"/>
                </a:moveTo>
                <a:lnTo>
                  <a:pt x="0" y="0"/>
                </a:lnTo>
                <a:lnTo>
                  <a:pt x="73" y="170"/>
                </a:lnTo>
                <a:lnTo>
                  <a:pt x="147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406843" y="0"/>
            <a:ext cx="233363" cy="269875"/>
          </a:xfrm>
          <a:custGeom>
            <a:rect b="b" l="l" r="r" t="t"/>
            <a:pathLst>
              <a:path extrusionOk="0" h="170" w="147">
                <a:moveTo>
                  <a:pt x="147" y="0"/>
                </a:moveTo>
                <a:lnTo>
                  <a:pt x="0" y="0"/>
                </a:lnTo>
                <a:lnTo>
                  <a:pt x="73" y="170"/>
                </a:lnTo>
                <a:lnTo>
                  <a:pt x="147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185386" y="9525"/>
            <a:ext cx="288925" cy="671513"/>
          </a:xfrm>
          <a:custGeom>
            <a:rect b="b" l="l" r="r" t="t"/>
            <a:pathLst>
              <a:path extrusionOk="0" h="423" w="182">
                <a:moveTo>
                  <a:pt x="77" y="0"/>
                </a:moveTo>
                <a:lnTo>
                  <a:pt x="0" y="173"/>
                </a:lnTo>
                <a:lnTo>
                  <a:pt x="105" y="423"/>
                </a:lnTo>
                <a:lnTo>
                  <a:pt x="182" y="244"/>
                </a:lnTo>
                <a:lnTo>
                  <a:pt x="77" y="0"/>
                </a:lnTo>
                <a:close/>
              </a:path>
            </a:pathLst>
          </a:custGeom>
          <a:solidFill>
            <a:srgbClr val="ACAC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178243" y="9525"/>
            <a:ext cx="288925" cy="671513"/>
          </a:xfrm>
          <a:custGeom>
            <a:rect b="b" l="l" r="r" t="t"/>
            <a:pathLst>
              <a:path extrusionOk="0" h="423" w="182">
                <a:moveTo>
                  <a:pt x="77" y="0"/>
                </a:moveTo>
                <a:lnTo>
                  <a:pt x="0" y="173"/>
                </a:lnTo>
                <a:lnTo>
                  <a:pt x="105" y="423"/>
                </a:lnTo>
                <a:lnTo>
                  <a:pt x="182" y="244"/>
                </a:lnTo>
                <a:lnTo>
                  <a:pt x="77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294130" y="0"/>
            <a:ext cx="6350" cy="9525"/>
          </a:xfrm>
          <a:custGeom>
            <a:rect b="b" l="l" r="r" t="t"/>
            <a:pathLst>
              <a:path extrusionOk="0" h="6" w="4">
                <a:moveTo>
                  <a:pt x="4" y="0"/>
                </a:moveTo>
                <a:lnTo>
                  <a:pt x="0" y="0"/>
                </a:lnTo>
                <a:lnTo>
                  <a:pt x="4" y="6"/>
                </a:lnTo>
                <a:lnTo>
                  <a:pt x="4" y="0"/>
                </a:lnTo>
                <a:close/>
              </a:path>
            </a:pathLst>
          </a:custGeom>
          <a:solidFill>
            <a:srgbClr val="ACAC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294130" y="0"/>
            <a:ext cx="6350" cy="9525"/>
          </a:xfrm>
          <a:custGeom>
            <a:rect b="b" l="l" r="r" t="t"/>
            <a:pathLst>
              <a:path extrusionOk="0" h="6" w="4">
                <a:moveTo>
                  <a:pt x="4" y="0"/>
                </a:moveTo>
                <a:lnTo>
                  <a:pt x="0" y="0"/>
                </a:lnTo>
                <a:lnTo>
                  <a:pt x="4" y="6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07548" y="0"/>
            <a:ext cx="482600" cy="842963"/>
          </a:xfrm>
          <a:custGeom>
            <a:rect b="b" l="l" r="r" t="t"/>
            <a:pathLst>
              <a:path extrusionOk="0" h="531" w="304">
                <a:moveTo>
                  <a:pt x="227" y="0"/>
                </a:moveTo>
                <a:lnTo>
                  <a:pt x="227" y="0"/>
                </a:lnTo>
                <a:lnTo>
                  <a:pt x="0" y="531"/>
                </a:lnTo>
                <a:lnTo>
                  <a:pt x="150" y="531"/>
                </a:lnTo>
                <a:lnTo>
                  <a:pt x="304" y="179"/>
                </a:lnTo>
                <a:lnTo>
                  <a:pt x="227" y="0"/>
                </a:lnTo>
                <a:close/>
              </a:path>
            </a:pathLst>
          </a:custGeom>
          <a:solidFill>
            <a:srgbClr val="ACAC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95643" y="0"/>
            <a:ext cx="482600" cy="842963"/>
          </a:xfrm>
          <a:custGeom>
            <a:rect b="b" l="l" r="r" t="t"/>
            <a:pathLst>
              <a:path extrusionOk="0" h="531" w="304">
                <a:moveTo>
                  <a:pt x="227" y="0"/>
                </a:moveTo>
                <a:lnTo>
                  <a:pt x="227" y="0"/>
                </a:lnTo>
                <a:lnTo>
                  <a:pt x="0" y="531"/>
                </a:lnTo>
                <a:lnTo>
                  <a:pt x="150" y="531"/>
                </a:lnTo>
                <a:lnTo>
                  <a:pt x="304" y="179"/>
                </a:lnTo>
                <a:lnTo>
                  <a:pt x="227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065529" y="0"/>
            <a:ext cx="244475" cy="284163"/>
          </a:xfrm>
          <a:custGeom>
            <a:rect b="b" l="l" r="r" t="t"/>
            <a:pathLst>
              <a:path extrusionOk="0" h="179" w="154">
                <a:moveTo>
                  <a:pt x="150" y="0"/>
                </a:moveTo>
                <a:lnTo>
                  <a:pt x="0" y="0"/>
                </a:lnTo>
                <a:lnTo>
                  <a:pt x="77" y="179"/>
                </a:lnTo>
                <a:lnTo>
                  <a:pt x="154" y="6"/>
                </a:lnTo>
                <a:lnTo>
                  <a:pt x="150" y="0"/>
                </a:lnTo>
                <a:close/>
              </a:path>
            </a:pathLst>
          </a:custGeom>
          <a:solidFill>
            <a:srgbClr val="909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1056005" y="0"/>
            <a:ext cx="244475" cy="284163"/>
          </a:xfrm>
          <a:custGeom>
            <a:rect b="b" l="l" r="r" t="t"/>
            <a:pathLst>
              <a:path extrusionOk="0" h="179" w="154">
                <a:moveTo>
                  <a:pt x="150" y="0"/>
                </a:moveTo>
                <a:lnTo>
                  <a:pt x="0" y="0"/>
                </a:lnTo>
                <a:lnTo>
                  <a:pt x="77" y="179"/>
                </a:lnTo>
                <a:lnTo>
                  <a:pt x="154" y="6"/>
                </a:lnTo>
                <a:lnTo>
                  <a:pt x="150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1056005" y="0"/>
            <a:ext cx="1588" cy="1588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1056005" y="0"/>
            <a:ext cx="1588" cy="15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265176" y="2880360"/>
            <a:ext cx="7196328" cy="85953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インド株アクティブ戦略</a:t>
            </a:r>
            <a:endParaRPr lang="ja-JP" sz="2400" dirty="0"/>
          </a:p>
        </p:txBody>
      </p:sp>
      <p:sp>
        <p:nvSpPr>
          <p:cNvPr id="3" name="Text 0"/>
          <p:cNvSpPr/>
          <p:nvPr>
            <p:ph type="body" idx="1"/>
          </p:nvPr>
        </p:nvSpPr>
        <p:spPr>
          <a:xfrm>
            <a:off x="265176" y="3886200"/>
            <a:ext cx="7196328" cy="51206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異常回転率（abn_to）の検証（10/30）</a:t>
            </a:r>
            <a:endParaRPr lang="ja-JP" sz="1800" dirty="0"/>
          </a:p>
        </p:txBody>
      </p:sp>
      <p:sp>
        <p:nvSpPr>
          <p:cNvPr id="4" name="Text 0"/>
          <p:cNvSpPr/>
          <p:nvPr>
            <p:ph type="body" idx="4"/>
          </p:nvPr>
        </p:nvSpPr>
        <p:spPr>
          <a:xfrm>
            <a:off x="265176" y="4864608"/>
            <a:ext cx="3959352" cy="7955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ja-JP" alt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市場分析から素材の検証まで</a:t>
            </a:r>
            <a:endParaRPr lang="ja-JP" sz="1400" dirty="0"/>
          </a:p>
          <a:p>
            <a:pPr indent="0" marL="0">
              <a:buNone/>
            </a:pPr>
            <a:r>
              <a:rPr lang="ja-JP" alt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MSCI India IMI・ロングオンリー・税引後評価</a:t>
            </a:r>
            <a:endParaRPr lang="ja-JP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要旨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市場分析で見つけた出来高の変化は本物の情報だが、税引後の上乗せには届かない</a:t>
            </a:r>
            <a:endParaRPr lang="ja-JP" sz="1500" dirty="0"/>
          </a:p>
        </p:txBody>
      </p:sp>
      <p:sp>
        <p:nvSpPr>
          <p:cNvPr id="5" name="card"/>
          <p:cNvSpPr/>
          <p:nvPr/>
        </p:nvSpPr>
        <p:spPr>
          <a:xfrm>
            <a:off x="411480" y="1508760"/>
            <a:ext cx="9082735" cy="73152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8629" y="1508760"/>
            <a:ext cx="87084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CB24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出発点: </a:t>
            </a:r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暫定スコア（現行の複合スコア）は Q5 等ウェイト超過 13.0%、税引後 8.5%。足す素材は ① 暫定スコアと独立で、② ロングオンリー・税引後でも残る必要がある</a:t>
            </a:r>
            <a:endParaRPr lang="ja-JP" sz="1200" dirty="0"/>
          </a:p>
        </p:txBody>
      </p:sp>
      <p:sp>
        <p:nvSpPr>
          <p:cNvPr id="7" name="card"/>
          <p:cNvSpPr/>
          <p:nvPr/>
        </p:nvSpPr>
        <p:spPr>
          <a:xfrm>
            <a:off x="411480" y="2423160"/>
            <a:ext cx="2096073" cy="2743200"/>
          </a:xfrm>
          <a:prstGeom prst="roundRect">
            <a:avLst>
              <a:gd name="adj" fmla="val 2617"/>
            </a:avLst>
          </a:prstGeom>
          <a:solidFill>
            <a:srgbClr val="F2F2F2"/>
          </a:solidFill>
          <a:ln/>
        </p:spPr>
      </p:sp>
      <p:sp>
        <p:nvSpPr>
          <p:cNvPr id="8" name="badge"/>
          <p:cNvSpPr/>
          <p:nvPr/>
        </p:nvSpPr>
        <p:spPr>
          <a:xfrm>
            <a:off x="565469" y="2651760"/>
            <a:ext cx="365760" cy="365760"/>
          </a:xfrm>
          <a:prstGeom prst="ellipse">
            <a:avLst/>
          </a:prstGeom>
          <a:solidFill>
            <a:srgbClr val="00305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65469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ja-JP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10358" y="2606040"/>
            <a:ext cx="1384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市場分析</a:t>
            </a:r>
            <a:endParaRPr lang="ja-JP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61200" y="3154680"/>
            <a:ext cx="17966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0030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4〜5 倍</a:t>
            </a:r>
            <a:endParaRPr lang="ja-JP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561200" y="3840480"/>
            <a:ext cx="179663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2020 年以降、小型株の売買代金が 4〜5 倍に。市場の方向は読めないが、銘柄間の差は読める余地がある</a:t>
            </a:r>
            <a:endParaRPr lang="ja-JP" sz="1100" dirty="0"/>
          </a:p>
        </p:txBody>
      </p:sp>
      <p:sp>
        <p:nvSpPr>
          <p:cNvPr id="13" name="arrow"/>
          <p:cNvSpPr/>
          <p:nvPr/>
        </p:nvSpPr>
        <p:spPr>
          <a:xfrm>
            <a:off x="2564073" y="3657600"/>
            <a:ext cx="119776" cy="274320"/>
          </a:xfrm>
          <a:prstGeom prst="chevron">
            <a:avLst/>
          </a:prstGeom>
          <a:solidFill>
            <a:srgbClr val="737374"/>
          </a:solidFill>
          <a:ln/>
        </p:spPr>
      </p:sp>
      <p:sp>
        <p:nvSpPr>
          <p:cNvPr id="14" name="card"/>
          <p:cNvSpPr/>
          <p:nvPr/>
        </p:nvSpPr>
        <p:spPr>
          <a:xfrm>
            <a:off x="2740367" y="2423160"/>
            <a:ext cx="2096073" cy="2743200"/>
          </a:xfrm>
          <a:prstGeom prst="roundRect">
            <a:avLst>
              <a:gd name="adj" fmla="val 2617"/>
            </a:avLst>
          </a:prstGeom>
          <a:solidFill>
            <a:srgbClr val="F2F2F2"/>
          </a:solidFill>
          <a:ln/>
        </p:spPr>
      </p:sp>
      <p:sp>
        <p:nvSpPr>
          <p:cNvPr id="15" name="badge"/>
          <p:cNvSpPr/>
          <p:nvPr/>
        </p:nvSpPr>
        <p:spPr>
          <a:xfrm>
            <a:off x="2894356" y="2651760"/>
            <a:ext cx="365760" cy="365760"/>
          </a:xfrm>
          <a:prstGeom prst="ellipse">
            <a:avLst/>
          </a:prstGeom>
          <a:solidFill>
            <a:srgbClr val="0030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894356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ja-JP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339245" y="2606040"/>
            <a:ext cx="1384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発見</a:t>
            </a:r>
            <a:endParaRPr lang="ja-JP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890087" y="3154680"/>
            <a:ext cx="17966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0030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 3.3</a:t>
            </a:r>
            <a:endParaRPr lang="ja-JP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2890087" y="3840480"/>
            <a:ext cx="179663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当月の出来高 ÷ 過去 12 か月の平均（異常回転率）が、既存特性を制御しても翌月リターンを予測</a:t>
            </a:r>
            <a:endParaRPr lang="ja-JP" sz="1100" dirty="0"/>
          </a:p>
        </p:txBody>
      </p:sp>
      <p:sp>
        <p:nvSpPr>
          <p:cNvPr id="20" name="arrow"/>
          <p:cNvSpPr/>
          <p:nvPr/>
        </p:nvSpPr>
        <p:spPr>
          <a:xfrm>
            <a:off x="4892960" y="3657600"/>
            <a:ext cx="119776" cy="274320"/>
          </a:xfrm>
          <a:prstGeom prst="chevron">
            <a:avLst/>
          </a:prstGeom>
          <a:solidFill>
            <a:srgbClr val="737374"/>
          </a:solidFill>
          <a:ln/>
        </p:spPr>
      </p:sp>
      <p:sp>
        <p:nvSpPr>
          <p:cNvPr id="21" name="card"/>
          <p:cNvSpPr/>
          <p:nvPr/>
        </p:nvSpPr>
        <p:spPr>
          <a:xfrm>
            <a:off x="5069255" y="2423160"/>
            <a:ext cx="2096073" cy="2743200"/>
          </a:xfrm>
          <a:prstGeom prst="roundRect">
            <a:avLst>
              <a:gd name="adj" fmla="val 2617"/>
            </a:avLst>
          </a:prstGeom>
          <a:solidFill>
            <a:srgbClr val="F2F2F2"/>
          </a:solidFill>
          <a:ln/>
        </p:spPr>
      </p:sp>
      <p:sp>
        <p:nvSpPr>
          <p:cNvPr id="22" name="badge"/>
          <p:cNvSpPr/>
          <p:nvPr/>
        </p:nvSpPr>
        <p:spPr>
          <a:xfrm>
            <a:off x="5223243" y="2651760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223243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ja-JP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668133" y="2606040"/>
            <a:ext cx="1384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</a:t>
            </a:r>
            <a:endParaRPr lang="ja-JP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218974" y="3154680"/>
            <a:ext cx="17966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CB24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 0.016</a:t>
            </a:r>
            <a:endParaRPr lang="ja-JP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5218974" y="3840480"/>
            <a:ext cx="179663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暫定スコアと独立（相関 −0.02）。ただし効きは 1〜2 か月、小型株の「出来高が細った側」だけ</a:t>
            </a:r>
            <a:endParaRPr lang="ja-JP" sz="1100" dirty="0"/>
          </a:p>
        </p:txBody>
      </p:sp>
      <p:sp>
        <p:nvSpPr>
          <p:cNvPr id="27" name="arrow"/>
          <p:cNvSpPr/>
          <p:nvPr/>
        </p:nvSpPr>
        <p:spPr>
          <a:xfrm>
            <a:off x="7221847" y="3657600"/>
            <a:ext cx="119776" cy="274320"/>
          </a:xfrm>
          <a:prstGeom prst="chevron">
            <a:avLst/>
          </a:prstGeom>
          <a:solidFill>
            <a:srgbClr val="737374"/>
          </a:solidFill>
          <a:ln/>
        </p:spPr>
      </p:sp>
      <p:sp>
        <p:nvSpPr>
          <p:cNvPr id="28" name="card"/>
          <p:cNvSpPr/>
          <p:nvPr/>
        </p:nvSpPr>
        <p:spPr>
          <a:xfrm>
            <a:off x="7398142" y="2423160"/>
            <a:ext cx="2096073" cy="2743200"/>
          </a:xfrm>
          <a:prstGeom prst="roundRect">
            <a:avLst>
              <a:gd name="adj" fmla="val 2617"/>
            </a:avLst>
          </a:prstGeom>
          <a:solidFill>
            <a:srgbClr val="F2F2F2"/>
          </a:solidFill>
          <a:ln/>
        </p:spPr>
      </p:sp>
      <p:sp>
        <p:nvSpPr>
          <p:cNvPr id="29" name="badge"/>
          <p:cNvSpPr/>
          <p:nvPr/>
        </p:nvSpPr>
        <p:spPr>
          <a:xfrm>
            <a:off x="7552131" y="2651760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552131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ja-JP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997020" y="2606040"/>
            <a:ext cx="1384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ja-JP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547861" y="3154680"/>
            <a:ext cx="17966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CB24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見送り</a:t>
            </a:r>
            <a:endParaRPr lang="ja-JP" sz="2600" dirty="0"/>
          </a:p>
        </p:txBody>
      </p:sp>
      <p:sp>
        <p:nvSpPr>
          <p:cNvPr id="33" name="Text 30"/>
          <p:cNvSpPr txBox="1"/>
          <p:nvPr/>
        </p:nvSpPr>
        <p:spPr>
          <a:xfrm>
            <a:off x="7547861" y="3840480"/>
            <a:ext cx="179663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単体の税引後 Q5 超過 −0.4%。暫定スコアに 20% 混ぜると税引後 8.5% → 8.2%</a:t>
            </a:r>
            <a:endParaRPr lang="ja-JP" sz="1100" dirty="0"/>
          </a:p>
        </p:txBody>
      </p:sp>
      <p:sp>
        <p:nvSpPr>
          <p:cNvPr id="34" name="takeaway"/>
          <p:cNvSpPr/>
          <p:nvPr/>
        </p:nvSpPr>
        <p:spPr>
          <a:xfrm>
            <a:off x="411480" y="5394960"/>
            <a:ext cx="9082735" cy="914400"/>
          </a:xfrm>
          <a:prstGeom prst="roundRect">
            <a:avLst>
              <a:gd name="adj" fmla="val 6000"/>
            </a:avLst>
          </a:prstGeom>
          <a:solidFill>
            <a:srgbClr val="FBE9E8"/>
          </a:solidFill>
          <a:ln w="12700">
            <a:solidFill>
              <a:srgbClr val="CB242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98629" y="5394960"/>
            <a:ext cx="8708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CB24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使うなら: </a:t>
            </a:r>
            <a:pPr indent="0" marL="0">
              <a:buNone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暫定スコアの Q5 のうち、出来高が細った銘柄を新規に買わない（回転率を増やさない形。税引後 +0.4%/年程度で有意ではない）</a:t>
            </a:r>
            <a:endParaRPr lang="ja-JP" sz="13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評価の枠組み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どの素材も暫定スコアを基準に、同じ 4 段階で確かめる</a:t>
            </a:r>
            <a:endParaRPr lang="ja-JP" sz="1500" dirty="0"/>
          </a:p>
        </p:txBody>
      </p:sp>
      <p:sp>
        <p:nvSpPr>
          <p:cNvPr id="5" name="card"/>
          <p:cNvSpPr/>
          <p:nvPr/>
        </p:nvSpPr>
        <p:spPr>
          <a:xfrm>
            <a:off x="411480" y="1554480"/>
            <a:ext cx="2096073" cy="2514600"/>
          </a:xfrm>
          <a:prstGeom prst="roundRect">
            <a:avLst>
              <a:gd name="adj" fmla="val 2617"/>
            </a:avLst>
          </a:prstGeom>
          <a:solidFill>
            <a:srgbClr val="F2F2F2"/>
          </a:solidFill>
          <a:ln/>
        </p:spPr>
      </p:sp>
      <p:sp>
        <p:nvSpPr>
          <p:cNvPr id="6" name="badge"/>
          <p:cNvSpPr/>
          <p:nvPr/>
        </p:nvSpPr>
        <p:spPr>
          <a:xfrm>
            <a:off x="602899" y="1828800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02899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ja-JP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8629" y="2377440"/>
            <a:ext cx="1721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単体の予測力</a:t>
            </a:r>
            <a:endParaRPr lang="ja-JP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8629" y="2880360"/>
            <a:ext cx="1721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翌月リターンとの IC（t 値）、5 分位の Q5 超過と Q5−Q1</a:t>
            </a:r>
            <a:endParaRPr lang="ja-JP" sz="1200" dirty="0"/>
          </a:p>
        </p:txBody>
      </p:sp>
      <p:sp>
        <p:nvSpPr>
          <p:cNvPr id="10" name="arrow"/>
          <p:cNvSpPr/>
          <p:nvPr/>
        </p:nvSpPr>
        <p:spPr>
          <a:xfrm>
            <a:off x="2564073" y="2674620"/>
            <a:ext cx="119776" cy="274320"/>
          </a:xfrm>
          <a:prstGeom prst="chevron">
            <a:avLst/>
          </a:prstGeom>
          <a:solidFill>
            <a:srgbClr val="737374"/>
          </a:solidFill>
          <a:ln/>
        </p:spPr>
      </p:sp>
      <p:sp>
        <p:nvSpPr>
          <p:cNvPr id="11" name="card"/>
          <p:cNvSpPr/>
          <p:nvPr/>
        </p:nvSpPr>
        <p:spPr>
          <a:xfrm>
            <a:off x="2740367" y="1554480"/>
            <a:ext cx="2096073" cy="2514600"/>
          </a:xfrm>
          <a:prstGeom prst="roundRect">
            <a:avLst>
              <a:gd name="adj" fmla="val 2617"/>
            </a:avLst>
          </a:prstGeom>
          <a:solidFill>
            <a:srgbClr val="F2F2F2"/>
          </a:solidFill>
          <a:ln/>
        </p:spPr>
      </p:sp>
      <p:sp>
        <p:nvSpPr>
          <p:cNvPr id="12" name="badge"/>
          <p:cNvSpPr/>
          <p:nvPr/>
        </p:nvSpPr>
        <p:spPr>
          <a:xfrm>
            <a:off x="2931786" y="1828800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31786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ja-JP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927517" y="2377440"/>
            <a:ext cx="1721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独立性</a:t>
            </a:r>
            <a:endParaRPr lang="ja-JP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927517" y="2880360"/>
            <a:ext cx="1721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暫定スコアとの順位相関、暫定スコアで説明できない部分の IC（残差 IC）、スパニング回帰</a:t>
            </a:r>
            <a:endParaRPr lang="ja-JP" sz="1200" dirty="0"/>
          </a:p>
        </p:txBody>
      </p:sp>
      <p:sp>
        <p:nvSpPr>
          <p:cNvPr id="16" name="arrow"/>
          <p:cNvSpPr/>
          <p:nvPr/>
        </p:nvSpPr>
        <p:spPr>
          <a:xfrm>
            <a:off x="4892960" y="2674620"/>
            <a:ext cx="119776" cy="274320"/>
          </a:xfrm>
          <a:prstGeom prst="chevron">
            <a:avLst/>
          </a:prstGeom>
          <a:solidFill>
            <a:srgbClr val="737374"/>
          </a:solidFill>
          <a:ln/>
        </p:spPr>
      </p:sp>
      <p:sp>
        <p:nvSpPr>
          <p:cNvPr id="17" name="card"/>
          <p:cNvSpPr/>
          <p:nvPr/>
        </p:nvSpPr>
        <p:spPr>
          <a:xfrm>
            <a:off x="5069255" y="1554480"/>
            <a:ext cx="2096073" cy="2514600"/>
          </a:xfrm>
          <a:prstGeom prst="roundRect">
            <a:avLst>
              <a:gd name="adj" fmla="val 2617"/>
            </a:avLst>
          </a:prstGeom>
          <a:solidFill>
            <a:srgbClr val="F2F2F2"/>
          </a:solidFill>
          <a:ln/>
        </p:spPr>
      </p:sp>
      <p:sp>
        <p:nvSpPr>
          <p:cNvPr id="18" name="badge"/>
          <p:cNvSpPr/>
          <p:nvPr/>
        </p:nvSpPr>
        <p:spPr>
          <a:xfrm>
            <a:off x="5260673" y="1828800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260673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ja-JP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256404" y="2377440"/>
            <a:ext cx="1721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複合</a:t>
            </a:r>
            <a:endParaRPr lang="ja-JP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256404" y="2880360"/>
            <a:ext cx="1721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暫定スコアと各月正規スコア化し、90:10 / 80:20 / 70:30 で加重平均</a:t>
            </a:r>
            <a:endParaRPr lang="ja-JP" sz="1200" dirty="0"/>
          </a:p>
        </p:txBody>
      </p:sp>
      <p:sp>
        <p:nvSpPr>
          <p:cNvPr id="22" name="arrow"/>
          <p:cNvSpPr/>
          <p:nvPr/>
        </p:nvSpPr>
        <p:spPr>
          <a:xfrm>
            <a:off x="7221847" y="2674620"/>
            <a:ext cx="119776" cy="274320"/>
          </a:xfrm>
          <a:prstGeom prst="chevron">
            <a:avLst/>
          </a:prstGeom>
          <a:solidFill>
            <a:srgbClr val="737374"/>
          </a:solidFill>
          <a:ln/>
        </p:spPr>
      </p:sp>
      <p:sp>
        <p:nvSpPr>
          <p:cNvPr id="23" name="card"/>
          <p:cNvSpPr/>
          <p:nvPr/>
        </p:nvSpPr>
        <p:spPr>
          <a:xfrm>
            <a:off x="7398142" y="1554480"/>
            <a:ext cx="2096073" cy="2514600"/>
          </a:xfrm>
          <a:prstGeom prst="roundRect">
            <a:avLst>
              <a:gd name="adj" fmla="val 2617"/>
            </a:avLst>
          </a:prstGeom>
          <a:solidFill>
            <a:srgbClr val="F2F2F2"/>
          </a:solidFill>
          <a:ln/>
        </p:spPr>
      </p:sp>
      <p:sp>
        <p:nvSpPr>
          <p:cNvPr id="24" name="badge"/>
          <p:cNvSpPr/>
          <p:nvPr/>
        </p:nvSpPr>
        <p:spPr>
          <a:xfrm>
            <a:off x="7589561" y="1828800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589561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ja-JP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585291" y="2377440"/>
            <a:ext cx="1721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税引後ロングオンリー</a:t>
            </a:r>
            <a:endParaRPr lang="ja-JP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585291" y="2880360"/>
            <a:ext cx="1721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Q5 等ウェイトを BM と比べる。売買コストと短期・長期の譲渡益課税を控除</a:t>
            </a:r>
            <a:endParaRPr lang="ja-JP" sz="1200" dirty="0"/>
          </a:p>
        </p:txBody>
      </p:sp>
      <p:sp>
        <p:nvSpPr>
          <p:cNvPr id="28" name="conditions"/>
          <p:cNvSpPr/>
          <p:nvPr/>
        </p:nvSpPr>
        <p:spPr>
          <a:xfrm>
            <a:off x="411480" y="4343400"/>
            <a:ext cx="9082735" cy="1965960"/>
          </a:xfrm>
          <a:prstGeom prst="roundRect">
            <a:avLst>
              <a:gd name="adj" fmla="val 2791"/>
            </a:avLst>
          </a:prstGeom>
          <a:ln w="12700">
            <a:solidFill>
              <a:srgbClr val="BFBFB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8629" y="4507992"/>
            <a:ext cx="29943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共通の条件</a:t>
            </a:r>
            <a:endParaRPr lang="ja-JP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98629" y="4937760"/>
            <a:ext cx="42606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ユニバース MSCI India IMI、BM MSCI India、月次リバランス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スコア 2008-01〜、評価 2009-01〜2026-07（2008 年はバーンイン）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安定性は前半 2009–2017 / 後半 2018– に分けて確認</a:t>
            </a:r>
            <a:endParaRPr lang="ja-JP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046422" y="4937760"/>
            <a:ext cx="42606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リターンは配当込み（drtn）と固有リターン（srtn）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税は時期別の税率表、コストは買い 15bp・売り 25bp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 = 現行の複合スコア（コード上は comp_ew）</a:t>
            </a:r>
            <a:endParaRPr lang="ja-JP" sz="12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評価方法の詳細 1  リターンと予測力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指標の定義（全検証で共通）</a:t>
            </a:r>
            <a:endParaRPr lang="ja-JP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1554480"/>
            <a:ext cx="16469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Q5 超過・Q5−Q1</a:t>
            </a:r>
            <a:endParaRPr lang="ja-JP" sz="1200" dirty="0"/>
          </a:p>
        </p:txBody>
      </p:sp>
      <p:pic>
        <p:nvPicPr>
          <p:cNvPr id="6" name="Image 0" descr="eq_x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0684" y="1554480"/>
            <a:ext cx="3621024" cy="4480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170684" y="2057400"/>
            <a:ext cx="7323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各月末 t にユニバース内でスコアを 5 分位に分け、翌月 1 か月保有。r は配当込み（drtn）。EW = 等ウェイト、CW = 時価総額ウェイト。月次差の算術平均 × 12</a:t>
            </a:r>
            <a:endParaRPr lang="ja-JP" sz="1050" dirty="0"/>
          </a:p>
        </p:txBody>
      </p:sp>
      <p:sp>
        <p:nvSpPr>
          <p:cNvPr id="8" name="rule"/>
          <p:cNvSpPr/>
          <p:nvPr/>
        </p:nvSpPr>
        <p:spPr>
          <a:xfrm>
            <a:off x="411480" y="2478024"/>
            <a:ext cx="90827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11480" y="2523744"/>
            <a:ext cx="16469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</a:t>
            </a:r>
            <a:endParaRPr lang="ja-JP" sz="1200" dirty="0"/>
          </a:p>
        </p:txBody>
      </p:sp>
      <p:pic>
        <p:nvPicPr>
          <p:cNvPr id="10" name="Image 1" descr="eq_i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684" y="2523744"/>
            <a:ext cx="2371344" cy="3535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170684" y="2932176"/>
            <a:ext cx="7323531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ρ_S は銘柄横断の順位相関（Spearman）。t 値は Newey–West（ラグ 6）</a:t>
            </a:r>
            <a:endParaRPr lang="ja-JP" sz="1050" dirty="0"/>
          </a:p>
        </p:txBody>
      </p:sp>
      <p:sp>
        <p:nvSpPr>
          <p:cNvPr id="12" name="rule"/>
          <p:cNvSpPr/>
          <p:nvPr/>
        </p:nvSpPr>
        <p:spPr>
          <a:xfrm>
            <a:off x="411480" y="3447288"/>
            <a:ext cx="90827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11480" y="3493008"/>
            <a:ext cx="16469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残差 IC</a:t>
            </a:r>
            <a:endParaRPr lang="ja-JP" sz="1200" dirty="0"/>
          </a:p>
        </p:txBody>
      </p:sp>
      <p:pic>
        <p:nvPicPr>
          <p:cNvPr id="14" name="Image 2" descr="eq_ri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684" y="3493008"/>
            <a:ext cx="3404616" cy="22250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170684" y="3770376"/>
            <a:ext cx="7323531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 = 暫定スコア。各月の横断面回帰の残差 u の IC。暫定スコアで説明できない部分の予測力</a:t>
            </a:r>
            <a:endParaRPr lang="ja-JP" sz="1050" dirty="0"/>
          </a:p>
        </p:txBody>
      </p:sp>
      <p:sp>
        <p:nvSpPr>
          <p:cNvPr id="16" name="rule"/>
          <p:cNvSpPr/>
          <p:nvPr/>
        </p:nvSpPr>
        <p:spPr>
          <a:xfrm>
            <a:off x="411480" y="4416552"/>
            <a:ext cx="90827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411480" y="4462272"/>
            <a:ext cx="16469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スパニング回帰</a:t>
            </a:r>
            <a:endParaRPr lang="ja-JP" sz="1200" dirty="0"/>
          </a:p>
        </p:txBody>
      </p:sp>
      <p:pic>
        <p:nvPicPr>
          <p:cNvPr id="18" name="Image 3" descr="eq_sp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0684" y="4462272"/>
            <a:ext cx="1344168" cy="21945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170684" y="4736592"/>
            <a:ext cx="732353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LS^s は素材、LS^c は暫定スコアの月次 Q5−Q1。α は年率（× 12）、t 値は Newey–West（ラグ 6）</a:t>
            </a:r>
            <a:endParaRPr lang="ja-JP" sz="1050" dirty="0"/>
          </a:p>
        </p:txBody>
      </p:sp>
      <p:sp>
        <p:nvSpPr>
          <p:cNvPr id="20" name="rule"/>
          <p:cNvSpPr/>
          <p:nvPr/>
        </p:nvSpPr>
        <p:spPr>
          <a:xfrm>
            <a:off x="411480" y="5385816"/>
            <a:ext cx="90827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411480" y="5431536"/>
            <a:ext cx="16469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正規スコアと複合</a:t>
            </a:r>
            <a:endParaRPr lang="ja-JP" sz="1200" dirty="0"/>
          </a:p>
        </p:txBody>
      </p:sp>
      <p:pic>
        <p:nvPicPr>
          <p:cNvPr id="22" name="Image 4" descr="eq_blo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0684" y="5431536"/>
            <a:ext cx="4276344" cy="3810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2170684" y="5867400"/>
            <a:ext cx="7323531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 は各月ユニバース内の Blom 正規スコア。w は暫定スコアの比率（0.9 / 0.8 / 0.7）</a:t>
            </a:r>
            <a:endParaRPr lang="ja-JP" sz="105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評価方法の詳細 2  回転率と税引後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税引後は FIFO のロット台帳で、実際の保有期間から短期・長期を判定する</a:t>
            </a:r>
            <a:endParaRPr lang="ja-JP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1554480"/>
            <a:ext cx="16469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回転率（片道）</a:t>
            </a:r>
            <a:endParaRPr lang="ja-JP" sz="1200" dirty="0"/>
          </a:p>
        </p:txBody>
      </p:sp>
      <p:pic>
        <p:nvPicPr>
          <p:cNvPr id="6" name="Image 0" descr="eq_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0684" y="1554480"/>
            <a:ext cx="4322064" cy="4297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170684" y="2039112"/>
            <a:ext cx="732353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 は Q5 のウェイト、w^− は前月のウェイトを当月のリターンで動かした値（リバランス直前）</a:t>
            </a:r>
            <a:endParaRPr lang="ja-JP" sz="1050" dirty="0"/>
          </a:p>
        </p:txBody>
      </p:sp>
      <p:sp>
        <p:nvSpPr>
          <p:cNvPr id="8" name="rule"/>
          <p:cNvSpPr/>
          <p:nvPr/>
        </p:nvSpPr>
        <p:spPr>
          <a:xfrm>
            <a:off x="411480" y="2560320"/>
            <a:ext cx="90827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11480" y="2606040"/>
            <a:ext cx="16469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税引後 Q5 超過</a:t>
            </a:r>
            <a:endParaRPr lang="ja-JP" sz="1200" dirty="0"/>
          </a:p>
        </p:txBody>
      </p:sp>
      <p:pic>
        <p:nvPicPr>
          <p:cNvPr id="10" name="Image 1" descr="eq_n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684" y="2606040"/>
            <a:ext cx="2904744" cy="36271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170684" y="3023616"/>
            <a:ext cx="7323531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cost・tax は月次のコスト・税ドラッグ（ポートフォリオ価値比）</a:t>
            </a:r>
            <a:endParaRPr lang="ja-JP" sz="1050" dirty="0"/>
          </a:p>
        </p:txBody>
      </p:sp>
      <p:sp>
        <p:nvSpPr>
          <p:cNvPr id="12" name="rule"/>
          <p:cNvSpPr/>
          <p:nvPr/>
        </p:nvSpPr>
        <p:spPr>
          <a:xfrm>
            <a:off x="411480" y="3429000"/>
            <a:ext cx="90827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11480" y="3474720"/>
            <a:ext cx="16469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実現損益</a:t>
            </a:r>
            <a:endParaRPr lang="ja-JP" sz="1200" dirty="0"/>
          </a:p>
        </p:txBody>
      </p:sp>
      <p:pic>
        <p:nvPicPr>
          <p:cNvPr id="14" name="Image 2" descr="eq_taxl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684" y="3474720"/>
            <a:ext cx="4581144" cy="24688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170684" y="3776472"/>
            <a:ext cx="7323531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売却は古いロットから充当（FIFO）。h は保有期間</a:t>
            </a:r>
            <a:endParaRPr lang="ja-JP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343400"/>
          <a:ext cx="9082735" cy="914400"/>
        </p:xfrm>
        <a:graphic>
          <a:graphicData uri="http://schemas.openxmlformats.org/drawingml/2006/table">
            <a:tbl>
              <a:tblPr/>
              <a:tblGrid>
                <a:gridCol w="1646915"/>
                <a:gridCol w="74358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設定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税率（現行）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STCG 20%・LTCG 12.5% にサーチャージ 15%・cess 4% を加えた 23.9% / 15.0%（信託・AOP 扱い）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税率（過去）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時期別の税率表。2018 年 3 月以前は上場株の LTCG は非課税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通算と繰越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税務年度（4 月始まり）内で短期・長期の損益を通算。損失は 8 年繰越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コスト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買い 15bp・売り 25bp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body" idx="1"/>
          </p:nvPr>
        </p:nvSpPr>
        <p:spPr>
          <a:xfrm>
            <a:off x="265176" y="3602736"/>
            <a:ext cx="7818120" cy="85953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 インド市場の特徴</a:t>
            </a:r>
            <a:endParaRPr lang="ja-JP" sz="2400" dirty="0"/>
          </a:p>
        </p:txBody>
      </p:sp>
      <p:sp>
        <p:nvSpPr>
          <p:cNvPr id="3" name="Text 0"/>
          <p:cNvSpPr/>
          <p:nvPr>
            <p:ph type="title"/>
          </p:nvPr>
        </p:nvSpPr>
        <p:spPr>
          <a:xfrm>
            <a:off x="265176" y="4608576"/>
            <a:ext cx="7818120" cy="51206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ja-JP" altLang="en-US" sz="18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どんな市場で、なぜ出来高の変化に注目したか</a:t>
            </a:r>
            <a:endParaRPr lang="ja-JP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市場分析｜構造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2020 年以降に銘柄数が 2.5 倍になり、増えたのは小型株</a:t>
            </a:r>
            <a:endParaRPr lang="ja-JP" sz="1500" dirty="0"/>
          </a:p>
        </p:txBody>
      </p:sp>
      <p:pic>
        <p:nvPicPr>
          <p:cNvPr id="5" name="Image 0" descr="サイズ区分別の銘柄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5257800" cy="475488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5898701" y="1508760"/>
            <a:ext cx="3595514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085850" y="1691640"/>
            <a:ext cx="322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銘柄数 249 → 622</a:t>
            </a:r>
            <a:endParaRPr lang="ja-JP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085850" y="2148840"/>
            <a:ext cx="322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2008-01 → 2026-07（ピークは 2024〜25 年の約 680）</a:t>
            </a:r>
            <a:endParaRPr lang="ja-JP" sz="1100" dirty="0"/>
          </a:p>
        </p:txBody>
      </p:sp>
      <p:sp>
        <p:nvSpPr>
          <p:cNvPr id="9" name="card"/>
          <p:cNvSpPr/>
          <p:nvPr/>
        </p:nvSpPr>
        <p:spPr>
          <a:xfrm>
            <a:off x="5898701" y="3108960"/>
            <a:ext cx="3595514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085850" y="3291840"/>
            <a:ext cx="322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集中度が下がった</a:t>
            </a:r>
            <a:endParaRPr lang="ja-JP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085850" y="3749040"/>
            <a:ext cx="322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上位 10 銘柄ウェイト 44% → 28%</a:t>
            </a:r>
            <a:endParaRPr lang="ja-JP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実効銘柄数 30 → 80</a:t>
            </a:r>
            <a:endParaRPr lang="ja-JP" sz="1100" dirty="0"/>
          </a:p>
        </p:txBody>
      </p:sp>
      <p:sp>
        <p:nvSpPr>
          <p:cNvPr id="12" name="card"/>
          <p:cNvSpPr/>
          <p:nvPr/>
        </p:nvSpPr>
        <p:spPr>
          <a:xfrm>
            <a:off x="5898701" y="4709160"/>
            <a:ext cx="3595514" cy="164592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085850" y="4892040"/>
            <a:ext cx="322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評価への含意</a:t>
            </a:r>
            <a:endParaRPr lang="ja-JP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085850" y="5349240"/>
            <a:ext cx="322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等ウェイトの分位分析は、近年ほど小型・新規上場の多い母集団を見ている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市場分析｜流動性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売買代金は 4 倍、小型株は 4〜5 倍。小型株の売買が活発になった</a:t>
            </a:r>
            <a:endParaRPr lang="ja-JP" sz="1500" dirty="0"/>
          </a:p>
        </p:txBody>
      </p:sp>
      <p:pic>
        <p:nvPicPr>
          <p:cNvPr id="5" name="Image 0" descr="売買代金の推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5257800" cy="475488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5898701" y="1508760"/>
            <a:ext cx="3595514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085850" y="1691640"/>
            <a:ext cx="322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合計は 4 倍強</a:t>
            </a:r>
            <a:endParaRPr lang="ja-JP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085850" y="2148840"/>
            <a:ext cx="322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ユニバース合計の日次売買代金 USD 2.3bn（2008）→ 10.4bn（2026）</a:t>
            </a:r>
            <a:endParaRPr lang="ja-JP" sz="1100" dirty="0"/>
          </a:p>
        </p:txBody>
      </p:sp>
      <p:sp>
        <p:nvSpPr>
          <p:cNvPr id="9" name="card"/>
          <p:cNvSpPr/>
          <p:nvPr/>
        </p:nvSpPr>
        <p:spPr>
          <a:xfrm>
            <a:off x="5898701" y="3108960"/>
            <a:ext cx="3595514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085850" y="3291840"/>
            <a:ext cx="322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小型株の差が縮んだ</a:t>
            </a:r>
            <a:endParaRPr lang="ja-JP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085850" y="3749040"/>
            <a:ext cx="322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小型株の売買代金の中央値 0.5m → 2.3m</a:t>
            </a:r>
            <a:endParaRPr lang="ja-JP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Amihud の小型 / 大型の比 72 倍 → 17 倍</a:t>
            </a:r>
            <a:endParaRPr lang="ja-JP" sz="1100" dirty="0"/>
          </a:p>
        </p:txBody>
      </p:sp>
      <p:sp>
        <p:nvSpPr>
          <p:cNvPr id="12" name="card"/>
          <p:cNvSpPr/>
          <p:nvPr/>
        </p:nvSpPr>
        <p:spPr>
          <a:xfrm>
            <a:off x="5898701" y="4709160"/>
            <a:ext cx="3595514" cy="164592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085850" y="4892040"/>
            <a:ext cx="322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小型株の回転率が大型を上回る</a:t>
            </a:r>
            <a:endParaRPr lang="ja-JP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085850" y="5349240"/>
            <a:ext cx="322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年率回転率の中央値: 小型 0.22 → 0.40〜0.50、大型 0.3〜0.4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市場分析｜市場全体の出来高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市場全体の出来高の急増は数年に一度。普段は銘柄間の差が中心</a:t>
            </a:r>
            <a:endParaRPr lang="ja-JP" sz="1500" dirty="0"/>
          </a:p>
        </p:txBody>
      </p:sp>
      <p:pic>
        <p:nvPicPr>
          <p:cNvPr id="5" name="Image 0" descr="ユニバース内の異常回転率の中央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5532120" cy="475488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6198140" y="150876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385289" y="169164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急増は 3 回</a:t>
            </a:r>
            <a:endParaRPr lang="ja-JP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385289" y="214884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2009 年（危機後の反発・総選挙）、2014 年（総選挙）、2020 年（コロナ）</a:t>
            </a:r>
            <a:endParaRPr lang="ja-JP" sz="1100" dirty="0"/>
          </a:p>
        </p:txBody>
      </p:sp>
      <p:sp>
        <p:nvSpPr>
          <p:cNvPr id="9" name="card"/>
          <p:cNvSpPr/>
          <p:nvPr/>
        </p:nvSpPr>
        <p:spPr>
          <a:xfrm>
            <a:off x="6198140" y="324612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385289" y="342900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普段の中央値は負</a:t>
            </a:r>
            <a:endParaRPr lang="ja-JP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385289" y="388620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 12 か月の平均は一部の急増に引き上げられるため、典型的な銘柄の月は平均を下回る</a:t>
            </a:r>
            <a:endParaRPr lang="ja-JP" sz="1100" dirty="0"/>
          </a:p>
        </p:txBody>
      </p:sp>
      <p:sp>
        <p:nvSpPr>
          <p:cNvPr id="12" name="card"/>
          <p:cNvSpPr/>
          <p:nvPr/>
        </p:nvSpPr>
        <p:spPr>
          <a:xfrm>
            <a:off x="6198140" y="4983480"/>
            <a:ext cx="3296075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85289" y="516636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スコアでの扱い</a:t>
            </a:r>
            <a:endParaRPr lang="ja-JP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385289" y="5623560"/>
            <a:ext cx="292177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横断面の順位で使うので、市場全体の水準は効かない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市場分析｜何が読めて何が読めないか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市場の方向は読めない。読めるのは銘柄間の差と、売買の量と日取り</a:t>
            </a:r>
            <a:endParaRPr lang="ja-JP" sz="1500" dirty="0"/>
          </a:p>
        </p:txBody>
      </p:sp>
      <p:sp>
        <p:nvSpPr>
          <p:cNvPr id="5" name="card"/>
          <p:cNvSpPr/>
          <p:nvPr/>
        </p:nvSpPr>
        <p:spPr>
          <a:xfrm>
            <a:off x="411480" y="1508760"/>
            <a:ext cx="4417849" cy="2286000"/>
          </a:xfrm>
          <a:prstGeom prst="roundRect">
            <a:avLst>
              <a:gd name="adj" fmla="val 2400"/>
            </a:avLst>
          </a:prstGeom>
          <a:solidFill>
            <a:srgbClr val="F2F2F2"/>
          </a:solidFill>
          <a:ln/>
        </p:spPr>
      </p:sp>
      <p:sp>
        <p:nvSpPr>
          <p:cNvPr id="6" name="badge"/>
          <p:cNvSpPr/>
          <p:nvPr/>
        </p:nvSpPr>
        <p:spPr>
          <a:xfrm>
            <a:off x="602899" y="1755648"/>
            <a:ext cx="365760" cy="36576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02899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ja-JP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85218" y="1709928"/>
            <a:ext cx="35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市場の方向は読めない</a:t>
            </a:r>
            <a:endParaRPr lang="ja-JP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8629" y="2377440"/>
            <a:ext cx="404355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指数の時系列モメンタムは無い（12 か月の符号 t −0.8）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バリュエーション・流動性などの状態変数は、サンプル外 R² がほぼすべて負</a:t>
            </a:r>
            <a:endParaRPr lang="ja-JP" sz="1200" dirty="0"/>
          </a:p>
        </p:txBody>
      </p:sp>
      <p:sp>
        <p:nvSpPr>
          <p:cNvPr id="10" name="card"/>
          <p:cNvSpPr/>
          <p:nvPr/>
        </p:nvSpPr>
        <p:spPr>
          <a:xfrm>
            <a:off x="5076366" y="1508760"/>
            <a:ext cx="4417849" cy="2286000"/>
          </a:xfrm>
          <a:prstGeom prst="roundRect">
            <a:avLst>
              <a:gd name="adj" fmla="val 2400"/>
            </a:avLst>
          </a:prstGeom>
          <a:solidFill>
            <a:srgbClr val="F2F2F2"/>
          </a:solidFill>
          <a:ln/>
        </p:spPr>
      </p:sp>
      <p:sp>
        <p:nvSpPr>
          <p:cNvPr id="11" name="badge"/>
          <p:cNvSpPr/>
          <p:nvPr/>
        </p:nvSpPr>
        <p:spPr>
          <a:xfrm>
            <a:off x="5267785" y="1755648"/>
            <a:ext cx="365760" cy="365760"/>
          </a:xfrm>
          <a:prstGeom prst="ellipse">
            <a:avLst/>
          </a:prstGeom>
          <a:solidFill>
            <a:srgbClr val="00305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267785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ja-JP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750104" y="1709928"/>
            <a:ext cx="35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暫定スコアの効き具合は読める</a:t>
            </a:r>
            <a:endParaRPr lang="ja-JP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263516" y="2377440"/>
            <a:ext cx="404355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ストレス時（高ボラ・高相関・低いブレス）の翌月は効かない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アクティブリスクの量を状態で動かすとシャープが上がる</a:t>
            </a:r>
            <a:endParaRPr lang="ja-JP" sz="1200" dirty="0"/>
          </a:p>
        </p:txBody>
      </p:sp>
      <p:sp>
        <p:nvSpPr>
          <p:cNvPr id="15" name="card"/>
          <p:cNvSpPr/>
          <p:nvPr/>
        </p:nvSpPr>
        <p:spPr>
          <a:xfrm>
            <a:off x="411480" y="4069080"/>
            <a:ext cx="4417849" cy="2286000"/>
          </a:xfrm>
          <a:prstGeom prst="roundRect">
            <a:avLst>
              <a:gd name="adj" fmla="val 2400"/>
            </a:avLst>
          </a:prstGeom>
          <a:solidFill>
            <a:srgbClr val="F2F2F2"/>
          </a:solidFill>
          <a:ln/>
        </p:spPr>
      </p:sp>
      <p:sp>
        <p:nvSpPr>
          <p:cNvPr id="16" name="badge"/>
          <p:cNvSpPr/>
          <p:nvPr/>
        </p:nvSpPr>
        <p:spPr>
          <a:xfrm>
            <a:off x="602899" y="4315968"/>
            <a:ext cx="365760" cy="365760"/>
          </a:xfrm>
          <a:prstGeom prst="ellipse">
            <a:avLst/>
          </a:prstGeom>
          <a:solidFill>
            <a:srgbClr val="00305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02899" y="4315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ja-JP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85218" y="4270248"/>
            <a:ext cx="35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短期は業種が続伸し、銘柄は反転</a:t>
            </a:r>
            <a:endParaRPr lang="ja-JP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98629" y="4937760"/>
            <a:ext cx="404355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同業他社の前週リターン 1σ で翌週 +10.7bp（t 6.8）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自分の前週リターンは −8.4bp（t −3.4）</a:t>
            </a:r>
            <a:endParaRPr lang="ja-JP" sz="1200" dirty="0"/>
          </a:p>
        </p:txBody>
      </p:sp>
      <p:sp>
        <p:nvSpPr>
          <p:cNvPr id="20" name="card"/>
          <p:cNvSpPr/>
          <p:nvPr/>
        </p:nvSpPr>
        <p:spPr>
          <a:xfrm>
            <a:off x="5076366" y="4069080"/>
            <a:ext cx="4417849" cy="2286000"/>
          </a:xfrm>
          <a:prstGeom prst="roundRect">
            <a:avLst>
              <a:gd name="adj" fmla="val 2400"/>
            </a:avLst>
          </a:prstGeom>
          <a:solidFill>
            <a:srgbClr val="FBE9E8"/>
          </a:solidFill>
          <a:ln/>
        </p:spPr>
      </p:sp>
      <p:sp>
        <p:nvSpPr>
          <p:cNvPr id="21" name="badge"/>
          <p:cNvSpPr/>
          <p:nvPr/>
        </p:nvSpPr>
        <p:spPr>
          <a:xfrm>
            <a:off x="5267785" y="4315968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267785" y="4315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ja-JP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750104" y="4270248"/>
            <a:ext cx="35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新しい銘柄特性の候補</a:t>
            </a:r>
            <a:endParaRPr lang="ja-JP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263516" y="4937760"/>
            <a:ext cx="404355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異常回転率: 既存特性を制御して t 3.3（前半 2.5 / 後半 2.0）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このデッキの検証対象</a:t>
            </a:r>
            <a:endParaRPr lang="ja-JP" sz="12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市場分析｜銘柄特性の探索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時系列由来の 8 つの特性のうち、既存特性を制御しても残ったのは異常回転率だけ</a:t>
            </a:r>
            <a:endParaRPr lang="ja-JP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1554480"/>
            <a:ext cx="14971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Fama–MacBeth</a:t>
            </a:r>
            <a:endParaRPr lang="ja-JP" sz="1200" dirty="0"/>
          </a:p>
        </p:txBody>
      </p:sp>
      <p:pic>
        <p:nvPicPr>
          <p:cNvPr id="6" name="Image 0" descr="eq_f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0965" y="1554480"/>
            <a:ext cx="4477512" cy="441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020965" y="2051304"/>
            <a:ext cx="7473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s(·) は各月の順位を標準化した値（平均 0・標準偏差 1）、x_j は制御変数。γ は毎月の横断面回帰の係数、t は月次系列の平均の Newey–West t</a:t>
            </a:r>
            <a:endParaRPr lang="ja-JP" sz="1050" dirty="0"/>
          </a:p>
        </p:txBody>
      </p:sp>
      <p:pic>
        <p:nvPicPr>
          <p:cNvPr id="8" name="Image 1" descr="候補特性の FM t 値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23160"/>
            <a:ext cx="5532120" cy="3977640"/>
          </a:xfrm>
          <a:prstGeom prst="rect">
            <a:avLst/>
          </a:prstGeom>
        </p:spPr>
      </p:pic>
      <p:sp>
        <p:nvSpPr>
          <p:cNvPr id="9" name="card"/>
          <p:cNvSpPr/>
          <p:nvPr/>
        </p:nvSpPr>
        <p:spPr>
          <a:xfrm>
            <a:off x="6198140" y="2423160"/>
            <a:ext cx="3296075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385289" y="260604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候補の基準</a:t>
            </a:r>
            <a:endParaRPr lang="ja-JP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6385289" y="3063240"/>
            <a:ext cx="29217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|t| ≥ 3 かつ前半・後半で同符号</a:t>
            </a:r>
            <a:endParaRPr lang="ja-JP" sz="1100" dirty="0"/>
          </a:p>
        </p:txBody>
      </p:sp>
      <p:sp>
        <p:nvSpPr>
          <p:cNvPr id="12" name="card"/>
          <p:cNvSpPr/>
          <p:nvPr/>
        </p:nvSpPr>
        <p:spPr>
          <a:xfrm>
            <a:off x="6198140" y="3794760"/>
            <a:ext cx="3296075" cy="1325880"/>
          </a:xfrm>
          <a:prstGeom prst="roundRect">
            <a:avLst>
              <a:gd name="adj" fmla="val 4138"/>
            </a:avLst>
          </a:prstGeom>
          <a:solidFill>
            <a:srgbClr val="F2F2F2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6385289" y="397764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abn_to は制御で強まる</a:t>
            </a:r>
            <a:endParaRPr lang="ja-JP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6385289" y="4434840"/>
            <a:ext cx="29217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単独 t 2.7 → 制御後 t 3.3（固有リターン t 3.7）</a:t>
            </a:r>
            <a:endParaRPr lang="ja-JP" sz="1100" dirty="0"/>
          </a:p>
        </p:txBody>
      </p:sp>
      <p:sp>
        <p:nvSpPr>
          <p:cNvPr id="15" name="card"/>
          <p:cNvSpPr/>
          <p:nvPr/>
        </p:nvSpPr>
        <p:spPr>
          <a:xfrm>
            <a:off x="6198140" y="5257800"/>
            <a:ext cx="3296075" cy="10972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6385289" y="544068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重複が小さい理由</a:t>
            </a:r>
            <a:endParaRPr lang="ja-JP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385289" y="5897880"/>
            <a:ext cx="29217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tover は回転率の水準、abn_to は変化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body" idx="1"/>
          </p:nvPr>
        </p:nvSpPr>
        <p:spPr>
          <a:xfrm>
            <a:off x="265176" y="3602736"/>
            <a:ext cx="7818120" cy="859536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 異常回転率（abn_to）の検証</a:t>
            </a:r>
            <a:endParaRPr lang="ja-JP" sz="2400" dirty="0"/>
          </a:p>
        </p:txBody>
      </p:sp>
      <p:sp>
        <p:nvSpPr>
          <p:cNvPr id="3" name="Text 0"/>
          <p:cNvSpPr/>
          <p:nvPr>
            <p:ph type="title"/>
          </p:nvPr>
        </p:nvSpPr>
        <p:spPr>
          <a:xfrm>
            <a:off x="265176" y="4608576"/>
            <a:ext cx="7818120" cy="51206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ja-JP" altLang="en-US" sz="18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出来高が平常より膨らんだ銘柄は、その後上がるのか</a:t>
            </a:r>
            <a:endParaRPr lang="ja-JP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abn_to｜なぜ試したか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出来高の「変化」が、既存の特性と別に翌月リターンを予測していた</a:t>
            </a:r>
            <a:endParaRPr lang="ja-JP" sz="1500" dirty="0"/>
          </a:p>
        </p:txBody>
      </p:sp>
      <p:sp>
        <p:nvSpPr>
          <p:cNvPr id="5" name="card"/>
          <p:cNvSpPr/>
          <p:nvPr/>
        </p:nvSpPr>
        <p:spPr>
          <a:xfrm>
            <a:off x="411480" y="1508760"/>
            <a:ext cx="3742988" cy="3931920"/>
          </a:xfrm>
          <a:prstGeom prst="roundRect">
            <a:avLst>
              <a:gd name="adj" fmla="val 1466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8629" y="1691640"/>
            <a:ext cx="33686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きっかけ</a:t>
            </a:r>
            <a:endParaRPr lang="ja-JP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8629" y="2148840"/>
            <a:ext cx="33686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市場分析で、既存の特性を同時に入れた回帰（Fama–MacBeth）でも翌月リターンを予測した</a:t>
            </a:r>
            <a:endParaRPr lang="ja-JP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8629" y="2834640"/>
            <a:ext cx="33686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ja-JP" altLang="en-US" sz="3800" b="1" dirty="0">
                <a:solidFill>
                  <a:srgbClr val="CB24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 3.3</a:t>
            </a:r>
            <a:endParaRPr lang="ja-JP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598629" y="3703320"/>
            <a:ext cx="33686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前半 2.5 / 後半 2.0、固有リターンでは t 3.7</a:t>
            </a:r>
            <a:endParaRPr lang="ja-JP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98629" y="4206240"/>
            <a:ext cx="336868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同時に入れた特性: 短期・中期モメンタム、回転率の水準、ボラティリティ、歪度、時価総額</a:t>
            </a:r>
            <a:endParaRPr lang="ja-JP" sz="1100" dirty="0"/>
          </a:p>
        </p:txBody>
      </p:sp>
      <p:sp>
        <p:nvSpPr>
          <p:cNvPr id="11" name="card"/>
          <p:cNvSpPr/>
          <p:nvPr/>
        </p:nvSpPr>
        <p:spPr>
          <a:xfrm>
            <a:off x="4401505" y="1508760"/>
            <a:ext cx="5092710" cy="3931920"/>
          </a:xfrm>
          <a:prstGeom prst="roundRect">
            <a:avLst>
              <a:gd name="adj" fmla="val 1395"/>
            </a:avLst>
          </a:prstGeom>
          <a:solidFill>
            <a:srgbClr val="F2F2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88655" y="1691640"/>
            <a:ext cx="47184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仮説と対立する説明</a:t>
            </a:r>
            <a:endParaRPr lang="ja-JP" sz="1400" dirty="0"/>
          </a:p>
        </p:txBody>
      </p:sp>
      <p:sp>
        <p:nvSpPr>
          <p:cNvPr id="13" name="tag"/>
          <p:cNvSpPr/>
          <p:nvPr/>
        </p:nvSpPr>
        <p:spPr>
          <a:xfrm>
            <a:off x="4588655" y="2258568"/>
            <a:ext cx="711168" cy="329184"/>
          </a:xfrm>
          <a:prstGeom prst="roundRect">
            <a:avLst>
              <a:gd name="adj" fmla="val 50000"/>
            </a:avLst>
          </a:prstGeom>
          <a:solidFill>
            <a:srgbClr val="CB242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88655" y="2258568"/>
            <a:ext cx="71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本命</a:t>
            </a:r>
            <a:endParaRPr lang="ja-JP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412112" y="2240280"/>
            <a:ext cx="389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注目度（高出来高プレミアム、Gervais ほか 2001）</a:t>
            </a:r>
            <a:endParaRPr lang="ja-JP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12112" y="2624328"/>
            <a:ext cx="38949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売買が膨らむと注目され、新しい買い手がつくので上がる</a:t>
            </a:r>
            <a:endParaRPr lang="ja-JP" sz="1100" dirty="0"/>
          </a:p>
        </p:txBody>
      </p:sp>
      <p:sp>
        <p:nvSpPr>
          <p:cNvPr id="17" name="tag"/>
          <p:cNvSpPr/>
          <p:nvPr/>
        </p:nvSpPr>
        <p:spPr>
          <a:xfrm>
            <a:off x="4588655" y="3300984"/>
            <a:ext cx="711168" cy="329184"/>
          </a:xfrm>
          <a:prstGeom prst="roundRect">
            <a:avLst>
              <a:gd name="adj" fmla="val 50000"/>
            </a:avLst>
          </a:prstGeom>
          <a:solidFill>
            <a:srgbClr val="73737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588655" y="3300984"/>
            <a:ext cx="71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対立 1</a:t>
            </a:r>
            <a:endParaRPr lang="ja-JP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412112" y="3282696"/>
            <a:ext cx="389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情報イベント</a:t>
            </a:r>
            <a:endParaRPr lang="ja-JP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412112" y="3666744"/>
            <a:ext cx="38949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決算やニュースの月に出来高が増えるだけ。暫定スコアのリビジョンで説明すれば消えるはず</a:t>
            </a:r>
            <a:endParaRPr lang="ja-JP" sz="1100" dirty="0"/>
          </a:p>
        </p:txBody>
      </p:sp>
      <p:sp>
        <p:nvSpPr>
          <p:cNvPr id="21" name="tag"/>
          <p:cNvSpPr/>
          <p:nvPr/>
        </p:nvSpPr>
        <p:spPr>
          <a:xfrm>
            <a:off x="4588655" y="4343400"/>
            <a:ext cx="711168" cy="329184"/>
          </a:xfrm>
          <a:prstGeom prst="roundRect">
            <a:avLst>
              <a:gd name="adj" fmla="val 50000"/>
            </a:avLst>
          </a:prstGeom>
          <a:solidFill>
            <a:srgbClr val="73737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588655" y="4343400"/>
            <a:ext cx="71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対立 2</a:t>
            </a:r>
            <a:endParaRPr lang="ja-JP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12112" y="4325112"/>
            <a:ext cx="389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個人の過剰反応</a:t>
            </a:r>
            <a:endParaRPr lang="ja-JP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412112" y="4709160"/>
            <a:ext cx="38949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インドは個人の売買比率が高い。買われすぎなら数か月後に反転するはず</a:t>
            </a:r>
            <a:endParaRPr lang="ja-JP" sz="1100" dirty="0"/>
          </a:p>
        </p:txBody>
      </p:sp>
      <p:sp>
        <p:nvSpPr>
          <p:cNvPr id="25" name="takeaway"/>
          <p:cNvSpPr/>
          <p:nvPr/>
        </p:nvSpPr>
        <p:spPr>
          <a:xfrm>
            <a:off x="411480" y="5623560"/>
            <a:ext cx="9082735" cy="731520"/>
          </a:xfrm>
          <a:prstGeom prst="roundRect">
            <a:avLst>
              <a:gd name="adj" fmla="val 7500"/>
            </a:avLst>
          </a:prstGeom>
          <a:solidFill>
            <a:srgbClr val="FBE9E8"/>
          </a:solidFill>
          <a:ln w="12700">
            <a:solidFill>
              <a:srgbClr val="CB242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98629" y="5623560"/>
            <a:ext cx="87084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CB24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定義  </a:t>
            </a:r>
            <a:pPr indent="0" marL="0">
              <a:buNone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abn_to = log（当月の日次回転率の平均 ÷ 過去 12 か月の月平均）。高いほど出来高が平常より多い</a:t>
            </a:r>
            <a:endParaRPr lang="ja-JP" sz="13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abn_to｜手法 1  スコアの作り方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定義の変形は事前に決めた 4 本だけに絞り、後から選ばない</a:t>
            </a:r>
            <a:endParaRPr lang="ja-JP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1554480"/>
            <a:ext cx="16469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abn_to（本命）</a:t>
            </a:r>
            <a:endParaRPr lang="ja-JP" sz="1200" dirty="0"/>
          </a:p>
        </p:txBody>
      </p:sp>
      <p:pic>
        <p:nvPicPr>
          <p:cNvPr id="6" name="Image 0" descr="eq_ab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0684" y="1554480"/>
            <a:ext cx="5955792" cy="4267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170684" y="2036064"/>
            <a:ext cx="7323531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D_t は月 t の営業日。分母は前月までの 12 か月（当月を含まない）。市場分析と同じ定義</a:t>
            </a:r>
            <a:endParaRPr lang="ja-JP" sz="1050" dirty="0"/>
          </a:p>
        </p:txBody>
      </p:sp>
      <p:sp>
        <p:nvSpPr>
          <p:cNvPr id="8" name="rule"/>
          <p:cNvSpPr/>
          <p:nvPr/>
        </p:nvSpPr>
        <p:spPr>
          <a:xfrm>
            <a:off x="411480" y="2560320"/>
            <a:ext cx="90827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11480" y="2606040"/>
            <a:ext cx="16469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abn_to_med</a:t>
            </a:r>
            <a:endParaRPr lang="ja-JP" sz="1200" dirty="0"/>
          </a:p>
        </p:txBody>
      </p:sp>
      <p:pic>
        <p:nvPicPr>
          <p:cNvPr id="10" name="Image 1" descr="eq_abn_m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684" y="2606040"/>
            <a:ext cx="5867400" cy="4267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170684" y="3087624"/>
            <a:ext cx="7323531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中央値にしてブロック取引など 1 日だけの急増に頑健にした版</a:t>
            </a:r>
            <a:endParaRPr lang="ja-JP" sz="1050" dirty="0"/>
          </a:p>
        </p:txBody>
      </p:sp>
      <p:sp>
        <p:nvSpPr>
          <p:cNvPr id="12" name="rule"/>
          <p:cNvSpPr/>
          <p:nvPr/>
        </p:nvSpPr>
        <p:spPr>
          <a:xfrm>
            <a:off x="411480" y="3520440"/>
            <a:ext cx="90827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11480" y="3566160"/>
            <a:ext cx="16469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abn_to_q</a:t>
            </a:r>
            <a:endParaRPr lang="ja-JP" sz="1200" dirty="0"/>
          </a:p>
        </p:txBody>
      </p:sp>
      <p:pic>
        <p:nvPicPr>
          <p:cNvPr id="14" name="Image 2" descr="eq_abn_q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684" y="3566160"/>
            <a:ext cx="2490216" cy="39928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170684" y="4020312"/>
            <a:ext cx="7323531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直近 3 か月をその前の 12 か月と比べる遅い版（回転率を下げる）</a:t>
            </a:r>
            <a:endParaRPr lang="ja-JP" sz="1050" dirty="0"/>
          </a:p>
        </p:txBody>
      </p:sp>
      <p:sp>
        <p:nvSpPr>
          <p:cNvPr id="16" name="rule"/>
          <p:cNvSpPr/>
          <p:nvPr/>
        </p:nvSpPr>
        <p:spPr>
          <a:xfrm>
            <a:off x="411480" y="4480560"/>
            <a:ext cx="908273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411480" y="4526280"/>
            <a:ext cx="16469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abn_to_neu</a:t>
            </a:r>
            <a:endParaRPr lang="ja-JP" sz="1200" dirty="0"/>
          </a:p>
        </p:txBody>
      </p:sp>
      <p:pic>
        <p:nvPicPr>
          <p:cNvPr id="18" name="Image 3" descr="eq_neu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0684" y="4526280"/>
            <a:ext cx="4986528" cy="3657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170684" y="4946904"/>
            <a:ext cx="732353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x_j: log 時価総額・mom1・mom12_1・tover・vola60・skew60、D_g: GICS セクター。各月 OLS、z は Blom 正規スコア</a:t>
            </a:r>
            <a:endParaRPr lang="ja-JP" sz="1050" dirty="0"/>
          </a:p>
        </p:txBody>
      </p:sp>
      <p:sp>
        <p:nvSpPr>
          <p:cNvPr id="20" name="data"/>
          <p:cNvSpPr/>
          <p:nvPr/>
        </p:nvSpPr>
        <p:spPr>
          <a:xfrm>
            <a:off x="411480" y="5715000"/>
            <a:ext cx="9082735" cy="640080"/>
          </a:xfrm>
          <a:prstGeom prst="roundRect">
            <a:avLst>
              <a:gd name="adj" fmla="val 8571"/>
            </a:avLst>
          </a:prstGeom>
          <a:ln w="12700">
            <a:solidFill>
              <a:srgbClr val="BFBFBF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561200" y="5715000"/>
            <a:ext cx="8783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データ: </a:t>
            </a:r>
            <a:pPr indent="0" marL="0">
              <a:buNone/>
            </a:pPr>
            <a:r>
              <a:rPr lang="ja-JP" altLang="en-US" sz="10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data/turnover の日次回転率。月末 t までのデータだけを使い、各月のユニバース構成銘柄に絞る。スコア 2003-07〜、カバレッジ 98.9%。複合は暫定スコアと 90:10 / 80:20 / 70:30</a:t>
            </a:r>
            <a:endParaRPr lang="ja-JP" sz="105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abn_to｜手法 2  仮説の確かめ方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つの仮説が食い違う 5 つの予測を、データを見る前に置いた</a:t>
            </a:r>
            <a:endParaRPr lang="ja-JP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08760"/>
          <a:ext cx="9082735" cy="914400"/>
        </p:xfrm>
        <a:graphic>
          <a:graphicData uri="http://schemas.openxmlformats.org/drawingml/2006/table">
            <a:tbl>
              <a:tblPr/>
              <a:tblGrid>
                <a:gridCol w="2320653"/>
                <a:gridCol w="1422336"/>
                <a:gridCol w="1310046"/>
                <a:gridCol w="1310046"/>
                <a:gridCol w="2719655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予測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注目度（本命）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情報イベント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過剰反応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測り方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P1 翌月の IC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正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正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正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abn_to と翌月リターンの IC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P2 暫定スコアで説明した残りの IC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残る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消える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残る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残差 IC とスパニング回帰の α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P3 IC の減衰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数か月かけて消える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1〜2 か月で消える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2〜6 か月先で負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 か月前のスコアと当月リターンの IC（k = 1〜12）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P4 前月リターンとの関係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上昇・下落とも正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上昇で強い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上昇で後に反転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前月リターンの 3 分位ごとに分位を付け直した Q5−Q1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P5 サイズ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小型で強い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差は小さい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小型で強い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MSCI の大型・中型・小型の区分内 IC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creen"/>
          <p:cNvSpPr/>
          <p:nvPr/>
        </p:nvSpPr>
        <p:spPr>
          <a:xfrm>
            <a:off x="411480" y="4709160"/>
            <a:ext cx="9082735" cy="1645920"/>
          </a:xfrm>
          <a:prstGeom prst="roundRect">
            <a:avLst>
              <a:gd name="adj" fmla="val 3333"/>
            </a:avLst>
          </a:prstGeom>
          <a:ln w="12700">
            <a:solidFill>
              <a:srgbClr val="BFBFB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98629" y="4800600"/>
            <a:ext cx="8708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ロングオンリーでの使い方の検証（Q5 スクリーン）</a:t>
            </a:r>
            <a:endParaRPr lang="ja-JP" sz="1300" dirty="0"/>
          </a:p>
        </p:txBody>
      </p:sp>
      <p:pic>
        <p:nvPicPr>
          <p:cNvPr id="8" name="Image 0" descr="eq_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629" y="5212080"/>
            <a:ext cx="4038600" cy="2164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98629" y="5532120"/>
            <a:ext cx="8708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Q5_t は暫定スコアの上位 20%。Δ &lt; 0 なら「Q5 から外す」スクリーンとして使える（等ウェイト）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税引後は 3 通りで比較: 素の Q5 / 毎月その銘柄を外す / 新しく Q5 に入る銘柄だけ外す（保有中は売らない）</a:t>
            </a:r>
            <a:endParaRPr lang="ja-JP" sz="12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abn_to｜単体の成績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 は有意だが、税引後はほぼゼロ</a:t>
            </a:r>
            <a:endParaRPr lang="ja-JP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08760"/>
          <a:ext cx="9082735" cy="914400"/>
        </p:xfrm>
        <a:graphic>
          <a:graphicData uri="http://schemas.openxmlformats.org/drawingml/2006/table">
            <a:tbl>
              <a:tblPr/>
              <a:tblGrid>
                <a:gridCol w="1572055"/>
                <a:gridCol w="2058644"/>
                <a:gridCol w="1235186"/>
                <a:gridCol w="1085467"/>
                <a:gridCol w="898317"/>
                <a:gridCol w="1310046"/>
                <a:gridCol w="923021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スコア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中身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IC（t）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Q5 EW 超過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Q5−Q1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税引後 Q5 超過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回転率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暫定スコア（基準）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現行の複合スコア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0.065（7.0）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13.0%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17.6%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8.5%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4.0 倍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abn_to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本命（日次の平均）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0.016（2.5）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4.9%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4.1%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−0.4%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7.5 倍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abn_to_med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日次の中央値版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0.022（3.4）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7.0%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8.8%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1.9%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6.5 倍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abn_to_q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 か月の遅い版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0.012（1.8）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4.4%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3.9%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0.9%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4.0 倍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abn_to_neu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サイズ・業種などで中立化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0.017（4.0）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5.0%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4.7%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−0.2%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7.2 倍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11480" y="429768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9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超過・Q5−Q1 は年率、回転率は年間（片道）。期間 2009-01〜2026-07</a:t>
            </a:r>
            <a:endParaRPr lang="ja-JP" sz="950" dirty="0"/>
          </a:p>
        </p:txBody>
      </p:sp>
      <p:sp>
        <p:nvSpPr>
          <p:cNvPr id="7" name="card"/>
          <p:cNvSpPr/>
          <p:nvPr/>
        </p:nvSpPr>
        <p:spPr>
          <a:xfrm>
            <a:off x="411480" y="4663440"/>
            <a:ext cx="2862887" cy="1691640"/>
          </a:xfrm>
          <a:prstGeom prst="roundRect">
            <a:avLst>
              <a:gd name="adj" fmla="val 3243"/>
            </a:avLst>
          </a:prstGeom>
          <a:solidFill>
            <a:srgbClr val="F2F2F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98629" y="4846320"/>
            <a:ext cx="2488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回転率が年 7.5 倍</a:t>
            </a:r>
            <a:endParaRPr lang="ja-JP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98629" y="5303520"/>
            <a:ext cx="24885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スコアの前月との順位相関は 0.45。売却はほぼすべて短期課税（20%）になる</a:t>
            </a:r>
            <a:endParaRPr lang="ja-JP" sz="1100" dirty="0"/>
          </a:p>
        </p:txBody>
      </p:sp>
      <p:sp>
        <p:nvSpPr>
          <p:cNvPr id="10" name="card"/>
          <p:cNvSpPr/>
          <p:nvPr/>
        </p:nvSpPr>
        <p:spPr>
          <a:xfrm>
            <a:off x="3521404" y="4663440"/>
            <a:ext cx="2862887" cy="1691640"/>
          </a:xfrm>
          <a:prstGeom prst="roundRect">
            <a:avLst>
              <a:gd name="adj" fmla="val 3243"/>
            </a:avLst>
          </a:prstGeom>
          <a:solidFill>
            <a:srgbClr val="F2F2F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3708554" y="4846320"/>
            <a:ext cx="2488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中立化版が最も安定</a:t>
            </a:r>
            <a:endParaRPr lang="ja-JP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708554" y="5303520"/>
            <a:ext cx="24885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 t 4.0、後半だけでも t 2.8。18 年中 16 年で IC が正</a:t>
            </a:r>
            <a:endParaRPr lang="ja-JP" sz="1100" dirty="0"/>
          </a:p>
        </p:txBody>
      </p:sp>
      <p:sp>
        <p:nvSpPr>
          <p:cNvPr id="13" name="card"/>
          <p:cNvSpPr/>
          <p:nvPr/>
        </p:nvSpPr>
        <p:spPr>
          <a:xfrm>
            <a:off x="6631328" y="4663440"/>
            <a:ext cx="2862887" cy="1691640"/>
          </a:xfrm>
          <a:prstGeom prst="roundRect">
            <a:avLst>
              <a:gd name="adj" fmla="val 3243"/>
            </a:avLst>
          </a:prstGeom>
          <a:solidFill>
            <a:srgbClr val="F2F2F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818478" y="4846320"/>
            <a:ext cx="2488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中央値版は後半で弱まる</a:t>
            </a:r>
            <a:endParaRPr lang="ja-JP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818478" y="5303520"/>
            <a:ext cx="24885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最も強いが、IC t は前半 3.2 → 後半 1.9。4 本から最良を選んだ形なので割り引いて読む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abn_to｜累積リターン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ロングショートでは右肩上がりだが、本命は後半に伸びが止まる</a:t>
            </a:r>
            <a:endParaRPr lang="ja-JP" sz="1500" dirty="0"/>
          </a:p>
        </p:txBody>
      </p:sp>
      <p:pic>
        <p:nvPicPr>
          <p:cNvPr id="5" name="Image 0" descr="累積 Q5−Q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5532120" cy="47548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98140" y="1508760"/>
            <a:ext cx="32960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Q5−Q1（%/月）の前半・後半</a:t>
            </a:r>
            <a:endParaRPr lang="ja-JP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8140" y="1874520"/>
          <a:ext cx="3296075" cy="914400"/>
        </p:xfrm>
        <a:graphic>
          <a:graphicData uri="http://schemas.openxmlformats.org/drawingml/2006/table">
            <a:tbl>
              <a:tblPr/>
              <a:tblGrid>
                <a:gridCol w="1197756"/>
                <a:gridCol w="711168"/>
                <a:gridCol w="673738"/>
                <a:gridCol w="71341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スコア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平均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前半 t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後半 t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abn_to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0.34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2.2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0.3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abn_to_med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0.74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3.8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1.2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abn_to_neu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0.40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2.7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2.5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6198140" y="3474720"/>
            <a:ext cx="3296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9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前半 2009–2017、後半 2018–。t は Newey–West</a:t>
            </a:r>
            <a:endParaRPr lang="ja-JP" sz="950" dirty="0"/>
          </a:p>
        </p:txBody>
      </p:sp>
      <p:sp>
        <p:nvSpPr>
          <p:cNvPr id="9" name="card"/>
          <p:cNvSpPr/>
          <p:nvPr/>
        </p:nvSpPr>
        <p:spPr>
          <a:xfrm>
            <a:off x="6198140" y="4023360"/>
            <a:ext cx="3296075" cy="2331720"/>
          </a:xfrm>
          <a:prstGeom prst="roundRect">
            <a:avLst>
              <a:gd name="adj" fmla="val 2353"/>
            </a:avLst>
          </a:prstGeom>
          <a:solidFill>
            <a:srgbClr val="F2F2F2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385289" y="420624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読み方</a:t>
            </a:r>
            <a:endParaRPr lang="ja-JP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6385289" y="4663440"/>
            <a:ext cx="292177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本命と中央値版の伸びは前半に偏る</a:t>
            </a:r>
            <a:endParaRPr lang="ja-JP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中立化版（価格系特性を除いた部分）は後半も t 2.5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abn_to｜年別の IC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 が正の年は本命 12 年、中立化版 16 年（18 年中）</a:t>
            </a:r>
            <a:endParaRPr lang="ja-JP" sz="1500" dirty="0"/>
          </a:p>
        </p:txBody>
      </p:sp>
      <p:pic>
        <p:nvPicPr>
          <p:cNvPr id="5" name="Image 0" descr="年別の 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5532120" cy="47548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98140" y="1508760"/>
            <a:ext cx="32960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 の t（前半 / 後半）</a:t>
            </a:r>
            <a:endParaRPr lang="ja-JP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8140" y="1874520"/>
          <a:ext cx="3296075" cy="914400"/>
        </p:xfrm>
        <a:graphic>
          <a:graphicData uri="http://schemas.openxmlformats.org/drawingml/2006/table">
            <a:tbl>
              <a:tblPr/>
              <a:tblGrid>
                <a:gridCol w="1347476"/>
                <a:gridCol w="973177"/>
                <a:gridCol w="975423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スコア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前半 t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後半 t</a:t>
                      </a:r>
                      <a:endParaRPr lang="ja-JP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abn_to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1.9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1.7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abn_to_med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3.2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1.9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abn_to_q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1.6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1.1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abn_to_neu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3.4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2.8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</a:tr>
            </a:tbl>
          </a:graphicData>
        </a:graphic>
      </p:graphicFrame>
      <p:sp>
        <p:nvSpPr>
          <p:cNvPr id="8" name="card"/>
          <p:cNvSpPr/>
          <p:nvPr/>
        </p:nvSpPr>
        <p:spPr>
          <a:xfrm>
            <a:off x="6198140" y="4023360"/>
            <a:ext cx="3296075" cy="2331720"/>
          </a:xfrm>
          <a:prstGeom prst="roundRect">
            <a:avLst>
              <a:gd name="adj" fmla="val 2353"/>
            </a:avLst>
          </a:prstGeom>
          <a:solidFill>
            <a:srgbClr val="F2F2F2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6385289" y="420624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読み方</a:t>
            </a:r>
            <a:endParaRPr lang="ja-JP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6385289" y="4663440"/>
            <a:ext cx="292177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 は後半も全部正だが、後半で t ≥ 2 は中立化版だけ</a:t>
            </a:r>
            <a:endParaRPr lang="ja-JP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固有リターン（srtn）では本命も後半 t 2.1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abn_to｜差の出どころ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「注目されて上がる」より「関心が離れて負ける」</a:t>
            </a:r>
            <a:endParaRPr lang="ja-JP" sz="1500" dirty="0"/>
          </a:p>
        </p:txBody>
      </p:sp>
      <p:pic>
        <p:nvPicPr>
          <p:cNvPr id="5" name="Image 0" descr="分位別リター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5257800" cy="475488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5898701" y="1508760"/>
            <a:ext cx="3595514" cy="2240280"/>
          </a:xfrm>
          <a:prstGeom prst="roundRect">
            <a:avLst>
              <a:gd name="adj" fmla="val 2449"/>
            </a:avLst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085850" y="1691640"/>
            <a:ext cx="322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 側に偏る</a:t>
            </a:r>
            <a:endParaRPr lang="ja-JP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085850" y="2148840"/>
            <a:ext cx="3221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abn_to は Q1 が −2.6% に対し、Q5 は +1.4%。差の大半は「出来高が細った銘柄が負ける」側から来ている</a:t>
            </a:r>
            <a:endParaRPr lang="ja-JP" sz="1200" dirty="0"/>
          </a:p>
        </p:txBody>
      </p:sp>
      <p:sp>
        <p:nvSpPr>
          <p:cNvPr id="9" name="card"/>
          <p:cNvSpPr/>
          <p:nvPr/>
        </p:nvSpPr>
        <p:spPr>
          <a:xfrm>
            <a:off x="5898701" y="4023360"/>
            <a:ext cx="3595514" cy="2331720"/>
          </a:xfrm>
          <a:prstGeom prst="roundRect">
            <a:avLst>
              <a:gd name="adj" fmla="val 2353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085850" y="4206240"/>
            <a:ext cx="322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ロングオンリーには不利</a:t>
            </a:r>
            <a:endParaRPr lang="ja-JP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085850" y="4663440"/>
            <a:ext cx="32212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 は空売りが必要な側。ロングオンリーで使うなら「Q5 から外す」形になる（後のスライド）</a:t>
            </a:r>
            <a:endParaRPr lang="ja-JP" sz="12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abn_to｜サイズ別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効くのは小型株だけ。大型・中型では有意でない</a:t>
            </a:r>
            <a:endParaRPr lang="ja-JP" sz="1500" dirty="0"/>
          </a:p>
        </p:txBody>
      </p:sp>
      <p:pic>
        <p:nvPicPr>
          <p:cNvPr id="5" name="Image 0" descr="サイズ区分別の IC 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5532120" cy="475488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6198140" y="150876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385289" y="169164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小型で有意</a:t>
            </a:r>
            <a:endParaRPr lang="ja-JP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385289" y="214884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 2.1〜3.7。後半だけでも 1.6〜2.4</a:t>
            </a:r>
            <a:endParaRPr lang="ja-JP" sz="1100" dirty="0"/>
          </a:p>
        </p:txBody>
      </p:sp>
      <p:sp>
        <p:nvSpPr>
          <p:cNvPr id="9" name="card"/>
          <p:cNvSpPr/>
          <p:nvPr/>
        </p:nvSpPr>
        <p:spPr>
          <a:xfrm>
            <a:off x="6198140" y="324612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385289" y="342900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大型・中型は効かない</a:t>
            </a:r>
            <a:endParaRPr lang="ja-JP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385289" y="388620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|t| &lt; 1.9、後半は t 1.3 以下</a:t>
            </a:r>
            <a:endParaRPr lang="ja-JP" sz="1100" dirty="0"/>
          </a:p>
        </p:txBody>
      </p:sp>
      <p:sp>
        <p:nvSpPr>
          <p:cNvPr id="12" name="card"/>
          <p:cNvSpPr/>
          <p:nvPr/>
        </p:nvSpPr>
        <p:spPr>
          <a:xfrm>
            <a:off x="6198140" y="4983480"/>
            <a:ext cx="3296075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85289" y="516636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仮説との対応</a:t>
            </a:r>
            <a:endParaRPr lang="ja-JP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385289" y="5623560"/>
            <a:ext cx="292177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P5（小型で強い）は注目度・過剰反応と整合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abn_to｜情報の寿命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1〜2 か月で消え、その後の反転もない</a:t>
            </a:r>
            <a:endParaRPr lang="ja-JP" sz="1500" dirty="0"/>
          </a:p>
        </p:txBody>
      </p:sp>
      <p:pic>
        <p:nvPicPr>
          <p:cNvPr id="5" name="Image 0" descr="IC の減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5532120" cy="475488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6198140" y="1508760"/>
            <a:ext cx="3296075" cy="1517904"/>
          </a:xfrm>
          <a:prstGeom prst="roundRect">
            <a:avLst>
              <a:gd name="adj" fmla="val 3614"/>
            </a:avLst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385289" y="169164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1〜2 か月で消える</a:t>
            </a:r>
            <a:endParaRPr lang="ja-JP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385289" y="2148840"/>
            <a:ext cx="2921777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 は k=1 で 0.016（t 2.6）、k=2 で 0.012（t 2.2）。3 か月目以降は有意でない</a:t>
            </a:r>
            <a:endParaRPr lang="ja-JP" sz="1100" dirty="0"/>
          </a:p>
        </p:txBody>
      </p:sp>
      <p:sp>
        <p:nvSpPr>
          <p:cNvPr id="9" name="card"/>
          <p:cNvSpPr/>
          <p:nvPr/>
        </p:nvSpPr>
        <p:spPr>
          <a:xfrm>
            <a:off x="6198140" y="3172968"/>
            <a:ext cx="3296075" cy="1517904"/>
          </a:xfrm>
          <a:prstGeom prst="roundRect">
            <a:avLst>
              <a:gd name="adj" fmla="val 3614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385289" y="3355848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反転しない</a:t>
            </a:r>
            <a:endParaRPr lang="ja-JP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385289" y="3813048"/>
            <a:ext cx="2921777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 か月先まで負にならない。過剰反応（後で反転）の説明は否定</a:t>
            </a:r>
            <a:endParaRPr lang="ja-JP" sz="1100" dirty="0"/>
          </a:p>
        </p:txBody>
      </p:sp>
      <p:sp>
        <p:nvSpPr>
          <p:cNvPr id="12" name="card"/>
          <p:cNvSpPr/>
          <p:nvPr/>
        </p:nvSpPr>
        <p:spPr>
          <a:xfrm>
            <a:off x="6198140" y="4837176"/>
            <a:ext cx="3296075" cy="1517904"/>
          </a:xfrm>
          <a:prstGeom prst="roundRect">
            <a:avLst>
              <a:gd name="adj" fmla="val 3614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85289" y="5020056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暫定スコアは長く残る</a:t>
            </a:r>
            <a:endParaRPr lang="ja-JP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385289" y="5477256"/>
            <a:ext cx="2921777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 か月先でも 0.033（t 4.0）。寿命が一桁違う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abn_to｜前月リターンとの関係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前月に上がった銘柄でも下がった銘柄でも正。決め手にはならない</a:t>
            </a:r>
            <a:endParaRPr lang="ja-JP" sz="1500" dirty="0"/>
          </a:p>
        </p:txBody>
      </p:sp>
      <p:pic>
        <p:nvPicPr>
          <p:cNvPr id="5" name="Image 0" descr="前月リターン 3 分位内の Q5−Q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5532120" cy="475488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6198140" y="150876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385289" y="169164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区分とも正</a:t>
            </a:r>
            <a:endParaRPr lang="ja-JP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385289" y="214884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0.45 / 0.67 / 0.60%/月。有意は中位と勝ち組</a:t>
            </a:r>
            <a:endParaRPr lang="ja-JP" sz="1100" dirty="0"/>
          </a:p>
        </p:txBody>
      </p:sp>
      <p:sp>
        <p:nvSpPr>
          <p:cNvPr id="9" name="card"/>
          <p:cNvSpPr/>
          <p:nvPr/>
        </p:nvSpPr>
        <p:spPr>
          <a:xfrm>
            <a:off x="6198140" y="324612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385289" y="342900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勝ち組は不安定</a:t>
            </a:r>
            <a:endParaRPr lang="ja-JP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385289" y="388620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前半 t 2.9 → 後半 −0.1</a:t>
            </a:r>
            <a:endParaRPr lang="ja-JP" sz="1100" dirty="0"/>
          </a:p>
        </p:txBody>
      </p:sp>
      <p:sp>
        <p:nvSpPr>
          <p:cNvPr id="12" name="card"/>
          <p:cNvSpPr/>
          <p:nvPr/>
        </p:nvSpPr>
        <p:spPr>
          <a:xfrm>
            <a:off x="6198140" y="4983480"/>
            <a:ext cx="3296075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85289" y="516636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ja-JP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385289" y="5623560"/>
            <a:ext cx="292177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注目度説と矛盾しないが、決め手にはならない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abn_to｜仮説の判定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決算の言い換えでも過剰反応でもない、短命な情報</a:t>
            </a:r>
            <a:endParaRPr lang="ja-JP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08760"/>
          <a:ext cx="9082735" cy="914400"/>
        </p:xfrm>
        <a:graphic>
          <a:graphicData uri="http://schemas.openxmlformats.org/drawingml/2006/table">
            <a:tbl>
              <a:tblPr/>
              <a:tblGrid>
                <a:gridCol w="2620092"/>
                <a:gridCol w="1497195"/>
                <a:gridCol w="1497195"/>
                <a:gridCol w="1422336"/>
                <a:gridCol w="2045917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予測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注目度（本命）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情報イベント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過剰反応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結果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P1 翌月の IC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b="1" dirty="0">
                          <a:solidFill>
                            <a:srgbClr val="CB24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正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b="1" dirty="0">
                          <a:solidFill>
                            <a:srgbClr val="CB24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正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b="1" dirty="0">
                          <a:solidFill>
                            <a:srgbClr val="CB24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正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正: 0.016（t 2.5）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P2 暫定スコアで説明した残りの IC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b="1" dirty="0">
                          <a:solidFill>
                            <a:srgbClr val="CB24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残る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9A9A9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消える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b="1" dirty="0">
                          <a:solidFill>
                            <a:srgbClr val="CB24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残る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残る: 0.016（t 2.6）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P3 IC の減衰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9A9A9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数か月かけて消える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b="1" dirty="0">
                          <a:solidFill>
                            <a:srgbClr val="CB24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1〜2 か月で消える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9A9A9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後で負に転じる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1〜2 か月で消え、反転なし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P4 前月リターンとの関係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b="1" dirty="0">
                          <a:solidFill>
                            <a:srgbClr val="CB24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上昇・下落とも正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9A9A9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上昇で強い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9A9A9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上昇で後に反転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 区分とも正（有意は中位・上位のみ）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P5 サイズ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b="1" dirty="0">
                          <a:solidFill>
                            <a:srgbClr val="CB24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小型で強い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9A9A9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差は小さい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b="1" dirty="0">
                          <a:solidFill>
                            <a:srgbClr val="CB24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小型で強い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小型だけで有意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verdict"/>
          <p:cNvSpPr/>
          <p:nvPr/>
        </p:nvSpPr>
        <p:spPr>
          <a:xfrm>
            <a:off x="411480" y="5257800"/>
            <a:ext cx="9082735" cy="1051560"/>
          </a:xfrm>
          <a:prstGeom prst="roundRect">
            <a:avLst>
              <a:gd name="adj" fmla="val 5217"/>
            </a:avLst>
          </a:prstGeom>
          <a:solidFill>
            <a:srgbClr val="FBE9E8"/>
          </a:solidFill>
          <a:ln w="12700">
            <a:solidFill>
              <a:srgbClr val="CB242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98629" y="5257800"/>
            <a:ext cx="87084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CB24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判定: </a:t>
            </a:r>
            <a:pPr indent="0" marL="0">
              <a:buNone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情報イベント説（P2）と過剰反応説（P3）は否定。注目度説に近いが、寿命は想定より短い</a:t>
            </a:r>
            <a:endParaRPr lang="ja-JP" sz="13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abn_to｜暫定スコアとの独立性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暫定スコアとはほぼ無相関で、暫定スコアで説明できない予測力が残る</a:t>
            </a:r>
            <a:endParaRPr lang="ja-JP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08760"/>
          <a:ext cx="9082735" cy="914400"/>
        </p:xfrm>
        <a:graphic>
          <a:graphicData uri="http://schemas.openxmlformats.org/drawingml/2006/table">
            <a:tbl>
              <a:tblPr/>
              <a:tblGrid>
                <a:gridCol w="1572055"/>
                <a:gridCol w="1646915"/>
                <a:gridCol w="1572055"/>
                <a:gridCol w="1572055"/>
                <a:gridCol w="1347476"/>
                <a:gridCol w="1372179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スコア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暫定スコアとの相関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残差 IC（t）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スパニング α（t）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mom1 との相関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tover との相関</a:t>
                      </a:r>
                      <a:endParaRPr lang="ja-JP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abn_to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−0.02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0.016（2.6）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6.1%（2.1）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0.24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0.31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abn_to_med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0.01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0.021（3.3）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11.9%（3.0）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0.20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0.28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abn_to_q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0.01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0.010（1.6）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6.0%（2.4）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0.11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0.24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12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abn_to_neu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0.03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0.015（3.5）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3.7%（2.3）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0.02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</a:t>
                      </a:r>
                      <a:endParaRPr lang="ja-JP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11480" y="384048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95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相関は各月の順位相関の平均。α は年率。残差 IC・スパニング回帰の定義は「評価方法の詳細 1」</a:t>
            </a:r>
            <a:endParaRPr lang="ja-JP" sz="950" dirty="0"/>
          </a:p>
        </p:txBody>
      </p:sp>
      <p:sp>
        <p:nvSpPr>
          <p:cNvPr id="7" name="card"/>
          <p:cNvSpPr/>
          <p:nvPr/>
        </p:nvSpPr>
        <p:spPr>
          <a:xfrm>
            <a:off x="411480" y="4297680"/>
            <a:ext cx="2862887" cy="2057400"/>
          </a:xfrm>
          <a:prstGeom prst="roundRect">
            <a:avLst>
              <a:gd name="adj" fmla="val 2667"/>
            </a:avLst>
          </a:prstGeom>
          <a:solidFill>
            <a:srgbClr val="F2F2F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98629" y="4480560"/>
            <a:ext cx="2488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決算の言い換えではない</a:t>
            </a:r>
            <a:endParaRPr lang="ja-JP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98629" y="4937760"/>
            <a:ext cx="24885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リビジョン（rev1r）との相関 0.00、暫定スコアの各部分とは |0.05| 以下</a:t>
            </a:r>
            <a:endParaRPr lang="ja-JP" sz="1100" dirty="0"/>
          </a:p>
        </p:txBody>
      </p:sp>
      <p:sp>
        <p:nvSpPr>
          <p:cNvPr id="10" name="card"/>
          <p:cNvSpPr/>
          <p:nvPr/>
        </p:nvSpPr>
        <p:spPr>
          <a:xfrm>
            <a:off x="3521404" y="4297680"/>
            <a:ext cx="2862887" cy="2057400"/>
          </a:xfrm>
          <a:prstGeom prst="roundRect">
            <a:avLst>
              <a:gd name="adj" fmla="val 2667"/>
            </a:avLst>
          </a:prstGeom>
          <a:solidFill>
            <a:srgbClr val="F2F2F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3708554" y="4480560"/>
            <a:ext cx="2488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重なるのは短期の価格と出来高</a:t>
            </a:r>
            <a:endParaRPr lang="ja-JP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708554" y="4937760"/>
            <a:ext cx="24885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mom1 と 0.24、tover と 0.31。中立化版ではほぼ 0</a:t>
            </a:r>
            <a:endParaRPr lang="ja-JP" sz="1100" dirty="0"/>
          </a:p>
        </p:txBody>
      </p:sp>
      <p:sp>
        <p:nvSpPr>
          <p:cNvPr id="13" name="card"/>
          <p:cNvSpPr/>
          <p:nvPr/>
        </p:nvSpPr>
        <p:spPr>
          <a:xfrm>
            <a:off x="6631328" y="4297680"/>
            <a:ext cx="2862887" cy="2057400"/>
          </a:xfrm>
          <a:prstGeom prst="roundRect">
            <a:avLst>
              <a:gd name="adj" fmla="val 2667"/>
            </a:avLst>
          </a:prstGeom>
          <a:solidFill>
            <a:srgbClr val="F2F2F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818478" y="4480560"/>
            <a:ext cx="2488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β は小さい</a:t>
            </a:r>
            <a:endParaRPr lang="ja-JP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818478" y="4937760"/>
            <a:ext cx="24885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スパニング回帰の β は −0.17〜+0.06（有意でない）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abn_to｜暫定スコアとの複合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混ぜるとロングショートは上がるが、ロングオンリーの税引後は下がる</a:t>
            </a:r>
            <a:endParaRPr lang="ja-JP" sz="1500" dirty="0"/>
          </a:p>
        </p:txBody>
      </p:sp>
      <p:pic>
        <p:nvPicPr>
          <p:cNvPr id="5" name="Image 0" descr="混合比率と指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5532120" cy="475488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6198140" y="150876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385289" y="169164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80:20 の場合</a:t>
            </a:r>
            <a:endParaRPr lang="ja-JP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385289" y="214884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Q5−Q1 17.6 → 18.3%、Q5 超過 13.0 → 12.9%、税引後 8.5 → 8.2%</a:t>
            </a:r>
            <a:endParaRPr lang="ja-JP" sz="1100" dirty="0"/>
          </a:p>
        </p:txBody>
      </p:sp>
      <p:sp>
        <p:nvSpPr>
          <p:cNvPr id="9" name="card"/>
          <p:cNvSpPr/>
          <p:nvPr/>
        </p:nvSpPr>
        <p:spPr>
          <a:xfrm>
            <a:off x="6198140" y="3246120"/>
            <a:ext cx="3296075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385289" y="342900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差は有意でない</a:t>
            </a:r>
            <a:endParaRPr lang="ja-JP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385289" y="3886200"/>
            <a:ext cx="2921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暫定スコアとの月次差は Q5 超過・税引後とも |t| &lt; 1.6</a:t>
            </a:r>
            <a:endParaRPr lang="ja-JP" sz="1100" dirty="0"/>
          </a:p>
        </p:txBody>
      </p:sp>
      <p:sp>
        <p:nvSpPr>
          <p:cNvPr id="12" name="card"/>
          <p:cNvSpPr/>
          <p:nvPr/>
        </p:nvSpPr>
        <p:spPr>
          <a:xfrm>
            <a:off x="6198140" y="4983480"/>
            <a:ext cx="3296075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85289" y="5166360"/>
            <a:ext cx="29217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中立化版も同じ</a:t>
            </a:r>
            <a:endParaRPr lang="ja-JP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385289" y="5623560"/>
            <a:ext cx="292177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70:30 は税引後が有意に悪化（t −2.3）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abn_to｜残る使い道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暫定スコアの Q5 から出来高が細った銘柄を外すと、税引前は有意に改善</a:t>
            </a:r>
            <a:endParaRPr lang="ja-JP" sz="1500" dirty="0"/>
          </a:p>
        </p:txBody>
      </p:sp>
      <p:sp>
        <p:nvSpPr>
          <p:cNvPr id="5" name="card"/>
          <p:cNvSpPr/>
          <p:nvPr/>
        </p:nvSpPr>
        <p:spPr>
          <a:xfrm>
            <a:off x="411480" y="1508760"/>
            <a:ext cx="3293830" cy="4846320"/>
          </a:xfrm>
          <a:prstGeom prst="roundRect">
            <a:avLst>
              <a:gd name="adj" fmla="val 1666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36059" y="1737360"/>
            <a:ext cx="28446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暫定スコアの Q5 のうち、出来高が細った銘柄</a:t>
            </a:r>
            <a:endParaRPr lang="ja-JP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36059" y="2423160"/>
            <a:ext cx="28446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ja-JP" altLang="en-US" sz="3450" b="1" dirty="0">
                <a:solidFill>
                  <a:srgbClr val="CB24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−0.76%/月</a:t>
            </a:r>
            <a:endParaRPr lang="ja-JP" sz="3450" dirty="0"/>
          </a:p>
        </p:txBody>
      </p:sp>
      <p:sp>
        <p:nvSpPr>
          <p:cNvPr id="8" name="Text 5"/>
          <p:cNvSpPr txBox="1"/>
          <p:nvPr/>
        </p:nvSpPr>
        <p:spPr>
          <a:xfrm>
            <a:off x="636059" y="3291840"/>
            <a:ext cx="28446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残りの Q5 に対する翌月リターン差（t −3.1、前半 −2.3 / 後半 −2.2）</a:t>
            </a:r>
            <a:endParaRPr lang="ja-JP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36059" y="4297680"/>
            <a:ext cx="28446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対象は abn_to_med がユニバースの下位 20% の銘柄で、Q5 の約 18%</a:t>
            </a:r>
            <a:endParaRPr lang="ja-JP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36059" y="5120640"/>
            <a:ext cx="28446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7373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中央値版は事前に決めた 4 本のうち最良のものなので、割り引いて読む</a:t>
            </a:r>
            <a:endParaRPr lang="ja-JP" sz="1100" dirty="0"/>
          </a:p>
        </p:txBody>
      </p:sp>
      <p:pic>
        <p:nvPicPr>
          <p:cNvPr id="11" name="Image 0" descr="Q5 スクリーンの税引前・税引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347" y="1508760"/>
            <a:ext cx="5166360" cy="3657600"/>
          </a:xfrm>
          <a:prstGeom prst="rect">
            <a:avLst/>
          </a:prstGeom>
        </p:spPr>
      </p:pic>
      <p:sp>
        <p:nvSpPr>
          <p:cNvPr id="12" name="takeaway"/>
          <p:cNvSpPr/>
          <p:nvPr/>
        </p:nvSpPr>
        <p:spPr>
          <a:xfrm>
            <a:off x="3952347" y="5440680"/>
            <a:ext cx="5541868" cy="914400"/>
          </a:xfrm>
          <a:prstGeom prst="roundRect">
            <a:avLst>
              <a:gd name="adj" fmla="val 6000"/>
            </a:avLst>
          </a:prstGeom>
          <a:solidFill>
            <a:srgbClr val="FBE9E8"/>
          </a:solidFill>
          <a:ln w="12700">
            <a:solidFill>
              <a:srgbClr val="CB242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139496" y="5440680"/>
            <a:ext cx="51675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CB24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税引後: </a:t>
            </a:r>
            <a:pPr indent="0" marL="0">
              <a:buNone/>
            </a:pPr>
            <a:r>
              <a:rPr lang="ja-JP" alt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毎月外すと回転率 4.0 → 5.0 倍で +0.07%/月（t 1.5）。新しく買う銘柄だけ外せば回転率は増えず +0.04%/月（t 1.6）</a:t>
            </a:r>
            <a:endParaRPr lang="ja-JP" sz="11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abn_to｜判定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素材としては見送り。使うなら新規買いの除外条件</a:t>
            </a:r>
            <a:endParaRPr lang="ja-JP" sz="1500" dirty="0"/>
          </a:p>
        </p:txBody>
      </p:sp>
      <p:sp>
        <p:nvSpPr>
          <p:cNvPr id="5" name="card"/>
          <p:cNvSpPr/>
          <p:nvPr/>
        </p:nvSpPr>
        <p:spPr>
          <a:xfrm>
            <a:off x="411480" y="1508760"/>
            <a:ext cx="2862887" cy="2560320"/>
          </a:xfrm>
          <a:prstGeom prst="roundRect">
            <a:avLst>
              <a:gd name="adj" fmla="val 2143"/>
            </a:avLst>
          </a:prstGeom>
          <a:solidFill>
            <a:srgbClr val="F2F2F2"/>
          </a:solidFill>
          <a:ln/>
        </p:spPr>
      </p:sp>
      <p:sp>
        <p:nvSpPr>
          <p:cNvPr id="6" name="badge"/>
          <p:cNvSpPr/>
          <p:nvPr/>
        </p:nvSpPr>
        <p:spPr>
          <a:xfrm>
            <a:off x="602899" y="1783080"/>
            <a:ext cx="365760" cy="365760"/>
          </a:xfrm>
          <a:prstGeom prst="ellipse">
            <a:avLst/>
          </a:prstGeom>
          <a:solidFill>
            <a:srgbClr val="00305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02899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ja-JP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85218" y="1737360"/>
            <a:ext cx="20394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5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本物の情報</a:t>
            </a:r>
            <a:endParaRPr lang="ja-JP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598629" y="2377440"/>
            <a:ext cx="24885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暫定スコアと独立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後半（2018 年以降）でも残る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決算の言い換えでも過剰反応でもない</a:t>
            </a:r>
            <a:endParaRPr lang="ja-JP" sz="1200" dirty="0"/>
          </a:p>
        </p:txBody>
      </p:sp>
      <p:sp>
        <p:nvSpPr>
          <p:cNvPr id="10" name="card"/>
          <p:cNvSpPr/>
          <p:nvPr/>
        </p:nvSpPr>
        <p:spPr>
          <a:xfrm>
            <a:off x="3521404" y="1508760"/>
            <a:ext cx="2862887" cy="2560320"/>
          </a:xfrm>
          <a:prstGeom prst="roundRect">
            <a:avLst>
              <a:gd name="adj" fmla="val 2143"/>
            </a:avLst>
          </a:prstGeom>
          <a:solidFill>
            <a:srgbClr val="F2F2F2"/>
          </a:solidFill>
          <a:ln/>
        </p:spPr>
      </p:sp>
      <p:sp>
        <p:nvSpPr>
          <p:cNvPr id="11" name="badge"/>
          <p:cNvSpPr/>
          <p:nvPr/>
        </p:nvSpPr>
        <p:spPr>
          <a:xfrm>
            <a:off x="3712823" y="1783080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712823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ja-JP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195142" y="1737360"/>
            <a:ext cx="20394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5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でも小さく短い</a:t>
            </a:r>
            <a:endParaRPr lang="ja-JP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3708554" y="2377440"/>
            <a:ext cx="24885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 は暫定スコアの約 1/4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寿命は 1〜2 か月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効くのは小型株の Q1 側（空売りが必要な側）</a:t>
            </a:r>
            <a:endParaRPr lang="ja-JP" sz="1200" dirty="0"/>
          </a:p>
        </p:txBody>
      </p:sp>
      <p:sp>
        <p:nvSpPr>
          <p:cNvPr id="15" name="card"/>
          <p:cNvSpPr/>
          <p:nvPr/>
        </p:nvSpPr>
        <p:spPr>
          <a:xfrm>
            <a:off x="6631328" y="1508760"/>
            <a:ext cx="2862887" cy="2560320"/>
          </a:xfrm>
          <a:prstGeom prst="roundRect">
            <a:avLst>
              <a:gd name="adj" fmla="val 2143"/>
            </a:avLst>
          </a:prstGeom>
          <a:solidFill>
            <a:srgbClr val="F2F2F2"/>
          </a:solidFill>
          <a:ln/>
        </p:spPr>
      </p:sp>
      <p:sp>
        <p:nvSpPr>
          <p:cNvPr id="16" name="badge"/>
          <p:cNvSpPr/>
          <p:nvPr/>
        </p:nvSpPr>
        <p:spPr>
          <a:xfrm>
            <a:off x="6822747" y="1783080"/>
            <a:ext cx="365760" cy="36576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22747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ja-JP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305066" y="1737360"/>
            <a:ext cx="20394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5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税引後に残らない</a:t>
            </a:r>
            <a:endParaRPr lang="ja-JP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6818478" y="2377440"/>
            <a:ext cx="24885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混ぜると税引後 8.5% → 8.2%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Q5 から外す使い方でも年 +0.5〜0.8% で有意でない</a:t>
            </a:r>
            <a:endParaRPr lang="ja-JP" sz="1200" dirty="0"/>
          </a:p>
        </p:txBody>
      </p:sp>
      <p:sp>
        <p:nvSpPr>
          <p:cNvPr id="20" name="next"/>
          <p:cNvSpPr/>
          <p:nvPr/>
        </p:nvSpPr>
        <p:spPr>
          <a:xfrm>
            <a:off x="411480" y="4343400"/>
            <a:ext cx="9082735" cy="1600200"/>
          </a:xfrm>
          <a:prstGeom prst="roundRect">
            <a:avLst>
              <a:gd name="adj" fmla="val 3429"/>
            </a:avLst>
          </a:prstGeom>
          <a:ln w="12700">
            <a:solidFill>
              <a:srgbClr val="BFBF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8629" y="4526280"/>
            <a:ext cx="29943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次に試すなら</a:t>
            </a:r>
            <a:endParaRPr lang="ja-JP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98629" y="4983480"/>
            <a:ext cx="87084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bax の新規買い候補から abn_to_med 下位 20% を外す（回転率を増やさない形。期待は税引後 年 +0.4% 程度で、有意ではない）</a:t>
            </a:r>
            <a:endParaRPr lang="ja-JP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ブロック取引の日を除いた平均版で、中央値版の強さが再現するかを確認する</a:t>
            </a:r>
            <a:endParaRPr lang="ja-JP" sz="12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1892808" y="54864"/>
            <a:ext cx="6336792" cy="7223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学び</a:t>
            </a:r>
            <a:endParaRPr lang="ja-JP" sz="1800" dirty="0"/>
          </a:p>
        </p:txBody>
      </p:sp>
      <p:sp>
        <p:nvSpPr>
          <p:cNvPr id="3" name="lead"/>
          <p:cNvSpPr txBox="1"/>
          <p:nvPr/>
        </p:nvSpPr>
        <p:spPr>
          <a:xfrm>
            <a:off x="411480" y="932688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短期の確かな情報ほど、インドのロングオンリー・税引後には残りにくい</a:t>
            </a:r>
            <a:endParaRPr lang="ja-JP" sz="1500" dirty="0"/>
          </a:p>
        </p:txBody>
      </p:sp>
      <p:sp>
        <p:nvSpPr>
          <p:cNvPr id="5" name="card"/>
          <p:cNvSpPr/>
          <p:nvPr/>
        </p:nvSpPr>
        <p:spPr>
          <a:xfrm>
            <a:off x="411480" y="1508760"/>
            <a:ext cx="4417849" cy="1874520"/>
          </a:xfrm>
          <a:prstGeom prst="roundRect">
            <a:avLst>
              <a:gd name="adj" fmla="val 2927"/>
            </a:avLst>
          </a:prstGeom>
          <a:solidFill>
            <a:srgbClr val="F2F2F2"/>
          </a:solidFill>
          <a:ln/>
        </p:spPr>
      </p:sp>
      <p:sp>
        <p:nvSpPr>
          <p:cNvPr id="6" name="badge"/>
          <p:cNvSpPr/>
          <p:nvPr/>
        </p:nvSpPr>
        <p:spPr>
          <a:xfrm>
            <a:off x="602899" y="1755648"/>
            <a:ext cx="365760" cy="365760"/>
          </a:xfrm>
          <a:prstGeom prst="ellipse">
            <a:avLst/>
          </a:prstGeom>
          <a:solidFill>
            <a:srgbClr val="00305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02899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ja-JP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85218" y="1709928"/>
            <a:ext cx="35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市場分析の発見は再現した</a:t>
            </a:r>
            <a:endParaRPr lang="ja-JP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8629" y="2331720"/>
            <a:ext cx="40435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回帰で t 3.3 → 単体 IC t 2.5〜4.3、暫定スコアと独立</a:t>
            </a:r>
            <a:endParaRPr lang="ja-JP" sz="1200" dirty="0"/>
          </a:p>
        </p:txBody>
      </p:sp>
      <p:sp>
        <p:nvSpPr>
          <p:cNvPr id="10" name="card"/>
          <p:cNvSpPr/>
          <p:nvPr/>
        </p:nvSpPr>
        <p:spPr>
          <a:xfrm>
            <a:off x="5076366" y="1508760"/>
            <a:ext cx="4417849" cy="1874520"/>
          </a:xfrm>
          <a:prstGeom prst="roundRect">
            <a:avLst>
              <a:gd name="adj" fmla="val 2927"/>
            </a:avLst>
          </a:prstGeom>
          <a:solidFill>
            <a:srgbClr val="F2F2F2"/>
          </a:solidFill>
          <a:ln/>
        </p:spPr>
      </p:sp>
      <p:sp>
        <p:nvSpPr>
          <p:cNvPr id="11" name="badge"/>
          <p:cNvSpPr/>
          <p:nvPr/>
        </p:nvSpPr>
        <p:spPr>
          <a:xfrm>
            <a:off x="5267785" y="1755648"/>
            <a:ext cx="365760" cy="365760"/>
          </a:xfrm>
          <a:prstGeom prst="ellipse">
            <a:avLst/>
          </a:prstGeom>
          <a:solidFill>
            <a:srgbClr val="00305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267785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ja-JP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750104" y="1709928"/>
            <a:ext cx="35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中身は「関心が離れた小型株が負ける」</a:t>
            </a:r>
            <a:endParaRPr lang="ja-JP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263516" y="2331720"/>
            <a:ext cx="40435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注目されて上がるのではなく、出来高が細った小型株が翌月負ける</a:t>
            </a:r>
            <a:endParaRPr lang="ja-JP" sz="1200" dirty="0"/>
          </a:p>
        </p:txBody>
      </p:sp>
      <p:sp>
        <p:nvSpPr>
          <p:cNvPr id="15" name="card"/>
          <p:cNvSpPr/>
          <p:nvPr/>
        </p:nvSpPr>
        <p:spPr>
          <a:xfrm>
            <a:off x="411480" y="3611880"/>
            <a:ext cx="4417849" cy="1874520"/>
          </a:xfrm>
          <a:prstGeom prst="roundRect">
            <a:avLst>
              <a:gd name="adj" fmla="val 2927"/>
            </a:avLst>
          </a:prstGeom>
          <a:solidFill>
            <a:srgbClr val="F2F2F2"/>
          </a:solidFill>
          <a:ln/>
        </p:spPr>
      </p:sp>
      <p:sp>
        <p:nvSpPr>
          <p:cNvPr id="16" name="badge"/>
          <p:cNvSpPr/>
          <p:nvPr/>
        </p:nvSpPr>
        <p:spPr>
          <a:xfrm>
            <a:off x="602899" y="3858768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02899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ja-JP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85218" y="3813048"/>
            <a:ext cx="35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寿命 × 回転率 × 短期課税</a:t>
            </a:r>
            <a:endParaRPr lang="ja-JP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98629" y="4434840"/>
            <a:ext cx="40435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寿命 1〜2 か月で年 7.5 倍の売買。売却はほぼすべて短期課税（20%）</a:t>
            </a:r>
            <a:endParaRPr lang="ja-JP" sz="1200" dirty="0"/>
          </a:p>
        </p:txBody>
      </p:sp>
      <p:sp>
        <p:nvSpPr>
          <p:cNvPr id="20" name="card"/>
          <p:cNvSpPr/>
          <p:nvPr/>
        </p:nvSpPr>
        <p:spPr>
          <a:xfrm>
            <a:off x="5076366" y="3611880"/>
            <a:ext cx="4417849" cy="1874520"/>
          </a:xfrm>
          <a:prstGeom prst="roundRect">
            <a:avLst>
              <a:gd name="adj" fmla="val 2927"/>
            </a:avLst>
          </a:prstGeom>
          <a:solidFill>
            <a:srgbClr val="F2F2F2"/>
          </a:solidFill>
          <a:ln/>
        </p:spPr>
      </p:sp>
      <p:sp>
        <p:nvSpPr>
          <p:cNvPr id="21" name="badge"/>
          <p:cNvSpPr/>
          <p:nvPr/>
        </p:nvSpPr>
        <p:spPr>
          <a:xfrm>
            <a:off x="5267785" y="3858768"/>
            <a:ext cx="365760" cy="365760"/>
          </a:xfrm>
          <a:prstGeom prst="ellipse">
            <a:avLst/>
          </a:prstGeom>
          <a:solidFill>
            <a:srgbClr val="CB242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267785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ja-JP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750104" y="3813048"/>
            <a:ext cx="35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独立な情報は「買わない理由」に</a:t>
            </a:r>
            <a:endParaRPr lang="ja-JP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263516" y="4434840"/>
            <a:ext cx="40435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混ぜると暫定スコアの低回転の利点を崩す。Q5 の中で避ける銘柄を決める用途が合う</a:t>
            </a:r>
            <a:endParaRPr lang="ja-JP" sz="1200" dirty="0"/>
          </a:p>
        </p:txBody>
      </p:sp>
      <p:sp>
        <p:nvSpPr>
          <p:cNvPr id="25" name="takeaway"/>
          <p:cNvSpPr/>
          <p:nvPr/>
        </p:nvSpPr>
        <p:spPr>
          <a:xfrm>
            <a:off x="411480" y="5623560"/>
            <a:ext cx="9082735" cy="731520"/>
          </a:xfrm>
          <a:prstGeom prst="roundRect">
            <a:avLst>
              <a:gd name="adj" fmla="val 7500"/>
            </a:avLst>
          </a:prstGeom>
          <a:solidFill>
            <a:srgbClr val="FBE9E8"/>
          </a:solidFill>
          <a:ln w="12700">
            <a:solidFill>
              <a:srgbClr val="CB242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98629" y="5623560"/>
            <a:ext cx="87084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CB24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次の一手: </a:t>
            </a:r>
            <a:pPr indent="0" marL="0">
              <a:buNone/>
            </a:pPr>
            <a:r>
              <a:rPr lang="ja-JP" alt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素材を足す前に、ポートフォリオ側で売買の速さを設計する（目標への部分調整、保有 12 か月直前の売却回避）</a:t>
            </a:r>
            <a:endParaRPr lang="ja-JP" sz="1300" dirty="0"/>
          </a:p>
        </p:txBody>
      </p:sp>
      <p:sp>
        <p:nvSpPr>
          <p:cNvPr id="9002" name="Slide Number"/>
          <p:cNvSpPr txBox="1"/>
          <p:nvPr>
            <p:ph idx="12" type="sldNum"/>
          </p:nvPr>
        </p:nvSpPr>
        <p:spPr>
          <a:xfrm>
            <a:off x="9380538" y="6580188"/>
            <a:ext cx="795337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omura 2013 v11jp">
  <a:themeElements>
    <a:clrScheme name="Main Nomura Global Color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CB2420"/>
      </a:accent1>
      <a:accent2>
        <a:srgbClr val="737374"/>
      </a:accent2>
      <a:accent3>
        <a:srgbClr val="80A9AE"/>
      </a:accent3>
      <a:accent4>
        <a:srgbClr val="00305C"/>
      </a:accent4>
      <a:accent5>
        <a:srgbClr val="80003F"/>
      </a:accent5>
      <a:accent6>
        <a:srgbClr val="CC8D19"/>
      </a:accent6>
      <a:hlink>
        <a:srgbClr val="B1B1B0"/>
      </a:hlink>
      <a:folHlink>
        <a:srgbClr val="B1B1B0"/>
      </a:folHlink>
    </a:clrScheme>
    <a:fontScheme name="Office">
      <a:majorFont>
        <a:latin typeface="Meiryo"/>
        <a:ea typeface="Meiryo"/>
        <a:cs typeface=""/>
        <a:font script="Jpan" typeface="Meiryo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eiryo"/>
        <a:ea typeface="Meiryo"/>
        <a:cs typeface=""/>
        <a:font script="Jpan" typeface="Meiryo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"/>
        <a:font script="Jpan" typeface="Meiryo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eiryo"/>
        <a:ea typeface="Meiryo"/>
        <a:cs typeface=""/>
        <a:font script="Jpan" typeface="Meiryo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